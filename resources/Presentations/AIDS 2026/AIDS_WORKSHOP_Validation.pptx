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701" r:id="rId4"/>
  </p:sldMasterIdLst>
  <p:notesMasterIdLst>
    <p:notesMasterId r:id="rId11"/>
  </p:notesMasterIdLst>
  <p:sldIdLst>
    <p:sldId id="268" r:id="rId5"/>
    <p:sldId id="2145706891" r:id="rId6"/>
    <p:sldId id="2145706884" r:id="rId7"/>
    <p:sldId id="2145706892" r:id="rId8"/>
    <p:sldId id="2145706893" r:id="rId9"/>
    <p:sldId id="2145706881" r:id="rId10"/>
  </p:sldIdLst>
  <p:sldSz cx="12192000" cy="6858000"/>
  <p:notesSz cx="6858000" cy="9144000"/>
  <p:embeddedFontLst>
    <p:embeddedFont>
      <p:font typeface="Verdana" panose="020B0604030504040204" pitchFamily="34" charset="0"/>
      <p:regular r:id="rId12"/>
      <p:bold r:id="rId13"/>
      <p:italic r:id="rId14"/>
      <p:boldItalic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D3C"/>
    <a:srgbClr val="4DAF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BE39D-566F-ED41-84C6-76C0F22DAABE}" v="1" dt="2026-07-28T00:29:56.1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18" autoAdjust="0"/>
    <p:restoredTop sz="78744" autoAdjust="0"/>
  </p:normalViewPr>
  <p:slideViewPr>
    <p:cSldViewPr snapToGrid="0" snapToObjects="1">
      <p:cViewPr varScale="1">
        <p:scale>
          <a:sx n="83" d="100"/>
          <a:sy n="83" d="100"/>
        </p:scale>
        <p:origin x="1704"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D20E5-D8F7-594B-9D91-F763D43B9AF7}" type="datetimeFigureOut">
              <a:rPr lang="en-GB" smtClean="0"/>
              <a:t>27/07/2026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8DCDC-D13C-2549-BE6A-717E9EED41AD}" type="slidenum">
              <a:rPr lang="en-GB" smtClean="0"/>
              <a:t>‹#›</a:t>
            </a:fld>
            <a:endParaRPr lang="en-GB"/>
          </a:p>
        </p:txBody>
      </p:sp>
    </p:spTree>
    <p:extLst>
      <p:ext uri="{BB962C8B-B14F-4D97-AF65-F5344CB8AC3E}">
        <p14:creationId xmlns:p14="http://schemas.microsoft.com/office/powerpoint/2010/main" val="3792321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520C-3F4A-463A-3BCE-BD2380957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879F-63B6-3383-534A-BEF68CD64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FC5DF-0B74-0042-3EF1-0CCCA00DFB0D}"/>
              </a:ext>
            </a:extLst>
          </p:cNvPr>
          <p:cNvSpPr>
            <a:spLocks noGrp="1"/>
          </p:cNvSpPr>
          <p:nvPr>
            <p:ph type="body" idx="1"/>
          </p:nvPr>
        </p:nvSpPr>
        <p:spPr/>
        <p:txBody>
          <a:bodyPr/>
          <a:lstStyle/>
          <a:p>
            <a:r>
              <a:rPr lang="en-NL" dirty="0"/>
              <a:t>A few major changes have been made in response to the piloting phase. Some is behind the scenes (updating algorithms, baseline data), some is formatting and presentation of results, and some is adding additional functionalities that were requested (like being able to break down PrEP for different risk groups), and adding in a functionality to change the frequency of clinical visits for stable clients</a:t>
            </a:r>
          </a:p>
          <a:p>
            <a:endParaRPr lang="en-NL" dirty="0"/>
          </a:p>
          <a:p>
            <a:r>
              <a:rPr lang="en-NL" dirty="0"/>
              <a:t>(NOTE: add the assumption sheet here too)</a:t>
            </a:r>
          </a:p>
        </p:txBody>
      </p:sp>
      <p:sp>
        <p:nvSpPr>
          <p:cNvPr id="4" name="Slide Number Placeholder 3">
            <a:extLst>
              <a:ext uri="{FF2B5EF4-FFF2-40B4-BE49-F238E27FC236}">
                <a16:creationId xmlns:a16="http://schemas.microsoft.com/office/drawing/2014/main" id="{2EB6BA6F-AF33-8B0A-CDA2-CEFCF1DF49F4}"/>
              </a:ext>
            </a:extLst>
          </p:cNvPr>
          <p:cNvSpPr>
            <a:spLocks noGrp="1"/>
          </p:cNvSpPr>
          <p:nvPr>
            <p:ph type="sldNum" sz="quarter" idx="5"/>
          </p:nvPr>
        </p:nvSpPr>
        <p:spPr/>
        <p:txBody>
          <a:bodyPr/>
          <a:lstStyle/>
          <a:p>
            <a:fld id="{1BE8DCDC-D13C-2549-BE6A-717E9EED41AD}" type="slidenum">
              <a:rPr lang="en-GB" smtClean="0"/>
              <a:t>4</a:t>
            </a:fld>
            <a:endParaRPr lang="en-GB"/>
          </a:p>
        </p:txBody>
      </p:sp>
    </p:spTree>
    <p:extLst>
      <p:ext uri="{BB962C8B-B14F-4D97-AF65-F5344CB8AC3E}">
        <p14:creationId xmlns:p14="http://schemas.microsoft.com/office/powerpoint/2010/main" val="185609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6</a:t>
            </a:fld>
            <a:endParaRPr lang="en-GB"/>
          </a:p>
        </p:txBody>
      </p:sp>
    </p:spTree>
    <p:extLst>
      <p:ext uri="{BB962C8B-B14F-4D97-AF65-F5344CB8AC3E}">
        <p14:creationId xmlns:p14="http://schemas.microsoft.com/office/powerpoint/2010/main" val="143139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357341" cy="5759450"/>
          </a:xfrm>
          <a:prstGeom prst="rect">
            <a:avLst/>
          </a:prstGeom>
        </p:spPr>
        <p:txBody>
          <a:bodyPr lIns="0" tIns="0" rIns="0" bIns="0" anchor="ctr" anchorCtr="0">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9" name="Picture 8">
            <a:extLst>
              <a:ext uri="{FF2B5EF4-FFF2-40B4-BE49-F238E27FC236}">
                <a16:creationId xmlns:a16="http://schemas.microsoft.com/office/drawing/2014/main" id="{F044E8B6-6518-A33D-7A70-C9FD6E468D67}"/>
              </a:ext>
            </a:extLst>
          </p:cNvPr>
          <p:cNvPicPr>
            <a:picLocks noChangeAspect="1"/>
          </p:cNvPicPr>
          <p:nvPr userDrawn="1"/>
        </p:nvPicPr>
        <p:blipFill>
          <a:blip r:embed="rId2"/>
          <a:srcRect/>
          <a:stretch/>
        </p:blipFill>
        <p:spPr>
          <a:xfrm>
            <a:off x="127306" y="4037048"/>
            <a:ext cx="3585484" cy="2308665"/>
          </a:xfrm>
          <a:prstGeom prst="rect">
            <a:avLst/>
          </a:prstGeom>
        </p:spPr>
      </p:pic>
      <p:pic>
        <p:nvPicPr>
          <p:cNvPr id="21" name="Picture 20">
            <a:extLst>
              <a:ext uri="{FF2B5EF4-FFF2-40B4-BE49-F238E27FC236}">
                <a16:creationId xmlns:a16="http://schemas.microsoft.com/office/drawing/2014/main" id="{09FCB7F2-EDDE-2631-46A7-9B1DBF90345A}"/>
              </a:ext>
            </a:extLst>
          </p:cNvPr>
          <p:cNvPicPr>
            <a:picLocks noChangeAspect="1"/>
          </p:cNvPicPr>
          <p:nvPr userDrawn="1"/>
        </p:nvPicPr>
        <p:blipFill>
          <a:blip r:embed="rId3"/>
          <a:stretch>
            <a:fillRect/>
          </a:stretch>
        </p:blipFill>
        <p:spPr>
          <a:xfrm>
            <a:off x="0" y="0"/>
            <a:ext cx="4059534" cy="3696086"/>
          </a:xfrm>
          <a:prstGeom prst="rect">
            <a:avLst/>
          </a:prstGeom>
        </p:spPr>
      </p:pic>
      <p:sp>
        <p:nvSpPr>
          <p:cNvPr id="22" name="TextBox 21">
            <a:extLst>
              <a:ext uri="{FF2B5EF4-FFF2-40B4-BE49-F238E27FC236}">
                <a16:creationId xmlns:a16="http://schemas.microsoft.com/office/drawing/2014/main" id="{2E11E1F5-72FC-EA6D-2311-C01BA07ECAEE}"/>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23" name="TextBox 22">
            <a:extLst>
              <a:ext uri="{FF2B5EF4-FFF2-40B4-BE49-F238E27FC236}">
                <a16:creationId xmlns:a16="http://schemas.microsoft.com/office/drawing/2014/main" id="{FFD81D20-A5D3-92AD-E846-1BFCC81E7AC4}"/>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95456045"/>
      </p:ext>
    </p:extLst>
  </p:cSld>
  <p:clrMapOvr>
    <a:masterClrMapping/>
  </p:clrMapOvr>
  <p:extLst>
    <p:ext uri="{DCECCB84-F9BA-43D5-87BE-67443E8EF086}">
      <p15:sldGuideLst xmlns:p15="http://schemas.microsoft.com/office/powerpoint/2012/main">
        <p15:guide id="1" pos="3840">
          <p15:clr>
            <a:srgbClr val="FBAE40"/>
          </p15:clr>
        </p15:guide>
        <p15:guide id="2" pos="24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11" name="Picture 10">
            <a:extLst>
              <a:ext uri="{FF2B5EF4-FFF2-40B4-BE49-F238E27FC236}">
                <a16:creationId xmlns:a16="http://schemas.microsoft.com/office/drawing/2014/main" id="{8B27D770-6B73-6C3D-D0E2-95502F84F8AE}"/>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51294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5" name="Picture 4">
            <a:extLst>
              <a:ext uri="{FF2B5EF4-FFF2-40B4-BE49-F238E27FC236}">
                <a16:creationId xmlns:a16="http://schemas.microsoft.com/office/drawing/2014/main" id="{D37C8642-0124-622F-BAF5-E8A0C111DED4}"/>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165097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84E54A-D965-FC50-802E-562CE671CB7A}"/>
              </a:ext>
            </a:extLst>
          </p:cNvPr>
          <p:cNvSpPr/>
          <p:nvPr userDrawn="1"/>
        </p:nvSpPr>
        <p:spPr>
          <a:xfrm>
            <a:off x="0" y="0"/>
            <a:ext cx="12192000" cy="1665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itle 1">
            <a:extLst>
              <a:ext uri="{FF2B5EF4-FFF2-40B4-BE49-F238E27FC236}">
                <a16:creationId xmlns:a16="http://schemas.microsoft.com/office/drawing/2014/main" id="{0B918DAA-45D8-EF4A-B0DE-9DB83618DF2E}"/>
              </a:ext>
            </a:extLst>
          </p:cNvPr>
          <p:cNvSpPr>
            <a:spLocks noGrp="1"/>
          </p:cNvSpPr>
          <p:nvPr>
            <p:ph type="title"/>
          </p:nvPr>
        </p:nvSpPr>
        <p:spPr>
          <a:xfrm>
            <a:off x="442913" y="441325"/>
            <a:ext cx="8891914" cy="1223964"/>
          </a:xfrm>
          <a:prstGeom prst="rect">
            <a:avLst/>
          </a:prstGeom>
        </p:spPr>
        <p:txBody>
          <a:bodyPr lIns="0" tIns="0" rIns="0" bIns="0" anchor="b"/>
          <a:lstStyle/>
          <a:p>
            <a:r>
              <a:rPr lang="en-GB" noProof="0"/>
              <a:t>Click to edit Master title style</a:t>
            </a:r>
            <a:endParaRPr lang="en-GB" noProof="0" dirty="0"/>
          </a:p>
        </p:txBody>
      </p:sp>
      <p:sp>
        <p:nvSpPr>
          <p:cNvPr id="9" name="TextBox 8">
            <a:extLst>
              <a:ext uri="{FF2B5EF4-FFF2-40B4-BE49-F238E27FC236}">
                <a16:creationId xmlns:a16="http://schemas.microsoft.com/office/drawing/2014/main" id="{05DE0E92-4155-274E-B8D3-6224F5791510}"/>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8" name="TextBox 7">
            <a:extLst>
              <a:ext uri="{FF2B5EF4-FFF2-40B4-BE49-F238E27FC236}">
                <a16:creationId xmlns:a16="http://schemas.microsoft.com/office/drawing/2014/main" id="{E3DCB52A-22C1-CC1A-5306-2A67B54510F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11" name="Picture 10">
            <a:extLst>
              <a:ext uri="{FF2B5EF4-FFF2-40B4-BE49-F238E27FC236}">
                <a16:creationId xmlns:a16="http://schemas.microsoft.com/office/drawing/2014/main" id="{EB4EE815-10FC-404F-AA02-42FDEC9EF32B}"/>
              </a:ext>
            </a:extLst>
          </p:cNvPr>
          <p:cNvPicPr>
            <a:picLocks noChangeAspect="1"/>
          </p:cNvPicPr>
          <p:nvPr userDrawn="1"/>
        </p:nvPicPr>
        <p:blipFill>
          <a:blip r:embed="rId2"/>
          <a:srcRect/>
          <a:stretch/>
        </p:blipFill>
        <p:spPr>
          <a:xfrm>
            <a:off x="9641299" y="248555"/>
            <a:ext cx="2328312" cy="1499182"/>
          </a:xfrm>
          <a:prstGeom prst="rect">
            <a:avLst/>
          </a:prstGeom>
        </p:spPr>
      </p:pic>
      <p:sp>
        <p:nvSpPr>
          <p:cNvPr id="12" name="TextBox 11">
            <a:extLst>
              <a:ext uri="{FF2B5EF4-FFF2-40B4-BE49-F238E27FC236}">
                <a16:creationId xmlns:a16="http://schemas.microsoft.com/office/drawing/2014/main" id="{4AF0A2EB-42C3-D81B-AB52-D398F3B5452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3" name="TextBox 12">
            <a:extLst>
              <a:ext uri="{FF2B5EF4-FFF2-40B4-BE49-F238E27FC236}">
                <a16:creationId xmlns:a16="http://schemas.microsoft.com/office/drawing/2014/main" id="{E3B065CA-40FB-7F48-9E62-95C7492E7738}"/>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453005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0" name="Title 1">
            <a:extLst>
              <a:ext uri="{FF2B5EF4-FFF2-40B4-BE49-F238E27FC236}">
                <a16:creationId xmlns:a16="http://schemas.microsoft.com/office/drawing/2014/main" id="{E5A67C6D-451D-6C40-B015-49D1207326AE}"/>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48551B1C-217B-4F4B-81FF-529B758036DF}"/>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23DF6C31-4E8E-5BDB-94AB-7610F1DA05D3}"/>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CC054057-F02E-2B99-E32E-F9979D4EEE57}"/>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091067E1-F7EC-01BB-7973-A7A252E1C28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4357420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2" name="Content Placeholder 11">
            <a:extLst>
              <a:ext uri="{FF2B5EF4-FFF2-40B4-BE49-F238E27FC236}">
                <a16:creationId xmlns:a16="http://schemas.microsoft.com/office/drawing/2014/main" id="{FEE9A4EF-A011-1744-9932-D74E1968F6E7}"/>
              </a:ext>
            </a:extLst>
          </p:cNvPr>
          <p:cNvSpPr>
            <a:spLocks noGrp="1"/>
          </p:cNvSpPr>
          <p:nvPr>
            <p:ph sz="quarter" idx="14"/>
          </p:nvPr>
        </p:nvSpPr>
        <p:spPr>
          <a:xfrm>
            <a:off x="6311903" y="441325"/>
            <a:ext cx="5437188" cy="5759450"/>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6" name="Title 10">
            <a:extLst>
              <a:ext uri="{FF2B5EF4-FFF2-40B4-BE49-F238E27FC236}">
                <a16:creationId xmlns:a16="http://schemas.microsoft.com/office/drawing/2014/main" id="{091C71F5-B0A7-8745-8F8B-E636D57FA2A7}"/>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3" name="TextBox 12">
            <a:extLst>
              <a:ext uri="{FF2B5EF4-FFF2-40B4-BE49-F238E27FC236}">
                <a16:creationId xmlns:a16="http://schemas.microsoft.com/office/drawing/2014/main" id="{67AD4010-0096-6B46-B74C-E77670FCDEA8}"/>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70103DDA-7889-4B5B-0956-8066BA50259B}"/>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15F07B0A-8C48-EF80-3A83-BF9149E741FA}"/>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8A89AE47-1EEB-2C92-3C54-1F045097632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06148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Tex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4116388" y="2097089"/>
            <a:ext cx="7632703"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3368799" cy="4103687"/>
          </a:xfrm>
        </p:spPr>
        <p:txBody>
          <a:bodyPr/>
          <a:lstStyle>
            <a:lvl1pPr marL="0" indent="0">
              <a:buNone/>
              <a:defRPr/>
            </a:lvl1pPr>
          </a:lstStyle>
          <a:p>
            <a:pPr lvl="0"/>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p:txBody>
      </p:sp>
      <p:sp>
        <p:nvSpPr>
          <p:cNvPr id="5" name="TextBox 4">
            <a:extLst>
              <a:ext uri="{FF2B5EF4-FFF2-40B4-BE49-F238E27FC236}">
                <a16:creationId xmlns:a16="http://schemas.microsoft.com/office/drawing/2014/main" id="{B922CF7E-E712-017E-103E-DCEC9512CD09}"/>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90AB2192-2677-291C-F2AE-B0A152218DEC}"/>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E0DD3AD8-8F42-1667-07F4-9D017FB25D1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02646023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Text 3">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0" y="2097089"/>
            <a:ext cx="5437191"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5437187"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p:txBody>
      </p:sp>
      <p:sp>
        <p:nvSpPr>
          <p:cNvPr id="5" name="TextBox 4">
            <a:extLst>
              <a:ext uri="{FF2B5EF4-FFF2-40B4-BE49-F238E27FC236}">
                <a16:creationId xmlns:a16="http://schemas.microsoft.com/office/drawing/2014/main" id="{FE3A1906-1C90-CD57-B856-9068C16F17C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AE4B60B3-9B42-510D-CCDA-A4FD4CB13D11}"/>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DF6A1745-FF3F-423F-8AA2-E352A08E2E4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36753615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Text 4">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8075613" y="2097089"/>
            <a:ext cx="3673478"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7200900"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a:p>
            <a:pPr marL="457200" indent="-457200">
              <a:buFont typeface="Arial" panose="020B0604020202020204" pitchFamily="34" charset="0"/>
              <a:buChar char="•"/>
            </a:pPr>
            <a:r>
              <a:rPr lang="en-GB" noProof="0" dirty="0"/>
              <a:t>Donec </a:t>
            </a:r>
            <a:r>
              <a:rPr lang="en-GB" noProof="0" dirty="0" err="1"/>
              <a:t>rutrum</a:t>
            </a:r>
            <a:r>
              <a:rPr lang="en-GB" noProof="0" dirty="0"/>
              <a:t> </a:t>
            </a:r>
            <a:r>
              <a:rPr lang="en-GB" noProof="0" dirty="0" err="1"/>
              <a:t>congue</a:t>
            </a:r>
            <a:r>
              <a:rPr lang="en-GB" noProof="0" dirty="0"/>
              <a:t> </a:t>
            </a:r>
            <a:r>
              <a:rPr lang="en-GB" noProof="0" dirty="0" err="1"/>
              <a:t>leo</a:t>
            </a:r>
            <a:r>
              <a:rPr lang="en-GB" noProof="0" dirty="0"/>
              <a:t> </a:t>
            </a:r>
            <a:r>
              <a:rPr lang="en-GB" noProof="0" dirty="0" err="1"/>
              <a:t>eget</a:t>
            </a:r>
            <a:r>
              <a:rPr lang="en-GB" noProof="0" dirty="0"/>
              <a:t> </a:t>
            </a:r>
            <a:r>
              <a:rPr lang="en-GB" noProof="0" dirty="0" err="1"/>
              <a:t>malesuada</a:t>
            </a:r>
            <a:r>
              <a:rPr lang="en-GB" noProof="0" dirty="0"/>
              <a:t>.</a:t>
            </a:r>
          </a:p>
          <a:p>
            <a:pPr marL="457200" indent="-457200">
              <a:buFont typeface="Arial" panose="020B0604020202020204" pitchFamily="34" charset="0"/>
              <a:buChar char="•"/>
            </a:pPr>
            <a:r>
              <a:rPr lang="en-GB" noProof="0" dirty="0" err="1"/>
              <a:t>Curabitur</a:t>
            </a:r>
            <a:r>
              <a:rPr lang="en-GB" noProof="0" dirty="0"/>
              <a:t> </a:t>
            </a:r>
            <a:r>
              <a:rPr lang="en-GB" noProof="0" dirty="0" err="1"/>
              <a:t>aliquet</a:t>
            </a:r>
            <a:r>
              <a:rPr lang="en-GB" noProof="0" dirty="0"/>
              <a:t> </a:t>
            </a:r>
            <a:r>
              <a:rPr lang="en-GB" noProof="0" dirty="0" err="1"/>
              <a:t>quam</a:t>
            </a:r>
            <a:r>
              <a:rPr lang="en-GB" noProof="0" dirty="0"/>
              <a:t> id dui </a:t>
            </a:r>
            <a:r>
              <a:rPr lang="en-GB" noProof="0" dirty="0" err="1"/>
              <a:t>posuere</a:t>
            </a:r>
            <a:r>
              <a:rPr lang="en-GB" noProof="0" dirty="0"/>
              <a:t> </a:t>
            </a:r>
            <a:r>
              <a:rPr lang="en-GB" noProof="0" dirty="0" err="1"/>
              <a:t>blandit</a:t>
            </a:r>
            <a:r>
              <a:rPr lang="en-GB" noProof="0" dirty="0"/>
              <a:t>.</a:t>
            </a:r>
          </a:p>
          <a:p>
            <a:pPr marL="457200" indent="-457200">
              <a:buFont typeface="Arial" panose="020B0604020202020204" pitchFamily="34" charset="0"/>
              <a:buChar char="•"/>
            </a:pPr>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a:t>
            </a:r>
          </a:p>
        </p:txBody>
      </p:sp>
      <p:sp>
        <p:nvSpPr>
          <p:cNvPr id="5" name="TextBox 4">
            <a:extLst>
              <a:ext uri="{FF2B5EF4-FFF2-40B4-BE49-F238E27FC236}">
                <a16:creationId xmlns:a16="http://schemas.microsoft.com/office/drawing/2014/main" id="{776350AF-01E5-1584-1D6E-A24252F1C3E6}"/>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8F091343-887A-7C27-2A65-1394B1B02F38}"/>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8D42407B-17FD-C502-1243-774F728D13CE}"/>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73630937"/>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with Caption 2">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5512DB3-4C68-E6AE-8D86-2B37C85E701B}"/>
              </a:ext>
            </a:extLst>
          </p:cNvPr>
          <p:cNvPicPr>
            <a:picLocks noChangeAspect="1"/>
          </p:cNvPicPr>
          <p:nvPr userDrawn="1"/>
        </p:nvPicPr>
        <p:blipFill>
          <a:blip r:embed="rId2"/>
          <a:srcRect/>
          <a:stretch/>
        </p:blipFill>
        <p:spPr>
          <a:xfrm>
            <a:off x="8075613" y="0"/>
            <a:ext cx="4114800" cy="6858000"/>
          </a:xfrm>
          <a:prstGeom prst="rect">
            <a:avLst/>
          </a:prstGeom>
        </p:spPr>
      </p:pic>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1" name="Title 10">
            <a:extLst>
              <a:ext uri="{FF2B5EF4-FFF2-40B4-BE49-F238E27FC236}">
                <a16:creationId xmlns:a16="http://schemas.microsoft.com/office/drawing/2014/main" id="{22C07795-8A1B-4F48-ADAF-7475467E7A60}"/>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DD43CCD-AAFC-B847-BF0F-B7E2A805F6E1}"/>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10" name="Picture Placeholder 9">
            <a:extLst>
              <a:ext uri="{FF2B5EF4-FFF2-40B4-BE49-F238E27FC236}">
                <a16:creationId xmlns:a16="http://schemas.microsoft.com/office/drawing/2014/main" id="{A12FA691-34E1-B147-9F45-2CFB053A59B9}"/>
              </a:ext>
            </a:extLst>
          </p:cNvPr>
          <p:cNvSpPr>
            <a:spLocks noGrp="1"/>
          </p:cNvSpPr>
          <p:nvPr>
            <p:ph type="pic" sz="quarter" idx="14"/>
          </p:nvPr>
        </p:nvSpPr>
        <p:spPr>
          <a:xfrm>
            <a:off x="6474702" y="979714"/>
            <a:ext cx="4734000" cy="4898572"/>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5" name="TextBox 4">
            <a:extLst>
              <a:ext uri="{FF2B5EF4-FFF2-40B4-BE49-F238E27FC236}">
                <a16:creationId xmlns:a16="http://schemas.microsoft.com/office/drawing/2014/main" id="{A79FCCC6-1BCF-D16E-D5A2-940EE11165D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7" name="TextBox 6">
            <a:extLst>
              <a:ext uri="{FF2B5EF4-FFF2-40B4-BE49-F238E27FC236}">
                <a16:creationId xmlns:a16="http://schemas.microsoft.com/office/drawing/2014/main" id="{3A19DD43-09A7-C0FA-FD23-56F06106877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2" name="TextBox 11">
            <a:extLst>
              <a:ext uri="{FF2B5EF4-FFF2-40B4-BE49-F238E27FC236}">
                <a16:creationId xmlns:a16="http://schemas.microsoft.com/office/drawing/2014/main" id="{BEC753A9-3B8C-F8F1-F06A-BC751753B4D7}"/>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3455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mage and Content - Pattern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0B8AC0-F5B9-4961-AB36-A3709CEF5207}"/>
              </a:ext>
            </a:extLst>
          </p:cNvPr>
          <p:cNvPicPr>
            <a:picLocks noChangeAspect="1"/>
          </p:cNvPicPr>
          <p:nvPr userDrawn="1"/>
        </p:nvPicPr>
        <p:blipFill>
          <a:blip r:embed="rId2"/>
          <a:stretch>
            <a:fillRect/>
          </a:stretch>
        </p:blipFill>
        <p:spPr>
          <a:xfrm>
            <a:off x="0" y="2960642"/>
            <a:ext cx="4280598" cy="3897357"/>
          </a:xfrm>
          <a:prstGeom prst="rect">
            <a:avLst/>
          </a:prstGeom>
        </p:spPr>
      </p:pic>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3" name="Title 1">
            <a:extLst>
              <a:ext uri="{FF2B5EF4-FFF2-40B4-BE49-F238E27FC236}">
                <a16:creationId xmlns:a16="http://schemas.microsoft.com/office/drawing/2014/main" id="{3A9FAEF4-2CDC-9742-AEF3-A25C5A448891}"/>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7" name="Picture Placeholder 2">
            <a:extLst>
              <a:ext uri="{FF2B5EF4-FFF2-40B4-BE49-F238E27FC236}">
                <a16:creationId xmlns:a16="http://schemas.microsoft.com/office/drawing/2014/main" id="{14DCF326-D6B4-5E4A-8E2C-D9FE40FD28A1}"/>
              </a:ext>
            </a:extLst>
          </p:cNvPr>
          <p:cNvSpPr>
            <a:spLocks noGrp="1"/>
          </p:cNvSpPr>
          <p:nvPr>
            <p:ph type="pic" sz="quarter" idx="15"/>
          </p:nvPr>
        </p:nvSpPr>
        <p:spPr>
          <a:xfrm>
            <a:off x="1188719" y="2098800"/>
            <a:ext cx="4690800" cy="3571200"/>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6" name="TextBox 5">
            <a:extLst>
              <a:ext uri="{FF2B5EF4-FFF2-40B4-BE49-F238E27FC236}">
                <a16:creationId xmlns:a16="http://schemas.microsoft.com/office/drawing/2014/main" id="{190943C6-B383-4763-B926-D1CB8D8C92A1}"/>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833B36E5-CE69-3B1E-B3BD-1693FA1E6BE8}"/>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9882922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and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20" name="Title 1">
            <a:extLst>
              <a:ext uri="{FF2B5EF4-FFF2-40B4-BE49-F238E27FC236}">
                <a16:creationId xmlns:a16="http://schemas.microsoft.com/office/drawing/2014/main" id="{93976421-9C43-4A44-829D-511FFE0243F2}"/>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3" name="Picture Placeholder 2">
            <a:extLst>
              <a:ext uri="{FF2B5EF4-FFF2-40B4-BE49-F238E27FC236}">
                <a16:creationId xmlns:a16="http://schemas.microsoft.com/office/drawing/2014/main" id="{7BCB34A3-C584-1046-8C17-AB1BCE2694C8}"/>
              </a:ext>
            </a:extLst>
          </p:cNvPr>
          <p:cNvSpPr>
            <a:spLocks noGrp="1"/>
          </p:cNvSpPr>
          <p:nvPr>
            <p:ph type="pic" sz="quarter" idx="14"/>
          </p:nvPr>
        </p:nvSpPr>
        <p:spPr>
          <a:xfrm>
            <a:off x="6311903" y="2097091"/>
            <a:ext cx="5437188" cy="4103687"/>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11" name="TextBox 10">
            <a:extLst>
              <a:ext uri="{FF2B5EF4-FFF2-40B4-BE49-F238E27FC236}">
                <a16:creationId xmlns:a16="http://schemas.microsoft.com/office/drawing/2014/main" id="{C51A06C6-814D-4A47-8F9A-552C373FA66E}"/>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78FCF1BB-B3E9-B97A-8306-531C90803CA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6F0D4EE2-C7DF-8A77-CC45-38E648A1250B}"/>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448E0526-BD62-081D-BB5E-E881DF8C3413}"/>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33498401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Full slide quo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accent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447325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ull slide 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48F992-2AE2-529F-7179-FAFD77609F6B}"/>
              </a:ext>
            </a:extLst>
          </p:cNvPr>
          <p:cNvSpPr/>
          <p:nvPr userDrawn="1"/>
        </p:nvSpPr>
        <p:spPr>
          <a:xfrm>
            <a:off x="3125036" y="0"/>
            <a:ext cx="90669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GB" dirty="0"/>
          </a:p>
        </p:txBody>
      </p:sp>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solidFill>
                  <a:schemeClr val="bg1"/>
                </a:solidFill>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bg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3424900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6390" y="441326"/>
            <a:ext cx="7632692" cy="1223964"/>
          </a:xfrm>
          <a:prstGeom prst="rect">
            <a:avLst/>
          </a:prstGeom>
        </p:spPr>
        <p:txBody>
          <a:bodyPr vert="horz" lIns="0" tIns="0" rIns="0" bIns="0" rtlCol="0" anchor="b">
            <a:normAutofit/>
          </a:bodyPr>
          <a:lstStyle/>
          <a:p>
            <a:endParaRPr lang="en-US" dirty="0"/>
          </a:p>
        </p:txBody>
      </p:sp>
      <p:sp>
        <p:nvSpPr>
          <p:cNvPr id="3" name="Text Placeholder 2"/>
          <p:cNvSpPr>
            <a:spLocks noGrp="1"/>
          </p:cNvSpPr>
          <p:nvPr>
            <p:ph type="body" idx="1"/>
          </p:nvPr>
        </p:nvSpPr>
        <p:spPr>
          <a:xfrm>
            <a:off x="442907" y="2097090"/>
            <a:ext cx="11306175" cy="4079872"/>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5" name="Picture 4">
            <a:extLst>
              <a:ext uri="{FF2B5EF4-FFF2-40B4-BE49-F238E27FC236}">
                <a16:creationId xmlns:a16="http://schemas.microsoft.com/office/drawing/2014/main" id="{1C779A7A-3E32-4C26-1C18-91765C53270A}"/>
              </a:ext>
            </a:extLst>
          </p:cNvPr>
          <p:cNvPicPr>
            <a:picLocks noChangeAspect="1"/>
          </p:cNvPicPr>
          <p:nvPr userDrawn="1"/>
        </p:nvPicPr>
        <p:blipFill>
          <a:blip r:embed="rId16"/>
          <a:srcRect/>
          <a:stretch/>
        </p:blipFill>
        <p:spPr>
          <a:xfrm>
            <a:off x="236214" y="248555"/>
            <a:ext cx="2328312" cy="1499182"/>
          </a:xfrm>
          <a:prstGeom prst="rect">
            <a:avLst/>
          </a:prstGeom>
        </p:spPr>
      </p:pic>
    </p:spTree>
    <p:extLst>
      <p:ext uri="{BB962C8B-B14F-4D97-AF65-F5344CB8AC3E}">
        <p14:creationId xmlns:p14="http://schemas.microsoft.com/office/powerpoint/2010/main" val="304730902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21" r:id="rId3"/>
    <p:sldLayoutId id="2147483706" r:id="rId4"/>
    <p:sldLayoutId id="2147483708" r:id="rId5"/>
    <p:sldLayoutId id="2147483709" r:id="rId6"/>
    <p:sldLayoutId id="2147483710" r:id="rId7"/>
    <p:sldLayoutId id="2147483711" r:id="rId8"/>
    <p:sldLayoutId id="2147483712" r:id="rId9"/>
    <p:sldLayoutId id="2147483714" r:id="rId10"/>
    <p:sldLayoutId id="2147483716" r:id="rId11"/>
    <p:sldLayoutId id="2147483717" r:id="rId12"/>
    <p:sldLayoutId id="2147483718" r:id="rId13"/>
    <p:sldLayoutId id="2147483720" r:id="rId14"/>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2593">
          <p15:clr>
            <a:srgbClr val="F26B43"/>
          </p15:clr>
        </p15:guide>
        <p15:guide id="3" pos="2865">
          <p15:clr>
            <a:srgbClr val="F26B43"/>
          </p15:clr>
        </p15:guide>
        <p15:guide id="4" pos="3704">
          <p15:clr>
            <a:srgbClr val="F26B43"/>
          </p15:clr>
        </p15:guide>
        <p15:guide id="5" pos="3976">
          <p15:clr>
            <a:srgbClr val="F26B43"/>
          </p15:clr>
        </p15:guide>
        <p15:guide id="6" pos="4815">
          <p15:clr>
            <a:srgbClr val="F26B43"/>
          </p15:clr>
        </p15:guide>
        <p15:guide id="7" pos="5087">
          <p15:clr>
            <a:srgbClr val="F26B43"/>
          </p15:clr>
        </p15:guide>
        <p15:guide id="8" pos="7401">
          <p15:clr>
            <a:srgbClr val="F26B43"/>
          </p15:clr>
        </p15:guide>
        <p15:guide id="9" orient="horz" pos="278">
          <p15:clr>
            <a:srgbClr val="F26B43"/>
          </p15:clr>
        </p15:guide>
        <p15:guide id="10" orient="horz" pos="1049">
          <p15:clr>
            <a:srgbClr val="F26B43"/>
          </p15:clr>
        </p15:guide>
        <p15:guide id="11" orient="horz" pos="1321">
          <p15:clr>
            <a:srgbClr val="F26B43"/>
          </p15:clr>
        </p15:guide>
        <p15:guide id="12" orient="horz" pos="3906">
          <p15:clr>
            <a:srgbClr val="F26B43"/>
          </p15:clr>
        </p15:guide>
        <p15:guide id="13" orient="horz" pos="4178">
          <p15:clr>
            <a:srgbClr val="F26B43"/>
          </p15:clr>
        </p15:guide>
        <p15:guide id="14" orient="horz" pos="4042">
          <p15:clr>
            <a:srgbClr val="F26B43"/>
          </p15:clr>
        </p15:guide>
        <p15:guide id="15" orient="horz" pos="118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04B1-372F-B359-D62A-9CC263D7C0AA}"/>
              </a:ext>
            </a:extLst>
          </p:cNvPr>
          <p:cNvSpPr>
            <a:spLocks noGrp="1"/>
          </p:cNvSpPr>
          <p:nvPr>
            <p:ph type="title"/>
          </p:nvPr>
        </p:nvSpPr>
        <p:spPr>
          <a:xfrm>
            <a:off x="4116391" y="180068"/>
            <a:ext cx="7357341" cy="5759450"/>
          </a:xfrm>
        </p:spPr>
        <p:txBody>
          <a:bodyPr>
            <a:normAutofit/>
          </a:bodyPr>
          <a:lstStyle/>
          <a:p>
            <a:r>
              <a:rPr lang="en-ZA" sz="5000" dirty="0"/>
              <a:t>TIER-Plus overview and core functionality</a:t>
            </a:r>
            <a:endParaRPr lang="en-CH" sz="5000" dirty="0"/>
          </a:p>
        </p:txBody>
      </p:sp>
      <p:sp>
        <p:nvSpPr>
          <p:cNvPr id="3" name="TextBox 2">
            <a:extLst>
              <a:ext uri="{FF2B5EF4-FFF2-40B4-BE49-F238E27FC236}">
                <a16:creationId xmlns:a16="http://schemas.microsoft.com/office/drawing/2014/main" id="{5359164F-E97A-9F08-0E28-96DFA83CFE4D}"/>
              </a:ext>
            </a:extLst>
          </p:cNvPr>
          <p:cNvSpPr txBox="1"/>
          <p:nvPr/>
        </p:nvSpPr>
        <p:spPr>
          <a:xfrm>
            <a:off x="4029304" y="5750004"/>
            <a:ext cx="7357341" cy="461665"/>
          </a:xfrm>
          <a:prstGeom prst="rect">
            <a:avLst/>
          </a:prstGeom>
          <a:noFill/>
        </p:spPr>
        <p:txBody>
          <a:bodyPr wrap="square" rtlCol="0">
            <a:spAutoFit/>
          </a:bodyPr>
          <a:lstStyle/>
          <a:p>
            <a:r>
              <a:rPr lang="en-US" sz="1200" dirty="0"/>
              <a:t>Brooke Nichols, Boston University</a:t>
            </a:r>
            <a:br>
              <a:rPr lang="en-US" sz="1200" dirty="0"/>
            </a:br>
            <a:r>
              <a:rPr lang="en-US" sz="1200" b="1" dirty="0"/>
              <a:t>Prioritization under pressure: Rethinking HIV service delivery </a:t>
            </a:r>
            <a:r>
              <a:rPr lang="en-US" sz="1200" b="1"/>
              <a:t>with TIER-Plus</a:t>
            </a:r>
            <a:endParaRPr lang="en-US" sz="1200" dirty="0"/>
          </a:p>
        </p:txBody>
      </p:sp>
      <p:pic>
        <p:nvPicPr>
          <p:cNvPr id="4" name="Picture 3">
            <a:extLst>
              <a:ext uri="{FF2B5EF4-FFF2-40B4-BE49-F238E27FC236}">
                <a16:creationId xmlns:a16="http://schemas.microsoft.com/office/drawing/2014/main" id="{447F3F0C-6ACF-A9B0-252F-245D32C89270}"/>
              </a:ext>
            </a:extLst>
          </p:cNvPr>
          <p:cNvPicPr>
            <a:picLocks noChangeAspect="1"/>
          </p:cNvPicPr>
          <p:nvPr/>
        </p:nvPicPr>
        <p:blipFill>
          <a:blip r:embed="rId2"/>
          <a:stretch>
            <a:fillRect/>
          </a:stretch>
        </p:blipFill>
        <p:spPr>
          <a:xfrm>
            <a:off x="10821042" y="94340"/>
            <a:ext cx="1393825" cy="1393825"/>
          </a:xfrm>
          <a:prstGeom prst="rect">
            <a:avLst/>
          </a:prstGeom>
        </p:spPr>
      </p:pic>
    </p:spTree>
    <p:extLst>
      <p:ext uri="{BB962C8B-B14F-4D97-AF65-F5344CB8AC3E}">
        <p14:creationId xmlns:p14="http://schemas.microsoft.com/office/powerpoint/2010/main" val="236530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FFC1-5EF9-054D-62F0-D92CD1E67BE8}"/>
              </a:ext>
            </a:extLst>
          </p:cNvPr>
          <p:cNvSpPr>
            <a:spLocks noGrp="1"/>
          </p:cNvSpPr>
          <p:nvPr>
            <p:ph type="title"/>
          </p:nvPr>
        </p:nvSpPr>
        <p:spPr/>
        <p:txBody>
          <a:bodyPr/>
          <a:lstStyle/>
          <a:p>
            <a:pPr algn="ctr"/>
            <a:r>
              <a:rPr lang="en-NL" dirty="0"/>
              <a:t>Who is TIER-Plus for?</a:t>
            </a:r>
          </a:p>
        </p:txBody>
      </p:sp>
    </p:spTree>
    <p:extLst>
      <p:ext uri="{BB962C8B-B14F-4D97-AF65-F5344CB8AC3E}">
        <p14:creationId xmlns:p14="http://schemas.microsoft.com/office/powerpoint/2010/main" val="287546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D0F044-56C8-9E98-ECCB-C2BFA2731DFE}"/>
              </a:ext>
            </a:extLst>
          </p:cNvPr>
          <p:cNvPicPr>
            <a:picLocks noChangeAspect="1"/>
          </p:cNvPicPr>
          <p:nvPr/>
        </p:nvPicPr>
        <p:blipFill>
          <a:blip r:embed="rId2"/>
          <a:srcRect l="13029"/>
          <a:stretch>
            <a:fillRect/>
          </a:stretch>
        </p:blipFill>
        <p:spPr>
          <a:xfrm>
            <a:off x="6660239" y="0"/>
            <a:ext cx="5971947" cy="6858000"/>
          </a:xfrm>
          <a:prstGeom prst="rect">
            <a:avLst/>
          </a:prstGeom>
        </p:spPr>
      </p:pic>
      <p:sp>
        <p:nvSpPr>
          <p:cNvPr id="5" name="Title 1">
            <a:extLst>
              <a:ext uri="{FF2B5EF4-FFF2-40B4-BE49-F238E27FC236}">
                <a16:creationId xmlns:a16="http://schemas.microsoft.com/office/drawing/2014/main" id="{BD618870-B790-5827-117F-3B9D21821827}"/>
              </a:ext>
            </a:extLst>
          </p:cNvPr>
          <p:cNvSpPr txBox="1">
            <a:spLocks/>
          </p:cNvSpPr>
          <p:nvPr/>
        </p:nvSpPr>
        <p:spPr>
          <a:xfrm>
            <a:off x="737759" y="1785768"/>
            <a:ext cx="4834701" cy="1600803"/>
          </a:xfrm>
          <a:prstGeom prst="rect">
            <a:avLst/>
          </a:prstGeom>
        </p:spPr>
        <p:txBody>
          <a:bodyPr vert="horz" lIns="0" tIns="0" rIns="0" bIns="0" rtlCol="0" anchor="b">
            <a:normAutofit fontScale="75000" lnSpcReduction="20000"/>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nSpc>
                <a:spcPct val="120000"/>
              </a:lnSpc>
            </a:pPr>
            <a:r>
              <a:rPr lang="en-NL" dirty="0"/>
              <a:t>Countries represented in TIER-Plus</a:t>
            </a:r>
          </a:p>
        </p:txBody>
      </p:sp>
      <p:sp>
        <p:nvSpPr>
          <p:cNvPr id="6" name="Rectangle 5">
            <a:extLst>
              <a:ext uri="{FF2B5EF4-FFF2-40B4-BE49-F238E27FC236}">
                <a16:creationId xmlns:a16="http://schemas.microsoft.com/office/drawing/2014/main" id="{4A851CFE-13C9-6CE6-C85A-1390BDF2E0C4}"/>
              </a:ext>
            </a:extLst>
          </p:cNvPr>
          <p:cNvSpPr/>
          <p:nvPr/>
        </p:nvSpPr>
        <p:spPr>
          <a:xfrm>
            <a:off x="2750746" y="3859956"/>
            <a:ext cx="174172" cy="217715"/>
          </a:xfrm>
          <a:prstGeom prst="rect">
            <a:avLst/>
          </a:prstGeom>
          <a:solidFill>
            <a:srgbClr val="4DAF4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7" name="Rectangle 6">
            <a:extLst>
              <a:ext uri="{FF2B5EF4-FFF2-40B4-BE49-F238E27FC236}">
                <a16:creationId xmlns:a16="http://schemas.microsoft.com/office/drawing/2014/main" id="{9F6751F9-50C5-4C40-8F34-3A647EDFA71F}"/>
              </a:ext>
            </a:extLst>
          </p:cNvPr>
          <p:cNvSpPr/>
          <p:nvPr/>
        </p:nvSpPr>
        <p:spPr>
          <a:xfrm>
            <a:off x="2722176" y="4771975"/>
            <a:ext cx="174172" cy="217715"/>
          </a:xfrm>
          <a:prstGeom prst="rect">
            <a:avLst/>
          </a:prstGeom>
          <a:solidFill>
            <a:srgbClr val="FD8D3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8" name="TextBox 7">
            <a:extLst>
              <a:ext uri="{FF2B5EF4-FFF2-40B4-BE49-F238E27FC236}">
                <a16:creationId xmlns:a16="http://schemas.microsoft.com/office/drawing/2014/main" id="{B52AF9F2-1F0B-5D62-4A98-8EC7CF5A4148}"/>
              </a:ext>
            </a:extLst>
          </p:cNvPr>
          <p:cNvSpPr txBox="1"/>
          <p:nvPr/>
        </p:nvSpPr>
        <p:spPr>
          <a:xfrm>
            <a:off x="3018300" y="3727703"/>
            <a:ext cx="3530009" cy="923330"/>
          </a:xfrm>
          <a:prstGeom prst="rect">
            <a:avLst/>
          </a:prstGeom>
          <a:noFill/>
        </p:spPr>
        <p:txBody>
          <a:bodyPr wrap="square" rtlCol="0">
            <a:spAutoFit/>
          </a:bodyPr>
          <a:lstStyle/>
          <a:p>
            <a:r>
              <a:rPr lang="en-NL" dirty="0"/>
              <a:t>Baseline data values reviewed and updated by in-country teams</a:t>
            </a:r>
          </a:p>
        </p:txBody>
      </p:sp>
      <p:sp>
        <p:nvSpPr>
          <p:cNvPr id="9" name="TextBox 8">
            <a:extLst>
              <a:ext uri="{FF2B5EF4-FFF2-40B4-BE49-F238E27FC236}">
                <a16:creationId xmlns:a16="http://schemas.microsoft.com/office/drawing/2014/main" id="{86DA6C53-37EA-FF2B-8340-D03B7A19CD2C}"/>
              </a:ext>
            </a:extLst>
          </p:cNvPr>
          <p:cNvSpPr txBox="1"/>
          <p:nvPr/>
        </p:nvSpPr>
        <p:spPr>
          <a:xfrm>
            <a:off x="2975442" y="4660621"/>
            <a:ext cx="3530009" cy="923330"/>
          </a:xfrm>
          <a:prstGeom prst="rect">
            <a:avLst/>
          </a:prstGeom>
          <a:noFill/>
        </p:spPr>
        <p:txBody>
          <a:bodyPr wrap="square" rtlCol="0">
            <a:spAutoFit/>
          </a:bodyPr>
          <a:lstStyle/>
          <a:p>
            <a:r>
              <a:rPr lang="en-NL" dirty="0"/>
              <a:t>Baseline data values from publicly available resources and literature</a:t>
            </a:r>
          </a:p>
        </p:txBody>
      </p:sp>
      <p:cxnSp>
        <p:nvCxnSpPr>
          <p:cNvPr id="12" name="Straight Connector 11">
            <a:extLst>
              <a:ext uri="{FF2B5EF4-FFF2-40B4-BE49-F238E27FC236}">
                <a16:creationId xmlns:a16="http://schemas.microsoft.com/office/drawing/2014/main" id="{1D75DF23-DC03-2A59-B18E-6ED013430956}"/>
              </a:ext>
            </a:extLst>
          </p:cNvPr>
          <p:cNvCxnSpPr>
            <a:cxnSpLocks/>
          </p:cNvCxnSpPr>
          <p:nvPr/>
        </p:nvCxnSpPr>
        <p:spPr>
          <a:xfrm flipH="1">
            <a:off x="7169787" y="2870791"/>
            <a:ext cx="645151" cy="18426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048DF21-38F8-19BF-F562-32E0A6125B19}"/>
              </a:ext>
            </a:extLst>
          </p:cNvPr>
          <p:cNvSpPr txBox="1"/>
          <p:nvPr/>
        </p:nvSpPr>
        <p:spPr>
          <a:xfrm>
            <a:off x="5970029" y="2952179"/>
            <a:ext cx="1268820" cy="276999"/>
          </a:xfrm>
          <a:prstGeom prst="rect">
            <a:avLst/>
          </a:prstGeom>
          <a:noFill/>
        </p:spPr>
        <p:txBody>
          <a:bodyPr wrap="square" rtlCol="0">
            <a:spAutoFit/>
          </a:bodyPr>
          <a:lstStyle/>
          <a:p>
            <a:r>
              <a:rPr lang="en-US" sz="1200" dirty="0">
                <a:solidFill>
                  <a:schemeClr val="accent3">
                    <a:lumMod val="75000"/>
                  </a:schemeClr>
                </a:solidFill>
              </a:rPr>
              <a:t>Côte d’Ivoire</a:t>
            </a:r>
            <a:endParaRPr lang="en-CH" sz="1200" dirty="0">
              <a:solidFill>
                <a:schemeClr val="accent3">
                  <a:lumMod val="75000"/>
                </a:schemeClr>
              </a:solidFill>
            </a:endParaRPr>
          </a:p>
        </p:txBody>
      </p:sp>
      <p:cxnSp>
        <p:nvCxnSpPr>
          <p:cNvPr id="18" name="Straight Connector 17">
            <a:extLst>
              <a:ext uri="{FF2B5EF4-FFF2-40B4-BE49-F238E27FC236}">
                <a16:creationId xmlns:a16="http://schemas.microsoft.com/office/drawing/2014/main" id="{5693D745-B2E5-C8F2-CB7A-D42196302D8C}"/>
              </a:ext>
            </a:extLst>
          </p:cNvPr>
          <p:cNvCxnSpPr>
            <a:cxnSpLocks/>
          </p:cNvCxnSpPr>
          <p:nvPr/>
        </p:nvCxnSpPr>
        <p:spPr>
          <a:xfrm flipH="1">
            <a:off x="7630639" y="2891201"/>
            <a:ext cx="516615" cy="36454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1C28B64-58DC-F560-0C75-43FCB331D895}"/>
              </a:ext>
            </a:extLst>
          </p:cNvPr>
          <p:cNvSpPr txBox="1"/>
          <p:nvPr/>
        </p:nvSpPr>
        <p:spPr>
          <a:xfrm>
            <a:off x="7017124" y="3203873"/>
            <a:ext cx="741203" cy="276999"/>
          </a:xfrm>
          <a:prstGeom prst="rect">
            <a:avLst/>
          </a:prstGeom>
          <a:noFill/>
        </p:spPr>
        <p:txBody>
          <a:bodyPr wrap="square" rtlCol="0">
            <a:spAutoFit/>
          </a:bodyPr>
          <a:lstStyle/>
          <a:p>
            <a:r>
              <a:rPr lang="en-US" sz="1200" dirty="0">
                <a:solidFill>
                  <a:schemeClr val="accent1"/>
                </a:solidFill>
              </a:rPr>
              <a:t>Ghana</a:t>
            </a:r>
            <a:endParaRPr lang="en-CH" sz="1200" dirty="0">
              <a:solidFill>
                <a:schemeClr val="accent1"/>
              </a:solidFill>
            </a:endParaRPr>
          </a:p>
        </p:txBody>
      </p:sp>
      <p:cxnSp>
        <p:nvCxnSpPr>
          <p:cNvPr id="21" name="Straight Connector 20">
            <a:extLst>
              <a:ext uri="{FF2B5EF4-FFF2-40B4-BE49-F238E27FC236}">
                <a16:creationId xmlns:a16="http://schemas.microsoft.com/office/drawing/2014/main" id="{2E92E6B7-EFC0-E421-971A-EAEFFF309C41}"/>
              </a:ext>
            </a:extLst>
          </p:cNvPr>
          <p:cNvCxnSpPr>
            <a:cxnSpLocks/>
          </p:cNvCxnSpPr>
          <p:nvPr/>
        </p:nvCxnSpPr>
        <p:spPr>
          <a:xfrm flipH="1">
            <a:off x="8223462" y="2796267"/>
            <a:ext cx="558027" cy="454138"/>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9B9B3B4-ED61-E359-EE77-09737448BA72}"/>
              </a:ext>
            </a:extLst>
          </p:cNvPr>
          <p:cNvSpPr txBox="1"/>
          <p:nvPr/>
        </p:nvSpPr>
        <p:spPr>
          <a:xfrm>
            <a:off x="7836811" y="3218949"/>
            <a:ext cx="741203" cy="276999"/>
          </a:xfrm>
          <a:prstGeom prst="rect">
            <a:avLst/>
          </a:prstGeom>
          <a:noFill/>
        </p:spPr>
        <p:txBody>
          <a:bodyPr wrap="square" rtlCol="0">
            <a:spAutoFit/>
          </a:bodyPr>
          <a:lstStyle/>
          <a:p>
            <a:r>
              <a:rPr lang="en-US" sz="1200" dirty="0">
                <a:solidFill>
                  <a:schemeClr val="accent3">
                    <a:lumMod val="75000"/>
                  </a:schemeClr>
                </a:solidFill>
              </a:rPr>
              <a:t>Nigeria</a:t>
            </a:r>
            <a:endParaRPr lang="en-CH" sz="1200" dirty="0">
              <a:solidFill>
                <a:schemeClr val="accent3">
                  <a:lumMod val="75000"/>
                </a:schemeClr>
              </a:solidFill>
            </a:endParaRPr>
          </a:p>
        </p:txBody>
      </p:sp>
      <p:cxnSp>
        <p:nvCxnSpPr>
          <p:cNvPr id="25" name="Straight Connector 24">
            <a:extLst>
              <a:ext uri="{FF2B5EF4-FFF2-40B4-BE49-F238E27FC236}">
                <a16:creationId xmlns:a16="http://schemas.microsoft.com/office/drawing/2014/main" id="{4B99DA2C-8D56-7874-4AFA-A125A7995BB1}"/>
              </a:ext>
            </a:extLst>
          </p:cNvPr>
          <p:cNvCxnSpPr>
            <a:cxnSpLocks/>
          </p:cNvCxnSpPr>
          <p:nvPr/>
        </p:nvCxnSpPr>
        <p:spPr>
          <a:xfrm flipH="1">
            <a:off x="9096427" y="5256591"/>
            <a:ext cx="390847" cy="124085"/>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6BF134C-87D2-1B39-28C5-B0F9C043A74A}"/>
              </a:ext>
            </a:extLst>
          </p:cNvPr>
          <p:cNvSpPr txBox="1"/>
          <p:nvPr/>
        </p:nvSpPr>
        <p:spPr>
          <a:xfrm>
            <a:off x="8331523" y="5318633"/>
            <a:ext cx="857751" cy="276999"/>
          </a:xfrm>
          <a:prstGeom prst="rect">
            <a:avLst/>
          </a:prstGeom>
          <a:noFill/>
        </p:spPr>
        <p:txBody>
          <a:bodyPr wrap="square" rtlCol="0">
            <a:spAutoFit/>
          </a:bodyPr>
          <a:lstStyle/>
          <a:p>
            <a:r>
              <a:rPr lang="en-US" sz="1200" dirty="0">
                <a:solidFill>
                  <a:schemeClr val="accent3">
                    <a:lumMod val="75000"/>
                  </a:schemeClr>
                </a:solidFill>
              </a:rPr>
              <a:t>Namibia</a:t>
            </a:r>
            <a:endParaRPr lang="en-CH" sz="1200" dirty="0">
              <a:solidFill>
                <a:schemeClr val="accent3">
                  <a:lumMod val="75000"/>
                </a:schemeClr>
              </a:solidFill>
            </a:endParaRPr>
          </a:p>
        </p:txBody>
      </p:sp>
      <p:cxnSp>
        <p:nvCxnSpPr>
          <p:cNvPr id="28" name="Straight Connector 27">
            <a:extLst>
              <a:ext uri="{FF2B5EF4-FFF2-40B4-BE49-F238E27FC236}">
                <a16:creationId xmlns:a16="http://schemas.microsoft.com/office/drawing/2014/main" id="{F2D65D9F-F5E6-EB3D-EF4C-D3285D4A74A5}"/>
              </a:ext>
            </a:extLst>
          </p:cNvPr>
          <p:cNvCxnSpPr>
            <a:cxnSpLocks/>
          </p:cNvCxnSpPr>
          <p:nvPr/>
        </p:nvCxnSpPr>
        <p:spPr>
          <a:xfrm flipH="1">
            <a:off x="9035397" y="6064224"/>
            <a:ext cx="713217" cy="21563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EF38591-E721-49A3-B420-4F3D2652CAEB}"/>
              </a:ext>
            </a:extLst>
          </p:cNvPr>
          <p:cNvSpPr txBox="1"/>
          <p:nvPr/>
        </p:nvSpPr>
        <p:spPr>
          <a:xfrm>
            <a:off x="7824942" y="6195265"/>
            <a:ext cx="1145602" cy="276999"/>
          </a:xfrm>
          <a:prstGeom prst="rect">
            <a:avLst/>
          </a:prstGeom>
          <a:noFill/>
        </p:spPr>
        <p:txBody>
          <a:bodyPr wrap="square" rtlCol="0">
            <a:spAutoFit/>
          </a:bodyPr>
          <a:lstStyle/>
          <a:p>
            <a:r>
              <a:rPr lang="en-US" sz="1200" dirty="0">
                <a:solidFill>
                  <a:schemeClr val="accent3">
                    <a:lumMod val="75000"/>
                  </a:schemeClr>
                </a:solidFill>
              </a:rPr>
              <a:t>South Africa</a:t>
            </a:r>
            <a:endParaRPr lang="en-CH" sz="1200" dirty="0">
              <a:solidFill>
                <a:schemeClr val="accent3">
                  <a:lumMod val="75000"/>
                </a:schemeClr>
              </a:solidFill>
            </a:endParaRPr>
          </a:p>
        </p:txBody>
      </p:sp>
      <p:cxnSp>
        <p:nvCxnSpPr>
          <p:cNvPr id="30" name="Straight Connector 29">
            <a:extLst>
              <a:ext uri="{FF2B5EF4-FFF2-40B4-BE49-F238E27FC236}">
                <a16:creationId xmlns:a16="http://schemas.microsoft.com/office/drawing/2014/main" id="{95C49B98-BAEF-8295-372A-5064FE990072}"/>
              </a:ext>
            </a:extLst>
          </p:cNvPr>
          <p:cNvCxnSpPr>
            <a:cxnSpLocks/>
          </p:cNvCxnSpPr>
          <p:nvPr/>
        </p:nvCxnSpPr>
        <p:spPr>
          <a:xfrm>
            <a:off x="10189937" y="5859130"/>
            <a:ext cx="345373" cy="68963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F285223-E9E1-15BF-563C-06986F580A6A}"/>
              </a:ext>
            </a:extLst>
          </p:cNvPr>
          <p:cNvSpPr txBox="1"/>
          <p:nvPr/>
        </p:nvSpPr>
        <p:spPr>
          <a:xfrm>
            <a:off x="10501327" y="6429795"/>
            <a:ext cx="1268820" cy="276999"/>
          </a:xfrm>
          <a:prstGeom prst="rect">
            <a:avLst/>
          </a:prstGeom>
          <a:noFill/>
        </p:spPr>
        <p:txBody>
          <a:bodyPr wrap="square" rtlCol="0">
            <a:spAutoFit/>
          </a:bodyPr>
          <a:lstStyle/>
          <a:p>
            <a:r>
              <a:rPr lang="en-US" sz="1200" dirty="0">
                <a:solidFill>
                  <a:schemeClr val="accent3">
                    <a:lumMod val="75000"/>
                  </a:schemeClr>
                </a:solidFill>
              </a:rPr>
              <a:t>Lesotho</a:t>
            </a:r>
            <a:endParaRPr lang="en-CH" sz="1200" dirty="0">
              <a:solidFill>
                <a:schemeClr val="accent3">
                  <a:lumMod val="75000"/>
                </a:schemeClr>
              </a:solidFill>
            </a:endParaRPr>
          </a:p>
        </p:txBody>
      </p:sp>
      <p:cxnSp>
        <p:nvCxnSpPr>
          <p:cNvPr id="33" name="Straight Connector 32">
            <a:extLst>
              <a:ext uri="{FF2B5EF4-FFF2-40B4-BE49-F238E27FC236}">
                <a16:creationId xmlns:a16="http://schemas.microsoft.com/office/drawing/2014/main" id="{83804B8B-6303-4300-ECF4-BAB5DDAA2ACB}"/>
              </a:ext>
            </a:extLst>
          </p:cNvPr>
          <p:cNvCxnSpPr>
            <a:cxnSpLocks/>
          </p:cNvCxnSpPr>
          <p:nvPr/>
        </p:nvCxnSpPr>
        <p:spPr>
          <a:xfrm>
            <a:off x="10396775" y="5001169"/>
            <a:ext cx="708418" cy="102376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5BDC37-42EA-D8C4-5908-AD6C18ABB81C}"/>
              </a:ext>
            </a:extLst>
          </p:cNvPr>
          <p:cNvSpPr txBox="1"/>
          <p:nvPr/>
        </p:nvSpPr>
        <p:spPr>
          <a:xfrm>
            <a:off x="11051976" y="5918266"/>
            <a:ext cx="1268820" cy="276999"/>
          </a:xfrm>
          <a:prstGeom prst="rect">
            <a:avLst/>
          </a:prstGeom>
          <a:noFill/>
        </p:spPr>
        <p:txBody>
          <a:bodyPr wrap="square" rtlCol="0">
            <a:spAutoFit/>
          </a:bodyPr>
          <a:lstStyle/>
          <a:p>
            <a:r>
              <a:rPr lang="en-US" sz="1200" dirty="0">
                <a:solidFill>
                  <a:schemeClr val="accent3">
                    <a:lumMod val="75000"/>
                  </a:schemeClr>
                </a:solidFill>
              </a:rPr>
              <a:t>Zimbabwe</a:t>
            </a:r>
            <a:endParaRPr lang="en-CH" sz="1200" dirty="0">
              <a:solidFill>
                <a:schemeClr val="accent3">
                  <a:lumMod val="75000"/>
                </a:schemeClr>
              </a:solidFill>
            </a:endParaRPr>
          </a:p>
        </p:txBody>
      </p:sp>
      <p:cxnSp>
        <p:nvCxnSpPr>
          <p:cNvPr id="37" name="Straight Connector 36">
            <a:extLst>
              <a:ext uri="{FF2B5EF4-FFF2-40B4-BE49-F238E27FC236}">
                <a16:creationId xmlns:a16="http://schemas.microsoft.com/office/drawing/2014/main" id="{7DCE374B-55CE-4DA7-B184-E6A8FA2142FE}"/>
              </a:ext>
            </a:extLst>
          </p:cNvPr>
          <p:cNvCxnSpPr>
            <a:cxnSpLocks/>
          </p:cNvCxnSpPr>
          <p:nvPr/>
        </p:nvCxnSpPr>
        <p:spPr>
          <a:xfrm>
            <a:off x="10952540" y="3971682"/>
            <a:ext cx="459651" cy="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54E1D0B-6625-7018-0793-EFA2D120E8DC}"/>
              </a:ext>
            </a:extLst>
          </p:cNvPr>
          <p:cNvSpPr txBox="1"/>
          <p:nvPr/>
        </p:nvSpPr>
        <p:spPr>
          <a:xfrm>
            <a:off x="11419277" y="3811916"/>
            <a:ext cx="1268820" cy="276999"/>
          </a:xfrm>
          <a:prstGeom prst="rect">
            <a:avLst/>
          </a:prstGeom>
          <a:noFill/>
        </p:spPr>
        <p:txBody>
          <a:bodyPr wrap="square" rtlCol="0">
            <a:spAutoFit/>
          </a:bodyPr>
          <a:lstStyle/>
          <a:p>
            <a:r>
              <a:rPr lang="en-US" sz="1200" dirty="0">
                <a:solidFill>
                  <a:schemeClr val="accent3">
                    <a:lumMod val="75000"/>
                  </a:schemeClr>
                </a:solidFill>
              </a:rPr>
              <a:t>Tanzania</a:t>
            </a:r>
            <a:endParaRPr lang="en-CH" sz="1200" dirty="0">
              <a:solidFill>
                <a:schemeClr val="accent3">
                  <a:lumMod val="75000"/>
                </a:schemeClr>
              </a:solidFill>
            </a:endParaRPr>
          </a:p>
        </p:txBody>
      </p:sp>
      <p:cxnSp>
        <p:nvCxnSpPr>
          <p:cNvPr id="40" name="Straight Connector 39">
            <a:extLst>
              <a:ext uri="{FF2B5EF4-FFF2-40B4-BE49-F238E27FC236}">
                <a16:creationId xmlns:a16="http://schemas.microsoft.com/office/drawing/2014/main" id="{472D2760-39E6-3F5A-9E12-6B3E0DB97CC2}"/>
              </a:ext>
            </a:extLst>
          </p:cNvPr>
          <p:cNvCxnSpPr>
            <a:cxnSpLocks/>
          </p:cNvCxnSpPr>
          <p:nvPr/>
        </p:nvCxnSpPr>
        <p:spPr>
          <a:xfrm flipV="1">
            <a:off x="10616139" y="1718193"/>
            <a:ext cx="584953" cy="152317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2E23B92-9FED-B693-4DD8-BBAF07C3F426}"/>
              </a:ext>
            </a:extLst>
          </p:cNvPr>
          <p:cNvSpPr txBox="1"/>
          <p:nvPr/>
        </p:nvSpPr>
        <p:spPr>
          <a:xfrm>
            <a:off x="10960947" y="1378637"/>
            <a:ext cx="1268820" cy="276999"/>
          </a:xfrm>
          <a:prstGeom prst="rect">
            <a:avLst/>
          </a:prstGeom>
          <a:noFill/>
        </p:spPr>
        <p:txBody>
          <a:bodyPr wrap="square" rtlCol="0">
            <a:spAutoFit/>
          </a:bodyPr>
          <a:lstStyle/>
          <a:p>
            <a:r>
              <a:rPr lang="en-US" sz="1200" dirty="0">
                <a:solidFill>
                  <a:schemeClr val="accent3">
                    <a:lumMod val="75000"/>
                  </a:schemeClr>
                </a:solidFill>
              </a:rPr>
              <a:t>Uganda</a:t>
            </a:r>
            <a:endParaRPr lang="en-CH" sz="1200" dirty="0">
              <a:solidFill>
                <a:schemeClr val="accent3">
                  <a:lumMod val="75000"/>
                </a:schemeClr>
              </a:solidFill>
            </a:endParaRPr>
          </a:p>
        </p:txBody>
      </p:sp>
      <p:cxnSp>
        <p:nvCxnSpPr>
          <p:cNvPr id="44" name="Straight Connector 43">
            <a:extLst>
              <a:ext uri="{FF2B5EF4-FFF2-40B4-BE49-F238E27FC236}">
                <a16:creationId xmlns:a16="http://schemas.microsoft.com/office/drawing/2014/main" id="{D58D5EFE-DAE5-5045-A3E5-1FF06E15D39E}"/>
              </a:ext>
            </a:extLst>
          </p:cNvPr>
          <p:cNvCxnSpPr>
            <a:cxnSpLocks/>
          </p:cNvCxnSpPr>
          <p:nvPr/>
        </p:nvCxnSpPr>
        <p:spPr>
          <a:xfrm>
            <a:off x="11088777" y="3329325"/>
            <a:ext cx="385495" cy="261902"/>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0E4849F-3840-0B88-304C-B6DA2CC9C1D5}"/>
              </a:ext>
            </a:extLst>
          </p:cNvPr>
          <p:cNvSpPr txBox="1"/>
          <p:nvPr/>
        </p:nvSpPr>
        <p:spPr>
          <a:xfrm>
            <a:off x="11450998" y="3513930"/>
            <a:ext cx="726745" cy="276999"/>
          </a:xfrm>
          <a:prstGeom prst="rect">
            <a:avLst/>
          </a:prstGeom>
          <a:noFill/>
        </p:spPr>
        <p:txBody>
          <a:bodyPr wrap="square" rtlCol="0">
            <a:spAutoFit/>
          </a:bodyPr>
          <a:lstStyle/>
          <a:p>
            <a:r>
              <a:rPr lang="en-US" sz="1200" dirty="0">
                <a:solidFill>
                  <a:schemeClr val="tx2"/>
                </a:solidFill>
              </a:rPr>
              <a:t>Kenya</a:t>
            </a:r>
            <a:endParaRPr lang="en-CH" sz="1200" dirty="0">
              <a:solidFill>
                <a:schemeClr val="tx2"/>
              </a:solidFill>
            </a:endParaRPr>
          </a:p>
        </p:txBody>
      </p:sp>
      <p:cxnSp>
        <p:nvCxnSpPr>
          <p:cNvPr id="49" name="Straight Connector 48">
            <a:extLst>
              <a:ext uri="{FF2B5EF4-FFF2-40B4-BE49-F238E27FC236}">
                <a16:creationId xmlns:a16="http://schemas.microsoft.com/office/drawing/2014/main" id="{98F159B1-6CB7-EC7B-C85D-3E8D044DB16E}"/>
              </a:ext>
            </a:extLst>
          </p:cNvPr>
          <p:cNvCxnSpPr>
            <a:cxnSpLocks/>
          </p:cNvCxnSpPr>
          <p:nvPr/>
        </p:nvCxnSpPr>
        <p:spPr>
          <a:xfrm>
            <a:off x="10466042" y="5564307"/>
            <a:ext cx="465618" cy="630958"/>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8AA4FB8-38EA-33F9-B7DD-68AF56B2DFA1}"/>
              </a:ext>
            </a:extLst>
          </p:cNvPr>
          <p:cNvSpPr txBox="1"/>
          <p:nvPr/>
        </p:nvSpPr>
        <p:spPr>
          <a:xfrm>
            <a:off x="10858655" y="6154726"/>
            <a:ext cx="911492" cy="276999"/>
          </a:xfrm>
          <a:prstGeom prst="rect">
            <a:avLst/>
          </a:prstGeom>
          <a:noFill/>
        </p:spPr>
        <p:txBody>
          <a:bodyPr wrap="square" rtlCol="0">
            <a:spAutoFit/>
          </a:bodyPr>
          <a:lstStyle/>
          <a:p>
            <a:r>
              <a:rPr lang="en-US" sz="1200" dirty="0">
                <a:solidFill>
                  <a:schemeClr val="tx2"/>
                </a:solidFill>
              </a:rPr>
              <a:t>Eswatini</a:t>
            </a:r>
            <a:endParaRPr lang="en-CH" sz="1200" dirty="0">
              <a:solidFill>
                <a:schemeClr val="tx2"/>
              </a:solidFill>
            </a:endParaRPr>
          </a:p>
        </p:txBody>
      </p:sp>
      <p:cxnSp>
        <p:nvCxnSpPr>
          <p:cNvPr id="52" name="Straight Connector 51">
            <a:extLst>
              <a:ext uri="{FF2B5EF4-FFF2-40B4-BE49-F238E27FC236}">
                <a16:creationId xmlns:a16="http://schemas.microsoft.com/office/drawing/2014/main" id="{8A67CF9A-06DF-1E47-ABB4-6531E766C9ED}"/>
              </a:ext>
            </a:extLst>
          </p:cNvPr>
          <p:cNvCxnSpPr>
            <a:cxnSpLocks/>
          </p:cNvCxnSpPr>
          <p:nvPr/>
        </p:nvCxnSpPr>
        <p:spPr>
          <a:xfrm>
            <a:off x="8578014" y="4452936"/>
            <a:ext cx="1493508" cy="124139"/>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C9CD6E0-9C7C-7705-07B8-85A5A15A8D4A}"/>
              </a:ext>
            </a:extLst>
          </p:cNvPr>
          <p:cNvSpPr txBox="1"/>
          <p:nvPr/>
        </p:nvSpPr>
        <p:spPr>
          <a:xfrm>
            <a:off x="7888946" y="4283416"/>
            <a:ext cx="797196" cy="276999"/>
          </a:xfrm>
          <a:prstGeom prst="rect">
            <a:avLst/>
          </a:prstGeom>
          <a:noFill/>
        </p:spPr>
        <p:txBody>
          <a:bodyPr wrap="square" rtlCol="0">
            <a:spAutoFit/>
          </a:bodyPr>
          <a:lstStyle/>
          <a:p>
            <a:r>
              <a:rPr lang="en-US" sz="1200" dirty="0">
                <a:solidFill>
                  <a:schemeClr val="tx2"/>
                </a:solidFill>
              </a:rPr>
              <a:t>Zambia</a:t>
            </a:r>
            <a:endParaRPr lang="en-CH" sz="1200" dirty="0">
              <a:solidFill>
                <a:schemeClr val="tx2"/>
              </a:solidFill>
            </a:endParaRPr>
          </a:p>
        </p:txBody>
      </p:sp>
      <p:cxnSp>
        <p:nvCxnSpPr>
          <p:cNvPr id="56" name="Straight Connector 55">
            <a:extLst>
              <a:ext uri="{FF2B5EF4-FFF2-40B4-BE49-F238E27FC236}">
                <a16:creationId xmlns:a16="http://schemas.microsoft.com/office/drawing/2014/main" id="{CF1650D1-BFBF-10B3-6632-86715E7ECF9E}"/>
              </a:ext>
            </a:extLst>
          </p:cNvPr>
          <p:cNvCxnSpPr>
            <a:cxnSpLocks/>
          </p:cNvCxnSpPr>
          <p:nvPr/>
        </p:nvCxnSpPr>
        <p:spPr>
          <a:xfrm flipV="1">
            <a:off x="10735148" y="4270858"/>
            <a:ext cx="733536" cy="352894"/>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301C180-40B2-65F6-B685-3D5CF8C0D7EA}"/>
              </a:ext>
            </a:extLst>
          </p:cNvPr>
          <p:cNvSpPr txBox="1"/>
          <p:nvPr/>
        </p:nvSpPr>
        <p:spPr>
          <a:xfrm>
            <a:off x="11450999" y="4035739"/>
            <a:ext cx="726745" cy="276999"/>
          </a:xfrm>
          <a:prstGeom prst="rect">
            <a:avLst/>
          </a:prstGeom>
          <a:noFill/>
        </p:spPr>
        <p:txBody>
          <a:bodyPr wrap="square" rtlCol="0">
            <a:spAutoFit/>
          </a:bodyPr>
          <a:lstStyle/>
          <a:p>
            <a:r>
              <a:rPr lang="en-US" sz="1200" dirty="0">
                <a:solidFill>
                  <a:schemeClr val="tx2"/>
                </a:solidFill>
              </a:rPr>
              <a:t>Malawi</a:t>
            </a:r>
            <a:endParaRPr lang="en-CH" sz="1200" dirty="0">
              <a:solidFill>
                <a:schemeClr val="tx2"/>
              </a:solidFill>
            </a:endParaRPr>
          </a:p>
        </p:txBody>
      </p:sp>
      <p:cxnSp>
        <p:nvCxnSpPr>
          <p:cNvPr id="60" name="Straight Connector 59">
            <a:extLst>
              <a:ext uri="{FF2B5EF4-FFF2-40B4-BE49-F238E27FC236}">
                <a16:creationId xmlns:a16="http://schemas.microsoft.com/office/drawing/2014/main" id="{F3EFCB16-55F7-4A55-25D0-2D4F68F60B71}"/>
              </a:ext>
            </a:extLst>
          </p:cNvPr>
          <p:cNvCxnSpPr>
            <a:cxnSpLocks/>
          </p:cNvCxnSpPr>
          <p:nvPr/>
        </p:nvCxnSpPr>
        <p:spPr>
          <a:xfrm>
            <a:off x="10625191" y="5122286"/>
            <a:ext cx="557174" cy="625653"/>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26FF60D-7714-D0DD-BA1F-48A01D6B311D}"/>
              </a:ext>
            </a:extLst>
          </p:cNvPr>
          <p:cNvSpPr txBox="1"/>
          <p:nvPr/>
        </p:nvSpPr>
        <p:spPr>
          <a:xfrm>
            <a:off x="11118566" y="5671996"/>
            <a:ext cx="1184871" cy="276999"/>
          </a:xfrm>
          <a:prstGeom prst="rect">
            <a:avLst/>
          </a:prstGeom>
          <a:noFill/>
        </p:spPr>
        <p:txBody>
          <a:bodyPr wrap="square" rtlCol="0">
            <a:spAutoFit/>
          </a:bodyPr>
          <a:lstStyle/>
          <a:p>
            <a:r>
              <a:rPr lang="en-US" sz="1200" dirty="0">
                <a:solidFill>
                  <a:schemeClr val="tx2"/>
                </a:solidFill>
              </a:rPr>
              <a:t>Mozambique</a:t>
            </a:r>
            <a:endParaRPr lang="en-CH" sz="1200" dirty="0">
              <a:solidFill>
                <a:schemeClr val="tx2"/>
              </a:solidFill>
            </a:endParaRPr>
          </a:p>
        </p:txBody>
      </p:sp>
    </p:spTree>
    <p:extLst>
      <p:ext uri="{BB962C8B-B14F-4D97-AF65-F5344CB8AC3E}">
        <p14:creationId xmlns:p14="http://schemas.microsoft.com/office/powerpoint/2010/main" val="4177135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AB7A0-52C0-9BD2-8A80-2ADE10DC6C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5CCCB5-C2F5-1EB7-F65B-B6598E49550D}"/>
              </a:ext>
            </a:extLst>
          </p:cNvPr>
          <p:cNvSpPr>
            <a:spLocks noGrp="1"/>
          </p:cNvSpPr>
          <p:nvPr>
            <p:ph type="title"/>
          </p:nvPr>
        </p:nvSpPr>
        <p:spPr/>
        <p:txBody>
          <a:bodyPr/>
          <a:lstStyle/>
          <a:p>
            <a:r>
              <a:rPr lang="en-US" dirty="0"/>
              <a:t>The piloting phase</a:t>
            </a:r>
          </a:p>
        </p:txBody>
      </p:sp>
      <p:sp>
        <p:nvSpPr>
          <p:cNvPr id="4" name="Text Placeholder 3">
            <a:extLst>
              <a:ext uri="{FF2B5EF4-FFF2-40B4-BE49-F238E27FC236}">
                <a16:creationId xmlns:a16="http://schemas.microsoft.com/office/drawing/2014/main" id="{6A262EEB-7DBC-AF0A-5C0E-BAF17B3E1B18}"/>
              </a:ext>
            </a:extLst>
          </p:cNvPr>
          <p:cNvSpPr>
            <a:spLocks noGrp="1"/>
          </p:cNvSpPr>
          <p:nvPr>
            <p:ph type="body" sz="quarter" idx="17"/>
          </p:nvPr>
        </p:nvSpPr>
        <p:spPr>
          <a:xfrm>
            <a:off x="442913" y="1797051"/>
            <a:ext cx="7872412" cy="4103687"/>
          </a:xfrm>
        </p:spPr>
        <p:txBody>
          <a:bodyPr/>
          <a:lstStyle/>
          <a:p>
            <a:r>
              <a:rPr lang="en-US" dirty="0"/>
              <a:t>The piloting phase has resulted in several meaningful changes:</a:t>
            </a:r>
          </a:p>
        </p:txBody>
      </p:sp>
      <p:graphicFrame>
        <p:nvGraphicFramePr>
          <p:cNvPr id="7" name="Table 6">
            <a:extLst>
              <a:ext uri="{FF2B5EF4-FFF2-40B4-BE49-F238E27FC236}">
                <a16:creationId xmlns:a16="http://schemas.microsoft.com/office/drawing/2014/main" id="{14523C46-B59D-8CF8-04F4-EFF51F6C669F}"/>
              </a:ext>
            </a:extLst>
          </p:cNvPr>
          <p:cNvGraphicFramePr>
            <a:graphicFrameLocks noGrp="1"/>
          </p:cNvGraphicFramePr>
          <p:nvPr/>
        </p:nvGraphicFramePr>
        <p:xfrm>
          <a:off x="717232" y="2132363"/>
          <a:ext cx="9834943" cy="4450080"/>
        </p:xfrm>
        <a:graphic>
          <a:graphicData uri="http://schemas.openxmlformats.org/drawingml/2006/table">
            <a:tbl>
              <a:tblPr firstRow="1" bandRow="1">
                <a:tableStyleId>{5C22544A-7EE6-4342-B048-85BDC9FD1C3A}</a:tableStyleId>
              </a:tblPr>
              <a:tblGrid>
                <a:gridCol w="7796393">
                  <a:extLst>
                    <a:ext uri="{9D8B030D-6E8A-4147-A177-3AD203B41FA5}">
                      <a16:colId xmlns:a16="http://schemas.microsoft.com/office/drawing/2014/main" val="2631047863"/>
                    </a:ext>
                  </a:extLst>
                </a:gridCol>
                <a:gridCol w="2038550">
                  <a:extLst>
                    <a:ext uri="{9D8B030D-6E8A-4147-A177-3AD203B41FA5}">
                      <a16:colId xmlns:a16="http://schemas.microsoft.com/office/drawing/2014/main" val="2749731368"/>
                    </a:ext>
                  </a:extLst>
                </a:gridCol>
              </a:tblGrid>
              <a:tr h="370840">
                <a:tc>
                  <a:txBody>
                    <a:bodyPr/>
                    <a:lstStyle/>
                    <a:p>
                      <a:r>
                        <a:rPr lang="en-NL" dirty="0"/>
                        <a:t>Feedback</a:t>
                      </a:r>
                    </a:p>
                  </a:txBody>
                  <a:tcPr/>
                </a:tc>
                <a:tc>
                  <a:txBody>
                    <a:bodyPr/>
                    <a:lstStyle/>
                    <a:p>
                      <a:r>
                        <a:rPr lang="en-NL" dirty="0"/>
                        <a:t>Completed</a:t>
                      </a:r>
                    </a:p>
                  </a:txBody>
                  <a:tcPr/>
                </a:tc>
                <a:extLst>
                  <a:ext uri="{0D108BD9-81ED-4DB2-BD59-A6C34878D82A}">
                    <a16:rowId xmlns:a16="http://schemas.microsoft.com/office/drawing/2014/main" val="1584561618"/>
                  </a:ext>
                </a:extLst>
              </a:tr>
              <a:tr h="370840">
                <a:tc>
                  <a:txBody>
                    <a:bodyPr/>
                    <a:lstStyle/>
                    <a:p>
                      <a:r>
                        <a:rPr lang="en-NL" dirty="0"/>
                        <a:t>PrEP targeting by sub-population</a:t>
                      </a:r>
                    </a:p>
                  </a:txBody>
                  <a:tcPr/>
                </a:tc>
                <a:tc>
                  <a:txBody>
                    <a:bodyPr/>
                    <a:lstStyle/>
                    <a:p>
                      <a:endParaRPr lang="en-NL" dirty="0"/>
                    </a:p>
                  </a:txBody>
                  <a:tcPr/>
                </a:tc>
                <a:extLst>
                  <a:ext uri="{0D108BD9-81ED-4DB2-BD59-A6C34878D82A}">
                    <a16:rowId xmlns:a16="http://schemas.microsoft.com/office/drawing/2014/main" val="2873610748"/>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3014051867"/>
                  </a:ext>
                </a:extLst>
              </a:tr>
              <a:tr h="370840">
                <a:tc>
                  <a:txBody>
                    <a:bodyPr/>
                    <a:lstStyle/>
                    <a:p>
                      <a:r>
                        <a:rPr lang="en-NL" dirty="0"/>
                        <a:t>Output including cost breakdown by category of costs</a:t>
                      </a:r>
                    </a:p>
                  </a:txBody>
                  <a:tcPr/>
                </a:tc>
                <a:tc>
                  <a:txBody>
                    <a:bodyPr/>
                    <a:lstStyle/>
                    <a:p>
                      <a:endParaRPr lang="en-NL"/>
                    </a:p>
                  </a:txBody>
                  <a:tcPr/>
                </a:tc>
                <a:extLst>
                  <a:ext uri="{0D108BD9-81ED-4DB2-BD59-A6C34878D82A}">
                    <a16:rowId xmlns:a16="http://schemas.microsoft.com/office/drawing/2014/main" val="4000349788"/>
                  </a:ext>
                </a:extLst>
              </a:tr>
              <a:tr h="370840">
                <a:tc>
                  <a:txBody>
                    <a:bodyPr/>
                    <a:lstStyle/>
                    <a:p>
                      <a:r>
                        <a:rPr lang="en-NL" dirty="0"/>
                        <a:t>Inclusion of 6-monthly clinical visits vs 12- monthly clinical visits</a:t>
                      </a:r>
                    </a:p>
                  </a:txBody>
                  <a:tcPr/>
                </a:tc>
                <a:tc>
                  <a:txBody>
                    <a:bodyPr/>
                    <a:lstStyle/>
                    <a:p>
                      <a:endParaRPr lang="en-NL"/>
                    </a:p>
                  </a:txBody>
                  <a:tcPr/>
                </a:tc>
                <a:extLst>
                  <a:ext uri="{0D108BD9-81ED-4DB2-BD59-A6C34878D82A}">
                    <a16:rowId xmlns:a16="http://schemas.microsoft.com/office/drawing/2014/main" val="8492740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Model display improvements</a:t>
                      </a:r>
                    </a:p>
                  </a:txBody>
                  <a:tcPr/>
                </a:tc>
                <a:tc>
                  <a:txBody>
                    <a:bodyPr/>
                    <a:lstStyle/>
                    <a:p>
                      <a:endParaRPr lang="en-NL" dirty="0"/>
                    </a:p>
                  </a:txBody>
                  <a:tcPr/>
                </a:tc>
                <a:extLst>
                  <a:ext uri="{0D108BD9-81ED-4DB2-BD59-A6C34878D82A}">
                    <a16:rowId xmlns:a16="http://schemas.microsoft.com/office/drawing/2014/main" val="721394439"/>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2369233851"/>
                  </a:ext>
                </a:extLst>
              </a:tr>
              <a:tr h="370840">
                <a:tc>
                  <a:txBody>
                    <a:bodyPr/>
                    <a:lstStyle/>
                    <a:p>
                      <a:r>
                        <a:rPr lang="en-NL" dirty="0"/>
                        <a:t>Users able to update parameters</a:t>
                      </a:r>
                    </a:p>
                  </a:txBody>
                  <a:tcPr/>
                </a:tc>
                <a:tc>
                  <a:txBody>
                    <a:bodyPr/>
                    <a:lstStyle/>
                    <a:p>
                      <a:endParaRPr lang="en-NL" dirty="0"/>
                    </a:p>
                  </a:txBody>
                  <a:tcPr/>
                </a:tc>
                <a:extLst>
                  <a:ext uri="{0D108BD9-81ED-4DB2-BD59-A6C34878D82A}">
                    <a16:rowId xmlns:a16="http://schemas.microsoft.com/office/drawing/2014/main" val="2124563310"/>
                  </a:ext>
                </a:extLst>
              </a:tr>
              <a:tr h="370840">
                <a:tc>
                  <a:txBody>
                    <a:bodyPr/>
                    <a:lstStyle/>
                    <a:p>
                      <a:r>
                        <a:rPr lang="en-NL" dirty="0"/>
                        <a:t>Adding additional countries</a:t>
                      </a:r>
                    </a:p>
                  </a:txBody>
                  <a:tcPr/>
                </a:tc>
                <a:tc>
                  <a:txBody>
                    <a:bodyPr/>
                    <a:lstStyle/>
                    <a:p>
                      <a:endParaRPr lang="en-NL" dirty="0"/>
                    </a:p>
                  </a:txBody>
                  <a:tcPr/>
                </a:tc>
                <a:extLst>
                  <a:ext uri="{0D108BD9-81ED-4DB2-BD59-A6C34878D82A}">
                    <a16:rowId xmlns:a16="http://schemas.microsoft.com/office/drawing/2014/main" val="3592218602"/>
                  </a:ext>
                </a:extLst>
              </a:tr>
              <a:tr h="370840">
                <a:tc>
                  <a:txBody>
                    <a:bodyPr/>
                    <a:lstStyle/>
                    <a:p>
                      <a:r>
                        <a:rPr lang="en-NL" dirty="0"/>
                        <a:t>PrEP targeting to pregnant and breastfeeding women</a:t>
                      </a:r>
                    </a:p>
                  </a:txBody>
                  <a:tcPr/>
                </a:tc>
                <a:tc>
                  <a:txBody>
                    <a:bodyPr/>
                    <a:lstStyle/>
                    <a:p>
                      <a:endParaRPr lang="en-NL" dirty="0"/>
                    </a:p>
                  </a:txBody>
                  <a:tcPr/>
                </a:tc>
                <a:extLst>
                  <a:ext uri="{0D108BD9-81ED-4DB2-BD59-A6C34878D82A}">
                    <a16:rowId xmlns:a16="http://schemas.microsoft.com/office/drawing/2014/main" val="4105000696"/>
                  </a:ext>
                </a:extLst>
              </a:tr>
              <a:tr h="370840">
                <a:tc>
                  <a:txBody>
                    <a:bodyPr/>
                    <a:lstStyle/>
                    <a:p>
                      <a:r>
                        <a:rPr lang="en-NL" dirty="0"/>
                        <a:t>Further results functionality </a:t>
                      </a:r>
                    </a:p>
                  </a:txBody>
                  <a:tcPr/>
                </a:tc>
                <a:tc>
                  <a:txBody>
                    <a:bodyPr/>
                    <a:lstStyle/>
                    <a:p>
                      <a:endParaRPr lang="en-NL" dirty="0"/>
                    </a:p>
                  </a:txBody>
                  <a:tcPr/>
                </a:tc>
                <a:extLst>
                  <a:ext uri="{0D108BD9-81ED-4DB2-BD59-A6C34878D82A}">
                    <a16:rowId xmlns:a16="http://schemas.microsoft.com/office/drawing/2014/main" val="979177308"/>
                  </a:ext>
                </a:extLst>
              </a:tr>
              <a:tr h="370840">
                <a:tc>
                  <a:txBody>
                    <a:bodyPr/>
                    <a:lstStyle/>
                    <a:p>
                      <a:r>
                        <a:rPr lang="en-NL" dirty="0"/>
                        <a:t>Changes to VL algorithm</a:t>
                      </a:r>
                    </a:p>
                  </a:txBody>
                  <a:tcPr/>
                </a:tc>
                <a:tc>
                  <a:txBody>
                    <a:bodyPr/>
                    <a:lstStyle/>
                    <a:p>
                      <a:endParaRPr lang="en-NL" dirty="0"/>
                    </a:p>
                  </a:txBody>
                  <a:tcPr/>
                </a:tc>
                <a:extLst>
                  <a:ext uri="{0D108BD9-81ED-4DB2-BD59-A6C34878D82A}">
                    <a16:rowId xmlns:a16="http://schemas.microsoft.com/office/drawing/2014/main" val="3291012944"/>
                  </a:ext>
                </a:extLst>
              </a:tr>
            </a:tbl>
          </a:graphicData>
        </a:graphic>
      </p:graphicFrame>
      <p:pic>
        <p:nvPicPr>
          <p:cNvPr id="9" name="Graphic 8" descr="Tick with solid fill">
            <a:extLst>
              <a:ext uri="{FF2B5EF4-FFF2-40B4-BE49-F238E27FC236}">
                <a16:creationId xmlns:a16="http://schemas.microsoft.com/office/drawing/2014/main" id="{EF175D82-2C28-AF4B-B8A7-97DF41B3C2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2900" y="2450752"/>
            <a:ext cx="457200" cy="457200"/>
          </a:xfrm>
          <a:prstGeom prst="rect">
            <a:avLst/>
          </a:prstGeom>
        </p:spPr>
      </p:pic>
      <p:pic>
        <p:nvPicPr>
          <p:cNvPr id="10" name="Graphic 9" descr="Tick with solid fill">
            <a:extLst>
              <a:ext uri="{FF2B5EF4-FFF2-40B4-BE49-F238E27FC236}">
                <a16:creationId xmlns:a16="http://schemas.microsoft.com/office/drawing/2014/main" id="{62674C9B-3549-8058-5912-BDA49D8B8C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8034" y="2804320"/>
            <a:ext cx="457200" cy="457200"/>
          </a:xfrm>
          <a:prstGeom prst="rect">
            <a:avLst/>
          </a:prstGeom>
        </p:spPr>
      </p:pic>
      <p:pic>
        <p:nvPicPr>
          <p:cNvPr id="11" name="Graphic 10" descr="Tick with solid fill">
            <a:extLst>
              <a:ext uri="{FF2B5EF4-FFF2-40B4-BE49-F238E27FC236}">
                <a16:creationId xmlns:a16="http://schemas.microsoft.com/office/drawing/2014/main" id="{6D8967EE-3FBC-9619-1C52-CA5379CFAD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5617" y="3179096"/>
            <a:ext cx="457200" cy="457200"/>
          </a:xfrm>
          <a:prstGeom prst="rect">
            <a:avLst/>
          </a:prstGeom>
        </p:spPr>
      </p:pic>
      <p:pic>
        <p:nvPicPr>
          <p:cNvPr id="12" name="Graphic 11" descr="Tick with solid fill">
            <a:extLst>
              <a:ext uri="{FF2B5EF4-FFF2-40B4-BE49-F238E27FC236}">
                <a16:creationId xmlns:a16="http://schemas.microsoft.com/office/drawing/2014/main" id="{C92AADB0-8631-FC6F-D95D-6149D1F68B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70376" y="3532664"/>
            <a:ext cx="457200" cy="457200"/>
          </a:xfrm>
          <a:prstGeom prst="rect">
            <a:avLst/>
          </a:prstGeom>
        </p:spPr>
      </p:pic>
      <p:pic>
        <p:nvPicPr>
          <p:cNvPr id="13" name="Graphic 12" descr="Tick with solid fill">
            <a:extLst>
              <a:ext uri="{FF2B5EF4-FFF2-40B4-BE49-F238E27FC236}">
                <a16:creationId xmlns:a16="http://schemas.microsoft.com/office/drawing/2014/main" id="{4787B519-EA82-15AB-8AB5-2AC094D499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8409" y="3935570"/>
            <a:ext cx="457200" cy="457200"/>
          </a:xfrm>
          <a:prstGeom prst="rect">
            <a:avLst/>
          </a:prstGeom>
        </p:spPr>
      </p:pic>
      <p:pic>
        <p:nvPicPr>
          <p:cNvPr id="14" name="Graphic 13" descr="Tick with solid fill">
            <a:extLst>
              <a:ext uri="{FF2B5EF4-FFF2-40B4-BE49-F238E27FC236}">
                <a16:creationId xmlns:a16="http://schemas.microsoft.com/office/drawing/2014/main" id="{6FEC4589-AAF0-48A4-2317-7136ED4E3F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289138"/>
            <a:ext cx="457200" cy="457200"/>
          </a:xfrm>
          <a:prstGeom prst="rect">
            <a:avLst/>
          </a:prstGeom>
        </p:spPr>
      </p:pic>
      <p:pic>
        <p:nvPicPr>
          <p:cNvPr id="15" name="Graphic 14" descr="Tick with solid fill">
            <a:extLst>
              <a:ext uri="{FF2B5EF4-FFF2-40B4-BE49-F238E27FC236}">
                <a16:creationId xmlns:a16="http://schemas.microsoft.com/office/drawing/2014/main" id="{1E426138-C220-5CB6-92F7-13F03F751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661821"/>
            <a:ext cx="457200" cy="457200"/>
          </a:xfrm>
          <a:prstGeom prst="rect">
            <a:avLst/>
          </a:prstGeom>
        </p:spPr>
      </p:pic>
      <p:sp>
        <p:nvSpPr>
          <p:cNvPr id="17" name="TextBox 16">
            <a:extLst>
              <a:ext uri="{FF2B5EF4-FFF2-40B4-BE49-F238E27FC236}">
                <a16:creationId xmlns:a16="http://schemas.microsoft.com/office/drawing/2014/main" id="{A4D932DF-EE77-8670-F92A-D3635E4539A9}"/>
              </a:ext>
            </a:extLst>
          </p:cNvPr>
          <p:cNvSpPr txBox="1"/>
          <p:nvPr/>
        </p:nvSpPr>
        <p:spPr>
          <a:xfrm>
            <a:off x="9187867" y="4973569"/>
            <a:ext cx="540533" cy="584775"/>
          </a:xfrm>
          <a:prstGeom prst="rect">
            <a:avLst/>
          </a:prstGeom>
          <a:noFill/>
        </p:spPr>
        <p:txBody>
          <a:bodyPr wrap="none" rtlCol="0">
            <a:spAutoFit/>
          </a:bodyPr>
          <a:lstStyle/>
          <a:p>
            <a:r>
              <a:rPr lang="en-NL" sz="3200" b="1" dirty="0">
                <a:solidFill>
                  <a:schemeClr val="accent3"/>
                </a:solidFill>
              </a:rPr>
              <a:t>~</a:t>
            </a:r>
          </a:p>
        </p:txBody>
      </p:sp>
      <p:sp>
        <p:nvSpPr>
          <p:cNvPr id="18" name="TextBox 17">
            <a:extLst>
              <a:ext uri="{FF2B5EF4-FFF2-40B4-BE49-F238E27FC236}">
                <a16:creationId xmlns:a16="http://schemas.microsoft.com/office/drawing/2014/main" id="{B1E5E85C-03F1-EC70-9BD7-132F151C69CB}"/>
              </a:ext>
            </a:extLst>
          </p:cNvPr>
          <p:cNvSpPr txBox="1"/>
          <p:nvPr/>
        </p:nvSpPr>
        <p:spPr>
          <a:xfrm>
            <a:off x="9187718" y="5346252"/>
            <a:ext cx="540533" cy="584775"/>
          </a:xfrm>
          <a:prstGeom prst="rect">
            <a:avLst/>
          </a:prstGeom>
          <a:noFill/>
        </p:spPr>
        <p:txBody>
          <a:bodyPr wrap="none" rtlCol="0">
            <a:spAutoFit/>
          </a:bodyPr>
          <a:lstStyle/>
          <a:p>
            <a:r>
              <a:rPr lang="en-NL" sz="3200" b="1" dirty="0">
                <a:solidFill>
                  <a:schemeClr val="accent3"/>
                </a:solidFill>
              </a:rPr>
              <a:t>~</a:t>
            </a:r>
          </a:p>
        </p:txBody>
      </p:sp>
      <p:sp>
        <p:nvSpPr>
          <p:cNvPr id="19" name="TextBox 18">
            <a:extLst>
              <a:ext uri="{FF2B5EF4-FFF2-40B4-BE49-F238E27FC236}">
                <a16:creationId xmlns:a16="http://schemas.microsoft.com/office/drawing/2014/main" id="{CE24AAD2-7BCB-67C8-D9F7-9FBCE4F01B9C}"/>
              </a:ext>
            </a:extLst>
          </p:cNvPr>
          <p:cNvSpPr txBox="1"/>
          <p:nvPr/>
        </p:nvSpPr>
        <p:spPr>
          <a:xfrm>
            <a:off x="9205150" y="5718935"/>
            <a:ext cx="540533" cy="584775"/>
          </a:xfrm>
          <a:prstGeom prst="rect">
            <a:avLst/>
          </a:prstGeom>
          <a:noFill/>
        </p:spPr>
        <p:txBody>
          <a:bodyPr wrap="none" rtlCol="0">
            <a:spAutoFit/>
          </a:bodyPr>
          <a:lstStyle/>
          <a:p>
            <a:r>
              <a:rPr lang="en-NL" sz="3200" b="1" dirty="0">
                <a:solidFill>
                  <a:schemeClr val="accent3"/>
                </a:solidFill>
              </a:rPr>
              <a:t>~</a:t>
            </a:r>
          </a:p>
        </p:txBody>
      </p:sp>
      <p:sp>
        <p:nvSpPr>
          <p:cNvPr id="20" name="TextBox 19">
            <a:extLst>
              <a:ext uri="{FF2B5EF4-FFF2-40B4-BE49-F238E27FC236}">
                <a16:creationId xmlns:a16="http://schemas.microsoft.com/office/drawing/2014/main" id="{8B545585-5A97-562A-9504-4DB84E7657A4}"/>
              </a:ext>
            </a:extLst>
          </p:cNvPr>
          <p:cNvSpPr txBox="1"/>
          <p:nvPr/>
        </p:nvSpPr>
        <p:spPr>
          <a:xfrm>
            <a:off x="9210335" y="6083611"/>
            <a:ext cx="540533" cy="584775"/>
          </a:xfrm>
          <a:prstGeom prst="rect">
            <a:avLst/>
          </a:prstGeom>
          <a:noFill/>
        </p:spPr>
        <p:txBody>
          <a:bodyPr wrap="none" rtlCol="0">
            <a:spAutoFit/>
          </a:bodyPr>
          <a:lstStyle/>
          <a:p>
            <a:r>
              <a:rPr lang="en-NL" sz="3200" b="1" dirty="0">
                <a:solidFill>
                  <a:schemeClr val="accent3"/>
                </a:solidFill>
              </a:rPr>
              <a:t>~</a:t>
            </a:r>
          </a:p>
        </p:txBody>
      </p:sp>
    </p:spTree>
    <p:extLst>
      <p:ext uri="{BB962C8B-B14F-4D97-AF65-F5344CB8AC3E}">
        <p14:creationId xmlns:p14="http://schemas.microsoft.com/office/powerpoint/2010/main" val="419807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840A9-A020-D552-A425-2D4FC5BE77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05B5C1-DF5F-5C82-45F5-6A462F159091}"/>
              </a:ext>
            </a:extLst>
          </p:cNvPr>
          <p:cNvSpPr>
            <a:spLocks noGrp="1"/>
          </p:cNvSpPr>
          <p:nvPr>
            <p:ph type="title"/>
          </p:nvPr>
        </p:nvSpPr>
        <p:spPr/>
        <p:txBody>
          <a:bodyPr/>
          <a:lstStyle/>
          <a:p>
            <a:r>
              <a:rPr lang="en-US" dirty="0"/>
              <a:t>TIER-plus is a living tool</a:t>
            </a:r>
          </a:p>
        </p:txBody>
      </p:sp>
      <p:sp>
        <p:nvSpPr>
          <p:cNvPr id="4" name="Text Placeholder 3">
            <a:extLst>
              <a:ext uri="{FF2B5EF4-FFF2-40B4-BE49-F238E27FC236}">
                <a16:creationId xmlns:a16="http://schemas.microsoft.com/office/drawing/2014/main" id="{DB0AD7AC-68EA-C596-AA16-4CE0E94D7090}"/>
              </a:ext>
            </a:extLst>
          </p:cNvPr>
          <p:cNvSpPr>
            <a:spLocks noGrp="1"/>
          </p:cNvSpPr>
          <p:nvPr>
            <p:ph type="body" sz="quarter" idx="17"/>
          </p:nvPr>
        </p:nvSpPr>
        <p:spPr>
          <a:xfrm>
            <a:off x="1843088" y="2425700"/>
            <a:ext cx="9544050" cy="4103687"/>
          </a:xfrm>
        </p:spPr>
        <p:txBody>
          <a:bodyPr>
            <a:normAutofit/>
          </a:bodyPr>
          <a:lstStyle/>
          <a:p>
            <a:r>
              <a:rPr lang="en-US" sz="2800" dirty="0"/>
              <a:t>We need and want your feedback to make TIER-plus as useful as possible! </a:t>
            </a:r>
          </a:p>
          <a:p>
            <a:r>
              <a:rPr lang="en-US" sz="2800" dirty="0"/>
              <a:t>What else would you like to see?</a:t>
            </a:r>
          </a:p>
          <a:p>
            <a:endParaRPr lang="en-US" sz="2800" dirty="0"/>
          </a:p>
          <a:p>
            <a:r>
              <a:rPr lang="en-US" sz="2800" dirty="0"/>
              <a:t>Please explore and provide feedback!</a:t>
            </a:r>
          </a:p>
        </p:txBody>
      </p:sp>
      <p:pic>
        <p:nvPicPr>
          <p:cNvPr id="5" name="Picture 4">
            <a:extLst>
              <a:ext uri="{FF2B5EF4-FFF2-40B4-BE49-F238E27FC236}">
                <a16:creationId xmlns:a16="http://schemas.microsoft.com/office/drawing/2014/main" id="{E13C546E-7677-533A-48FD-497088F4B1C1}"/>
              </a:ext>
            </a:extLst>
          </p:cNvPr>
          <p:cNvPicPr>
            <a:picLocks noChangeAspect="1"/>
          </p:cNvPicPr>
          <p:nvPr/>
        </p:nvPicPr>
        <p:blipFill>
          <a:blip r:embed="rId2"/>
          <a:stretch>
            <a:fillRect/>
          </a:stretch>
        </p:blipFill>
        <p:spPr>
          <a:xfrm>
            <a:off x="8786813" y="3349299"/>
            <a:ext cx="3191201" cy="3191201"/>
          </a:xfrm>
          <a:prstGeom prst="rect">
            <a:avLst/>
          </a:prstGeom>
        </p:spPr>
      </p:pic>
    </p:spTree>
    <p:extLst>
      <p:ext uri="{BB962C8B-B14F-4D97-AF65-F5344CB8AC3E}">
        <p14:creationId xmlns:p14="http://schemas.microsoft.com/office/powerpoint/2010/main" val="267247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7AAE-BDDD-FE5B-63F1-36DECD799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567B-E50C-0C94-57E4-3AB41E5CCF85}"/>
              </a:ext>
            </a:extLst>
          </p:cNvPr>
          <p:cNvSpPr>
            <a:spLocks noGrp="1"/>
          </p:cNvSpPr>
          <p:nvPr>
            <p:ph type="title"/>
          </p:nvPr>
        </p:nvSpPr>
        <p:spPr>
          <a:xfrm>
            <a:off x="5630866" y="3011091"/>
            <a:ext cx="7632700" cy="835818"/>
          </a:xfrm>
        </p:spPr>
        <p:txBody>
          <a:bodyPr/>
          <a:lstStyle/>
          <a:p>
            <a:r>
              <a:rPr lang="en-US" dirty="0"/>
              <a:t>Thank you!</a:t>
            </a:r>
          </a:p>
        </p:txBody>
      </p:sp>
    </p:spTree>
    <p:extLst>
      <p:ext uri="{BB962C8B-B14F-4D97-AF65-F5344CB8AC3E}">
        <p14:creationId xmlns:p14="http://schemas.microsoft.com/office/powerpoint/2010/main" val="3931003869"/>
      </p:ext>
    </p:extLst>
  </p:cSld>
  <p:clrMapOvr>
    <a:masterClrMapping/>
  </p:clrMapOvr>
</p:sld>
</file>

<file path=ppt/theme/theme1.xml><?xml version="1.0" encoding="utf-8"?>
<a:theme xmlns:a="http://schemas.openxmlformats.org/drawingml/2006/main" name="AIDS2026">
  <a:themeElements>
    <a:clrScheme name="AIDS 2026">
      <a:dk1>
        <a:srgbClr val="000000"/>
      </a:dk1>
      <a:lt1>
        <a:srgbClr val="FFFFFF"/>
      </a:lt1>
      <a:dk2>
        <a:srgbClr val="617F09"/>
      </a:dk2>
      <a:lt2>
        <a:srgbClr val="FFFFFF"/>
      </a:lt2>
      <a:accent1>
        <a:srgbClr val="61800A"/>
      </a:accent1>
      <a:accent2>
        <a:srgbClr val="0A41F3"/>
      </a:accent2>
      <a:accent3>
        <a:srgbClr val="FFA836"/>
      </a:accent3>
      <a:accent4>
        <a:srgbClr val="E0001B"/>
      </a:accent4>
      <a:accent5>
        <a:srgbClr val="105B2F"/>
      </a:accent5>
      <a:accent6>
        <a:srgbClr val="BFED2F"/>
      </a:accent6>
      <a:hlink>
        <a:srgbClr val="E0001B"/>
      </a:hlink>
      <a:folHlink>
        <a:srgbClr val="DF001A"/>
      </a:folHlink>
    </a:clrScheme>
    <a:fontScheme name="Verdana">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wrap="square" lIns="288000" tIns="288000" rIns="288000" bIns="288000" rtlCol="0" anchor="t"/>
      <a:lstStyle>
        <a:defPPr algn="l">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IDS-2026_Presentation_RibbonSans" id="{685A53CA-2BA7-D44B-B3BD-82F78AEAD68D}" vid="{A35E6BC0-8B90-C649-B0B0-A207886E5F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4EDCEEC58F924B8688429696C030D2" ma:contentTypeVersion="19" ma:contentTypeDescription="Create a new document." ma:contentTypeScope="" ma:versionID="b4d8bdf56c9ebdc58dfe75d904c50a7a">
  <xsd:schema xmlns:xsd="http://www.w3.org/2001/XMLSchema" xmlns:xs="http://www.w3.org/2001/XMLSchema" xmlns:p="http://schemas.microsoft.com/office/2006/metadata/properties" xmlns:ns2="e236f8d0-c4c0-4f47-ae05-f87aea30adc7" xmlns:ns3="73ce610f-b889-47d4-8ab5-c38f623799c9" targetNamespace="http://schemas.microsoft.com/office/2006/metadata/properties" ma:root="true" ma:fieldsID="6eb87eb5e6ae4b3023b2eee28dfdb8f0" ns2:_="" ns3:_="">
    <xsd:import namespace="e236f8d0-c4c0-4f47-ae05-f87aea30adc7"/>
    <xsd:import namespace="73ce610f-b889-47d4-8ab5-c38f623799c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6f8d0-c4c0-4f47-ae05-f87aea30ad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d8752f36-f899-4024-97aa-312620fde4b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ce610f-b889-47d4-8ab5-c38f623799c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c0bfebf-baa6-4c8c-8536-352a9d7474a2}" ma:internalName="TaxCatchAll" ma:showField="CatchAllData" ma:web="73ce610f-b889-47d4-8ab5-c38f623799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36f8d0-c4c0-4f47-ae05-f87aea30adc7">
      <Terms xmlns="http://schemas.microsoft.com/office/infopath/2007/PartnerControls"/>
    </lcf76f155ced4ddcb4097134ff3c332f>
    <TaxCatchAll xmlns="73ce610f-b889-47d4-8ab5-c38f623799c9" xsi:nil="true"/>
  </documentManagement>
</p:properties>
</file>

<file path=customXml/itemProps1.xml><?xml version="1.0" encoding="utf-8"?>
<ds:datastoreItem xmlns:ds="http://schemas.openxmlformats.org/officeDocument/2006/customXml" ds:itemID="{1E6CDA49-A8AC-4040-9A16-E8C2473A2C67}">
  <ds:schemaRefs>
    <ds:schemaRef ds:uri="http://schemas.microsoft.com/sharepoint/v3/contenttype/forms"/>
  </ds:schemaRefs>
</ds:datastoreItem>
</file>

<file path=customXml/itemProps2.xml><?xml version="1.0" encoding="utf-8"?>
<ds:datastoreItem xmlns:ds="http://schemas.openxmlformats.org/officeDocument/2006/customXml" ds:itemID="{FB117379-9F30-481D-AB59-684DD01015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36f8d0-c4c0-4f47-ae05-f87aea30adc7"/>
    <ds:schemaRef ds:uri="73ce610f-b889-47d4-8ab5-c38f623799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3069EC-7E96-4C7A-9F5B-5A4BBE16E6C4}">
  <ds:schemaRefs>
    <ds:schemaRef ds:uri="http://www.w3.org/XML/1998/namespace"/>
    <ds:schemaRef ds:uri="http://purl.org/dc/elements/1.1/"/>
    <ds:schemaRef ds:uri="73ce610f-b889-47d4-8ab5-c38f623799c9"/>
    <ds:schemaRef ds:uri="http://purl.org/dc/term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e236f8d0-c4c0-4f47-ae05-f87aea30adc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AIDS2026</Template>
  <TotalTime>4165</TotalTime>
  <Words>253</Words>
  <Application>Microsoft Macintosh PowerPoint</Application>
  <PresentationFormat>Widescreen</PresentationFormat>
  <Paragraphs>50</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Arial</vt:lpstr>
      <vt:lpstr>Verdana</vt:lpstr>
      <vt:lpstr>AIDS2026</vt:lpstr>
      <vt:lpstr>TIER-Plus overview and core functionality</vt:lpstr>
      <vt:lpstr>Who is TIER-Plus for?</vt:lpstr>
      <vt:lpstr>PowerPoint Presentation</vt:lpstr>
      <vt:lpstr>The piloting phase</vt:lpstr>
      <vt:lpstr>TIER-plus is a living tool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Alex de Nooy</cp:lastModifiedBy>
  <cp:revision>6</cp:revision>
  <dcterms:created xsi:type="dcterms:W3CDTF">2026-05-29T07:53:03Z</dcterms:created>
  <dcterms:modified xsi:type="dcterms:W3CDTF">2026-07-28T00:30:26Z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0x010100814EDCEEC58F924B8688429696C030D2</vt:lpwstr>
  </property>
  <property fmtid="{D5CDD505-2E9C-101B-9397-08002B2CF9AE}" pid="3" name="MediaServiceImageTags">
    <vt:lpwstr/>
  </property>
</Properties>
</file>