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6"/>
    <p:sldMasterId id="2147483801" r:id="rId7"/>
    <p:sldMasterId id="2147483828" r:id="rId8"/>
  </p:sldMasterIdLst>
  <p:notesMasterIdLst>
    <p:notesMasterId r:id="rId37"/>
  </p:notesMasterIdLst>
  <p:handoutMasterIdLst>
    <p:handoutMasterId r:id="rId38"/>
  </p:handoutMasterIdLst>
  <p:sldIdLst>
    <p:sldId id="2147478680" r:id="rId9"/>
    <p:sldId id="2147478672" r:id="rId10"/>
    <p:sldId id="2147478673" r:id="rId11"/>
    <p:sldId id="2147478677" r:id="rId12"/>
    <p:sldId id="2147478682" r:id="rId13"/>
    <p:sldId id="2147478674" r:id="rId14"/>
    <p:sldId id="2147478675" r:id="rId15"/>
    <p:sldId id="2147478678" r:id="rId16"/>
    <p:sldId id="2147478676" r:id="rId17"/>
    <p:sldId id="2147478684" r:id="rId18"/>
    <p:sldId id="2147478662" r:id="rId19"/>
    <p:sldId id="2147478685" r:id="rId20"/>
    <p:sldId id="2147478689" r:id="rId21"/>
    <p:sldId id="2147478641" r:id="rId22"/>
    <p:sldId id="2147478690" r:id="rId23"/>
    <p:sldId id="2147478691" r:id="rId24"/>
    <p:sldId id="2147478692" r:id="rId25"/>
    <p:sldId id="2147478688" r:id="rId26"/>
    <p:sldId id="2147478693" r:id="rId27"/>
    <p:sldId id="2147478686" r:id="rId28"/>
    <p:sldId id="2147478694" r:id="rId29"/>
    <p:sldId id="2147478695" r:id="rId30"/>
    <p:sldId id="277" r:id="rId31"/>
    <p:sldId id="2147478696" r:id="rId32"/>
    <p:sldId id="2147478635" r:id="rId33"/>
    <p:sldId id="2147478646" r:id="rId34"/>
    <p:sldId id="2147478634" r:id="rId35"/>
    <p:sldId id="2147478698" r:id="rId36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F5B74D-C6AA-7813-1038-42A34373460A}" name="Preko, Peter O." initials="PPO" userId="S::pp2332@cumc.columbia.edu::09b434a3-0724-4a4a-a3db-c6e79374c44c" providerId="AD"/>
  <p188:author id="{DA60A059-2766-1759-4616-E1A4FFEEFBBE}" name="Dr M'BEA Jean-Jacques (ICAP)" initials="I" userId="Dr M'BEA Jean-Jacques (ICAP)" providerId="None"/>
  <p188:author id="{99D67C86-1AC0-5FC9-18F5-7D832F90D689}" name="Reidy, William" initials="RW" userId="S::wr2205@cumc.columbia.edu::5d2980a7-2b1c-4421-a380-76eac4cb68a2" providerId="AD"/>
  <p188:author id="{B32E8789-10A4-684C-B33A-B97E63F02EE6}" name="Preko, Peter O." initials="PPO" userId="Preko, Peter O." providerId="None"/>
  <p188:author id="{A831D7A1-5A01-49E3-9784-3957FEE80FBB}" name="Miriam Rabkin" initials="MR" userId="S::mr84@icapatcolumbia.onmicrosoft.com::0b2a40ec-35c6-4271-8153-e1180cf9ffa9" providerId="AD"/>
  <p188:author id="{4B71A7D0-3BB1-92C3-6752-E2F284681FE8}" name="Msukwa, Martin" initials="MM" userId="S::mkm2209@cumc.columbia.edu::3ce16427-2644-475c-b20b-7ae77633333b" providerId="AD"/>
  <p188:author id="{E0B616E2-4D48-E507-D5DA-6765847CE058}" name="Rabkin, Miriam" initials="RM" userId="S::mr84@cumc.columbia.edu::d1905312-b639-4098-81f6-74c337c4b0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Monica Negrete" initials="MN [2]" lastIdx="1" clrIdx="6">
    <p:extLst>
      <p:ext uri="{19B8F6BF-5375-455C-9EA6-DF929625EA0E}">
        <p15:presenceInfo xmlns:p15="http://schemas.microsoft.com/office/powerpoint/2012/main" userId="Monica Negrete" providerId="None"/>
      </p:ext>
    </p:extLst>
  </p:cmAuthor>
  <p:cmAuthor id="1" name="Mirriah" initials="M" lastIdx="15" clrIdx="0">
    <p:extLst>
      <p:ext uri="{19B8F6BF-5375-455C-9EA6-DF929625EA0E}">
        <p15:presenceInfo xmlns:p15="http://schemas.microsoft.com/office/powerpoint/2012/main" userId="Mirriah" providerId="None"/>
      </p:ext>
    </p:extLst>
  </p:cmAuthor>
  <p:cmAuthor id="8" name="Vitale, Mirriah A." initials="VMA" lastIdx="28" clrIdx="7">
    <p:extLst>
      <p:ext uri="{19B8F6BF-5375-455C-9EA6-DF929625EA0E}">
        <p15:presenceInfo xmlns:p15="http://schemas.microsoft.com/office/powerpoint/2012/main" userId="S::mv2540@cumc.columbia.edu::ac73314b-03ab-4c50-8db0-5df536fd8cc3" providerId="AD"/>
      </p:ext>
    </p:extLst>
  </p:cmAuthor>
  <p:cmAuthor id="2" name="Thais Ferreira" initials="TF" lastIdx="2" clrIdx="1">
    <p:extLst>
      <p:ext uri="{19B8F6BF-5375-455C-9EA6-DF929625EA0E}">
        <p15:presenceInfo xmlns:p15="http://schemas.microsoft.com/office/powerpoint/2012/main" userId="S::tcf2114@ICAPatColumbia.onmicrosoft.com::00ab9d32-d5e7-49ba-86f6-b7f0631c45b9" providerId="AD"/>
      </p:ext>
    </p:extLst>
  </p:cmAuthor>
  <p:cmAuthor id="9" name="Hamilton Mutemba" initials="HM" lastIdx="10" clrIdx="8">
    <p:extLst>
      <p:ext uri="{19B8F6BF-5375-455C-9EA6-DF929625EA0E}">
        <p15:presenceInfo xmlns:p15="http://schemas.microsoft.com/office/powerpoint/2012/main" userId="S::hm2827@icapatcolumbia.onmicrosoft.com::30ce4146-d861-4577-8316-b7969df0eb33" providerId="AD"/>
      </p:ext>
    </p:extLst>
  </p:cmAuthor>
  <p:cmAuthor id="3" name="Eduarda Pimentel de Gusmao" initials="EPdG" lastIdx="47" clrIdx="2">
    <p:extLst>
      <p:ext uri="{19B8F6BF-5375-455C-9EA6-DF929625EA0E}">
        <p15:presenceInfo xmlns:p15="http://schemas.microsoft.com/office/powerpoint/2012/main" userId="S::ep2538@ICAPatColumbia.onmicrosoft.com::75d5ad34-5e00-45c2-8e22-b1b33aa13fd8" providerId="AD"/>
      </p:ext>
    </p:extLst>
  </p:cmAuthor>
  <p:cmAuthor id="10" name="Buene, Manuel" initials="BM" lastIdx="7" clrIdx="9">
    <p:extLst>
      <p:ext uri="{19B8F6BF-5375-455C-9EA6-DF929625EA0E}">
        <p15:presenceInfo xmlns:p15="http://schemas.microsoft.com/office/powerpoint/2012/main" userId="Buene, Manuel" providerId="None"/>
      </p:ext>
    </p:extLst>
  </p:cmAuthor>
  <p:cmAuthor id="4" name="Pimentel De Gusmao, Eduarda" initials="PDGE [2]" lastIdx="89" clrIdx="3">
    <p:extLst>
      <p:ext uri="{19B8F6BF-5375-455C-9EA6-DF929625EA0E}">
        <p15:presenceInfo xmlns:p15="http://schemas.microsoft.com/office/powerpoint/2012/main" userId="Pimentel De Gusmao, Eduarda" providerId="None"/>
      </p:ext>
    </p:extLst>
  </p:cmAuthor>
  <p:cmAuthor id="5" name="Monica Negrete" initials="MN" lastIdx="33" clrIdx="4">
    <p:extLst>
      <p:ext uri="{19B8F6BF-5375-455C-9EA6-DF929625EA0E}">
        <p15:presenceInfo xmlns:p15="http://schemas.microsoft.com/office/powerpoint/2012/main" userId="9f4759fc7266b2e1" providerId="Windows Live"/>
      </p:ext>
    </p:extLst>
  </p:cmAuthor>
  <p:cmAuthor id="6" name="Langa, Bina" initials="LB" lastIdx="1" clrIdx="5">
    <p:extLst>
      <p:ext uri="{19B8F6BF-5375-455C-9EA6-DF929625EA0E}">
        <p15:presenceInfo xmlns:p15="http://schemas.microsoft.com/office/powerpoint/2012/main" userId="S::brl2136@cumc.columbia.edu::8e87eb9a-447e-4d76-b31d-8f90e74bde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169"/>
    <a:srgbClr val="7B8CAA"/>
    <a:srgbClr val="898989"/>
    <a:srgbClr val="7BBCAA"/>
    <a:srgbClr val="737D84"/>
    <a:srgbClr val="FFFFFF"/>
    <a:srgbClr val="00B5DE"/>
    <a:srgbClr val="000000"/>
    <a:srgbClr val="8A7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438" autoAdjust="0"/>
  </p:normalViewPr>
  <p:slideViewPr>
    <p:cSldViewPr snapToGrid="0">
      <p:cViewPr varScale="1">
        <p:scale>
          <a:sx n="105" d="100"/>
          <a:sy n="105" d="100"/>
        </p:scale>
        <p:origin x="9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72" d="100"/>
        <a:sy n="172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commentAuthors" Target="commentAuthor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icapatcolumbia.sharepoint.com/sites/ngoonline-archive/projects/1019/Documents/09.%20CQUIN%20SI/StopWorkOrders2025/M&amp;E%20system%20assessment/Combined_Results_Visuals_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icapatcolumbia.sharepoint.com/sites/ngoonline-archive/projects/1019/Documents/09.%20CQUIN%20SI/StopWorkOrders2025/M&amp;E%20system%20assessment/Combined_Results_Visuals_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https://icapatcolumbia.sharepoint.com/sites/ngoonline-archive/projects/1019/Documents/09.%20CQUIN%20SI/StopWorkOrders2025/M&amp;E%20system%20assessment/Combined_Results_Visuals_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Cameroon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3"/>
          <c:order val="0"/>
          <c:tx>
            <c:strRef>
              <c:f>Multicountry!$F$3</c:f>
              <c:strCache>
                <c:ptCount val="1"/>
                <c:pt idx="0">
                  <c:v>Existing M&amp;E Gap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Multicountry!$B$4:$B$10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Multicountry!$F$4:$F$10</c:f>
              <c:numCache>
                <c:formatCode>General</c:formatCode>
                <c:ptCount val="7"/>
                <c:pt idx="0">
                  <c:v>1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8</c:v>
                </c:pt>
                <c:pt idx="5">
                  <c:v>12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95-4AB7-B440-497F00DCDBB7}"/>
            </c:ext>
          </c:extLst>
        </c:ser>
        <c:ser>
          <c:idx val="0"/>
          <c:order val="1"/>
          <c:tx>
            <c:strRef>
              <c:f>Multicountry!$C$3</c:f>
              <c:strCache>
                <c:ptCount val="1"/>
                <c:pt idx="0">
                  <c:v>High Vulnerability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95-4AB7-B440-497F00DCDBB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395-4AB7-B440-497F00DCDBB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95-4AB7-B440-497F00DCD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Multicountry!$B$4:$B$10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Multicountry!$C$4:$C$10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  <c:pt idx="4">
                  <c:v>3</c:v>
                </c:pt>
                <c:pt idx="5">
                  <c:v>16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395-4AB7-B440-497F00DCDBB7}"/>
            </c:ext>
          </c:extLst>
        </c:ser>
        <c:ser>
          <c:idx val="1"/>
          <c:order val="2"/>
          <c:tx>
            <c:strRef>
              <c:f>Multicountry!$D$3</c:f>
              <c:strCache>
                <c:ptCount val="1"/>
                <c:pt idx="0">
                  <c:v>Partial Vulnerability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Multicountry!$B$4:$B$10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Multicountry!$D$4:$D$10</c:f>
              <c:numCache>
                <c:formatCode>General</c:formatCode>
                <c:ptCount val="7"/>
                <c:pt idx="0">
                  <c:v>16</c:v>
                </c:pt>
                <c:pt idx="1">
                  <c:v>21</c:v>
                </c:pt>
                <c:pt idx="2">
                  <c:v>10</c:v>
                </c:pt>
                <c:pt idx="3">
                  <c:v>12</c:v>
                </c:pt>
                <c:pt idx="4">
                  <c:v>9</c:v>
                </c:pt>
                <c:pt idx="5">
                  <c:v>21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395-4AB7-B440-497F00DCDBB7}"/>
            </c:ext>
          </c:extLst>
        </c:ser>
        <c:ser>
          <c:idx val="2"/>
          <c:order val="3"/>
          <c:tx>
            <c:strRef>
              <c:f>Multicountry!$E$3</c:f>
              <c:strCache>
                <c:ptCount val="1"/>
                <c:pt idx="0">
                  <c:v>No Vulnerability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395-4AB7-B440-497F00DCDBB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395-4AB7-B440-497F00DCDBB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395-4AB7-B440-497F00DCDBB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395-4AB7-B440-497F00DCDBB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395-4AB7-B440-497F00DCDBB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395-4AB7-B440-497F00DCDB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Multicountry!$B$4:$B$10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Multicountry!$E$4:$E$10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395-4AB7-B440-497F00DCDB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93025871"/>
        <c:axId val="1293021551"/>
      </c:barChart>
      <c:catAx>
        <c:axId val="1293025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021551"/>
        <c:crosses val="autoZero"/>
        <c:auto val="1"/>
        <c:lblAlgn val="ctr"/>
        <c:lblOffset val="100"/>
        <c:noMultiLvlLbl val="0"/>
      </c:catAx>
      <c:valAx>
        <c:axId val="1293021551"/>
        <c:scaling>
          <c:orientation val="minMax"/>
          <c:max val="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# M&amp;E functions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025871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FFFFFF">
          <a:lumMod val="95000"/>
        </a:srgb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Mozambique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731481990132262"/>
          <c:y val="0.15932436652712229"/>
          <c:w val="0.6794630780893739"/>
          <c:h val="0.67644989826757596"/>
        </c:manualLayout>
      </c:layout>
      <c:barChart>
        <c:barDir val="bar"/>
        <c:grouping val="stacked"/>
        <c:varyColors val="0"/>
        <c:ser>
          <c:idx val="3"/>
          <c:order val="0"/>
          <c:tx>
            <c:strRef>
              <c:f>Multicountry!$F$13</c:f>
              <c:strCache>
                <c:ptCount val="1"/>
                <c:pt idx="0">
                  <c:v>Existing M&amp;E Gap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Multicountry!$B$15:$B$20</c:f>
              <c:strCache>
                <c:ptCount val="6"/>
                <c:pt idx="0">
                  <c:v>Community-Based </c:v>
                </c:pt>
                <c:pt idx="1">
                  <c:v>M&amp;E HRH</c:v>
                </c:pt>
                <c:pt idx="2">
                  <c:v>Data Use </c:v>
                </c:pt>
                <c:pt idx="3">
                  <c:v>Data Quality </c:v>
                </c:pt>
                <c:pt idx="4">
                  <c:v>HMIS EMR </c:v>
                </c:pt>
                <c:pt idx="5">
                  <c:v>HMIS Paper-based</c:v>
                </c:pt>
              </c:strCache>
              <c:extLst/>
            </c:strRef>
          </c:cat>
          <c:val>
            <c:numRef>
              <c:f>Multicountry!$F$15:$F$20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02F1-4352-B3CE-89F944960306}"/>
            </c:ext>
          </c:extLst>
        </c:ser>
        <c:ser>
          <c:idx val="0"/>
          <c:order val="1"/>
          <c:tx>
            <c:strRef>
              <c:f>Multicountry!$C$13</c:f>
              <c:strCache>
                <c:ptCount val="1"/>
                <c:pt idx="0">
                  <c:v>High Vulnerability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Multicountry!$B$15:$B$20</c:f>
              <c:strCache>
                <c:ptCount val="6"/>
                <c:pt idx="0">
                  <c:v>Community-Based </c:v>
                </c:pt>
                <c:pt idx="1">
                  <c:v>M&amp;E HRH</c:v>
                </c:pt>
                <c:pt idx="2">
                  <c:v>Data Use </c:v>
                </c:pt>
                <c:pt idx="3">
                  <c:v>Data Quality </c:v>
                </c:pt>
                <c:pt idx="4">
                  <c:v>HMIS EMR </c:v>
                </c:pt>
                <c:pt idx="5">
                  <c:v>HMIS Paper-based</c:v>
                </c:pt>
              </c:strCache>
              <c:extLst/>
            </c:strRef>
          </c:cat>
          <c:val>
            <c:numRef>
              <c:f>Multicountry!$C$15:$C$20</c:f>
              <c:numCache>
                <c:formatCode>General</c:formatCode>
                <c:ptCount val="6"/>
                <c:pt idx="0">
                  <c:v>23</c:v>
                </c:pt>
                <c:pt idx="1">
                  <c:v>2</c:v>
                </c:pt>
                <c:pt idx="2">
                  <c:v>13</c:v>
                </c:pt>
                <c:pt idx="3">
                  <c:v>10</c:v>
                </c:pt>
                <c:pt idx="4">
                  <c:v>45</c:v>
                </c:pt>
                <c:pt idx="5">
                  <c:v>10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02F1-4352-B3CE-89F944960306}"/>
            </c:ext>
          </c:extLst>
        </c:ser>
        <c:ser>
          <c:idx val="1"/>
          <c:order val="2"/>
          <c:tx>
            <c:strRef>
              <c:f>Multicountry!$D$13</c:f>
              <c:strCache>
                <c:ptCount val="1"/>
                <c:pt idx="0">
                  <c:v>Partial Vulnerability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2F1-4352-B3CE-89F9449603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Multicountry!$B$15:$B$20</c:f>
              <c:strCache>
                <c:ptCount val="6"/>
                <c:pt idx="0">
                  <c:v>Community-Based </c:v>
                </c:pt>
                <c:pt idx="1">
                  <c:v>M&amp;E HRH</c:v>
                </c:pt>
                <c:pt idx="2">
                  <c:v>Data Use </c:v>
                </c:pt>
                <c:pt idx="3">
                  <c:v>Data Quality </c:v>
                </c:pt>
                <c:pt idx="4">
                  <c:v>HMIS EMR </c:v>
                </c:pt>
                <c:pt idx="5">
                  <c:v>HMIS Paper-based</c:v>
                </c:pt>
              </c:strCache>
              <c:extLst/>
            </c:strRef>
          </c:cat>
          <c:val>
            <c:numRef>
              <c:f>Multicountry!$D$15:$D$20</c:f>
              <c:numCache>
                <c:formatCode>General</c:formatCode>
                <c:ptCount val="6"/>
                <c:pt idx="0">
                  <c:v>0</c:v>
                </c:pt>
                <c:pt idx="1">
                  <c:v>13</c:v>
                </c:pt>
                <c:pt idx="2">
                  <c:v>11</c:v>
                </c:pt>
                <c:pt idx="3">
                  <c:v>8</c:v>
                </c:pt>
                <c:pt idx="4">
                  <c:v>1</c:v>
                </c:pt>
                <c:pt idx="5">
                  <c:v>16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02F1-4352-B3CE-89F944960306}"/>
            </c:ext>
          </c:extLst>
        </c:ser>
        <c:ser>
          <c:idx val="2"/>
          <c:order val="3"/>
          <c:tx>
            <c:strRef>
              <c:f>Multicountry!$E$13</c:f>
              <c:strCache>
                <c:ptCount val="1"/>
                <c:pt idx="0">
                  <c:v>No Vulnerability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2F1-4352-B3CE-89F94496030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F1-4352-B3CE-89F94496030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2F1-4352-B3CE-89F94496030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F1-4352-B3CE-89F9449603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Multicountry!$B$15:$B$20</c:f>
              <c:strCache>
                <c:ptCount val="6"/>
                <c:pt idx="0">
                  <c:v>Community-Based </c:v>
                </c:pt>
                <c:pt idx="1">
                  <c:v>M&amp;E HRH</c:v>
                </c:pt>
                <c:pt idx="2">
                  <c:v>Data Use </c:v>
                </c:pt>
                <c:pt idx="3">
                  <c:v>Data Quality </c:v>
                </c:pt>
                <c:pt idx="4">
                  <c:v>HMIS EMR </c:v>
                </c:pt>
                <c:pt idx="5">
                  <c:v>HMIS Paper-based</c:v>
                </c:pt>
              </c:strCache>
              <c:extLst/>
            </c:strRef>
          </c:cat>
          <c:val>
            <c:numRef>
              <c:f>Multicountry!$E$15:$E$20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02F1-4352-B3CE-89F944960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39877167"/>
        <c:axId val="2139883407"/>
      </c:barChart>
      <c:catAx>
        <c:axId val="2139877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9883407"/>
        <c:crosses val="autoZero"/>
        <c:auto val="1"/>
        <c:lblAlgn val="ctr"/>
        <c:lblOffset val="100"/>
        <c:noMultiLvlLbl val="0"/>
      </c:catAx>
      <c:valAx>
        <c:axId val="2139883407"/>
        <c:scaling>
          <c:orientation val="minMax"/>
          <c:max val="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# M&amp;E functions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987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FFFFFF">
          <a:lumMod val="95000"/>
        </a:srgb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Zambia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Multicountry!$C$22</c:f>
              <c:strCache>
                <c:ptCount val="1"/>
                <c:pt idx="0">
                  <c:v>High Vulnerability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EA3-4B9A-8D98-F40292CFB36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A3-4B9A-8D98-F40292CFB36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EA3-4B9A-8D98-F40292CFB36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A3-4B9A-8D98-F40292CFB36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93C-430C-BC6D-AF005DF6156A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EA3-4B9A-8D98-F40292CFB360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5EA3-4B9A-8D98-F40292CFB3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Multicountry!$B$23:$B$29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Multicountry!$C$23:$C$29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EA3-4B9A-8D98-F40292CFB360}"/>
            </c:ext>
          </c:extLst>
        </c:ser>
        <c:ser>
          <c:idx val="1"/>
          <c:order val="1"/>
          <c:tx>
            <c:strRef>
              <c:f>Multicountry!$D$22</c:f>
              <c:strCache>
                <c:ptCount val="1"/>
                <c:pt idx="0">
                  <c:v>Partial Vulnerability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Multicountry!$B$23:$B$29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Multicountry!$D$23:$D$29</c:f>
              <c:numCache>
                <c:formatCode>General</c:formatCode>
                <c:ptCount val="7"/>
                <c:pt idx="0">
                  <c:v>17</c:v>
                </c:pt>
                <c:pt idx="1">
                  <c:v>29</c:v>
                </c:pt>
                <c:pt idx="2">
                  <c:v>18</c:v>
                </c:pt>
                <c:pt idx="3">
                  <c:v>28</c:v>
                </c:pt>
                <c:pt idx="4">
                  <c:v>21</c:v>
                </c:pt>
                <c:pt idx="5">
                  <c:v>46</c:v>
                </c:pt>
                <c:pt idx="6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A3-4B9A-8D98-F40292CFB360}"/>
            </c:ext>
          </c:extLst>
        </c:ser>
        <c:ser>
          <c:idx val="2"/>
          <c:order val="2"/>
          <c:tx>
            <c:strRef>
              <c:f>Multicountry!$E$22</c:f>
              <c:strCache>
                <c:ptCount val="1"/>
                <c:pt idx="0">
                  <c:v>No Vulnerability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Multicountry!$B$23:$B$29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Multicountry!$E$23:$E$29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EA3-4B9A-8D98-F40292CFB360}"/>
            </c:ext>
          </c:extLst>
        </c:ser>
        <c:ser>
          <c:idx val="3"/>
          <c:order val="3"/>
          <c:tx>
            <c:strRef>
              <c:f>Multicountry!$F$22</c:f>
              <c:strCache>
                <c:ptCount val="1"/>
                <c:pt idx="0">
                  <c:v>Existing M&amp;E Gap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Multicountry!$B$23:$B$29</c:f>
              <c:strCache>
                <c:ptCount val="7"/>
                <c:pt idx="0">
                  <c:v>CE &amp; CLM</c:v>
                </c:pt>
                <c:pt idx="1">
                  <c:v>Community-Based </c:v>
                </c:pt>
                <c:pt idx="2">
                  <c:v>M&amp;E HRH</c:v>
                </c:pt>
                <c:pt idx="3">
                  <c:v>Data Use </c:v>
                </c:pt>
                <c:pt idx="4">
                  <c:v>Data Quality </c:v>
                </c:pt>
                <c:pt idx="5">
                  <c:v>HMIS EMR </c:v>
                </c:pt>
                <c:pt idx="6">
                  <c:v>HMIS Paper-based</c:v>
                </c:pt>
              </c:strCache>
            </c:strRef>
          </c:cat>
          <c:val>
            <c:numRef>
              <c:f>Multicountry!$F$23:$F$29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EA3-4B9A-8D98-F40292CFB3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45082847"/>
        <c:axId val="2045082367"/>
      </c:barChart>
      <c:catAx>
        <c:axId val="20450828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5082367"/>
        <c:crosses val="autoZero"/>
        <c:auto val="1"/>
        <c:lblAlgn val="ctr"/>
        <c:lblOffset val="100"/>
        <c:noMultiLvlLbl val="0"/>
      </c:catAx>
      <c:valAx>
        <c:axId val="2045082367"/>
        <c:scaling>
          <c:orientation val="minMax"/>
          <c:max val="5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# M&amp;E functions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508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solidFill>
        <a:srgbClr val="FFFFFF">
          <a:lumMod val="95000"/>
        </a:srgb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B7FFDF-0D80-414A-9659-C87B3A539D9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89C985C-AD37-474C-95B6-1066EE1EE323}">
      <dgm:prSet phldrT="[Text]" phldr="0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2400">
              <a:solidFill>
                <a:schemeClr val="tx1"/>
              </a:solidFill>
            </a:rPr>
            <a:t>Health management information system (HMIS)</a:t>
          </a:r>
        </a:p>
      </dgm:t>
    </dgm:pt>
    <dgm:pt modelId="{D504C8F6-1F6B-41D8-B288-D2166DB9F7C7}" type="parTrans" cxnId="{931E89E4-43E8-42B5-BFC0-5F1F6BD9D47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1F45611-8018-4E09-A7ED-6EDD8594B193}" type="sibTrans" cxnId="{931E89E4-43E8-42B5-BFC0-5F1F6BD9D47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56E2D22-3DE1-4176-B5D8-71DE8571FE28}">
      <dgm:prSet phldrT="[Text]" phldr="0" custT="1"/>
      <dgm:spPr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gm:spPr>
      <dgm:t>
        <a:bodyPr spcFirstLastPara="0" vert="horz" wrap="square" lIns="40640" tIns="30480" rIns="40640" bIns="3048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1. Paper-based system w/ DHIS2</a:t>
          </a:r>
        </a:p>
      </dgm:t>
    </dgm:pt>
    <dgm:pt modelId="{29F0FA1A-FF86-4E3D-A5F4-688A1B7E1A6A}" type="parTrans" cxnId="{B72D2277-1154-49A4-8569-23ADE968828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FD7BA3B-432A-4B36-8BB8-CAA8D34CD322}" type="sibTrans" cxnId="{B72D2277-1154-49A4-8569-23ADE968828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46A5E8D-0216-4EFE-9B24-D66453968E0F}">
      <dgm:prSet phldrT="[Text]" phldr="0" custT="1"/>
      <dgm:spPr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gm:spPr>
      <dgm:t>
        <a:bodyPr spcFirstLastPara="0" vert="horz" wrap="square" lIns="40640" tIns="30480" rIns="40640" bIns="3048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2. Electronic medical record-based systems</a:t>
          </a:r>
        </a:p>
      </dgm:t>
    </dgm:pt>
    <dgm:pt modelId="{8730A2E9-DC2F-40A4-8E62-9C941688A105}" type="parTrans" cxnId="{975D6AEB-9FF5-4CDC-8AE4-F3464412963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A745B1D-C627-4BBF-BD4D-AF45827148B5}" type="sibTrans" cxnId="{975D6AEB-9FF5-4CDC-8AE4-F3464412963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8A35D17-3EE0-4CD5-B636-67AFEA733EA6}">
      <dgm:prSet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400">
              <a:solidFill>
                <a:schemeClr val="tx1"/>
              </a:solidFill>
            </a:rPr>
            <a:t>Optimizing HMIS implementation</a:t>
          </a:r>
        </a:p>
      </dgm:t>
    </dgm:pt>
    <dgm:pt modelId="{9C77BDB1-2C0C-4005-BC8A-22A8A46049AD}" type="parTrans" cxnId="{3ED4276B-F1A7-44B9-AE32-9BA74DF785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8D95D41-81F0-41D8-A318-88C41034FC80}" type="sibTrans" cxnId="{3ED4276B-F1A7-44B9-AE32-9BA74DF785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74FE71C-5634-44B7-B074-8554347B56F5}">
      <dgm:prSet custT="1"/>
      <dgm:spPr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gm:spPr>
      <dgm:t>
        <a:bodyPr spcFirstLastPara="0" vert="horz" wrap="square" lIns="40640" tIns="30480" rIns="40640" bIns="3048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3. Ensuring data quality</a:t>
          </a:r>
        </a:p>
      </dgm:t>
    </dgm:pt>
    <dgm:pt modelId="{25747722-2CD2-44D2-BDC8-5C6B068D58DF}" type="parTrans" cxnId="{BE753830-4D0D-4E37-A16D-DA397508845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12911EE-1437-40E2-BA11-953AC0CC43CB}" type="sibTrans" cxnId="{BE753830-4D0D-4E37-A16D-DA397508845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0E8BAA5-3273-4120-B269-7DCFED99FB0C}">
      <dgm:prSet custT="1"/>
      <dgm:spPr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gm:spPr>
      <dgm:t>
        <a:bodyPr spcFirstLastPara="0" vert="horz" wrap="square" lIns="40640" tIns="30480" rIns="40640" bIns="30480" numCol="1" spcCol="1270" anchor="ctr" anchorCtr="0"/>
        <a:lstStyle/>
        <a:p>
          <a:r>
            <a:rPr lang="en-US" sz="1800" kern="1200">
              <a:solidFill>
                <a:schemeClr val="tx1"/>
              </a:solidFill>
            </a:rPr>
            <a:t>4. Data </a:t>
          </a: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dissemination</a:t>
          </a:r>
          <a:r>
            <a:rPr lang="en-US" sz="1800" kern="1200">
              <a:solidFill>
                <a:schemeClr val="tx1"/>
              </a:solidFill>
            </a:rPr>
            <a:t> and </a:t>
          </a:r>
          <a:r>
            <a:rPr lang="en-US" sz="1800" kern="1200">
              <a:solidFill>
                <a:schemeClr val="tx1"/>
              </a:solidFill>
              <a:latin typeface="Calibri Light" panose="020F0302020204030204"/>
            </a:rPr>
            <a:t>use</a:t>
          </a:r>
          <a:endParaRPr lang="en-US" sz="1800" kern="1200">
            <a:solidFill>
              <a:schemeClr val="tx1"/>
            </a:solidFill>
          </a:endParaRPr>
        </a:p>
      </dgm:t>
    </dgm:pt>
    <dgm:pt modelId="{B9FA988F-DD78-4F14-8EEF-AD2B0F44D35A}" type="parTrans" cxnId="{68CBA7A2-B97C-4E06-A661-6F85B9FEC8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015A4C5-371A-496D-84F8-B1FFC81932B3}" type="sibTrans" cxnId="{68CBA7A2-B97C-4E06-A661-6F85B9FEC8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C249D3C-FE84-466C-B126-67E5A06F2AC4}" type="pres">
      <dgm:prSet presAssocID="{A0B7FFDF-0D80-414A-9659-C87B3A539D9B}" presName="theList" presStyleCnt="0">
        <dgm:presLayoutVars>
          <dgm:dir/>
          <dgm:animLvl val="lvl"/>
          <dgm:resizeHandles val="exact"/>
        </dgm:presLayoutVars>
      </dgm:prSet>
      <dgm:spPr/>
    </dgm:pt>
    <dgm:pt modelId="{6EFBE704-332C-4292-80D3-6D1F3F7EDAA3}" type="pres">
      <dgm:prSet presAssocID="{589C985C-AD37-474C-95B6-1066EE1EE323}" presName="compNode" presStyleCnt="0"/>
      <dgm:spPr/>
    </dgm:pt>
    <dgm:pt modelId="{E84720CA-D010-443E-90D4-A4BFDDC49F65}" type="pres">
      <dgm:prSet presAssocID="{589C985C-AD37-474C-95B6-1066EE1EE323}" presName="aNode" presStyleLbl="bgShp" presStyleIdx="0" presStyleCnt="2" custScaleY="80771"/>
      <dgm:spPr/>
    </dgm:pt>
    <dgm:pt modelId="{46D020DD-2440-43FC-A50B-56A15201E402}" type="pres">
      <dgm:prSet presAssocID="{589C985C-AD37-474C-95B6-1066EE1EE323}" presName="textNode" presStyleLbl="bgShp" presStyleIdx="0" presStyleCnt="2"/>
      <dgm:spPr/>
    </dgm:pt>
    <dgm:pt modelId="{C66F38A8-4721-4001-B09A-AC304DFD3AFE}" type="pres">
      <dgm:prSet presAssocID="{589C985C-AD37-474C-95B6-1066EE1EE323}" presName="compChildNode" presStyleCnt="0"/>
      <dgm:spPr/>
    </dgm:pt>
    <dgm:pt modelId="{8C9FC19B-C85E-4B58-B349-B30D9983D048}" type="pres">
      <dgm:prSet presAssocID="{589C985C-AD37-474C-95B6-1066EE1EE323}" presName="theInnerList" presStyleCnt="0"/>
      <dgm:spPr/>
    </dgm:pt>
    <dgm:pt modelId="{8249636D-0388-4EE7-B490-2F665D18CBCB}" type="pres">
      <dgm:prSet presAssocID="{456E2D22-3DE1-4176-B5D8-71DE8571FE28}" presName="childNode" presStyleLbl="node1" presStyleIdx="0" presStyleCnt="4" custScaleY="24351" custLinFactNeighborX="2142" custLinFactNeighborY="-32375">
        <dgm:presLayoutVars>
          <dgm:bulletEnabled val="1"/>
        </dgm:presLayoutVars>
      </dgm:prSet>
      <dgm:spPr>
        <a:xfrm>
          <a:off x="283976" y="1576346"/>
          <a:ext cx="2411875" cy="985760"/>
        </a:xfrm>
        <a:prstGeom prst="roundRect">
          <a:avLst>
            <a:gd name="adj" fmla="val 10000"/>
          </a:avLst>
        </a:prstGeom>
      </dgm:spPr>
    </dgm:pt>
    <dgm:pt modelId="{CEC6727F-1613-464D-9983-6F498F492C35}" type="pres">
      <dgm:prSet presAssocID="{456E2D22-3DE1-4176-B5D8-71DE8571FE28}" presName="aSpace2" presStyleCnt="0"/>
      <dgm:spPr/>
    </dgm:pt>
    <dgm:pt modelId="{E6BAAE8C-F403-49AC-8549-127CE3DBAEAB}" type="pres">
      <dgm:prSet presAssocID="{946A5E8D-0216-4EFE-9B24-D66453968E0F}" presName="childNode" presStyleLbl="node1" presStyleIdx="1" presStyleCnt="4" custScaleY="25239" custLinFactNeighborX="196" custLinFactNeighborY="-63836">
        <dgm:presLayoutVars>
          <dgm:bulletEnabled val="1"/>
        </dgm:presLayoutVars>
      </dgm:prSet>
      <dgm:spPr>
        <a:xfrm>
          <a:off x="330645" y="2745791"/>
          <a:ext cx="2411875" cy="964466"/>
        </a:xfrm>
        <a:prstGeom prst="roundRect">
          <a:avLst>
            <a:gd name="adj" fmla="val 10000"/>
          </a:avLst>
        </a:prstGeom>
      </dgm:spPr>
    </dgm:pt>
    <dgm:pt modelId="{E7875C2C-5AAC-4240-ACF2-531686050719}" type="pres">
      <dgm:prSet presAssocID="{589C985C-AD37-474C-95B6-1066EE1EE323}" presName="aSpace" presStyleCnt="0"/>
      <dgm:spPr/>
    </dgm:pt>
    <dgm:pt modelId="{FACAE6F3-D93E-42A1-8A5C-9DAC8845A151}" type="pres">
      <dgm:prSet presAssocID="{18A35D17-3EE0-4CD5-B636-67AFEA733EA6}" presName="compNode" presStyleCnt="0"/>
      <dgm:spPr/>
    </dgm:pt>
    <dgm:pt modelId="{A5D6FD1F-2163-415F-B36D-412218800D3B}" type="pres">
      <dgm:prSet presAssocID="{18A35D17-3EE0-4CD5-B636-67AFEA733EA6}" presName="aNode" presStyleLbl="bgShp" presStyleIdx="1" presStyleCnt="2" custScaleY="79742"/>
      <dgm:spPr/>
    </dgm:pt>
    <dgm:pt modelId="{9E80C78E-1202-4C2A-90F0-D2B6C80F58CD}" type="pres">
      <dgm:prSet presAssocID="{18A35D17-3EE0-4CD5-B636-67AFEA733EA6}" presName="textNode" presStyleLbl="bgShp" presStyleIdx="1" presStyleCnt="2"/>
      <dgm:spPr/>
    </dgm:pt>
    <dgm:pt modelId="{0EF96B55-11B7-4DE9-8890-5ED17EEC6364}" type="pres">
      <dgm:prSet presAssocID="{18A35D17-3EE0-4CD5-B636-67AFEA733EA6}" presName="compChildNode" presStyleCnt="0"/>
      <dgm:spPr/>
    </dgm:pt>
    <dgm:pt modelId="{97B17141-FA87-4107-A19E-5F67F586A93D}" type="pres">
      <dgm:prSet presAssocID="{18A35D17-3EE0-4CD5-B636-67AFEA733EA6}" presName="theInnerList" presStyleCnt="0"/>
      <dgm:spPr/>
    </dgm:pt>
    <dgm:pt modelId="{10F8C1EE-322A-42DD-95A9-E033179A09D9}" type="pres">
      <dgm:prSet presAssocID="{374FE71C-5634-44B7-B074-8554347B56F5}" presName="childNode" presStyleLbl="node1" presStyleIdx="2" presStyleCnt="4" custScaleY="23270" custLinFactNeighborX="1166" custLinFactNeighborY="-44097">
        <dgm:presLayoutVars>
          <dgm:bulletEnabled val="1"/>
        </dgm:presLayoutVars>
      </dgm:prSet>
      <dgm:spPr>
        <a:xfrm>
          <a:off x="3543602" y="1531226"/>
          <a:ext cx="2411875" cy="1002463"/>
        </a:xfrm>
        <a:prstGeom prst="roundRect">
          <a:avLst>
            <a:gd name="adj" fmla="val 10000"/>
          </a:avLst>
        </a:prstGeom>
      </dgm:spPr>
    </dgm:pt>
    <dgm:pt modelId="{AE219FF2-ECD5-4759-A228-8E33688DBD06}" type="pres">
      <dgm:prSet presAssocID="{374FE71C-5634-44B7-B074-8554347B56F5}" presName="aSpace2" presStyleCnt="0"/>
      <dgm:spPr/>
    </dgm:pt>
    <dgm:pt modelId="{CCEBAD14-B7FA-4340-A468-6D94D69D0C9F}" type="pres">
      <dgm:prSet presAssocID="{00E8BAA5-3273-4120-B269-7DCFED99FB0C}" presName="childNode" presStyleLbl="node1" presStyleIdx="3" presStyleCnt="4" custScaleY="22854" custLinFactNeighborX="1750" custLinFactNeighborY="-70571">
        <dgm:presLayoutVars>
          <dgm:bulletEnabled val="1"/>
        </dgm:presLayoutVars>
      </dgm:prSet>
      <dgm:spPr>
        <a:xfrm>
          <a:off x="3543602" y="2687915"/>
          <a:ext cx="2411875" cy="1002463"/>
        </a:xfrm>
        <a:prstGeom prst="roundRect">
          <a:avLst>
            <a:gd name="adj" fmla="val 10000"/>
          </a:avLst>
        </a:prstGeom>
      </dgm:spPr>
    </dgm:pt>
  </dgm:ptLst>
  <dgm:cxnLst>
    <dgm:cxn modelId="{05FB3404-A262-4A3E-8CF9-44377227BA7F}" type="presOf" srcId="{589C985C-AD37-474C-95B6-1066EE1EE323}" destId="{E84720CA-D010-443E-90D4-A4BFDDC49F65}" srcOrd="0" destOrd="0" presId="urn:microsoft.com/office/officeart/2005/8/layout/lProcess2"/>
    <dgm:cxn modelId="{259A8B0D-227E-43D1-9FAC-298E2F7BB9DF}" type="presOf" srcId="{18A35D17-3EE0-4CD5-B636-67AFEA733EA6}" destId="{9E80C78E-1202-4C2A-90F0-D2B6C80F58CD}" srcOrd="1" destOrd="0" presId="urn:microsoft.com/office/officeart/2005/8/layout/lProcess2"/>
    <dgm:cxn modelId="{FDA45313-D83D-4C80-80B2-99D6B391416C}" type="presOf" srcId="{18A35D17-3EE0-4CD5-B636-67AFEA733EA6}" destId="{A5D6FD1F-2163-415F-B36D-412218800D3B}" srcOrd="0" destOrd="0" presId="urn:microsoft.com/office/officeart/2005/8/layout/lProcess2"/>
    <dgm:cxn modelId="{BE753830-4D0D-4E37-A16D-DA3975088459}" srcId="{18A35D17-3EE0-4CD5-B636-67AFEA733EA6}" destId="{374FE71C-5634-44B7-B074-8554347B56F5}" srcOrd="0" destOrd="0" parTransId="{25747722-2CD2-44D2-BDC8-5C6B068D58DF}" sibTransId="{112911EE-1437-40E2-BA11-953AC0CC43CB}"/>
    <dgm:cxn modelId="{23082135-D90C-4F19-B640-112DC4910FBE}" type="presOf" srcId="{00E8BAA5-3273-4120-B269-7DCFED99FB0C}" destId="{CCEBAD14-B7FA-4340-A468-6D94D69D0C9F}" srcOrd="0" destOrd="0" presId="urn:microsoft.com/office/officeart/2005/8/layout/lProcess2"/>
    <dgm:cxn modelId="{C51CBD57-4384-471C-BF82-14F036BA1935}" type="presOf" srcId="{374FE71C-5634-44B7-B074-8554347B56F5}" destId="{10F8C1EE-322A-42DD-95A9-E033179A09D9}" srcOrd="0" destOrd="0" presId="urn:microsoft.com/office/officeart/2005/8/layout/lProcess2"/>
    <dgm:cxn modelId="{3ED4276B-F1A7-44B9-AE32-9BA74DF78512}" srcId="{A0B7FFDF-0D80-414A-9659-C87B3A539D9B}" destId="{18A35D17-3EE0-4CD5-B636-67AFEA733EA6}" srcOrd="1" destOrd="0" parTransId="{9C77BDB1-2C0C-4005-BC8A-22A8A46049AD}" sibTransId="{48D95D41-81F0-41D8-A318-88C41034FC80}"/>
    <dgm:cxn modelId="{FD91FE6C-89A9-41C5-8DB5-8817F2A71E42}" type="presOf" srcId="{589C985C-AD37-474C-95B6-1066EE1EE323}" destId="{46D020DD-2440-43FC-A50B-56A15201E402}" srcOrd="1" destOrd="0" presId="urn:microsoft.com/office/officeart/2005/8/layout/lProcess2"/>
    <dgm:cxn modelId="{B72D2277-1154-49A4-8569-23ADE9688285}" srcId="{589C985C-AD37-474C-95B6-1066EE1EE323}" destId="{456E2D22-3DE1-4176-B5D8-71DE8571FE28}" srcOrd="0" destOrd="0" parTransId="{29F0FA1A-FF86-4E3D-A5F4-688A1B7E1A6A}" sibTransId="{CFD7BA3B-432A-4B36-8BB8-CAA8D34CD322}"/>
    <dgm:cxn modelId="{B23D7E85-2BE4-4DB6-91BE-E93458584C88}" type="presOf" srcId="{946A5E8D-0216-4EFE-9B24-D66453968E0F}" destId="{E6BAAE8C-F403-49AC-8549-127CE3DBAEAB}" srcOrd="0" destOrd="0" presId="urn:microsoft.com/office/officeart/2005/8/layout/lProcess2"/>
    <dgm:cxn modelId="{68CBA7A2-B97C-4E06-A661-6F85B9FEC878}" srcId="{18A35D17-3EE0-4CD5-B636-67AFEA733EA6}" destId="{00E8BAA5-3273-4120-B269-7DCFED99FB0C}" srcOrd="1" destOrd="0" parTransId="{B9FA988F-DD78-4F14-8EEF-AD2B0F44D35A}" sibTransId="{7015A4C5-371A-496D-84F8-B1FFC81932B3}"/>
    <dgm:cxn modelId="{931E89E4-43E8-42B5-BFC0-5F1F6BD9D479}" srcId="{A0B7FFDF-0D80-414A-9659-C87B3A539D9B}" destId="{589C985C-AD37-474C-95B6-1066EE1EE323}" srcOrd="0" destOrd="0" parTransId="{D504C8F6-1F6B-41D8-B288-D2166DB9F7C7}" sibTransId="{A1F45611-8018-4E09-A7ED-6EDD8594B193}"/>
    <dgm:cxn modelId="{975D6AEB-9FF5-4CDC-8AE4-F34644129638}" srcId="{589C985C-AD37-474C-95B6-1066EE1EE323}" destId="{946A5E8D-0216-4EFE-9B24-D66453968E0F}" srcOrd="1" destOrd="0" parTransId="{8730A2E9-DC2F-40A4-8E62-9C941688A105}" sibTransId="{5A745B1D-C627-4BBF-BD4D-AF45827148B5}"/>
    <dgm:cxn modelId="{40A724ED-723A-437E-B8FD-643984E9058C}" type="presOf" srcId="{A0B7FFDF-0D80-414A-9659-C87B3A539D9B}" destId="{0C249D3C-FE84-466C-B126-67E5A06F2AC4}" srcOrd="0" destOrd="0" presId="urn:microsoft.com/office/officeart/2005/8/layout/lProcess2"/>
    <dgm:cxn modelId="{FCFD3BF4-D492-49BB-83E8-D95E555724F5}" type="presOf" srcId="{456E2D22-3DE1-4176-B5D8-71DE8571FE28}" destId="{8249636D-0388-4EE7-B490-2F665D18CBCB}" srcOrd="0" destOrd="0" presId="urn:microsoft.com/office/officeart/2005/8/layout/lProcess2"/>
    <dgm:cxn modelId="{FC8B5A02-C020-48D1-920E-0CB439EF23C8}" type="presParOf" srcId="{0C249D3C-FE84-466C-B126-67E5A06F2AC4}" destId="{6EFBE704-332C-4292-80D3-6D1F3F7EDAA3}" srcOrd="0" destOrd="0" presId="urn:microsoft.com/office/officeart/2005/8/layout/lProcess2"/>
    <dgm:cxn modelId="{F327DEC6-54B1-4694-9975-A030A3F7019F}" type="presParOf" srcId="{6EFBE704-332C-4292-80D3-6D1F3F7EDAA3}" destId="{E84720CA-D010-443E-90D4-A4BFDDC49F65}" srcOrd="0" destOrd="0" presId="urn:microsoft.com/office/officeart/2005/8/layout/lProcess2"/>
    <dgm:cxn modelId="{ED5ABE9B-690F-4E27-A694-5D0DFFCD7408}" type="presParOf" srcId="{6EFBE704-332C-4292-80D3-6D1F3F7EDAA3}" destId="{46D020DD-2440-43FC-A50B-56A15201E402}" srcOrd="1" destOrd="0" presId="urn:microsoft.com/office/officeart/2005/8/layout/lProcess2"/>
    <dgm:cxn modelId="{4137F014-3A75-45C3-9766-51FE8AAD4AA0}" type="presParOf" srcId="{6EFBE704-332C-4292-80D3-6D1F3F7EDAA3}" destId="{C66F38A8-4721-4001-B09A-AC304DFD3AFE}" srcOrd="2" destOrd="0" presId="urn:microsoft.com/office/officeart/2005/8/layout/lProcess2"/>
    <dgm:cxn modelId="{7EA625B9-0878-4F5D-8331-3EE4FC2F90C8}" type="presParOf" srcId="{C66F38A8-4721-4001-B09A-AC304DFD3AFE}" destId="{8C9FC19B-C85E-4B58-B349-B30D9983D048}" srcOrd="0" destOrd="0" presId="urn:microsoft.com/office/officeart/2005/8/layout/lProcess2"/>
    <dgm:cxn modelId="{BC5ACCB4-CC7C-4B5F-B9ED-20F202EFD070}" type="presParOf" srcId="{8C9FC19B-C85E-4B58-B349-B30D9983D048}" destId="{8249636D-0388-4EE7-B490-2F665D18CBCB}" srcOrd="0" destOrd="0" presId="urn:microsoft.com/office/officeart/2005/8/layout/lProcess2"/>
    <dgm:cxn modelId="{7B17F17B-47BA-40EB-8CEA-5B99DCEFC51F}" type="presParOf" srcId="{8C9FC19B-C85E-4B58-B349-B30D9983D048}" destId="{CEC6727F-1613-464D-9983-6F498F492C35}" srcOrd="1" destOrd="0" presId="urn:microsoft.com/office/officeart/2005/8/layout/lProcess2"/>
    <dgm:cxn modelId="{5E57764F-85C0-4BD4-B2EC-F97888378029}" type="presParOf" srcId="{8C9FC19B-C85E-4B58-B349-B30D9983D048}" destId="{E6BAAE8C-F403-49AC-8549-127CE3DBAEAB}" srcOrd="2" destOrd="0" presId="urn:microsoft.com/office/officeart/2005/8/layout/lProcess2"/>
    <dgm:cxn modelId="{1037E44E-1242-44EB-BE47-244077D5663A}" type="presParOf" srcId="{0C249D3C-FE84-466C-B126-67E5A06F2AC4}" destId="{E7875C2C-5AAC-4240-ACF2-531686050719}" srcOrd="1" destOrd="0" presId="urn:microsoft.com/office/officeart/2005/8/layout/lProcess2"/>
    <dgm:cxn modelId="{95174059-B02A-45AE-B4FA-425B32F4319C}" type="presParOf" srcId="{0C249D3C-FE84-466C-B126-67E5A06F2AC4}" destId="{FACAE6F3-D93E-42A1-8A5C-9DAC8845A151}" srcOrd="2" destOrd="0" presId="urn:microsoft.com/office/officeart/2005/8/layout/lProcess2"/>
    <dgm:cxn modelId="{A4F759AD-AB25-486C-8E05-AD09B65577DF}" type="presParOf" srcId="{FACAE6F3-D93E-42A1-8A5C-9DAC8845A151}" destId="{A5D6FD1F-2163-415F-B36D-412218800D3B}" srcOrd="0" destOrd="0" presId="urn:microsoft.com/office/officeart/2005/8/layout/lProcess2"/>
    <dgm:cxn modelId="{03441EC1-1720-4E2B-B894-0DFFF05CFC39}" type="presParOf" srcId="{FACAE6F3-D93E-42A1-8A5C-9DAC8845A151}" destId="{9E80C78E-1202-4C2A-90F0-D2B6C80F58CD}" srcOrd="1" destOrd="0" presId="urn:microsoft.com/office/officeart/2005/8/layout/lProcess2"/>
    <dgm:cxn modelId="{89F17920-40FD-4D82-861F-FF9DC34B344F}" type="presParOf" srcId="{FACAE6F3-D93E-42A1-8A5C-9DAC8845A151}" destId="{0EF96B55-11B7-4DE9-8890-5ED17EEC6364}" srcOrd="2" destOrd="0" presId="urn:microsoft.com/office/officeart/2005/8/layout/lProcess2"/>
    <dgm:cxn modelId="{3DD64EEB-FECC-4E00-95C5-2AAA3C812D20}" type="presParOf" srcId="{0EF96B55-11B7-4DE9-8890-5ED17EEC6364}" destId="{97B17141-FA87-4107-A19E-5F67F586A93D}" srcOrd="0" destOrd="0" presId="urn:microsoft.com/office/officeart/2005/8/layout/lProcess2"/>
    <dgm:cxn modelId="{0ED9B6FD-C229-445B-AFEE-056D97E57153}" type="presParOf" srcId="{97B17141-FA87-4107-A19E-5F67F586A93D}" destId="{10F8C1EE-322A-42DD-95A9-E033179A09D9}" srcOrd="0" destOrd="0" presId="urn:microsoft.com/office/officeart/2005/8/layout/lProcess2"/>
    <dgm:cxn modelId="{71071973-D045-47F8-AC55-76C275E1A134}" type="presParOf" srcId="{97B17141-FA87-4107-A19E-5F67F586A93D}" destId="{AE219FF2-ECD5-4759-A228-8E33688DBD06}" srcOrd="1" destOrd="0" presId="urn:microsoft.com/office/officeart/2005/8/layout/lProcess2"/>
    <dgm:cxn modelId="{AE067E74-546C-45C7-B172-1CFEF1BA2CB4}" type="presParOf" srcId="{97B17141-FA87-4107-A19E-5F67F586A93D}" destId="{CCEBAD14-B7FA-4340-A468-6D94D69D0C9F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720CA-D010-443E-90D4-A4BFDDC49F65}">
      <dsp:nvSpPr>
        <dsp:cNvPr id="0" name=""/>
        <dsp:cNvSpPr/>
      </dsp:nvSpPr>
      <dsp:spPr>
        <a:xfrm>
          <a:off x="4754" y="411949"/>
          <a:ext cx="4573287" cy="3460770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Health management information system (HMIS)</a:t>
          </a:r>
        </a:p>
      </dsp:txBody>
      <dsp:txXfrm>
        <a:off x="4754" y="411949"/>
        <a:ext cx="4573287" cy="1038231"/>
      </dsp:txXfrm>
    </dsp:sp>
    <dsp:sp modelId="{8249636D-0388-4EE7-B490-2F665D18CBCB}">
      <dsp:nvSpPr>
        <dsp:cNvPr id="0" name=""/>
        <dsp:cNvSpPr/>
      </dsp:nvSpPr>
      <dsp:spPr>
        <a:xfrm>
          <a:off x="540450" y="1634419"/>
          <a:ext cx="3658630" cy="678183"/>
        </a:xfrm>
        <a:prstGeom prst="roundRect">
          <a:avLst>
            <a:gd name="adj" fmla="val 10000"/>
          </a:avLst>
        </a:prstGeom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1. Paper-based system w/ DHIS2</a:t>
          </a:r>
        </a:p>
      </dsp:txBody>
      <dsp:txXfrm>
        <a:off x="560313" y="1654282"/>
        <a:ext cx="3618904" cy="638457"/>
      </dsp:txXfrm>
    </dsp:sp>
    <dsp:sp modelId="{E6BAAE8C-F403-49AC-8549-127CE3DBAEAB}">
      <dsp:nvSpPr>
        <dsp:cNvPr id="0" name=""/>
        <dsp:cNvSpPr/>
      </dsp:nvSpPr>
      <dsp:spPr>
        <a:xfrm>
          <a:off x="469253" y="2606270"/>
          <a:ext cx="3658630" cy="702915"/>
        </a:xfrm>
        <a:prstGeom prst="roundRect">
          <a:avLst>
            <a:gd name="adj" fmla="val 10000"/>
          </a:avLst>
        </a:prstGeom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2. Electronic medical record-based systems</a:t>
          </a:r>
        </a:p>
      </dsp:txBody>
      <dsp:txXfrm>
        <a:off x="489841" y="2626858"/>
        <a:ext cx="3617454" cy="661739"/>
      </dsp:txXfrm>
    </dsp:sp>
    <dsp:sp modelId="{A5D6FD1F-2163-415F-B36D-412218800D3B}">
      <dsp:nvSpPr>
        <dsp:cNvPr id="0" name=""/>
        <dsp:cNvSpPr/>
      </dsp:nvSpPr>
      <dsp:spPr>
        <a:xfrm>
          <a:off x="4921038" y="433994"/>
          <a:ext cx="4573287" cy="34166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Optimizing HMIS implementation</a:t>
          </a:r>
        </a:p>
      </dsp:txBody>
      <dsp:txXfrm>
        <a:off x="4921038" y="433994"/>
        <a:ext cx="4573287" cy="1025004"/>
      </dsp:txXfrm>
    </dsp:sp>
    <dsp:sp modelId="{10F8C1EE-322A-42DD-95A9-E033179A09D9}">
      <dsp:nvSpPr>
        <dsp:cNvPr id="0" name=""/>
        <dsp:cNvSpPr/>
      </dsp:nvSpPr>
      <dsp:spPr>
        <a:xfrm>
          <a:off x="5421026" y="1632459"/>
          <a:ext cx="3658630" cy="648077"/>
        </a:xfrm>
        <a:prstGeom prst="roundRect">
          <a:avLst>
            <a:gd name="adj" fmla="val 10000"/>
          </a:avLst>
        </a:prstGeom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3. Ensuring data quality</a:t>
          </a:r>
        </a:p>
      </dsp:txBody>
      <dsp:txXfrm>
        <a:off x="5440008" y="1651441"/>
        <a:ext cx="3620666" cy="610113"/>
      </dsp:txXfrm>
    </dsp:sp>
    <dsp:sp modelId="{CCEBAD14-B7FA-4340-A468-6D94D69D0C9F}">
      <dsp:nvSpPr>
        <dsp:cNvPr id="0" name=""/>
        <dsp:cNvSpPr/>
      </dsp:nvSpPr>
      <dsp:spPr>
        <a:xfrm>
          <a:off x="5442393" y="2595571"/>
          <a:ext cx="3658630" cy="636492"/>
        </a:xfrm>
        <a:prstGeom prst="roundRect">
          <a:avLst>
            <a:gd name="adj" fmla="val 10000"/>
          </a:avLst>
        </a:prstGeom>
        <a:solidFill>
          <a:prstClr val="white">
            <a:lumMod val="95000"/>
          </a:prst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</a:rPr>
            <a:t>4. Data </a:t>
          </a:r>
          <a:r>
            <a:rPr lang="en-US" sz="1800" kern="1200">
              <a:solidFill>
                <a:schemeClr val="tx1"/>
              </a:solidFill>
              <a:latin typeface="Calibri" panose="020F0502020204030204"/>
              <a:ea typeface="+mn-ea"/>
              <a:cs typeface="+mn-cs"/>
            </a:rPr>
            <a:t>dissemination</a:t>
          </a:r>
          <a:r>
            <a:rPr lang="en-US" sz="1800" kern="1200">
              <a:solidFill>
                <a:schemeClr val="tx1"/>
              </a:solidFill>
            </a:rPr>
            <a:t> and </a:t>
          </a:r>
          <a:r>
            <a:rPr lang="en-US" sz="1800" kern="1200">
              <a:solidFill>
                <a:schemeClr val="tx1"/>
              </a:solidFill>
              <a:latin typeface="Calibri Light" panose="020F0302020204030204"/>
            </a:rPr>
            <a:t>use</a:t>
          </a:r>
          <a:endParaRPr lang="en-US" sz="1800" kern="1200">
            <a:solidFill>
              <a:schemeClr val="tx1"/>
            </a:solidFill>
          </a:endParaRPr>
        </a:p>
      </dsp:txBody>
      <dsp:txXfrm>
        <a:off x="5461035" y="2614213"/>
        <a:ext cx="3621346" cy="599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D1D1B35-6FA9-8845-A3E6-B5BF73ACF6AB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F7E15F-D269-1649-8FFC-FE911534F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667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9DEDDDD-250C-482E-9DE6-C403974E43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78A90D8-2647-4560-8208-F58DCE3D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b="0">
                <a:solidFill>
                  <a:srgbClr val="022169"/>
                </a:solidFill>
              </a:rPr>
              <a:t>This timeline incorporates GF, USG plans as well as CQUIN and HIVE upcoming activities to ensure alignment across the network.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200" b="0">
              <a:solidFill>
                <a:srgbClr val="022169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1200" b="0">
              <a:solidFill>
                <a:srgbClr val="022169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rgbClr val="022169"/>
                </a:solidFill>
              </a:rPr>
              <a:t>End of Meeting Deliverables: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>
                <a:solidFill>
                  <a:srgbClr val="022169"/>
                </a:solidFill>
              </a:rPr>
              <a:t>Initial draft of prioritized HIV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>
                <a:solidFill>
                  <a:srgbClr val="022169"/>
                </a:solidFill>
              </a:rPr>
              <a:t>Initial draft of minimum set of indicators aligned with the prioritized HIV services</a:t>
            </a:r>
          </a:p>
          <a:p>
            <a:pPr marL="285750" indent="-285750">
              <a:spcBef>
                <a:spcPts val="600"/>
              </a:spcBef>
            </a:pPr>
            <a:r>
              <a:rPr lang="en-US" sz="1200" b="0">
                <a:solidFill>
                  <a:srgbClr val="022169"/>
                </a:solidFill>
              </a:rPr>
              <a:t>Countries to develop next steps for the mid-July deliverables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200" b="1">
                <a:solidFill>
                  <a:srgbClr val="022169"/>
                </a:solidFill>
              </a:rPr>
              <a:t>By Mid-July countries will  have: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>
                <a:solidFill>
                  <a:srgbClr val="022169"/>
                </a:solidFill>
              </a:rPr>
              <a:t>Refined prioritized HIV services and indicators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>
                <a:solidFill>
                  <a:srgbClr val="022169"/>
                </a:solidFill>
              </a:rPr>
              <a:t>Developed country action plans</a:t>
            </a:r>
            <a:endParaRPr lang="en-US" sz="1200">
              <a:solidFill>
                <a:srgbClr val="022169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200" b="1">
                <a:solidFill>
                  <a:srgbClr val="022169"/>
                </a:solidFill>
              </a:rPr>
              <a:t>CQUIN Annual Meeting in November: </a:t>
            </a:r>
          </a:p>
          <a:p>
            <a:pPr>
              <a:spcBef>
                <a:spcPts val="600"/>
              </a:spcBef>
            </a:pPr>
            <a:r>
              <a:rPr lang="en-US" sz="1200" b="0">
                <a:solidFill>
                  <a:srgbClr val="022169"/>
                </a:solidFill>
              </a:rPr>
              <a:t>Countries will update </a:t>
            </a:r>
            <a:r>
              <a:rPr lang="en-US" sz="1200">
                <a:solidFill>
                  <a:srgbClr val="022169"/>
                </a:solidFill>
              </a:rPr>
              <a:t>action plan progress</a:t>
            </a:r>
            <a:endParaRPr lang="en-US" sz="1200" b="0">
              <a:solidFill>
                <a:srgbClr val="022169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97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From </a:t>
            </a:r>
            <a:r>
              <a:rPr lang="en-GB" b="1"/>
              <a:t>June–September 2025</a:t>
            </a:r>
            <a:r>
              <a:rPr lang="en-GB"/>
              <a:t>, member countries conducted HIV service-prioritization exercises using the following global resources:</a:t>
            </a:r>
          </a:p>
          <a:p>
            <a:endParaRPr lang="en-GB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UNAIDS Resources: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UNAIDS Sustainability Road Map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UNAIDS Rapid AIDS Response Financing Tool (RAFT)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WHO </a:t>
            </a:r>
            <a:r>
              <a:rPr lang="en-GB" b="1"/>
              <a:t>operational guidance- </a:t>
            </a:r>
            <a:r>
              <a:rPr lang="en-US" sz="1200" b="0"/>
              <a:t>Sustaining HIV, viral hepatitis and STI priority services in a changing funding landscape: operational guidance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The PATHS: The Planning and Action Toolbox for HIV Sustainability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The IAS TIER tool: Tool for Intervention Evaluation and Ranking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b="1"/>
              <a:t>CQUIN TIER &amp; M&amp;E indicator tools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b="1"/>
              <a:t>Global Fund (GC7) reprioritization</a:t>
            </a:r>
            <a:r>
              <a:rPr lang="en-GB"/>
              <a:t> </a:t>
            </a:r>
            <a:endParaRPr lang="en-US" sz="1200" b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0"/>
          </a:p>
          <a:p>
            <a:endParaRPr lang="en-GB"/>
          </a:p>
          <a:p>
            <a:r>
              <a:rPr lang="en-GB"/>
              <a:t>These references provided a common, evidence-based frame to compare options across countries and funding scenarios.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04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Expanded participation from 14 to 21 countries from July–September prioritization to October–November 2025 period.</a:t>
            </a:r>
          </a:p>
          <a:p>
            <a:r>
              <a:rPr lang="en-US"/>
              <a:t>Broader, more representative prioritization of HIV services across the network, which will enrich the discussions at the CQUIN meeting this week.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342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Changes in Prevention Service Prioritization Across Network Countries – N=14 (Jul–Sep vs Oct–Nov 2025)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/>
              <a:t>14 interventions</a:t>
            </a:r>
            <a:r>
              <a:rPr lang="en-US"/>
              <a:t> saw a decline in “Keep (No Change)” status, indicating reduced consensus on maintaining services as-is.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/>
              <a:t>4 interventions</a:t>
            </a:r>
            <a:r>
              <a:rPr lang="en-US"/>
              <a:t> saw a decline in “Keep (Modify)” status, suggesting fewer planned contextual adaptations.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 total of </a:t>
            </a:r>
            <a:r>
              <a:rPr lang="en-US" b="1"/>
              <a:t>33 interventions</a:t>
            </a:r>
            <a:r>
              <a:rPr lang="en-US"/>
              <a:t> shifted away from active prioritization - either dropped or clarified as not applicable - highlighting a trend toward streamlining and contextual tailoring of HIV prevention interventions.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048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361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Greater Differentiation Across Countries</a:t>
            </a:r>
            <a:br>
              <a:rPr lang="en-US" sz="1200" kern="10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200" b="0" kern="10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While some interventions remained universally prioritized, others showed increased variability </a:t>
            </a:r>
            <a:r>
              <a:rPr lang="en-US" b="0" kern="100">
                <a:solidFill>
                  <a:schemeClr val="tx2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October-November prioritization</a:t>
            </a:r>
            <a:r>
              <a:rPr lang="en-US" sz="1200" b="0" kern="10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b="0" kern="100">
                <a:solidFill>
                  <a:schemeClr val="tx2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1200" b="0" kern="10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uggests a shift toward more country-specific services rather than a one-size-fits-all approach.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290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 will discuss a few, key Strategic Information items that have been in focus since we last met in June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310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includes checking in on the </a:t>
            </a:r>
            <a:r>
              <a:rPr lang="en-US" b="1"/>
              <a:t>national M&amp;E indicator prioritization activity </a:t>
            </a:r>
            <a:r>
              <a:rPr lang="en-US"/>
              <a:t>that countries completed following the June meeting;</a:t>
            </a:r>
          </a:p>
          <a:p>
            <a:r>
              <a:rPr lang="en-US"/>
              <a:t>Reviewing </a:t>
            </a:r>
            <a:r>
              <a:rPr lang="en-US" b="1"/>
              <a:t>trends in key national HMIS data </a:t>
            </a:r>
            <a:r>
              <a:rPr lang="en-US"/>
              <a:t>from CQUIN countries, which we promised to monitor for important impacts of funding cuts and disruptions;</a:t>
            </a:r>
          </a:p>
          <a:p>
            <a:r>
              <a:rPr lang="en-US"/>
              <a:t>And, introducing the draft </a:t>
            </a:r>
            <a:r>
              <a:rPr lang="en-US" b="1"/>
              <a:t>CQUIN national M&amp;E system vulnerabilities assessment</a:t>
            </a:r>
            <a:r>
              <a:rPr lang="en-US"/>
              <a:t>, which has been piloted by several countries in recent weeks</a:t>
            </a:r>
          </a:p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379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we last met in June, countries left with a request to prioritize HIV services and M&amp;E indicators under a set of funding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583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is </a:t>
            </a:r>
            <a:r>
              <a:rPr lang="en-US" b="1"/>
              <a:t>the list of 25 indicators </a:t>
            </a:r>
            <a:r>
              <a:rPr lang="en-US"/>
              <a:t>countries were provided by CQUIN. Countries were asked to decide </a:t>
            </a:r>
            <a:r>
              <a:rPr lang="en-US" b="1"/>
              <a:t>whether each of these should be kept, revised, or dropped </a:t>
            </a:r>
            <a:r>
              <a:rPr lang="en-US"/>
              <a:t>in 2 funding scenarios: a </a:t>
            </a:r>
            <a:r>
              <a:rPr lang="en-US" b="1"/>
              <a:t>50% cut </a:t>
            </a:r>
            <a:r>
              <a:rPr lang="en-US"/>
              <a:t>in external funding, and </a:t>
            </a:r>
            <a:r>
              <a:rPr lang="en-US" b="1"/>
              <a:t>a complete cut to NO </a:t>
            </a:r>
            <a:r>
              <a:rPr lang="en-US"/>
              <a:t>external funding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768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is what </a:t>
            </a:r>
            <a:r>
              <a:rPr lang="en-US" b="1"/>
              <a:t>15 countries </a:t>
            </a:r>
            <a:r>
              <a:rPr lang="en-US"/>
              <a:t>reported to us from their prioritization.</a:t>
            </a:r>
          </a:p>
          <a:p>
            <a:r>
              <a:rPr lang="en-US"/>
              <a:t>The indicators are listed down the left side, with most countries are listed across the top TWICE: once under the zero external funds scenario (on the left) and one under the 50% reduction scenario (on the right).</a:t>
            </a:r>
          </a:p>
          <a:p>
            <a:r>
              <a:rPr lang="en-US"/>
              <a:t>The cells here show the staging for each indicator: dark green indicating Keep; lighter green, Keep but modify; Red meaning DROP; and grey indicating N/A.</a:t>
            </a:r>
          </a:p>
          <a:p>
            <a:r>
              <a:rPr lang="en-US"/>
              <a:t>As you can see from the mass of green shading, overwhelmingly, countries envisioned keeping nearly all of these 25 indicators, even in the 0 external funding scenario. Only one country envisioned dropping significant numbers of indicators.</a:t>
            </a:r>
          </a:p>
          <a:p>
            <a:r>
              <a:rPr lang="en-US"/>
              <a:t>One entity that does appear to be dropping indicators is PEPFAR [click], at least based on the MOU guidance that has been unofficially circulated. Only three HIV services indicators (# tested HIV+, # current on ART, and # of HEI testing HIV+ by 18 </a:t>
            </a:r>
            <a:r>
              <a:rPr lang="en-US" err="1"/>
              <a:t>mos</a:t>
            </a:r>
            <a:r>
              <a:rPr lang="en-US"/>
              <a:t>) are included, along with several population-level indicators presumably to be assessed via surveys.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802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Now, shifting to the </a:t>
            </a:r>
            <a:r>
              <a:rPr lang="en-US" b="1"/>
              <a:t>routine national HMIS indicators that were requested by CQUIN earlier this year</a:t>
            </a:r>
            <a:r>
              <a:rPr lang="en-US"/>
              <a:t>, these indicators were mostly aligned with a subset of the 25 indicators listed here – you can seem them marked with a blue star here.</a:t>
            </a:r>
          </a:p>
          <a:p>
            <a:r>
              <a:rPr lang="en-US"/>
              <a:t>We are grateful that CQUIN country MOH teams have been so generous as to share much of this data with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662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Which I will summarize at a very high level here, with an eye towards assessing impacts of the program </a:t>
            </a:r>
            <a:r>
              <a:rPr lang="en-US" err="1"/>
              <a:t>distruptions</a:t>
            </a:r>
            <a:r>
              <a:rPr lang="en-US"/>
              <a:t> and funding cuts since January.</a:t>
            </a:r>
          </a:p>
          <a:p>
            <a:r>
              <a:rPr lang="en-US"/>
              <a:t>The data I will show here will not identify individual countries, but rather is intended to give an overview of key trends. </a:t>
            </a:r>
          </a:p>
          <a:p>
            <a:r>
              <a:rPr lang="en-US"/>
              <a:t>You can however see much of this data in country presentations and posters throughout the meeting this week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3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is an example of the type of data that has been shared, here from 4 countries in Western &amp; Central Africa. This shows the </a:t>
            </a:r>
            <a:r>
              <a:rPr lang="en-US" b="1"/>
              <a:t>number of people tested for HIV</a:t>
            </a:r>
            <a:r>
              <a:rPr lang="en-US"/>
              <a:t> by </a:t>
            </a:r>
            <a:r>
              <a:rPr lang="en-US" b="1"/>
              <a:t>month</a:t>
            </a:r>
            <a:r>
              <a:rPr lang="en-US"/>
              <a:t>, from Jan 2024 through August 2025.</a:t>
            </a:r>
          </a:p>
          <a:p>
            <a:r>
              <a:rPr lang="en-US"/>
              <a:t>The dotted vertical line marks Jan 2025, when the first USG </a:t>
            </a:r>
            <a:r>
              <a:rPr lang="en-US" err="1"/>
              <a:t>distruptions</a:t>
            </a:r>
            <a:r>
              <a:rPr lang="en-US"/>
              <a:t> occurred.</a:t>
            </a:r>
          </a:p>
          <a:p>
            <a:r>
              <a:rPr lang="en-US"/>
              <a:t>We don’t see a clear change after Jan in </a:t>
            </a:r>
            <a:r>
              <a:rPr lang="en-US" b="1" i="1"/>
              <a:t>all</a:t>
            </a:r>
            <a:r>
              <a:rPr lang="en-US"/>
              <a:t> of the countries here; however certainly the two on the </a:t>
            </a:r>
            <a:r>
              <a:rPr lang="en-US" b="1"/>
              <a:t>right</a:t>
            </a:r>
            <a:r>
              <a:rPr lang="en-US"/>
              <a:t> (labeled as WC5 and WC6) do have obvious, large declines in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230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looking at this type of data a different way – here we see </a:t>
            </a:r>
            <a:r>
              <a:rPr lang="en-US" b="1"/>
              <a:t>heat maps for 4 indicators </a:t>
            </a:r>
            <a:r>
              <a:rPr lang="en-US"/>
              <a:t>that summarize the </a:t>
            </a:r>
            <a:r>
              <a:rPr lang="en-US" b="1"/>
              <a:t>% change </a:t>
            </a:r>
            <a:r>
              <a:rPr lang="en-US"/>
              <a:t>in the volume of HIV services reported by month is 2025 vs. the </a:t>
            </a:r>
            <a:r>
              <a:rPr lang="en-US" b="1" i="1"/>
              <a:t>overall 2024 monthly average </a:t>
            </a:r>
            <a:r>
              <a:rPr lang="en-US"/>
              <a:t>for the indicator, in 19 countries. As shown on the bottom-right, the colors highlight differences of 20% or more from the 2024 average, with red indicating a reduction.  The Mean Change column shows the change in the overall average monthly number in 2025 vs. 2024. Countries are anonymized, and listed in the </a:t>
            </a:r>
            <a:r>
              <a:rPr lang="en-US" b="1"/>
              <a:t>first column</a:t>
            </a:r>
            <a:r>
              <a:rPr lang="en-US"/>
              <a:t> of each figure. [So for example [CLICK] </a:t>
            </a:r>
            <a:r>
              <a:rPr lang="en-US" b="1"/>
              <a:t>this row </a:t>
            </a:r>
            <a:r>
              <a:rPr lang="en-US"/>
              <a:t>shows the % change in the # receiving HIV testing in </a:t>
            </a:r>
            <a:r>
              <a:rPr lang="en-US" b="1"/>
              <a:t>country EC1 </a:t>
            </a:r>
            <a:r>
              <a:rPr lang="en-US"/>
              <a:t>during Jan-Aug 2025, as compared to the average monthly HIV testing in 2024. There was a large decline in February with tapered off by May and then declined again in August; with an overall average decline of 7% in 2025.]</a:t>
            </a:r>
          </a:p>
          <a:p>
            <a:r>
              <a:rPr lang="en-US"/>
              <a:t>Broadly, what we see here is a lot of red, throughout each of these four indicators: # tested, # new on ART. # received VL results, and # new on </a:t>
            </a:r>
            <a:r>
              <a:rPr lang="en-US" err="1"/>
              <a:t>PrEP.</a:t>
            </a:r>
            <a:r>
              <a:rPr lang="en-US"/>
              <a:t> In some cases, the declines are temporary; in particular with VL testing, there seems to be some </a:t>
            </a:r>
            <a:r>
              <a:rPr lang="en-US" err="1"/>
              <a:t>bounceback</a:t>
            </a:r>
            <a:r>
              <a:rPr lang="en-US"/>
              <a:t> in the latter months; but overall the declines persist to some degree through Aug-Sep. These could reflect gaps in </a:t>
            </a:r>
            <a:r>
              <a:rPr lang="en-US" b="1"/>
              <a:t>data systems</a:t>
            </a:r>
            <a:r>
              <a:rPr lang="en-US"/>
              <a:t> to an extent, as well as service disruptions. Less discouraging is the VL testing </a:t>
            </a:r>
            <a:r>
              <a:rPr lang="en-US" b="1"/>
              <a:t>results</a:t>
            </a:r>
            <a:r>
              <a:rPr lang="en-US"/>
              <a:t> [CLICK] which do NOT show a pattern of declines in the PROPORTION of people with a VL test results &lt;1000.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61512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507">
              <a:defRPr/>
            </a:pPr>
            <a:r>
              <a:rPr lang="en-US"/>
              <a:t>I won’t get into all of the details here – but this slide summarizes the changes in the # tested, the % and </a:t>
            </a:r>
            <a:r>
              <a:rPr lang="en-US" u="sng"/>
              <a:t>#</a:t>
            </a:r>
            <a:r>
              <a:rPr lang="en-US"/>
              <a:t> tested HIV+, # new on ART, and a calculated proxy % linkage to ART. A key point is that we are seeing declines in all of these indicators </a:t>
            </a:r>
            <a:r>
              <a:rPr lang="en-US" b="1"/>
              <a:t>except </a:t>
            </a:r>
            <a:r>
              <a:rPr lang="en-US" b="0"/>
              <a:t>[CLICK] proxy linkage. [CLICK] This suggests that </a:t>
            </a:r>
            <a:r>
              <a:rPr lang="en-US"/>
              <a:t> </a:t>
            </a:r>
            <a:r>
              <a:rPr lang="en-US" kern="0">
                <a:solidFill>
                  <a:srgbClr val="000000"/>
                </a:solidFill>
              </a:rPr>
              <a:t>reductions # new on ART are generally due to reduced testing volume and reduced % positivity and </a:t>
            </a:r>
            <a:r>
              <a:rPr lang="en-US" b="1" kern="0">
                <a:solidFill>
                  <a:srgbClr val="000000"/>
                </a:solidFill>
              </a:rPr>
              <a:t> NOT</a:t>
            </a:r>
            <a:r>
              <a:rPr lang="en-US" u="sng" kern="0">
                <a:solidFill>
                  <a:srgbClr val="000000"/>
                </a:solidFill>
              </a:rPr>
              <a:t> reduced linkage</a:t>
            </a:r>
            <a:r>
              <a:rPr lang="en-US" kern="0">
                <a:solidFill>
                  <a:srgbClr val="000000"/>
                </a:solidFill>
              </a:rPr>
              <a:t>, for example due to unavailability of ARVs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409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last analysis I want to share is looking at trends in the # current on ART. This shows an example of a trend in one country across 2024 and 2025. This is using the % differences between the monthly numbers and November 2024’s monthly number to express the trend.</a:t>
            </a:r>
          </a:p>
          <a:p>
            <a:r>
              <a:rPr lang="en-US"/>
              <a:t>[CLICK] What we see in 2024 is </a:t>
            </a:r>
            <a:r>
              <a:rPr lang="en-US">
                <a:solidFill>
                  <a:srgbClr val="0070C0"/>
                </a:solidFill>
              </a:rPr>
              <a:t>a</a:t>
            </a:r>
            <a:r>
              <a:rPr lang="en-US" i="1">
                <a:solidFill>
                  <a:srgbClr val="0070C0"/>
                </a:solidFill>
              </a:rPr>
              <a:t> mostly</a:t>
            </a:r>
            <a:r>
              <a:rPr lang="en-US">
                <a:solidFill>
                  <a:srgbClr val="0070C0"/>
                </a:solidFill>
              </a:rPr>
              <a:t> consistent increase in # on ART through December and into January. From that point [CLICK], during the current year, we see a less consistent but generally increasing # on ART. The red dotted line shows a rough expected trend into 2025. The results suggests perhaps </a:t>
            </a:r>
            <a:r>
              <a:rPr lang="en-US" i="1">
                <a:solidFill>
                  <a:srgbClr val="0070C0"/>
                </a:solidFill>
              </a:rPr>
              <a:t>some degree </a:t>
            </a:r>
            <a:r>
              <a:rPr lang="en-US" b="0" i="0">
                <a:solidFill>
                  <a:srgbClr val="0070C0"/>
                </a:solidFill>
              </a:rPr>
              <a:t>of disruption in ART services and/or data systems since January</a:t>
            </a:r>
            <a:endParaRPr lang="en-US" b="0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4531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at this trend for 8 CQUIN countries in Eastern and Southern Africa – what jumps out [CLICK] is large shifts towards </a:t>
            </a:r>
            <a:r>
              <a:rPr lang="en-US" b="1" i="1"/>
              <a:t>declines </a:t>
            </a:r>
            <a:r>
              <a:rPr lang="en-US"/>
              <a:t>in # current on ART in 3 countries, of 5-10% and in some cases even 20% or more. This pattern is not limited to the 3 countries shown here. Our CQUIN SI advisors have reached out to countries to share this data and discuss reasons for the shifts.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699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summary, the routine national M&amp;E data shared by CQUIN countries shows Large (&gt;20%) reductions in HIV testing volume, ART initiations, VL testing, &amp; PrEP initiations in many countries. There does not seem to be a bottleneck at the point of ART initiation – declines in # new on ART are in line with reduced # testing HIV+. We did </a:t>
            </a:r>
            <a:r>
              <a:rPr lang="en-US" b="1"/>
              <a:t>not</a:t>
            </a:r>
            <a:r>
              <a:rPr lang="en-US"/>
              <a:t> see reductions in the % of people on ART with VL&lt;1000, and lastly, we </a:t>
            </a:r>
            <a:r>
              <a:rPr lang="en-US" b="1"/>
              <a:t>did</a:t>
            </a:r>
            <a:r>
              <a:rPr lang="en-US"/>
              <a:t> see potentially </a:t>
            </a:r>
            <a:r>
              <a:rPr lang="en-US" i="1" u="sng"/>
              <a:t>alarming </a:t>
            </a:r>
            <a:r>
              <a:rPr lang="en-US"/>
              <a:t>drops in the number of people currently receiving ART in a number of countries, which we are working with countries to better understand, but we wanted to flag here as well.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476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507">
              <a:defRPr/>
            </a:pPr>
            <a:r>
              <a:rPr lang="en-US">
                <a:solidFill>
                  <a:prstClr val="black"/>
                </a:solidFill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Finally, I want to very briefly introduce an initiative that was kicked off recently, the CQUIN M&amp;E system vulnerabilities assessment. This tool was inspired by our mostly anecdotal understanding of the large extent of donor support for M&amp;E systems, and the seeming discordance with the M&amp;E indicator prioritization I showed earlier—which showed countries expecting to KEEP nearly all indicators, even with ZERO external funding.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229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The main objective of the assessment is to </a:t>
            </a:r>
            <a:r>
              <a:rPr lang="en-US"/>
              <a:t>help countries document, at a granular level, the vulnerabilities in national HIV M&amp;E systems related to potential cuts in support by external funders such as PEPFAR and Global Fund</a:t>
            </a:r>
          </a:p>
          <a:p>
            <a:r>
              <a:rPr lang="en-US"/>
              <a:t>   </a:t>
            </a:r>
          </a:p>
          <a:p>
            <a:r>
              <a:rPr lang="en-US" b="1">
                <a:solidFill>
                  <a:srgbClr val="0070C0"/>
                </a:solidFill>
              </a:rPr>
              <a:t>A secondary objective</a:t>
            </a:r>
            <a:r>
              <a:rPr lang="en-US">
                <a:solidFill>
                  <a:srgbClr val="0070C0"/>
                </a:solidFill>
              </a:rPr>
              <a:t> is to, at the same time</a:t>
            </a:r>
            <a:r>
              <a:rPr lang="en-US"/>
              <a:t>, identify existing gaps in country HIV M&amp;E systems, which may be unrelated to current or future cuts in external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757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D2CDA-27FA-EFE5-11CB-D14AE6FD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9C472-7927-083A-4963-61FEAE078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A0171-0C98-2DF6-982B-84943B232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assessment is organized under 7 domains reflecting aspects of national M&amp;E, as shown here; there are a total of 46 subdomains in total, and across all of these subdomains there are almost 200 (199) “M&amp;E functions” that are assessed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67065-60C5-8804-9923-87EC040E2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742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7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682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go straight to the pilot data, this summarizes the vulnerability scores for 3 countries who piloted the tool in recent weeks. Specifically this shows the scores for the M&amp;E functions across the subdomains, with </a:t>
            </a:r>
            <a:r>
              <a:rPr lang="en-US" b="1"/>
              <a:t>blue </a:t>
            </a:r>
            <a:r>
              <a:rPr lang="en-US"/>
              <a:t>indicating a </a:t>
            </a:r>
            <a:r>
              <a:rPr lang="en-US" u="sng"/>
              <a:t>gap</a:t>
            </a:r>
            <a:r>
              <a:rPr lang="en-US"/>
              <a:t> in an M&amp;E functions—that is, the country is not implementing this function at all—</a:t>
            </a:r>
            <a:r>
              <a:rPr lang="en-US" b="1"/>
              <a:t>red</a:t>
            </a:r>
            <a:r>
              <a:rPr lang="en-US"/>
              <a:t> indicating </a:t>
            </a:r>
            <a:r>
              <a:rPr lang="en-US" u="sng"/>
              <a:t>high vulnerability</a:t>
            </a:r>
            <a:r>
              <a:rPr lang="en-US"/>
              <a:t>, meaning that the M&amp;E function is </a:t>
            </a:r>
            <a:r>
              <a:rPr lang="en-US" u="sng"/>
              <a:t>entirely s</a:t>
            </a:r>
            <a:r>
              <a:rPr lang="en-US"/>
              <a:t>upported by external funds or TA; </a:t>
            </a:r>
            <a:r>
              <a:rPr lang="en-US" b="1"/>
              <a:t>gold</a:t>
            </a:r>
            <a:r>
              <a:rPr lang="en-US"/>
              <a:t> indicating </a:t>
            </a:r>
            <a:r>
              <a:rPr lang="en-US" u="sng"/>
              <a:t>partial </a:t>
            </a:r>
            <a:r>
              <a:rPr lang="en-US"/>
              <a:t>vulnerability, that at least partial external funds or indirect support; and, in the rare case, </a:t>
            </a:r>
            <a:r>
              <a:rPr lang="en-US" b="1"/>
              <a:t>green</a:t>
            </a:r>
            <a:r>
              <a:rPr lang="en-US"/>
              <a:t> indicating that the M&amp;E function is carried out independently by the government.   You can see here that there are very few M&amp;E functions carried out independently – [CLICK] .  Further, Country A has extensive M&amp;E gaps, which are not supported by donors or the government. Country B has fewer gaps, but vast segments of its M&amp;E system are entirely supported by external donors. Country C has no gaps, and also no green at all; nearly all M&amp;E functions are partially supported. </a:t>
            </a:r>
          </a:p>
          <a:p>
            <a:r>
              <a:rPr lang="en-US"/>
              <a:t>I will note that countries also reported whether external support was </a:t>
            </a:r>
            <a:r>
              <a:rPr lang="en-US" b="1"/>
              <a:t>direct </a:t>
            </a:r>
            <a:r>
              <a:rPr lang="en-US"/>
              <a:t>(funding or personnel), </a:t>
            </a:r>
            <a:r>
              <a:rPr lang="en-US" b="1"/>
              <a:t>indirect</a:t>
            </a:r>
            <a:r>
              <a:rPr lang="en-US"/>
              <a:t> (TA), for relevant M&amp;E functions.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348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507">
              <a:defRPr/>
            </a:pPr>
            <a:r>
              <a:rPr lang="en-US"/>
              <a:t>So a major takeaway here is that all three countries showed partial or complete vulnerability, or gaps in M&amp;E, in all domains assessed.</a:t>
            </a:r>
          </a:p>
          <a:p>
            <a:pPr defTabSz="948507">
              <a:defRPr/>
            </a:pPr>
            <a:r>
              <a:rPr lang="en-US"/>
              <a:t>Though, there were differences in the type and degree of vulnerability by country</a:t>
            </a:r>
          </a:p>
          <a:p>
            <a:pPr defTabSz="948507">
              <a:defRPr/>
            </a:pPr>
            <a:r>
              <a:rPr lang="en-US"/>
              <a:t>We hope that this assessment helps countries plan for discussions with donors, and prioritize efforts to strengthen government-ownership of M&amp;E of the national HIV response. </a:t>
            </a:r>
          </a:p>
          <a:p>
            <a:endParaRPr lang="en-US"/>
          </a:p>
          <a:p>
            <a:r>
              <a:rPr lang="en-US"/>
              <a:t>Lastly… for more details on the pilot assessments from 4 countries, please be sure to attend sessions 9 and 12, where countries will be presenting their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A90D8-2647-4560-8208-F58DCE3DB5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857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C0B78C7-C5AD-9DF1-173C-2F384849D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939D3-8BCC-4347-00B4-A376B8601A85}"/>
              </a:ext>
            </a:extLst>
          </p:cNvPr>
          <p:cNvSpPr/>
          <p:nvPr userDrawn="1"/>
        </p:nvSpPr>
        <p:spPr>
          <a:xfrm rot="10800000">
            <a:off x="0" y="-119922"/>
            <a:ext cx="12192000" cy="6984991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9000">
                <a:srgbClr val="022169">
                  <a:shade val="67500"/>
                  <a:satMod val="115000"/>
                </a:srgbClr>
              </a:gs>
              <a:gs pos="84000">
                <a:srgbClr val="022069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-up of logos&#10;&#10;Description automatically generated">
            <a:extLst>
              <a:ext uri="{FF2B5EF4-FFF2-40B4-BE49-F238E27FC236}">
                <a16:creationId xmlns:a16="http://schemas.microsoft.com/office/drawing/2014/main" id="{94840D39-5C51-3C61-4643-816F9E2288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3089" b="32737"/>
          <a:stretch/>
        </p:blipFill>
        <p:spPr>
          <a:xfrm>
            <a:off x="10002782" y="-271462"/>
            <a:ext cx="2299522" cy="1714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9319" y="1423480"/>
            <a:ext cx="1834134" cy="28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84888"/>
          <a:stretch/>
        </p:blipFill>
        <p:spPr>
          <a:xfrm>
            <a:off x="25522" y="5275396"/>
            <a:ext cx="12197656" cy="103684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A1564E6-4A42-A1A2-FC04-7853181BD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7758" y="3809087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7758" y="1915746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pic>
        <p:nvPicPr>
          <p:cNvPr id="14" name="Picture 1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DFACD2F8-1E1C-97AD-42B3-82D75E49112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5796" y="376615"/>
            <a:ext cx="2130324" cy="12462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77974D-6942-593A-B94E-E78524702C82}"/>
              </a:ext>
            </a:extLst>
          </p:cNvPr>
          <p:cNvSpPr txBox="1"/>
          <p:nvPr userDrawn="1"/>
        </p:nvSpPr>
        <p:spPr>
          <a:xfrm>
            <a:off x="2365248" y="6181696"/>
            <a:ext cx="7461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CQUIN 9</a:t>
            </a:r>
            <a:r>
              <a:rPr lang="en-US" sz="1800" b="1" baseline="300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US" sz="1800" b="1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 Annual Meeting </a:t>
            </a:r>
            <a:r>
              <a:rPr lang="en-US" sz="1800" b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| </a:t>
            </a:r>
            <a:r>
              <a:rPr lang="en-US" sz="1800" b="0" kern="12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Delivering Differently: Prioritize. Adapt. Sustain</a:t>
            </a:r>
            <a:r>
              <a:rPr lang="en-US" sz="1800" b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r>
              <a:rPr lang="en-US" sz="1050" b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r>
              <a:rPr lang="en-US" b="0" dirty="0">
                <a:solidFill>
                  <a:schemeClr val="bg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488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w/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EC02EE-9661-4A18-8A8F-B0942498E6ED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6000">
                <a:srgbClr val="022169">
                  <a:shade val="67500"/>
                  <a:satMod val="115000"/>
                </a:srgbClr>
              </a:gs>
              <a:gs pos="84000">
                <a:schemeClr val="tx2"/>
              </a:gs>
            </a:gsLst>
            <a:lin ang="78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80606FA-C36B-44EE-91CC-23E328C62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097" y="3681248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B746CDD-D828-4CA9-922F-39CA5C1B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098" y="1838673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496835-195E-E9F4-3CBE-7C62F6DAC9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5953" y="0"/>
            <a:ext cx="4696047" cy="6858000"/>
          </a:xfrm>
          <a:solidFill>
            <a:schemeClr val="bg1"/>
          </a:solidFill>
        </p:spPr>
        <p:txBody>
          <a:bodyPr anchor="ctr"/>
          <a:lstStyle>
            <a:lvl1pPr algn="ctr"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 descr="A close-up of logos&#10;&#10;Description automatically generated">
            <a:extLst>
              <a:ext uri="{FF2B5EF4-FFF2-40B4-BE49-F238E27FC236}">
                <a16:creationId xmlns:a16="http://schemas.microsoft.com/office/drawing/2014/main" id="{BE000DA9-8AAE-12BF-3F8C-20C28B210C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27" t="3894" r="-1691" b="28843"/>
          <a:stretch/>
        </p:blipFill>
        <p:spPr>
          <a:xfrm>
            <a:off x="520732" y="5429322"/>
            <a:ext cx="2792797" cy="1071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CA33DC-B96E-01DD-66D1-0F180EC4EDAF}"/>
              </a:ext>
            </a:extLst>
          </p:cNvPr>
          <p:cNvSpPr txBox="1"/>
          <p:nvPr userDrawn="1"/>
        </p:nvSpPr>
        <p:spPr>
          <a:xfrm>
            <a:off x="1917130" y="5898117"/>
            <a:ext cx="544535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CQUIN 9</a:t>
            </a:r>
            <a:r>
              <a:rPr lang="en-US" sz="1800" b="1" baseline="300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US" sz="1800" b="1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 Annual Meeting </a:t>
            </a:r>
          </a:p>
          <a:p>
            <a:pPr algn="r">
              <a:buNone/>
            </a:pPr>
            <a:r>
              <a:rPr lang="en-US" sz="1600" b="0" kern="12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Delivering Differently: Prioritize. Adapt. Sustain</a:t>
            </a:r>
            <a:r>
              <a:rPr lang="en-US" sz="1600" b="0" dirty="0">
                <a:solidFill>
                  <a:schemeClr val="bg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84840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9DF82-A038-4DAB-A858-F7EBC5209F7E}"/>
              </a:ext>
            </a:extLst>
          </p:cNvPr>
          <p:cNvSpPr/>
          <p:nvPr/>
        </p:nvSpPr>
        <p:spPr>
          <a:xfrm>
            <a:off x="0" y="-104930"/>
            <a:ext cx="12192000" cy="6988426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444262" y="3896069"/>
            <a:ext cx="7321061" cy="900863"/>
          </a:xfrm>
        </p:spPr>
        <p:txBody>
          <a:bodyPr anchor="t">
            <a:normAutofit/>
          </a:bodyPr>
          <a:lstStyle>
            <a:lvl1pPr algn="ctr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DB90-7F95-46D7-9750-A473B620A4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18475" y="1074861"/>
            <a:ext cx="2355050" cy="235413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6B25C91F-F5A9-D697-8D03-6559B5F100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27" t="3894" r="-1691" b="28843"/>
          <a:stretch/>
        </p:blipFill>
        <p:spPr>
          <a:xfrm>
            <a:off x="9236107" y="5572197"/>
            <a:ext cx="2792797" cy="10000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F5DCE8-A19F-3B0E-6957-6024CA64479A}"/>
              </a:ext>
            </a:extLst>
          </p:cNvPr>
          <p:cNvSpPr txBox="1"/>
          <p:nvPr userDrawn="1"/>
        </p:nvSpPr>
        <p:spPr>
          <a:xfrm>
            <a:off x="357966" y="5940909"/>
            <a:ext cx="7461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CQUIN 9</a:t>
            </a:r>
            <a:r>
              <a:rPr lang="en-US" sz="1800" b="1" baseline="300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US" sz="1800" b="1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 Annual Meeting </a:t>
            </a:r>
          </a:p>
          <a:p>
            <a:pPr>
              <a:buNone/>
            </a:pPr>
            <a:r>
              <a:rPr lang="en-US" sz="1800" b="0" kern="120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Delivering Differently: Prioritize. Adapt. Sustain</a:t>
            </a:r>
            <a:r>
              <a:rPr lang="en-US" sz="1800" b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r>
              <a:rPr lang="en-US" sz="1050" b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r>
              <a:rPr lang="en-US" b="0" dirty="0">
                <a:solidFill>
                  <a:schemeClr val="bg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510297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0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hoto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E28A67-3D2A-47FE-8FEE-BEDC483737C0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" y="0"/>
            <a:ext cx="6896098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spc="3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381496" y="304800"/>
            <a:ext cx="4366006" cy="1054099"/>
          </a:xfrm>
        </p:spPr>
        <p:txBody>
          <a:bodyPr anchor="t">
            <a:no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C8C91-517A-E263-7CC8-86DAE966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1495" y="1600200"/>
            <a:ext cx="4366006" cy="44831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DE5F94F0-02CE-5E6A-C377-61D903AD8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27" t="3894" r="-1691" b="28843"/>
          <a:stretch/>
        </p:blipFill>
        <p:spPr>
          <a:xfrm>
            <a:off x="10113663" y="5939060"/>
            <a:ext cx="1856088" cy="71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7619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19999" y="1610685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12396" y="520700"/>
            <a:ext cx="6140742" cy="838199"/>
          </a:xfrm>
        </p:spPr>
        <p:txBody>
          <a:bodyPr anchor="t">
            <a:normAutofit/>
          </a:bodyPr>
          <a:lstStyle>
            <a:lvl1pPr algn="l">
              <a:defRPr sz="3200" b="1">
                <a:solidFill>
                  <a:srgbClr val="0221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2775" y="1511300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7B9A3B1F-38FC-416E-28B8-878000EAA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27" t="3894" r="-1691" b="28843"/>
          <a:stretch/>
        </p:blipFill>
        <p:spPr>
          <a:xfrm>
            <a:off x="10113663" y="5939060"/>
            <a:ext cx="1856088" cy="712111"/>
          </a:xfrm>
          <a:prstGeom prst="rect">
            <a:avLst/>
          </a:prstGeom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3F170626-5996-417C-C55B-DA5EB0C2C1CC}"/>
              </a:ext>
            </a:extLst>
          </p:cNvPr>
          <p:cNvSpPr txBox="1">
            <a:spLocks/>
          </p:cNvSpPr>
          <p:nvPr userDrawn="1"/>
        </p:nvSpPr>
        <p:spPr>
          <a:xfrm>
            <a:off x="205328" y="6428267"/>
            <a:ext cx="6935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CQUIN 9</a:t>
            </a:r>
            <a:r>
              <a:rPr lang="en-US" baseline="30000" dirty="0"/>
              <a:t>th</a:t>
            </a:r>
            <a:r>
              <a:rPr lang="en-US" dirty="0"/>
              <a:t> Annual Meeting | November 17-21, 2025 | Durban, South Africa </a:t>
            </a:r>
          </a:p>
        </p:txBody>
      </p:sp>
    </p:spTree>
    <p:extLst>
      <p:ext uri="{BB962C8B-B14F-4D97-AF65-F5344CB8AC3E}">
        <p14:creationId xmlns:p14="http://schemas.microsoft.com/office/powerpoint/2010/main" val="19816195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49569" y="951125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775036" y="432485"/>
            <a:ext cx="6140742" cy="838199"/>
          </a:xfrm>
        </p:spPr>
        <p:txBody>
          <a:bodyPr anchor="t">
            <a:normAutofit/>
          </a:bodyPr>
          <a:lstStyle>
            <a:lvl1pPr algn="l">
              <a:defRPr sz="3200" b="1">
                <a:solidFill>
                  <a:srgbClr val="0221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75415" y="1423085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7B9A3B1F-38FC-416E-28B8-878000EAA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27" t="3894" r="-1691" b="28843"/>
          <a:stretch/>
        </p:blipFill>
        <p:spPr>
          <a:xfrm>
            <a:off x="276222" y="5939059"/>
            <a:ext cx="1856088" cy="712111"/>
          </a:xfrm>
          <a:prstGeom prst="rect">
            <a:avLst/>
          </a:prstGeom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3F170626-5996-417C-C55B-DA5EB0C2C1CC}"/>
              </a:ext>
            </a:extLst>
          </p:cNvPr>
          <p:cNvSpPr txBox="1">
            <a:spLocks/>
          </p:cNvSpPr>
          <p:nvPr userDrawn="1"/>
        </p:nvSpPr>
        <p:spPr>
          <a:xfrm>
            <a:off x="7045040" y="6468608"/>
            <a:ext cx="6935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CQUIN 9</a:t>
            </a:r>
            <a:r>
              <a:rPr lang="en-US" baseline="30000" dirty="0"/>
              <a:t>th</a:t>
            </a:r>
            <a:r>
              <a:rPr lang="en-US" dirty="0"/>
              <a:t> Annual Meeting | November 17-21, 2025 | Durban, South Africa </a:t>
            </a:r>
          </a:p>
        </p:txBody>
      </p:sp>
    </p:spTree>
    <p:extLst>
      <p:ext uri="{BB962C8B-B14F-4D97-AF65-F5344CB8AC3E}">
        <p14:creationId xmlns:p14="http://schemas.microsoft.com/office/powerpoint/2010/main" val="27662367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7FE98-6B0C-4514-B978-11C7B1F2E18D}"/>
              </a:ext>
            </a:extLst>
          </p:cNvPr>
          <p:cNvSpPr/>
          <p:nvPr/>
        </p:nvSpPr>
        <p:spPr>
          <a:xfrm>
            <a:off x="0" y="0"/>
            <a:ext cx="1535185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964317" y="520700"/>
            <a:ext cx="9144456" cy="838199"/>
          </a:xfrm>
        </p:spPr>
        <p:txBody>
          <a:bodyPr anchor="t">
            <a:normAutofit/>
          </a:bodyPr>
          <a:lstStyle>
            <a:lvl1pPr algn="l">
              <a:defRPr sz="3200" b="1">
                <a:solidFill>
                  <a:srgbClr val="0221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145008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close-up of logos&#10;&#10;Description automatically generated">
            <a:extLst>
              <a:ext uri="{FF2B5EF4-FFF2-40B4-BE49-F238E27FC236}">
                <a16:creationId xmlns:a16="http://schemas.microsoft.com/office/drawing/2014/main" id="{D5772C60-4CD3-9DC9-6414-C62596BDD6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7532" y="6006026"/>
            <a:ext cx="2008177" cy="1044766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CEE96EB-717E-BF7B-A276-09CAC7294002}"/>
              </a:ext>
            </a:extLst>
          </p:cNvPr>
          <p:cNvSpPr txBox="1">
            <a:spLocks/>
          </p:cNvSpPr>
          <p:nvPr userDrawn="1"/>
        </p:nvSpPr>
        <p:spPr>
          <a:xfrm>
            <a:off x="1717136" y="6428267"/>
            <a:ext cx="6935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CQUIN 9</a:t>
            </a:r>
            <a:r>
              <a:rPr lang="en-US" baseline="30000" dirty="0"/>
              <a:t>th</a:t>
            </a:r>
            <a:r>
              <a:rPr lang="en-US" dirty="0"/>
              <a:t> Annual Meeting | November 17-21, 2025 | Durban, South Africa </a:t>
            </a:r>
          </a:p>
        </p:txBody>
      </p:sp>
    </p:spTree>
    <p:extLst>
      <p:ext uri="{BB962C8B-B14F-4D97-AF65-F5344CB8AC3E}">
        <p14:creationId xmlns:p14="http://schemas.microsoft.com/office/powerpoint/2010/main" val="54289624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76D47F-A017-297B-620F-5A2D353BD14E}"/>
              </a:ext>
            </a:extLst>
          </p:cNvPr>
          <p:cNvSpPr/>
          <p:nvPr/>
        </p:nvSpPr>
        <p:spPr>
          <a:xfrm>
            <a:off x="0" y="0"/>
            <a:ext cx="12192000" cy="13588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12345" y="284163"/>
            <a:ext cx="9144456" cy="838199"/>
          </a:xfrm>
        </p:spPr>
        <p:txBody>
          <a:bodyPr anchor="t">
            <a:norm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2346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CA9E357-0231-8ABC-6BB5-EC6336BF7E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close-up of logos&#10;&#10;Description automatically generated">
            <a:extLst>
              <a:ext uri="{FF2B5EF4-FFF2-40B4-BE49-F238E27FC236}">
                <a16:creationId xmlns:a16="http://schemas.microsoft.com/office/drawing/2014/main" id="{A175B4C3-E560-4608-98B5-373CC225BC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7532" y="6006026"/>
            <a:ext cx="2008177" cy="1044766"/>
          </a:xfrm>
          <a:prstGeom prst="rect">
            <a:avLst/>
          </a:prstGeom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9E9D40F-4BF6-A0BC-448E-E907CB78FD70}"/>
              </a:ext>
            </a:extLst>
          </p:cNvPr>
          <p:cNvSpPr txBox="1">
            <a:spLocks/>
          </p:cNvSpPr>
          <p:nvPr userDrawn="1"/>
        </p:nvSpPr>
        <p:spPr>
          <a:xfrm>
            <a:off x="136291" y="6463289"/>
            <a:ext cx="6935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CQUIN 9</a:t>
            </a:r>
            <a:r>
              <a:rPr lang="en-US" baseline="30000" dirty="0"/>
              <a:t>th</a:t>
            </a:r>
            <a:r>
              <a:rPr lang="en-US" dirty="0"/>
              <a:t> Annual Meeting | November 17-21, 2025 | Durban, South Africa </a:t>
            </a:r>
          </a:p>
        </p:txBody>
      </p:sp>
    </p:spTree>
    <p:extLst>
      <p:ext uri="{BB962C8B-B14F-4D97-AF65-F5344CB8AC3E}">
        <p14:creationId xmlns:p14="http://schemas.microsoft.com/office/powerpoint/2010/main" val="39191803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wo Content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76D47F-A017-297B-620F-5A2D353BD14E}"/>
              </a:ext>
            </a:extLst>
          </p:cNvPr>
          <p:cNvSpPr/>
          <p:nvPr/>
        </p:nvSpPr>
        <p:spPr>
          <a:xfrm>
            <a:off x="0" y="0"/>
            <a:ext cx="12192000" cy="13588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12345" y="284163"/>
            <a:ext cx="9144456" cy="838199"/>
          </a:xfrm>
        </p:spPr>
        <p:txBody>
          <a:bodyPr anchor="t">
            <a:norm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2346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CA9E357-0231-8ABC-6BB5-EC6336BF7E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4296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277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 w/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  <p:pic>
        <p:nvPicPr>
          <p:cNvPr id="3" name="Picture 2" descr="A close-up of logos&#10;&#10;Description automatically generated">
            <a:extLst>
              <a:ext uri="{FF2B5EF4-FFF2-40B4-BE49-F238E27FC236}">
                <a16:creationId xmlns:a16="http://schemas.microsoft.com/office/drawing/2014/main" id="{B1449B7F-5C42-A02B-82E2-8D504A9DD5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7532" y="6006026"/>
            <a:ext cx="2008177" cy="1044766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91EB563-B2A7-CFB3-F367-90713B3FA58F}"/>
              </a:ext>
            </a:extLst>
          </p:cNvPr>
          <p:cNvSpPr txBox="1">
            <a:spLocks/>
          </p:cNvSpPr>
          <p:nvPr userDrawn="1"/>
        </p:nvSpPr>
        <p:spPr>
          <a:xfrm>
            <a:off x="180944" y="6428267"/>
            <a:ext cx="69351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CQUIN 9</a:t>
            </a:r>
            <a:r>
              <a:rPr lang="en-US" baseline="30000" dirty="0"/>
              <a:t>th</a:t>
            </a:r>
            <a:r>
              <a:rPr lang="en-US" dirty="0"/>
              <a:t> Annual Meeting | November 17-21, 2025 | Durban, South Africa </a:t>
            </a:r>
          </a:p>
        </p:txBody>
      </p:sp>
    </p:spTree>
    <p:extLst>
      <p:ext uri="{BB962C8B-B14F-4D97-AF65-F5344CB8AC3E}">
        <p14:creationId xmlns:p14="http://schemas.microsoft.com/office/powerpoint/2010/main" val="126293913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C0B78C7-C5AD-9DF1-173C-2F384849D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939D3-8BCC-4347-00B4-A376B8601A85}"/>
              </a:ext>
            </a:extLst>
          </p:cNvPr>
          <p:cNvSpPr/>
          <p:nvPr userDrawn="1"/>
        </p:nvSpPr>
        <p:spPr>
          <a:xfrm rot="10800000">
            <a:off x="0" y="-119921"/>
            <a:ext cx="12192000" cy="6984991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9000">
                <a:srgbClr val="022169">
                  <a:shade val="67500"/>
                  <a:satMod val="115000"/>
                </a:srgbClr>
              </a:gs>
              <a:gs pos="84000">
                <a:srgbClr val="022069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-up of logos&#10;&#10;Description automatically generated">
            <a:extLst>
              <a:ext uri="{FF2B5EF4-FFF2-40B4-BE49-F238E27FC236}">
                <a16:creationId xmlns:a16="http://schemas.microsoft.com/office/drawing/2014/main" id="{94840D39-5C51-3C61-4643-816F9E2288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3089" b="32737"/>
          <a:stretch/>
        </p:blipFill>
        <p:spPr>
          <a:xfrm>
            <a:off x="10002782" y="-271462"/>
            <a:ext cx="2299522" cy="1714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9319" y="1423480"/>
            <a:ext cx="2912249" cy="28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84888"/>
          <a:stretch/>
        </p:blipFill>
        <p:spPr>
          <a:xfrm>
            <a:off x="25522" y="5799652"/>
            <a:ext cx="12197656" cy="103684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2181" y="2299561"/>
            <a:ext cx="6387639" cy="1827156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4" name="Picture 1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DFACD2F8-1E1C-97AD-42B3-82D75E49112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5796" y="376615"/>
            <a:ext cx="2130324" cy="12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2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98FB-024F-FCA1-25AB-EE946C01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9235" y="6253613"/>
            <a:ext cx="1184563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AF1-BBDD-5C45-BD8A-357304E54C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5B84E-A6C3-8BD7-10D0-8641B4CECE37}"/>
              </a:ext>
            </a:extLst>
          </p:cNvPr>
          <p:cNvSpPr/>
          <p:nvPr userDrawn="1"/>
        </p:nvSpPr>
        <p:spPr>
          <a:xfrm>
            <a:off x="0" y="1"/>
            <a:ext cx="12192000" cy="992401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rgbClr val="02216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BD0879-16B9-ED4B-BBC7-4250200E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58418"/>
            <a:ext cx="10515596" cy="615361"/>
          </a:xfrm>
        </p:spPr>
        <p:txBody>
          <a:bodyPr anchor="ctr"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4B62AD7-39A1-C679-37D0-FFCAFC57453E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838203" y="1250819"/>
            <a:ext cx="10515596" cy="475778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/>
            </a:lvl2pPr>
            <a:lvl3pPr marL="9144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1F53BA33-38AC-7E70-9F3D-757871B14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970" y="5906406"/>
            <a:ext cx="2092308" cy="108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1F81E-F5E9-2CE2-A2B9-5D5CFDCB40CF}"/>
              </a:ext>
            </a:extLst>
          </p:cNvPr>
          <p:cNvSpPr txBox="1"/>
          <p:nvPr userDrawn="1"/>
        </p:nvSpPr>
        <p:spPr>
          <a:xfrm>
            <a:off x="3903785" y="642358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8A7889"/>
                </a:solidFill>
                <a:effectLst/>
                <a:uLnTx/>
                <a:uFillTx/>
                <a:latin typeface="Noah Light" panose="00000400000000000000" pitchFamily="50" charset="0"/>
                <a:ea typeface="+mn-ea"/>
                <a:cs typeface="+mn-cs"/>
              </a:rPr>
              <a:t>HIV Learning Network | The CQUIN Project for HIV Service Delivery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442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C0B78C7-C5AD-9DF1-173C-2F384849D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939D3-8BCC-4347-00B4-A376B8601A85}"/>
              </a:ext>
            </a:extLst>
          </p:cNvPr>
          <p:cNvSpPr/>
          <p:nvPr userDrawn="1"/>
        </p:nvSpPr>
        <p:spPr>
          <a:xfrm rot="10800000"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9000">
                <a:srgbClr val="022169">
                  <a:shade val="67500"/>
                  <a:satMod val="115000"/>
                </a:srgbClr>
              </a:gs>
              <a:gs pos="84000">
                <a:srgbClr val="022069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0176" y="1370747"/>
            <a:ext cx="3144417" cy="29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84888"/>
          <a:stretch/>
        </p:blipFill>
        <p:spPr>
          <a:xfrm>
            <a:off x="25522" y="5534948"/>
            <a:ext cx="12197656" cy="1036842"/>
          </a:xfrm>
          <a:prstGeom prst="rect">
            <a:avLst/>
          </a:prstGeom>
          <a:effectLst/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A1564E6-4A42-A1A2-FC04-7853181BD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2181" y="3809087"/>
            <a:ext cx="6387638" cy="96219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2181" y="1884105"/>
            <a:ext cx="6387639" cy="1827156"/>
          </a:xfrm>
        </p:spPr>
        <p:txBody>
          <a:bodyPr anchor="ctr" anchorCtr="1">
            <a:noAutofit/>
          </a:bodyPr>
          <a:lstStyle>
            <a:lvl1pPr algn="ctr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90EF30-6652-2629-9F95-D356564D71F8}"/>
              </a:ext>
            </a:extLst>
          </p:cNvPr>
          <p:cNvSpPr txBox="1"/>
          <p:nvPr userDrawn="1"/>
        </p:nvSpPr>
        <p:spPr>
          <a:xfrm>
            <a:off x="-24715" y="6342649"/>
            <a:ext cx="12192001" cy="3308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l"/>
            <a:r>
              <a:rPr lang="en-US" sz="1550" b="1">
                <a:solidFill>
                  <a:schemeClr val="bg1"/>
                </a:solidFill>
                <a:latin typeface="+mn-lt"/>
              </a:rPr>
              <a:t> CQUIN Network Meeting </a:t>
            </a:r>
            <a:r>
              <a:rPr lang="en-US" sz="1550" b="1">
                <a:solidFill>
                  <a:schemeClr val="bg1"/>
                </a:solidFill>
                <a:latin typeface="+mn-lt"/>
                <a:cs typeface="+mn-cs"/>
              </a:rPr>
              <a:t>| </a:t>
            </a:r>
            <a:r>
              <a:rPr lang="en-US" sz="1550" b="0">
                <a:solidFill>
                  <a:schemeClr val="bg1">
                    <a:lumMod val="95000"/>
                  </a:schemeClr>
                </a:solidFill>
                <a:latin typeface="+mn-lt"/>
                <a:cs typeface="Calibri Light" panose="020F0302020204030204" pitchFamily="34" charset="0"/>
              </a:rPr>
              <a:t>June 10-12, 2025 – Johannesburg, South Africa</a:t>
            </a:r>
          </a:p>
        </p:txBody>
      </p:sp>
      <p:pic>
        <p:nvPicPr>
          <p:cNvPr id="11" name="Picture 10" descr="A close-up of logos&#10;&#10;Description automatically generated">
            <a:extLst>
              <a:ext uri="{FF2B5EF4-FFF2-40B4-BE49-F238E27FC236}">
                <a16:creationId xmlns:a16="http://schemas.microsoft.com/office/drawing/2014/main" id="{D7B41C0A-981B-8597-8D84-39B065B9A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6385"/>
          <a:stretch/>
        </p:blipFill>
        <p:spPr>
          <a:xfrm>
            <a:off x="10133254" y="-337347"/>
            <a:ext cx="2200434" cy="2624751"/>
          </a:xfrm>
          <a:prstGeom prst="rect">
            <a:avLst/>
          </a:prstGeom>
        </p:spPr>
      </p:pic>
      <p:pic>
        <p:nvPicPr>
          <p:cNvPr id="12" name="Picture 11" descr="A close-up of logos&#10;&#10;Description automatically generated">
            <a:extLst>
              <a:ext uri="{FF2B5EF4-FFF2-40B4-BE49-F238E27FC236}">
                <a16:creationId xmlns:a16="http://schemas.microsoft.com/office/drawing/2014/main" id="{DA7D1C22-5798-046B-1EC6-E84ECE6FD8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3747"/>
          <a:stretch/>
        </p:blipFill>
        <p:spPr>
          <a:xfrm>
            <a:off x="-256190" y="-248273"/>
            <a:ext cx="2838025" cy="262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48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w/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EC02EE-9661-4A18-8A8F-B0942498E6ED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6000">
                <a:srgbClr val="022169">
                  <a:shade val="67500"/>
                  <a:satMod val="115000"/>
                </a:srgbClr>
              </a:gs>
              <a:gs pos="84000">
                <a:schemeClr val="tx2"/>
              </a:gs>
            </a:gsLst>
            <a:lin ang="78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80606FA-C36B-44EE-91CC-23E328C62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857" y="3681248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B746CDD-D828-4CA9-922F-39CA5C1B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858" y="1838673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496835-195E-E9F4-3CBE-7C62F6DAC9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5953" y="-1"/>
            <a:ext cx="4696047" cy="6858000"/>
          </a:xfrm>
          <a:solidFill>
            <a:schemeClr val="bg1"/>
          </a:solidFill>
        </p:spPr>
        <p:txBody>
          <a:bodyPr anchor="ctr"/>
          <a:lstStyle>
            <a:lvl1pPr algn="ctr"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88493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  <p15:guide id="4" pos="74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9DF82-A038-4DAB-A858-F7EBC5209F7E}"/>
              </a:ext>
            </a:extLst>
          </p:cNvPr>
          <p:cNvSpPr/>
          <p:nvPr/>
        </p:nvSpPr>
        <p:spPr>
          <a:xfrm>
            <a:off x="0" y="-24529"/>
            <a:ext cx="12192000" cy="687755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444262" y="3896069"/>
            <a:ext cx="7321061" cy="900863"/>
          </a:xfrm>
        </p:spPr>
        <p:txBody>
          <a:bodyPr anchor="t">
            <a:normAutofit/>
          </a:bodyPr>
          <a:lstStyle>
            <a:lvl1pPr algn="ctr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DB90-7F95-46D7-9750-A473B620A4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18475" y="1074861"/>
            <a:ext cx="2355050" cy="235413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93624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hoto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E28A67-3D2A-47FE-8FEE-BEDC483737C0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" y="-45493"/>
            <a:ext cx="6896098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spc="3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381496" y="508000"/>
            <a:ext cx="4366006" cy="850899"/>
          </a:xfrm>
        </p:spPr>
        <p:txBody>
          <a:bodyPr anchor="t">
            <a:noAutofit/>
          </a:bodyPr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C8C91-517A-E263-7CC8-86DAE966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1495" y="1600200"/>
            <a:ext cx="4366006" cy="44831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5930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2725" y="979836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828326" y="336551"/>
            <a:ext cx="6140742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326" y="1599764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06275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7FE98-6B0C-4514-B978-11C7B1F2E18D}"/>
              </a:ext>
            </a:extLst>
          </p:cNvPr>
          <p:cNvSpPr/>
          <p:nvPr/>
        </p:nvSpPr>
        <p:spPr>
          <a:xfrm>
            <a:off x="0" y="0"/>
            <a:ext cx="1535185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964317" y="520700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145008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155830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  <p15:guide id="2" orient="horz" pos="417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76D47F-A017-297B-620F-5A2D353BD14E}"/>
              </a:ext>
            </a:extLst>
          </p:cNvPr>
          <p:cNvSpPr/>
          <p:nvPr/>
        </p:nvSpPr>
        <p:spPr>
          <a:xfrm>
            <a:off x="0" y="0"/>
            <a:ext cx="12192000" cy="13588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12345" y="284163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2346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CA9E357-0231-8ABC-6BB5-EC6336BF7E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53364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8985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 w/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3207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orient="horz" pos="420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C0B78C7-C5AD-9DF1-173C-2F384849D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0939D3-8BCC-4347-00B4-A376B8601A85}"/>
              </a:ext>
            </a:extLst>
          </p:cNvPr>
          <p:cNvSpPr/>
          <p:nvPr userDrawn="1"/>
        </p:nvSpPr>
        <p:spPr>
          <a:xfrm rot="10800000">
            <a:off x="0" y="707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9000">
                <a:srgbClr val="022169">
                  <a:shade val="67500"/>
                  <a:satMod val="115000"/>
                </a:srgbClr>
              </a:gs>
              <a:gs pos="84000">
                <a:srgbClr val="022069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84888"/>
          <a:stretch/>
        </p:blipFill>
        <p:spPr>
          <a:xfrm>
            <a:off x="43935" y="5471237"/>
            <a:ext cx="12197656" cy="1036842"/>
          </a:xfrm>
          <a:prstGeom prst="rect">
            <a:avLst/>
          </a:prstGeom>
          <a:effectLst/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3547" y="2224405"/>
            <a:ext cx="3948404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15" name="Picture 14" descr="A close-up of logos&#10;&#10;Description automatically generated">
            <a:extLst>
              <a:ext uri="{FF2B5EF4-FFF2-40B4-BE49-F238E27FC236}">
                <a16:creationId xmlns:a16="http://schemas.microsoft.com/office/drawing/2014/main" id="{B2E99443-9762-CDE2-BC65-F3C344327D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3747"/>
          <a:stretch/>
        </p:blipFill>
        <p:spPr>
          <a:xfrm>
            <a:off x="-256190" y="-248273"/>
            <a:ext cx="2838025" cy="2624751"/>
          </a:xfrm>
          <a:prstGeom prst="rect">
            <a:avLst/>
          </a:prstGeom>
        </p:spPr>
      </p:pic>
      <p:pic>
        <p:nvPicPr>
          <p:cNvPr id="16" name="Picture 15" descr="A close-up of logos&#10;&#10;Description automatically generated">
            <a:extLst>
              <a:ext uri="{FF2B5EF4-FFF2-40B4-BE49-F238E27FC236}">
                <a16:creationId xmlns:a16="http://schemas.microsoft.com/office/drawing/2014/main" id="{8EA1AAB6-EBA0-56B5-49B2-6F18165D89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6385"/>
          <a:stretch/>
        </p:blipFill>
        <p:spPr>
          <a:xfrm>
            <a:off x="10140176" y="-312820"/>
            <a:ext cx="2200434" cy="2624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E8F8BF-E865-CBDC-5128-214660D378FC}"/>
              </a:ext>
            </a:extLst>
          </p:cNvPr>
          <p:cNvSpPr txBox="1"/>
          <p:nvPr userDrawn="1"/>
        </p:nvSpPr>
        <p:spPr>
          <a:xfrm>
            <a:off x="10140176" y="1370747"/>
            <a:ext cx="3144417" cy="29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6DE69-8524-EE86-07B9-FCC0C50985FB}"/>
              </a:ext>
            </a:extLst>
          </p:cNvPr>
          <p:cNvSpPr txBox="1"/>
          <p:nvPr userDrawn="1"/>
        </p:nvSpPr>
        <p:spPr>
          <a:xfrm>
            <a:off x="-24715" y="6342649"/>
            <a:ext cx="12192001" cy="3308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l"/>
            <a:r>
              <a:rPr lang="en-US" sz="1550" b="1">
                <a:solidFill>
                  <a:schemeClr val="bg1"/>
                </a:solidFill>
                <a:latin typeface="+mn-lt"/>
              </a:rPr>
              <a:t> CQUIN Network Meeting </a:t>
            </a:r>
            <a:r>
              <a:rPr lang="en-US" sz="1550" b="1">
                <a:solidFill>
                  <a:schemeClr val="bg1"/>
                </a:solidFill>
                <a:latin typeface="+mn-lt"/>
                <a:cs typeface="+mn-cs"/>
              </a:rPr>
              <a:t>| </a:t>
            </a:r>
            <a:r>
              <a:rPr lang="en-US" sz="1550" b="0">
                <a:solidFill>
                  <a:schemeClr val="bg1">
                    <a:lumMod val="95000"/>
                  </a:schemeClr>
                </a:solidFill>
                <a:latin typeface="+mn-lt"/>
                <a:cs typeface="Calibri Light" panose="020F0302020204030204" pitchFamily="34" charset="0"/>
              </a:rPr>
              <a:t>June 10-12, 2025 – Johannesburg, South Africa</a:t>
            </a:r>
          </a:p>
        </p:txBody>
      </p:sp>
    </p:spTree>
    <p:extLst>
      <p:ext uri="{BB962C8B-B14F-4D97-AF65-F5344CB8AC3E}">
        <p14:creationId xmlns:p14="http://schemas.microsoft.com/office/powerpoint/2010/main" val="1409516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1_photo &amp;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87AB69-F863-1D21-C8BB-5EF4C54D1049}"/>
              </a:ext>
            </a:extLst>
          </p:cNvPr>
          <p:cNvSpPr/>
          <p:nvPr userDrawn="1"/>
        </p:nvSpPr>
        <p:spPr>
          <a:xfrm>
            <a:off x="6096000" y="0"/>
            <a:ext cx="61976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99000">
                <a:schemeClr val="tx2"/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7264530" y="0"/>
            <a:ext cx="4927470" cy="68580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 spc="3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14148" y="0"/>
            <a:ext cx="6535292" cy="1343660"/>
          </a:xfrm>
        </p:spPr>
        <p:txBody>
          <a:bodyPr anchor="b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C8C91-517A-E263-7CC8-86DAE966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148" y="1548883"/>
            <a:ext cx="6535292" cy="4721289"/>
          </a:xfrm>
        </p:spPr>
        <p:txBody>
          <a:bodyPr numCol="2" spcCol="27432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black and blue logo&#10;&#10;Description automatically generated">
            <a:extLst>
              <a:ext uri="{FF2B5EF4-FFF2-40B4-BE49-F238E27FC236}">
                <a16:creationId xmlns:a16="http://schemas.microsoft.com/office/drawing/2014/main" id="{27F69031-1E04-BC99-5BE0-0136E8E166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1201" y="6270172"/>
            <a:ext cx="1762399" cy="41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53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7FE98-6B0C-4514-B978-11C7B1F2E18D}"/>
              </a:ext>
            </a:extLst>
          </p:cNvPr>
          <p:cNvSpPr/>
          <p:nvPr userDrawn="1"/>
        </p:nvSpPr>
        <p:spPr>
          <a:xfrm>
            <a:off x="0" y="0"/>
            <a:ext cx="1535185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rgbClr val="02216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964317" y="520700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145008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B50E9CB4-F05D-26D7-E04A-DC66A6309F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673" y="6123615"/>
            <a:ext cx="1302327" cy="69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13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solidFill>
          <a:srgbClr val="022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5095-3251-89CB-C14E-E7171E52A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1964" y="1372307"/>
            <a:ext cx="7162800" cy="1248208"/>
          </a:xfrm>
        </p:spPr>
        <p:txBody>
          <a:bodyPr anchor="b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84A8-8F50-7FC7-2125-E143438CF7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41963" y="2745865"/>
            <a:ext cx="7162800" cy="124695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24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Name </a:t>
            </a:r>
          </a:p>
          <a:p>
            <a:pPr lvl="0"/>
            <a:r>
              <a:rPr lang="en-US"/>
              <a:t>Designation</a:t>
            </a:r>
          </a:p>
          <a:p>
            <a:pPr lvl="0"/>
            <a:r>
              <a:rPr lang="en-US"/>
              <a:t>Date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05A01A-91F6-41FD-A323-96F11FA6F8E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779623" y="1724618"/>
            <a:ext cx="0" cy="2101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109FD5-109A-FDDB-314F-296DE4C8D050}"/>
              </a:ext>
            </a:extLst>
          </p:cNvPr>
          <p:cNvSpPr txBox="1"/>
          <p:nvPr userDrawn="1"/>
        </p:nvSpPr>
        <p:spPr>
          <a:xfrm>
            <a:off x="1480118" y="5368831"/>
            <a:ext cx="9275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baseline="0">
                <a:solidFill>
                  <a:schemeClr val="bg1"/>
                </a:solidFill>
                <a:latin typeface="Noah" panose="00000800000000000000" pitchFamily="50" charset="0"/>
              </a:rPr>
              <a:t>HIV</a:t>
            </a:r>
            <a:r>
              <a:rPr lang="en-US" sz="2800" b="0" baseline="0">
                <a:solidFill>
                  <a:schemeClr val="bg1"/>
                </a:solidFill>
                <a:latin typeface="Noah" panose="00000800000000000000" pitchFamily="50" charset="0"/>
              </a:rPr>
              <a:t> </a:t>
            </a:r>
            <a:r>
              <a:rPr lang="en-US" sz="2800" b="1" baseline="0">
                <a:solidFill>
                  <a:schemeClr val="bg1"/>
                </a:solidFill>
                <a:latin typeface="Noah" panose="00000800000000000000" pitchFamily="50" charset="0"/>
              </a:rPr>
              <a:t>Coverage, Quality, and Impact Network</a:t>
            </a:r>
            <a:endParaRPr lang="en-US" sz="2800" baseline="0">
              <a:solidFill>
                <a:schemeClr val="bg1"/>
              </a:solidFill>
              <a:latin typeface="Noah" panose="00000800000000000000" pitchFamily="50" charset="0"/>
            </a:endParaRPr>
          </a:p>
          <a:p>
            <a:endParaRPr lang="en-US" sz="2000" baseline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F2BCA-53CE-D555-B284-C46BCFE8D385}"/>
              </a:ext>
            </a:extLst>
          </p:cNvPr>
          <p:cNvSpPr txBox="1"/>
          <p:nvPr userDrawn="1"/>
        </p:nvSpPr>
        <p:spPr>
          <a:xfrm>
            <a:off x="420830" y="991283"/>
            <a:ext cx="2821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www.cquin.icap.columbia.edu</a:t>
            </a:r>
          </a:p>
        </p:txBody>
      </p:sp>
      <p:pic>
        <p:nvPicPr>
          <p:cNvPr id="6" name="Picture 5" descr="A group of flags in a row&#10;&#10;Description automatically generated">
            <a:extLst>
              <a:ext uri="{FF2B5EF4-FFF2-40B4-BE49-F238E27FC236}">
                <a16:creationId xmlns:a16="http://schemas.microsoft.com/office/drawing/2014/main" id="{77F7EF47-56EF-5F06-9D9F-760A427B1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49791" y="5981855"/>
            <a:ext cx="12136271" cy="1031623"/>
          </a:xfrm>
          <a:prstGeom prst="rect">
            <a:avLst/>
          </a:prstGeom>
        </p:spPr>
      </p:pic>
      <p:pic>
        <p:nvPicPr>
          <p:cNvPr id="10" name="Picture 9" descr="A close-up of logos&#10;&#10;Description automatically generated">
            <a:extLst>
              <a:ext uri="{FF2B5EF4-FFF2-40B4-BE49-F238E27FC236}">
                <a16:creationId xmlns:a16="http://schemas.microsoft.com/office/drawing/2014/main" id="{EDA46B6F-FBB3-68D3-C351-B909E4865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32737"/>
          <a:stretch/>
        </p:blipFill>
        <p:spPr>
          <a:xfrm>
            <a:off x="191193" y="4544"/>
            <a:ext cx="2821133" cy="98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32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bg>
      <p:bgPr>
        <a:solidFill>
          <a:srgbClr val="022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2E09-5550-2636-A0A9-A6DD1BBC1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6682" y="2623417"/>
            <a:ext cx="8956964" cy="1325563"/>
          </a:xfrm>
        </p:spPr>
        <p:txBody>
          <a:bodyPr>
            <a:normAutofit/>
          </a:bodyPr>
          <a:lstStyle>
            <a:lvl1pPr>
              <a:defRPr sz="4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pic>
        <p:nvPicPr>
          <p:cNvPr id="5" name="Picture 4" descr="A group of flags in a row&#10;&#10;Description automatically generated">
            <a:extLst>
              <a:ext uri="{FF2B5EF4-FFF2-40B4-BE49-F238E27FC236}">
                <a16:creationId xmlns:a16="http://schemas.microsoft.com/office/drawing/2014/main" id="{5666967D-A63C-2869-44E1-CBBD2D3EC9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49791" y="5981855"/>
            <a:ext cx="12136271" cy="1031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5C5659-FD67-4904-3570-A92211CC6885}"/>
              </a:ext>
            </a:extLst>
          </p:cNvPr>
          <p:cNvSpPr txBox="1"/>
          <p:nvPr userDrawn="1"/>
        </p:nvSpPr>
        <p:spPr>
          <a:xfrm>
            <a:off x="420830" y="991283"/>
            <a:ext cx="2821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www.cquin.icap.columbia.edu</a:t>
            </a:r>
          </a:p>
        </p:txBody>
      </p:sp>
      <p:pic>
        <p:nvPicPr>
          <p:cNvPr id="8" name="Picture 7" descr="A close-up of logos&#10;&#10;Description automatically generated">
            <a:extLst>
              <a:ext uri="{FF2B5EF4-FFF2-40B4-BE49-F238E27FC236}">
                <a16:creationId xmlns:a16="http://schemas.microsoft.com/office/drawing/2014/main" id="{486B9C7F-C843-A6B9-9362-6DE63EB654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32737"/>
          <a:stretch/>
        </p:blipFill>
        <p:spPr>
          <a:xfrm>
            <a:off x="191193" y="4544"/>
            <a:ext cx="2821133" cy="98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4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98FB-024F-FCA1-25AB-EE946C01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9235" y="6253613"/>
            <a:ext cx="1184563" cy="365125"/>
          </a:xfrm>
        </p:spPr>
        <p:txBody>
          <a:bodyPr/>
          <a:lstStyle/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5B84E-A6C3-8BD7-10D0-8641B4CECE37}"/>
              </a:ext>
            </a:extLst>
          </p:cNvPr>
          <p:cNvSpPr/>
          <p:nvPr userDrawn="1"/>
        </p:nvSpPr>
        <p:spPr>
          <a:xfrm>
            <a:off x="0" y="1"/>
            <a:ext cx="12192000" cy="992401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rgbClr val="02216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BD0879-16B9-ED4B-BBC7-4250200E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58418"/>
            <a:ext cx="10515596" cy="615361"/>
          </a:xfrm>
        </p:spPr>
        <p:txBody>
          <a:bodyPr anchor="ctr"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4B62AD7-39A1-C679-37D0-FFCAFC57453E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838203" y="1250819"/>
            <a:ext cx="10515596" cy="475778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/>
            </a:lvl2pPr>
            <a:lvl3pPr marL="9144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1F53BA33-38AC-7E70-9F3D-757871B14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970" y="5906406"/>
            <a:ext cx="2092308" cy="108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1F81E-F5E9-2CE2-A2B9-5D5CFDCB40CF}"/>
              </a:ext>
            </a:extLst>
          </p:cNvPr>
          <p:cNvSpPr txBox="1"/>
          <p:nvPr userDrawn="1"/>
        </p:nvSpPr>
        <p:spPr>
          <a:xfrm>
            <a:off x="3903785" y="642358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0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7FE98-6B0C-4514-B978-11C7B1F2E18D}"/>
              </a:ext>
            </a:extLst>
          </p:cNvPr>
          <p:cNvSpPr/>
          <p:nvPr userDrawn="1"/>
        </p:nvSpPr>
        <p:spPr>
          <a:xfrm>
            <a:off x="0" y="0"/>
            <a:ext cx="1535185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rgbClr val="02216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964317" y="446456"/>
            <a:ext cx="9144456" cy="545286"/>
          </a:xfrm>
        </p:spPr>
        <p:txBody>
          <a:bodyPr anchor="t">
            <a:normAutofit/>
          </a:bodyPr>
          <a:lstStyle>
            <a:lvl1pPr algn="l">
              <a:defRPr sz="2800" b="1" baseline="0">
                <a:solidFill>
                  <a:srgbClr val="02216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64317" y="1348285"/>
            <a:ext cx="9144456" cy="455102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/>
            </a:lvl2pPr>
            <a:lvl3pPr marL="91440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aseline="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A7D6322-8B41-9EDF-E061-65663E97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593" y="6288468"/>
            <a:ext cx="1188918" cy="365125"/>
          </a:xfrm>
        </p:spPr>
        <p:txBody>
          <a:bodyPr/>
          <a:lstStyle/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38CFC923-A274-C60C-A1EE-AEAB60466C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2619" y="5899313"/>
            <a:ext cx="2092308" cy="108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CC85E5-1784-CF0C-878B-3910795465E7}"/>
              </a:ext>
            </a:extLst>
          </p:cNvPr>
          <p:cNvSpPr txBox="1"/>
          <p:nvPr userDrawn="1"/>
        </p:nvSpPr>
        <p:spPr>
          <a:xfrm>
            <a:off x="3903785" y="642358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33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1_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E28A67-3D2A-47FE-8FEE-BEDC483737C0}"/>
              </a:ext>
            </a:extLst>
          </p:cNvPr>
          <p:cNvSpPr/>
          <p:nvPr userDrawn="1"/>
        </p:nvSpPr>
        <p:spPr>
          <a:xfrm>
            <a:off x="7021586" y="0"/>
            <a:ext cx="5170414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rgbClr val="022169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4831" y="1610686"/>
            <a:ext cx="3997569" cy="45510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" y="0"/>
            <a:ext cx="7021584" cy="68580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FFFF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584831" y="696286"/>
            <a:ext cx="3997569" cy="783502"/>
          </a:xfrm>
        </p:spPr>
        <p:txBody>
          <a:bodyPr anchor="t">
            <a:normAutofit/>
          </a:bodyPr>
          <a:lstStyle>
            <a:lvl1pPr algn="l">
              <a:defRPr sz="2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close-up of logos&#10;&#10;Description automatically generated">
            <a:extLst>
              <a:ext uri="{FF2B5EF4-FFF2-40B4-BE49-F238E27FC236}">
                <a16:creationId xmlns:a16="http://schemas.microsoft.com/office/drawing/2014/main" id="{7A599786-0AC6-0FDA-0922-466469DE7D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2737"/>
          <a:stretch/>
        </p:blipFill>
        <p:spPr>
          <a:xfrm>
            <a:off x="9887757" y="5766846"/>
            <a:ext cx="2257888" cy="7897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FFF89-5A2D-1BD2-DCF9-53590F4823A0}"/>
              </a:ext>
            </a:extLst>
          </p:cNvPr>
          <p:cNvSpPr txBox="1"/>
          <p:nvPr userDrawn="1"/>
        </p:nvSpPr>
        <p:spPr>
          <a:xfrm>
            <a:off x="306522" y="635532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05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2_text &amp;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1CA628-26B5-4CAE-9A31-14421D634184}"/>
              </a:ext>
            </a:extLst>
          </p:cNvPr>
          <p:cNvSpPr/>
          <p:nvPr userDrawn="1"/>
        </p:nvSpPr>
        <p:spPr>
          <a:xfrm>
            <a:off x="7013196" y="0"/>
            <a:ext cx="5178804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rgbClr val="022169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19999" y="696227"/>
            <a:ext cx="3959605" cy="5465546"/>
          </a:xfr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12396" y="696227"/>
            <a:ext cx="6140742" cy="537239"/>
          </a:xfrm>
        </p:spPr>
        <p:txBody>
          <a:bodyPr anchor="t">
            <a:normAutofit/>
          </a:bodyPr>
          <a:lstStyle>
            <a:lvl1pPr algn="l">
              <a:defRPr sz="2400" b="1">
                <a:solidFill>
                  <a:srgbClr val="02216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2395" y="1427018"/>
            <a:ext cx="6140743" cy="473475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/>
            </a:lvl2pPr>
            <a:lvl3pPr marL="914400" indent="0">
              <a:lnSpc>
                <a:spcPct val="100000"/>
              </a:lnSpc>
              <a:buNone/>
              <a:defRPr sz="2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A close-up of logos&#10;&#10;Description automatically generated">
            <a:extLst>
              <a:ext uri="{FF2B5EF4-FFF2-40B4-BE49-F238E27FC236}">
                <a16:creationId xmlns:a16="http://schemas.microsoft.com/office/drawing/2014/main" id="{DCD9D90E-2BC2-BD79-9491-3569D76D3B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2737"/>
          <a:stretch/>
        </p:blipFill>
        <p:spPr>
          <a:xfrm>
            <a:off x="9887757" y="5766846"/>
            <a:ext cx="2257888" cy="789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0199C8-11FC-B6E9-A93F-536D45DE263C}"/>
              </a:ext>
            </a:extLst>
          </p:cNvPr>
          <p:cNvSpPr txBox="1"/>
          <p:nvPr userDrawn="1"/>
        </p:nvSpPr>
        <p:spPr>
          <a:xfrm>
            <a:off x="306522" y="635532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40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38CD-797F-6506-0F0F-E8412121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216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A5406-370F-2064-C92B-4D6201FC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9236" y="6356350"/>
            <a:ext cx="1184564" cy="365125"/>
          </a:xfrm>
        </p:spPr>
        <p:txBody>
          <a:bodyPr/>
          <a:lstStyle/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F445105-7749-888B-0C10-E170566D1181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838199" y="1302326"/>
            <a:ext cx="10515600" cy="490450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baseline="0"/>
            </a:lvl2pPr>
            <a:lvl3pPr marL="914400" indent="0">
              <a:lnSpc>
                <a:spcPct val="100000"/>
              </a:lnSpc>
              <a:buNone/>
              <a:defRPr sz="2000" baseline="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A close-up of logos&#10;&#10;Description automatically generated">
            <a:extLst>
              <a:ext uri="{FF2B5EF4-FFF2-40B4-BE49-F238E27FC236}">
                <a16:creationId xmlns:a16="http://schemas.microsoft.com/office/drawing/2014/main" id="{6920D5E4-1B54-0943-3342-DD093E367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970" y="5914985"/>
            <a:ext cx="2092308" cy="108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CB2CC0-2480-3C99-10A3-873522D89C1F}"/>
              </a:ext>
            </a:extLst>
          </p:cNvPr>
          <p:cNvSpPr txBox="1"/>
          <p:nvPr userDrawn="1"/>
        </p:nvSpPr>
        <p:spPr>
          <a:xfrm>
            <a:off x="3903785" y="642358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2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38CD-797F-6506-0F0F-E8412121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216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A5406-370F-2064-C92B-4D6201FC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9236" y="6356350"/>
            <a:ext cx="1184564" cy="365125"/>
          </a:xfrm>
        </p:spPr>
        <p:txBody>
          <a:bodyPr/>
          <a:lstStyle/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F445105-7749-888B-0C10-E170566D1181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838199" y="1302326"/>
            <a:ext cx="10515600" cy="490450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baseline="0"/>
            </a:lvl2pPr>
            <a:lvl3pPr marL="914400" indent="0">
              <a:lnSpc>
                <a:spcPct val="100000"/>
              </a:lnSpc>
              <a:buNone/>
              <a:defRPr sz="2000" baseline="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2540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hoto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"/>
          <p:cNvSpPr>
            <a:spLocks noGrp="1"/>
          </p:cNvSpPr>
          <p:nvPr>
            <p:ph type="pic" idx="1"/>
          </p:nvPr>
        </p:nvSpPr>
        <p:spPr>
          <a:xfrm>
            <a:off x="658552" y="411820"/>
            <a:ext cx="5245587" cy="252240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idx="13"/>
          </p:nvPr>
        </p:nvSpPr>
        <p:spPr>
          <a:xfrm>
            <a:off x="6186904" y="411821"/>
            <a:ext cx="5384765" cy="56460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idx="14"/>
          </p:nvPr>
        </p:nvSpPr>
        <p:spPr>
          <a:xfrm>
            <a:off x="658552" y="3125785"/>
            <a:ext cx="5245587" cy="293211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A7FA769-8719-5F86-5617-659A3D35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7105" y="6263616"/>
            <a:ext cx="1184564" cy="365125"/>
          </a:xfrm>
        </p:spPr>
        <p:txBody>
          <a:bodyPr/>
          <a:lstStyle/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close-up of logos&#10;&#10;Description automatically generated">
            <a:extLst>
              <a:ext uri="{FF2B5EF4-FFF2-40B4-BE49-F238E27FC236}">
                <a16:creationId xmlns:a16="http://schemas.microsoft.com/office/drawing/2014/main" id="{71ED1DF0-3389-61B4-8293-8DDDB14E5B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970" y="5914985"/>
            <a:ext cx="2092308" cy="108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684983-715D-1B76-3B28-25CF4C278E3B}"/>
              </a:ext>
            </a:extLst>
          </p:cNvPr>
          <p:cNvSpPr txBox="1"/>
          <p:nvPr userDrawn="1"/>
        </p:nvSpPr>
        <p:spPr>
          <a:xfrm>
            <a:off x="3903785" y="642358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hoto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"/>
          <p:cNvSpPr>
            <a:spLocks noGrp="1"/>
          </p:cNvSpPr>
          <p:nvPr>
            <p:ph type="pic" idx="1"/>
          </p:nvPr>
        </p:nvSpPr>
        <p:spPr>
          <a:xfrm>
            <a:off x="658552" y="411820"/>
            <a:ext cx="5245587" cy="252240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idx="13"/>
          </p:nvPr>
        </p:nvSpPr>
        <p:spPr>
          <a:xfrm>
            <a:off x="6186904" y="411821"/>
            <a:ext cx="5384765" cy="56460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idx="14"/>
          </p:nvPr>
        </p:nvSpPr>
        <p:spPr>
          <a:xfrm>
            <a:off x="658552" y="3125785"/>
            <a:ext cx="5245587" cy="293211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A7FA769-8719-5F86-5617-659A3D35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7105" y="6263616"/>
            <a:ext cx="1184564" cy="365125"/>
          </a:xfrm>
        </p:spPr>
        <p:txBody>
          <a:bodyPr/>
          <a:lstStyle/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EF776-5BBD-6AF0-7FE6-0E59926E7D60}"/>
              </a:ext>
            </a:extLst>
          </p:cNvPr>
          <p:cNvSpPr txBox="1"/>
          <p:nvPr userDrawn="1"/>
        </p:nvSpPr>
        <p:spPr>
          <a:xfrm>
            <a:off x="3903785" y="6423585"/>
            <a:ext cx="43844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8A7889"/>
                </a:solidFill>
                <a:latin typeface="Noah Light" panose="00000400000000000000" pitchFamily="50" charset="0"/>
              </a:rPr>
              <a:t>HIV Learning Network | The CQUIN Project for HIV Service Delivery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17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rgbClr val="022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BAA201-0679-C88E-8DCB-3BD4A09D1ED0}"/>
              </a:ext>
            </a:extLst>
          </p:cNvPr>
          <p:cNvSpPr txBox="1"/>
          <p:nvPr userDrawn="1"/>
        </p:nvSpPr>
        <p:spPr>
          <a:xfrm>
            <a:off x="4294909" y="2840183"/>
            <a:ext cx="511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pic>
        <p:nvPicPr>
          <p:cNvPr id="3" name="Picture 2" descr="A group of flags in a row&#10;&#10;Description automatically generated">
            <a:extLst>
              <a:ext uri="{FF2B5EF4-FFF2-40B4-BE49-F238E27FC236}">
                <a16:creationId xmlns:a16="http://schemas.microsoft.com/office/drawing/2014/main" id="{953D13C3-8906-E373-34BD-B878856001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49791" y="5981855"/>
            <a:ext cx="12136271" cy="10316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4A6B77-9362-2F0A-760F-94D1000A3845}"/>
              </a:ext>
            </a:extLst>
          </p:cNvPr>
          <p:cNvSpPr txBox="1"/>
          <p:nvPr userDrawn="1"/>
        </p:nvSpPr>
        <p:spPr>
          <a:xfrm>
            <a:off x="420830" y="991283"/>
            <a:ext cx="2821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1">
                    <a:lumMod val="20000"/>
                    <a:lumOff val="80000"/>
                  </a:schemeClr>
                </a:solidFill>
                <a:latin typeface="Century Gothic" panose="020B0502020202020204" pitchFamily="34" charset="0"/>
              </a:rPr>
              <a:t>www.cquin.icap.columbia.edu</a:t>
            </a:r>
          </a:p>
        </p:txBody>
      </p:sp>
      <p:pic>
        <p:nvPicPr>
          <p:cNvPr id="7" name="Picture 6" descr="A close-up of logos&#10;&#10;Description automatically generated">
            <a:extLst>
              <a:ext uri="{FF2B5EF4-FFF2-40B4-BE49-F238E27FC236}">
                <a16:creationId xmlns:a16="http://schemas.microsoft.com/office/drawing/2014/main" id="{CDF52839-E6A8-386C-2952-284F6C314D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32737"/>
          <a:stretch/>
        </p:blipFill>
        <p:spPr>
          <a:xfrm>
            <a:off x="191193" y="4544"/>
            <a:ext cx="2821133" cy="98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70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6" r:id="rId2"/>
    <p:sldLayoutId id="2147483707" r:id="rId3"/>
    <p:sldLayoutId id="2147483708" r:id="rId4"/>
    <p:sldLayoutId id="2147483709" r:id="rId5"/>
    <p:sldLayoutId id="2147483721" r:id="rId6"/>
    <p:sldLayoutId id="2147483710" r:id="rId7"/>
    <p:sldLayoutId id="2147483711" r:id="rId8"/>
    <p:sldLayoutId id="2147483720" r:id="rId9"/>
    <p:sldLayoutId id="2147483712" r:id="rId10"/>
    <p:sldLayoutId id="2147483718" r:id="rId11"/>
    <p:sldLayoutId id="2147483719" r:id="rId12"/>
    <p:sldLayoutId id="2147483840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800" b="1" kern="1200">
          <a:solidFill>
            <a:schemeClr val="tx1"/>
          </a:solidFill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800" b="1" kern="1200">
          <a:solidFill>
            <a:schemeClr val="tx1"/>
          </a:solidFill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45D49-AB0C-4BEB-9DC3-20492F6CD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55716-6F55-006B-61C7-C6109D39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3BCBA-434E-BA4E-C29C-97FEE0B9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5DF3-E6D1-1B62-AB95-E1A6E1DE4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77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Noah Light" panose="00000400000000000000" pitchFamily="50" charset="0"/>
              </a:defRPr>
            </a:lvl1pPr>
          </a:lstStyle>
          <a:p>
            <a:r>
              <a:rPr lang="en-US"/>
              <a:t>HIV Learning Network – The CQUIN Project for HIV Service Delivery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0C2C6-11D1-4799-6D81-C4AFDD13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C8DD0-CDDA-F64A-ADF6-EAA9555E0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4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41.png"/><Relationship Id="rId4" Type="http://schemas.openxmlformats.org/officeDocument/2006/relationships/chart" Target="../charts/char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AE1B0-C37F-C561-D157-77FB1E20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57C227-DFB1-F99A-A465-93FD1EED0E7B}"/>
              </a:ext>
            </a:extLst>
          </p:cNvPr>
          <p:cNvCxnSpPr/>
          <p:nvPr/>
        </p:nvCxnSpPr>
        <p:spPr>
          <a:xfrm>
            <a:off x="7712768" y="978672"/>
            <a:ext cx="0" cy="225663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8FFE942-5C0A-A4E0-D6E9-88B8FB1D19E1}"/>
              </a:ext>
            </a:extLst>
          </p:cNvPr>
          <p:cNvCxnSpPr>
            <a:cxnSpLocks/>
          </p:cNvCxnSpPr>
          <p:nvPr/>
        </p:nvCxnSpPr>
        <p:spPr>
          <a:xfrm>
            <a:off x="7290127" y="2162224"/>
            <a:ext cx="0" cy="10972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24515BD-56B7-4808-18E5-705030FE95D6}"/>
              </a:ext>
            </a:extLst>
          </p:cNvPr>
          <p:cNvCxnSpPr>
            <a:cxnSpLocks/>
          </p:cNvCxnSpPr>
          <p:nvPr/>
        </p:nvCxnSpPr>
        <p:spPr>
          <a:xfrm flipH="1">
            <a:off x="9513841" y="769047"/>
            <a:ext cx="0" cy="2398465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2C60E4-EDAA-6B38-3042-CABAB4C1813D}"/>
              </a:ext>
            </a:extLst>
          </p:cNvPr>
          <p:cNvCxnSpPr>
            <a:cxnSpLocks/>
          </p:cNvCxnSpPr>
          <p:nvPr/>
        </p:nvCxnSpPr>
        <p:spPr>
          <a:xfrm flipH="1">
            <a:off x="2457857" y="2196021"/>
            <a:ext cx="0" cy="100583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E4E5F1A-488F-93E2-2CAA-7DC79BC9313F}"/>
              </a:ext>
            </a:extLst>
          </p:cNvPr>
          <p:cNvCxnSpPr>
            <a:cxnSpLocks/>
          </p:cNvCxnSpPr>
          <p:nvPr/>
        </p:nvCxnSpPr>
        <p:spPr>
          <a:xfrm flipH="1">
            <a:off x="9756734" y="3213784"/>
            <a:ext cx="0" cy="180548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4180B6-A3D7-BEB8-9F4D-46C656D02C65}"/>
              </a:ext>
            </a:extLst>
          </p:cNvPr>
          <p:cNvCxnSpPr>
            <a:cxnSpLocks/>
          </p:cNvCxnSpPr>
          <p:nvPr/>
        </p:nvCxnSpPr>
        <p:spPr>
          <a:xfrm>
            <a:off x="10728587" y="3213785"/>
            <a:ext cx="0" cy="1371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1E90FAA-FD24-5D30-FA3B-FCFF698B231B}"/>
              </a:ext>
            </a:extLst>
          </p:cNvPr>
          <p:cNvCxnSpPr>
            <a:cxnSpLocks/>
          </p:cNvCxnSpPr>
          <p:nvPr/>
        </p:nvCxnSpPr>
        <p:spPr>
          <a:xfrm>
            <a:off x="5333511" y="3607399"/>
            <a:ext cx="0" cy="157089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E187A7C-F9AC-D84F-CDFF-CE58FDB32082}"/>
              </a:ext>
            </a:extLst>
          </p:cNvPr>
          <p:cNvCxnSpPr>
            <a:cxnSpLocks/>
          </p:cNvCxnSpPr>
          <p:nvPr/>
        </p:nvCxnSpPr>
        <p:spPr>
          <a:xfrm>
            <a:off x="2143659" y="3288930"/>
            <a:ext cx="0" cy="1371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8D9E5C3-19FF-6603-7AD1-57F390A8A672}"/>
              </a:ext>
            </a:extLst>
          </p:cNvPr>
          <p:cNvSpPr txBox="1"/>
          <p:nvPr/>
        </p:nvSpPr>
        <p:spPr>
          <a:xfrm>
            <a:off x="7914813" y="2679063"/>
            <a:ext cx="120417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Oct 2025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F28F87-45F0-B5B8-B3A9-F55464AECE55}"/>
              </a:ext>
            </a:extLst>
          </p:cNvPr>
          <p:cNvCxnSpPr>
            <a:cxnSpLocks/>
          </p:cNvCxnSpPr>
          <p:nvPr/>
        </p:nvCxnSpPr>
        <p:spPr>
          <a:xfrm flipV="1">
            <a:off x="524120" y="3262878"/>
            <a:ext cx="10646343" cy="0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AF6CD44-9A36-A001-6146-C856E91721CF}"/>
              </a:ext>
            </a:extLst>
          </p:cNvPr>
          <p:cNvSpPr/>
          <p:nvPr/>
        </p:nvSpPr>
        <p:spPr>
          <a:xfrm>
            <a:off x="11170463" y="3139585"/>
            <a:ext cx="217714" cy="206829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6836D0-886C-F818-4819-E2FC5B7A3A6D}"/>
              </a:ext>
            </a:extLst>
          </p:cNvPr>
          <p:cNvSpPr/>
          <p:nvPr/>
        </p:nvSpPr>
        <p:spPr>
          <a:xfrm>
            <a:off x="355232" y="3142427"/>
            <a:ext cx="217714" cy="206829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F8B655-8B14-2846-4237-3E66B40FF9C6}"/>
              </a:ext>
            </a:extLst>
          </p:cNvPr>
          <p:cNvSpPr/>
          <p:nvPr/>
        </p:nvSpPr>
        <p:spPr>
          <a:xfrm rot="8394762">
            <a:off x="3522407" y="3176374"/>
            <a:ext cx="217714" cy="20682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D0EA12-C56F-13BB-7ACD-9063196FAD1D}"/>
              </a:ext>
            </a:extLst>
          </p:cNvPr>
          <p:cNvSpPr/>
          <p:nvPr/>
        </p:nvSpPr>
        <p:spPr>
          <a:xfrm>
            <a:off x="1781214" y="3162304"/>
            <a:ext cx="217714" cy="20682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7A8CC55-33CE-ECA9-B173-1400CF083D6D}"/>
              </a:ext>
            </a:extLst>
          </p:cNvPr>
          <p:cNvSpPr/>
          <p:nvPr/>
        </p:nvSpPr>
        <p:spPr>
          <a:xfrm rot="20575692">
            <a:off x="6906268" y="3157047"/>
            <a:ext cx="217714" cy="20682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2FF891-6EB7-3484-0302-F4143C36422D}"/>
              </a:ext>
            </a:extLst>
          </p:cNvPr>
          <p:cNvSpPr/>
          <p:nvPr/>
        </p:nvSpPr>
        <p:spPr>
          <a:xfrm>
            <a:off x="10023415" y="3142248"/>
            <a:ext cx="217714" cy="20682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37CB90-E821-FF25-8106-52632AE0FF10}"/>
              </a:ext>
            </a:extLst>
          </p:cNvPr>
          <p:cNvSpPr/>
          <p:nvPr/>
        </p:nvSpPr>
        <p:spPr>
          <a:xfrm rot="3126602">
            <a:off x="8406029" y="3153509"/>
            <a:ext cx="217714" cy="20682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4829C0-EEF6-44AD-9C32-FB893A7EBD9D}"/>
              </a:ext>
            </a:extLst>
          </p:cNvPr>
          <p:cNvSpPr txBox="1"/>
          <p:nvPr/>
        </p:nvSpPr>
        <p:spPr>
          <a:xfrm>
            <a:off x="9533358" y="2669468"/>
            <a:ext cx="124014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Nov 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D91B48-32BF-AE8F-6B24-DB60F221F292}"/>
              </a:ext>
            </a:extLst>
          </p:cNvPr>
          <p:cNvSpPr txBox="1"/>
          <p:nvPr/>
        </p:nvSpPr>
        <p:spPr>
          <a:xfrm>
            <a:off x="575104" y="3804333"/>
            <a:ext cx="3273248" cy="830997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CQUIN/HIVE strategic planning meeting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4FA21-7B06-AF5A-901F-8B8D6403547B}"/>
              </a:ext>
            </a:extLst>
          </p:cNvPr>
          <p:cNvSpPr txBox="1"/>
          <p:nvPr/>
        </p:nvSpPr>
        <p:spPr>
          <a:xfrm>
            <a:off x="8760443" y="3807913"/>
            <a:ext cx="2237681" cy="830997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CQUIN annual meeting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716698-B69B-7436-AAA3-EA964B936098}"/>
              </a:ext>
            </a:extLst>
          </p:cNvPr>
          <p:cNvSpPr txBox="1"/>
          <p:nvPr/>
        </p:nvSpPr>
        <p:spPr>
          <a:xfrm>
            <a:off x="3508514" y="4941167"/>
            <a:ext cx="361289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Country Scenario Prioritization Discussions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8EB224-387A-EB34-3AF5-2562B04AD7D1}"/>
              </a:ext>
            </a:extLst>
          </p:cNvPr>
          <p:cNvSpPr txBox="1"/>
          <p:nvPr/>
        </p:nvSpPr>
        <p:spPr>
          <a:xfrm>
            <a:off x="7563619" y="4949062"/>
            <a:ext cx="4214255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Revised Country Prioritization based on epidemiology &amp; budget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D8BBEC-62BE-219F-42B0-A14211B930A5}"/>
              </a:ext>
            </a:extLst>
          </p:cNvPr>
          <p:cNvSpPr txBox="1"/>
          <p:nvPr/>
        </p:nvSpPr>
        <p:spPr>
          <a:xfrm>
            <a:off x="1123129" y="1412334"/>
            <a:ext cx="2627814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GF shares revised budget envelopes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352B51-9EF8-75DA-EF9E-AE06D17C4218}"/>
              </a:ext>
            </a:extLst>
          </p:cNvPr>
          <p:cNvSpPr txBox="1"/>
          <p:nvPr/>
        </p:nvSpPr>
        <p:spPr>
          <a:xfrm>
            <a:off x="5001241" y="1418134"/>
            <a:ext cx="2536299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GF grant revisions 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6D668-989B-220A-D589-F2C71329488D}"/>
              </a:ext>
            </a:extLst>
          </p:cNvPr>
          <p:cNvSpPr txBox="1"/>
          <p:nvPr/>
        </p:nvSpPr>
        <p:spPr>
          <a:xfrm>
            <a:off x="6336327" y="510064"/>
            <a:ext cx="242998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PEPFAR bridge allocations provided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8FC0A6-50F3-CAFE-CEB7-B900F6F37DF6}"/>
              </a:ext>
            </a:extLst>
          </p:cNvPr>
          <p:cNvSpPr txBox="1"/>
          <p:nvPr/>
        </p:nvSpPr>
        <p:spPr>
          <a:xfrm>
            <a:off x="1230024" y="2705556"/>
            <a:ext cx="131799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June 2025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9F37A7-B5C4-D853-CF6D-137B1C25A815}"/>
              </a:ext>
            </a:extLst>
          </p:cNvPr>
          <p:cNvSpPr/>
          <p:nvPr/>
        </p:nvSpPr>
        <p:spPr>
          <a:xfrm rot="20575692">
            <a:off x="5279562" y="3170300"/>
            <a:ext cx="217714" cy="20682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FFD52-F957-D43F-3028-8BF6C97ADA52}"/>
              </a:ext>
            </a:extLst>
          </p:cNvPr>
          <p:cNvSpPr txBox="1"/>
          <p:nvPr/>
        </p:nvSpPr>
        <p:spPr>
          <a:xfrm>
            <a:off x="4785321" y="2700864"/>
            <a:ext cx="1221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Aug 2025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22B67F-C639-8606-31F5-1D554B1ABA9B}"/>
              </a:ext>
            </a:extLst>
          </p:cNvPr>
          <p:cNvSpPr/>
          <p:nvPr/>
        </p:nvSpPr>
        <p:spPr>
          <a:xfrm>
            <a:off x="3631264" y="3429007"/>
            <a:ext cx="3420561" cy="1833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D089CE-04DF-B587-1AE4-C0A8A9DDC097}"/>
              </a:ext>
            </a:extLst>
          </p:cNvPr>
          <p:cNvSpPr txBox="1"/>
          <p:nvPr/>
        </p:nvSpPr>
        <p:spPr>
          <a:xfrm>
            <a:off x="8835585" y="504706"/>
            <a:ext cx="1381847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Release of MoU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DCFF5-7AFD-48FE-0B99-8FA7E3E4BDFB}"/>
              </a:ext>
            </a:extLst>
          </p:cNvPr>
          <p:cNvSpPr txBox="1"/>
          <p:nvPr/>
        </p:nvSpPr>
        <p:spPr>
          <a:xfrm>
            <a:off x="6272881" y="2687611"/>
            <a:ext cx="13211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Sept 2025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32C94B-0FF2-9CB7-D73E-1D87A8956BC8}"/>
              </a:ext>
            </a:extLst>
          </p:cNvPr>
          <p:cNvSpPr txBox="1"/>
          <p:nvPr/>
        </p:nvSpPr>
        <p:spPr>
          <a:xfrm>
            <a:off x="3002816" y="2700933"/>
            <a:ext cx="122822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July 2025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95501E5-FBF5-6EDB-F3AE-186598F5048B}"/>
              </a:ext>
            </a:extLst>
          </p:cNvPr>
          <p:cNvSpPr txBox="1">
            <a:spLocks/>
          </p:cNvSpPr>
          <p:nvPr/>
        </p:nvSpPr>
        <p:spPr>
          <a:xfrm>
            <a:off x="171959" y="170338"/>
            <a:ext cx="5962324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/>
              </a:rPr>
              <a:t>Prioritization Activity Timeline</a:t>
            </a:r>
          </a:p>
        </p:txBody>
      </p:sp>
    </p:spTree>
    <p:extLst>
      <p:ext uri="{BB962C8B-B14F-4D97-AF65-F5344CB8AC3E}">
        <p14:creationId xmlns:p14="http://schemas.microsoft.com/office/powerpoint/2010/main" val="331937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9" grpId="0" animBg="1"/>
      <p:bldP spid="7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4A9601-2CFD-2B63-3AA7-12094E7F47D6}"/>
              </a:ext>
            </a:extLst>
          </p:cNvPr>
          <p:cNvSpPr/>
          <p:nvPr/>
        </p:nvSpPr>
        <p:spPr>
          <a:xfrm>
            <a:off x="316" y="1372718"/>
            <a:ext cx="376975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5975A2-E6C5-4F55-DA14-FD3E911229B4}"/>
              </a:ext>
            </a:extLst>
          </p:cNvPr>
          <p:cNvSpPr/>
          <p:nvPr/>
        </p:nvSpPr>
        <p:spPr>
          <a:xfrm>
            <a:off x="8722895" y="1366239"/>
            <a:ext cx="3469105" cy="26217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C35E75-E510-C49E-B1E9-F1A02D507386}"/>
              </a:ext>
            </a:extLst>
          </p:cNvPr>
          <p:cNvSpPr/>
          <p:nvPr/>
        </p:nvSpPr>
        <p:spPr>
          <a:xfrm>
            <a:off x="3769750" y="1366239"/>
            <a:ext cx="4953145" cy="26217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14B58-C02C-E32D-5971-4756A0394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522" y="279927"/>
            <a:ext cx="9144456" cy="838199"/>
          </a:xfrm>
        </p:spPr>
        <p:txBody>
          <a:bodyPr>
            <a:normAutofit/>
          </a:bodyPr>
          <a:lstStyle/>
          <a:p>
            <a:r>
              <a:rPr lang="en-US" sz="3200"/>
              <a:t>Global Tools to Support Country Response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2AF4B-1272-EA6A-CD60-C165EAEE3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576" y="1727961"/>
            <a:ext cx="2779596" cy="2097468"/>
          </a:xfrm>
          <a:prstGeom prst="rect">
            <a:avLst/>
          </a:prstGeom>
        </p:spPr>
      </p:pic>
      <p:pic>
        <p:nvPicPr>
          <p:cNvPr id="8" name="Content Placeholder 4" descr="A blue and white cover with money in a life buoy&#10;&#10;AI-generated content may be incorrect.">
            <a:extLst>
              <a:ext uri="{FF2B5EF4-FFF2-40B4-BE49-F238E27FC236}">
                <a16:creationId xmlns:a16="http://schemas.microsoft.com/office/drawing/2014/main" id="{15FFAF07-C012-C70D-DD46-DD26B0527E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25" y="3903064"/>
            <a:ext cx="2025561" cy="28807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E71620-0704-F403-C4E2-08DF8846C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39" y="1686974"/>
            <a:ext cx="3494637" cy="196573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1F7FC9-A51F-3BA0-D9F6-CE2F333AA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213" y="4766997"/>
            <a:ext cx="3446332" cy="193856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8D68E8-BD79-2F97-8A0A-B6AF8E10B9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87" y="4791062"/>
            <a:ext cx="3403548" cy="191449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5AE10B-6C80-C566-BF32-461E93B93086}"/>
              </a:ext>
            </a:extLst>
          </p:cNvPr>
          <p:cNvSpPr txBox="1"/>
          <p:nvPr/>
        </p:nvSpPr>
        <p:spPr>
          <a:xfrm>
            <a:off x="7729489" y="4112683"/>
            <a:ext cx="4462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IAS TIER tool: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 for Intervention Evaluation and Ranking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240DD-1DA6-C068-C219-7DD3B2E047F5}"/>
              </a:ext>
            </a:extLst>
          </p:cNvPr>
          <p:cNvSpPr txBox="1"/>
          <p:nvPr/>
        </p:nvSpPr>
        <p:spPr>
          <a:xfrm>
            <a:off x="4198111" y="4031694"/>
            <a:ext cx="39112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PATHS: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Planning and Action Toolbox for HIV Sustainability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AA3A4F-FB87-9299-8282-BA88A153C0A4}"/>
              </a:ext>
            </a:extLst>
          </p:cNvPr>
          <p:cNvSpPr txBox="1"/>
          <p:nvPr/>
        </p:nvSpPr>
        <p:spPr>
          <a:xfrm>
            <a:off x="455035" y="1372718"/>
            <a:ext cx="2114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UNAIDS Resources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9F8FB-7CFC-0BEB-1E05-7CC33505B4FE}"/>
              </a:ext>
            </a:extLst>
          </p:cNvPr>
          <p:cNvSpPr txBox="1"/>
          <p:nvPr/>
        </p:nvSpPr>
        <p:spPr>
          <a:xfrm>
            <a:off x="3769750" y="1308344"/>
            <a:ext cx="2289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operational guidance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A01212-0BA5-3365-10D0-F074DE03FF92}"/>
              </a:ext>
            </a:extLst>
          </p:cNvPr>
          <p:cNvSpPr txBox="1"/>
          <p:nvPr/>
        </p:nvSpPr>
        <p:spPr>
          <a:xfrm>
            <a:off x="8976576" y="1382882"/>
            <a:ext cx="2779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Fund Reprioritization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C7B7E-702D-D881-F96F-FD9F298343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0169" y="1691114"/>
            <a:ext cx="1541734" cy="20068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5A323E-9942-591A-4678-233AA5391A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6385" y="1700733"/>
            <a:ext cx="3032515" cy="2091979"/>
          </a:xfrm>
          <a:prstGeom prst="rect">
            <a:avLst/>
          </a:prstGeom>
          <a:ln w="3175">
            <a:solidFill>
              <a:srgbClr val="02216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D464D0-0D1B-3E93-3466-072D31C0C8C0}"/>
              </a:ext>
            </a:extLst>
          </p:cNvPr>
          <p:cNvSpPr txBox="1"/>
          <p:nvPr/>
        </p:nvSpPr>
        <p:spPr>
          <a:xfrm>
            <a:off x="6107471" y="1392956"/>
            <a:ext cx="2830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CQUIN Modified TIER Tool</a:t>
            </a:r>
          </a:p>
        </p:txBody>
      </p:sp>
    </p:spTree>
    <p:extLst>
      <p:ext uri="{BB962C8B-B14F-4D97-AF65-F5344CB8AC3E}">
        <p14:creationId xmlns:p14="http://schemas.microsoft.com/office/powerpoint/2010/main" val="13677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22AF16-3A8B-8521-397B-B26D809B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HIV Service Prioritization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E8E6FF-C223-E360-8383-646E96005B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7446" y="1500006"/>
            <a:ext cx="5129754" cy="4926194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July-September 2025: Initial Scenario Planning Summary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>
                <a:solidFill>
                  <a:schemeClr val="tx2"/>
                </a:solidFill>
                <a:ea typeface="Calibri"/>
                <a:cs typeface="Calibri" panose="020F0502020204030204" pitchFamily="34" charset="0"/>
              </a:rPr>
              <a:t>Use of scenario-based external funding planning to enable rapid </a:t>
            </a:r>
            <a:r>
              <a:rPr lang="en-US" sz="2000" b="0">
                <a:solidFill>
                  <a:schemeClr val="tx2"/>
                </a:solidFill>
              </a:rPr>
              <a:t>evidence-informed </a:t>
            </a:r>
            <a:r>
              <a:rPr lang="en-US" sz="2000" b="0">
                <a:solidFill>
                  <a:schemeClr val="tx2"/>
                </a:solidFill>
                <a:ea typeface="Calibri"/>
                <a:cs typeface="Calibri" panose="020F0502020204030204" pitchFamily="34" charset="0"/>
              </a:rPr>
              <a:t>adjustments to HIV services and indicators, </a:t>
            </a:r>
            <a:r>
              <a:rPr lang="en-US" sz="2000" b="0">
                <a:solidFill>
                  <a:schemeClr val="tx2"/>
                </a:solidFill>
              </a:rPr>
              <a:t>in response to evolving external funding realities.</a:t>
            </a:r>
            <a:r>
              <a:rPr lang="en-US" sz="2000" b="0">
                <a:solidFill>
                  <a:schemeClr val="tx2"/>
                </a:solidFill>
                <a:ea typeface="Calibri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>
                <a:solidFill>
                  <a:schemeClr val="tx2"/>
                </a:solidFill>
              </a:rPr>
              <a:t>16 out of 21 countries submitted outcomes by end of September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>
                <a:solidFill>
                  <a:schemeClr val="tx2"/>
                </a:solidFill>
              </a:rPr>
              <a:t>Most countries (14 each) completed both low (0%) and moderate (≥50%) funding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>
                <a:solidFill>
                  <a:schemeClr val="tx2"/>
                </a:solidFill>
              </a:rPr>
              <a:t>Summary in CQUIN Website Sept Webinar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82B455-68B3-EACF-EAF9-EA154861D98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51500" y="1500006"/>
            <a:ext cx="6437854" cy="4926194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2000">
                <a:solidFill>
                  <a:schemeClr val="tx2"/>
                </a:solidFill>
              </a:rPr>
              <a:t>October-November 2025: Current Prioritization Revisions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>
                <a:solidFill>
                  <a:schemeClr val="tx2"/>
                </a:solidFill>
              </a:rPr>
              <a:t>Countries reviewed the ≥50% external funding scenario as most aligned with bridge funding levels received by most network countries to update status.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b="0">
                <a:solidFill>
                  <a:schemeClr val="tx2"/>
                </a:solidFill>
              </a:rPr>
              <a:t>All 21 countries submitted prioritization outcomes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>
                <a:solidFill>
                  <a:schemeClr val="tx2"/>
                </a:solidFill>
              </a:rPr>
              <a:t>Each HIV service intervention was categorized using a standardized coding system:</a:t>
            </a:r>
          </a:p>
          <a:p>
            <a:pPr marL="1028700" lvl="1">
              <a:spcAft>
                <a:spcPts val="0"/>
              </a:spcAft>
            </a:pPr>
            <a:r>
              <a:rPr lang="en-US">
                <a:solidFill>
                  <a:schemeClr val="tx2"/>
                </a:solidFill>
              </a:rPr>
              <a:t>Keep (No Change): </a:t>
            </a:r>
            <a:r>
              <a:rPr lang="en-US" b="0">
                <a:solidFill>
                  <a:schemeClr val="tx2"/>
                </a:solidFill>
              </a:rPr>
              <a:t>Service will continue as currently implemented</a:t>
            </a:r>
          </a:p>
          <a:p>
            <a:pPr marL="1028700" lvl="1">
              <a:spcAft>
                <a:spcPts val="0"/>
              </a:spcAft>
            </a:pPr>
            <a:r>
              <a:rPr lang="en-US">
                <a:solidFill>
                  <a:schemeClr val="tx2"/>
                </a:solidFill>
              </a:rPr>
              <a:t>Keep (Modify): </a:t>
            </a:r>
            <a:r>
              <a:rPr lang="en-US" b="0">
                <a:solidFill>
                  <a:schemeClr val="tx2"/>
                </a:solidFill>
              </a:rPr>
              <a:t>Service will be adapted to reflect contextual shifts (e.g., sub-population, geography)</a:t>
            </a:r>
          </a:p>
          <a:p>
            <a:pPr marL="1028700" lvl="1">
              <a:spcAft>
                <a:spcPts val="0"/>
              </a:spcAft>
            </a:pPr>
            <a:r>
              <a:rPr lang="en-US">
                <a:solidFill>
                  <a:schemeClr val="tx2"/>
                </a:solidFill>
              </a:rPr>
              <a:t>Drop: </a:t>
            </a:r>
            <a:r>
              <a:rPr lang="en-US" b="0">
                <a:solidFill>
                  <a:schemeClr val="tx2"/>
                </a:solidFill>
              </a:rPr>
              <a:t>Intervention removed from the prioritized package</a:t>
            </a:r>
          </a:p>
          <a:p>
            <a:pPr marL="1028700" lvl="1">
              <a:spcAft>
                <a:spcPts val="0"/>
              </a:spcAft>
            </a:pPr>
            <a:r>
              <a:rPr lang="en-US">
                <a:solidFill>
                  <a:schemeClr val="tx2"/>
                </a:solidFill>
              </a:rPr>
              <a:t>Not applicable: </a:t>
            </a:r>
            <a:r>
              <a:rPr lang="en-US" b="0">
                <a:solidFill>
                  <a:schemeClr val="tx2"/>
                </a:solidFill>
              </a:rPr>
              <a:t>Intervention deemed irrelevant or non-operational in country context</a:t>
            </a:r>
          </a:p>
          <a:p>
            <a:pPr marL="1028700" lvl="1">
              <a:spcAft>
                <a:spcPts val="0"/>
              </a:spcAft>
            </a:pPr>
            <a:r>
              <a:rPr lang="en-US">
                <a:solidFill>
                  <a:schemeClr val="tx2"/>
                </a:solidFill>
              </a:rPr>
              <a:t>Missing Data: </a:t>
            </a:r>
            <a:r>
              <a:rPr lang="en-US" b="0">
                <a:solidFill>
                  <a:schemeClr val="tx2"/>
                </a:solidFill>
              </a:rPr>
              <a:t>Intervention not defined, described, or completed in submission</a:t>
            </a:r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C95635-7B32-5BC7-524A-D367AB133B44}"/>
              </a:ext>
            </a:extLst>
          </p:cNvPr>
          <p:cNvSpPr/>
          <p:nvPr/>
        </p:nvSpPr>
        <p:spPr>
          <a:xfrm>
            <a:off x="6353175" y="3724275"/>
            <a:ext cx="371475" cy="209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338C28-537F-56F6-FAC1-F7C7F88C7D99}"/>
              </a:ext>
            </a:extLst>
          </p:cNvPr>
          <p:cNvSpPr/>
          <p:nvPr/>
        </p:nvSpPr>
        <p:spPr>
          <a:xfrm>
            <a:off x="6353175" y="4311469"/>
            <a:ext cx="371475" cy="20955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A83BC7-964B-966C-7486-822C289C69E4}"/>
              </a:ext>
            </a:extLst>
          </p:cNvPr>
          <p:cNvSpPr/>
          <p:nvPr/>
        </p:nvSpPr>
        <p:spPr>
          <a:xfrm>
            <a:off x="6353174" y="4851038"/>
            <a:ext cx="371475" cy="2095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83B8B-F676-ED62-B461-82D757707E73}"/>
              </a:ext>
            </a:extLst>
          </p:cNvPr>
          <p:cNvSpPr/>
          <p:nvPr/>
        </p:nvSpPr>
        <p:spPr>
          <a:xfrm>
            <a:off x="6353174" y="5390607"/>
            <a:ext cx="371475" cy="2095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825DC-A1DC-7C40-5F4C-742D019FDFB5}"/>
              </a:ext>
            </a:extLst>
          </p:cNvPr>
          <p:cNvSpPr/>
          <p:nvPr/>
        </p:nvSpPr>
        <p:spPr>
          <a:xfrm>
            <a:off x="6353174" y="5909901"/>
            <a:ext cx="371475" cy="209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11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7D48-DADB-0374-B5E7-900FD235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2B2E-61CC-D4BC-A8AA-9FA62377DE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6298" y="46259"/>
            <a:ext cx="9144000" cy="655334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HIV Prevention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30312F-201E-62BC-D927-86604A2AB313}"/>
              </a:ext>
            </a:extLst>
          </p:cNvPr>
          <p:cNvGraphicFramePr>
            <a:graphicFrameLocks noGrp="1"/>
          </p:cNvGraphicFramePr>
          <p:nvPr/>
        </p:nvGraphicFramePr>
        <p:xfrm>
          <a:off x="10287940" y="85999"/>
          <a:ext cx="1603832" cy="876300"/>
        </p:xfrm>
        <a:graphic>
          <a:graphicData uri="http://schemas.openxmlformats.org/drawingml/2006/table">
            <a:tbl>
              <a:tblPr/>
              <a:tblGrid>
                <a:gridCol w="456631">
                  <a:extLst>
                    <a:ext uri="{9D8B030D-6E8A-4147-A177-3AD203B41FA5}">
                      <a16:colId xmlns:a16="http://schemas.microsoft.com/office/drawing/2014/main" val="60972344"/>
                    </a:ext>
                  </a:extLst>
                </a:gridCol>
                <a:gridCol w="1147201">
                  <a:extLst>
                    <a:ext uri="{9D8B030D-6E8A-4147-A177-3AD203B41FA5}">
                      <a16:colId xmlns:a16="http://schemas.microsoft.com/office/drawing/2014/main" val="1793095843"/>
                    </a:ext>
                  </a:extLst>
                </a:gridCol>
              </a:tblGrid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Keep (No Change)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723603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200%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Keep (Modify)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518160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Drop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40374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808080"/>
                          </a:solidFill>
                          <a:effectLst/>
                          <a:latin typeface="Aptos Narrow" panose="020B0004020202020204" pitchFamily="34" charset="0"/>
                        </a:rPr>
                        <a:t>9900%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applicable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893642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Missing Data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3954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26E82F-948E-096A-F78C-8057888B1C8F}"/>
              </a:ext>
            </a:extLst>
          </p:cNvPr>
          <p:cNvGraphicFramePr>
            <a:graphicFrameLocks noGrp="1"/>
          </p:cNvGraphicFramePr>
          <p:nvPr/>
        </p:nvGraphicFramePr>
        <p:xfrm>
          <a:off x="1411029" y="669937"/>
          <a:ext cx="4107269" cy="370143"/>
        </p:xfrm>
        <a:graphic>
          <a:graphicData uri="http://schemas.openxmlformats.org/drawingml/2006/table">
            <a:tbl>
              <a:tblPr/>
              <a:tblGrid>
                <a:gridCol w="4107269">
                  <a:extLst>
                    <a:ext uri="{9D8B030D-6E8A-4147-A177-3AD203B41FA5}">
                      <a16:colId xmlns:a16="http://schemas.microsoft.com/office/drawing/2014/main" val="4265004049"/>
                    </a:ext>
                  </a:extLst>
                </a:gridCol>
              </a:tblGrid>
              <a:tr h="3701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By Country: Jul-Sep 2025 (N=14)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56705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C44EB0C-6CF2-E4B5-5581-F51F491E3990}"/>
              </a:ext>
            </a:extLst>
          </p:cNvPr>
          <p:cNvGraphicFramePr>
            <a:graphicFrameLocks noGrp="1"/>
          </p:cNvGraphicFramePr>
          <p:nvPr/>
        </p:nvGraphicFramePr>
        <p:xfrm>
          <a:off x="6673704" y="652503"/>
          <a:ext cx="3416594" cy="389696"/>
        </p:xfrm>
        <a:graphic>
          <a:graphicData uri="http://schemas.openxmlformats.org/drawingml/2006/table">
            <a:tbl>
              <a:tblPr/>
              <a:tblGrid>
                <a:gridCol w="3416594">
                  <a:extLst>
                    <a:ext uri="{9D8B030D-6E8A-4147-A177-3AD203B41FA5}">
                      <a16:colId xmlns:a16="http://schemas.microsoft.com/office/drawing/2014/main" val="724871191"/>
                    </a:ext>
                  </a:extLst>
                </a:gridCol>
              </a:tblGrid>
              <a:tr h="3896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A02B93"/>
                          </a:solidFill>
                          <a:effectLst/>
                          <a:latin typeface="Aptos Narrow" panose="020B0004020202020204" pitchFamily="34" charset="0"/>
                        </a:rPr>
                        <a:t>By Country: Oct-Nov 2025 (N=21)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23920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00468C-7FD7-4F30-4AEA-A52D920972FA}"/>
              </a:ext>
            </a:extLst>
          </p:cNvPr>
          <p:cNvGraphicFramePr>
            <a:graphicFrameLocks noGrp="1"/>
          </p:cNvGraphicFramePr>
          <p:nvPr/>
        </p:nvGraphicFramePr>
        <p:xfrm>
          <a:off x="264526" y="1096785"/>
          <a:ext cx="5517143" cy="5157404"/>
        </p:xfrm>
        <a:graphic>
          <a:graphicData uri="http://schemas.openxmlformats.org/drawingml/2006/table">
            <a:tbl>
              <a:tblPr/>
              <a:tblGrid>
                <a:gridCol w="1520745">
                  <a:extLst>
                    <a:ext uri="{9D8B030D-6E8A-4147-A177-3AD203B41FA5}">
                      <a16:colId xmlns:a16="http://schemas.microsoft.com/office/drawing/2014/main" val="3486601410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1185570640"/>
                    </a:ext>
                  </a:extLst>
                </a:gridCol>
                <a:gridCol w="291472">
                  <a:extLst>
                    <a:ext uri="{9D8B030D-6E8A-4147-A177-3AD203B41FA5}">
                      <a16:colId xmlns:a16="http://schemas.microsoft.com/office/drawing/2014/main" val="410797075"/>
                    </a:ext>
                  </a:extLst>
                </a:gridCol>
                <a:gridCol w="279442">
                  <a:extLst>
                    <a:ext uri="{9D8B030D-6E8A-4147-A177-3AD203B41FA5}">
                      <a16:colId xmlns:a16="http://schemas.microsoft.com/office/drawing/2014/main" val="3928983246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3222848221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798674598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694985663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3851212266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2625289107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3502912476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1328533903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3705779129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702238166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2299283270"/>
                    </a:ext>
                  </a:extLst>
                </a:gridCol>
                <a:gridCol w="285457">
                  <a:extLst>
                    <a:ext uri="{9D8B030D-6E8A-4147-A177-3AD203B41FA5}">
                      <a16:colId xmlns:a16="http://schemas.microsoft.com/office/drawing/2014/main" val="179953626"/>
                    </a:ext>
                  </a:extLst>
                </a:gridCol>
              </a:tblGrid>
              <a:tr h="165184">
                <a:tc>
                  <a:txBody>
                    <a:bodyPr/>
                    <a:lstStyle/>
                    <a:p>
                      <a:pPr marL="27432"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Intervention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BUR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LIB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NIG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56996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0–6w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19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6–12w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2960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LR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643047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PEP (guidelines)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33480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PEP (GBV/KP)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7023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condoms/lube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37409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KP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67774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28368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KP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26455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PBFW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941104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others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70523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Annual PrEP review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84912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review 6-monthly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680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DSD-indiv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6509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Out-facility PrEP DSD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5555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Virtual PrEP refills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55663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Adherence/risk counselling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5553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15041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07978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6199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at-risk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67944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KP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0107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AGYW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22279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others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007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 post-start 1–3m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90663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demand creation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40708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3780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12841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start education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70606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Facility-first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18773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92910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OAMT refills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34139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Initiate/continue OAMT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44627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Targeted VMMC scale-up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22770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7E3FBC-636C-549A-4810-73B66D868F3F}"/>
              </a:ext>
            </a:extLst>
          </p:cNvPr>
          <p:cNvGraphicFramePr>
            <a:graphicFrameLocks noGrp="1"/>
          </p:cNvGraphicFramePr>
          <p:nvPr/>
        </p:nvGraphicFramePr>
        <p:xfrm>
          <a:off x="5857875" y="1096785"/>
          <a:ext cx="6069587" cy="5157404"/>
        </p:xfrm>
        <a:graphic>
          <a:graphicData uri="http://schemas.openxmlformats.org/drawingml/2006/table">
            <a:tbl>
              <a:tblPr/>
              <a:tblGrid>
                <a:gridCol w="1406369">
                  <a:extLst>
                    <a:ext uri="{9D8B030D-6E8A-4147-A177-3AD203B41FA5}">
                      <a16:colId xmlns:a16="http://schemas.microsoft.com/office/drawing/2014/main" val="1593915859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692548924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113090293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589126732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3176688125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320659574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1252272785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485568824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4121898217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79860237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657671063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3114035567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4188293964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489510425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4133968551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484871813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612895065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876346886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4066507594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1673652907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2505979485"/>
                    </a:ext>
                  </a:extLst>
                </a:gridCol>
                <a:gridCol w="222058">
                  <a:extLst>
                    <a:ext uri="{9D8B030D-6E8A-4147-A177-3AD203B41FA5}">
                      <a16:colId xmlns:a16="http://schemas.microsoft.com/office/drawing/2014/main" val="681795218"/>
                    </a:ext>
                  </a:extLst>
                </a:gridCol>
              </a:tblGrid>
              <a:tr h="146548">
                <a:tc>
                  <a:txBody>
                    <a:bodyPr/>
                    <a:lstStyle/>
                    <a:p>
                      <a:pPr marL="27432"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Intervention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CIV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DRC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LIB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NIG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RWA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ZAM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ZIM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08192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0–6w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54248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6–12w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201481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LR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58880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PEP (guidelines)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5604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PEP (GBV/KP)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697097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condoms/lube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9429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KP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21988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13456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KP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3503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PBFW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7350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others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90281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Annual PrEP review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841906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review 6-monthly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9745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DSD-indiv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93746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Out-facility PrEP DSD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530973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Virtual </a:t>
                      </a:r>
                      <a:r>
                        <a:rPr 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refills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302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Adherence/risk counselling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080557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1434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81951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0226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at-risk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0780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KP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20606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AGYW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37174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others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907070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 post-start 1–3m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200923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demand creation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5495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6448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83033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start education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32346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Facility-first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7285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07589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OAMT refills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42898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Initiate/continue OAMT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93039"/>
                  </a:ext>
                </a:extLst>
              </a:tr>
              <a:tr h="195397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Targeted VMMC scale-up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14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78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BF41-19AC-6E72-1648-572B56FA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2C3E-51C0-4C46-12CE-8E54B9157A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6298" y="46259"/>
            <a:ext cx="9144000" cy="655334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HIV Prevention – Changes Across Time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0A36BD-F731-E456-4AD7-F836D14C3F4B}"/>
              </a:ext>
            </a:extLst>
          </p:cNvPr>
          <p:cNvGraphicFramePr>
            <a:graphicFrameLocks noGrp="1"/>
          </p:cNvGraphicFramePr>
          <p:nvPr/>
        </p:nvGraphicFramePr>
        <p:xfrm>
          <a:off x="10287940" y="85999"/>
          <a:ext cx="1603832" cy="876300"/>
        </p:xfrm>
        <a:graphic>
          <a:graphicData uri="http://schemas.openxmlformats.org/drawingml/2006/table">
            <a:tbl>
              <a:tblPr/>
              <a:tblGrid>
                <a:gridCol w="456631">
                  <a:extLst>
                    <a:ext uri="{9D8B030D-6E8A-4147-A177-3AD203B41FA5}">
                      <a16:colId xmlns:a16="http://schemas.microsoft.com/office/drawing/2014/main" val="60972344"/>
                    </a:ext>
                  </a:extLst>
                </a:gridCol>
                <a:gridCol w="1147201">
                  <a:extLst>
                    <a:ext uri="{9D8B030D-6E8A-4147-A177-3AD203B41FA5}">
                      <a16:colId xmlns:a16="http://schemas.microsoft.com/office/drawing/2014/main" val="1793095843"/>
                    </a:ext>
                  </a:extLst>
                </a:gridCol>
              </a:tblGrid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Keep (No Change)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723603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200%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Keep (Modify)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518160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Drop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40374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808080"/>
                          </a:solidFill>
                          <a:effectLst/>
                          <a:latin typeface="Aptos Narrow" panose="020B0004020202020204" pitchFamily="34" charset="0"/>
                        </a:rPr>
                        <a:t>9900%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applicable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893642"/>
                  </a:ext>
                </a:extLst>
              </a:tr>
              <a:tr h="1363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Missing Data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3954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EB5119-4244-769F-8978-1EDCA0F045CB}"/>
              </a:ext>
            </a:extLst>
          </p:cNvPr>
          <p:cNvGraphicFramePr>
            <a:graphicFrameLocks noGrp="1"/>
          </p:cNvGraphicFramePr>
          <p:nvPr/>
        </p:nvGraphicFramePr>
        <p:xfrm>
          <a:off x="1411029" y="669937"/>
          <a:ext cx="4107269" cy="370143"/>
        </p:xfrm>
        <a:graphic>
          <a:graphicData uri="http://schemas.openxmlformats.org/drawingml/2006/table">
            <a:tbl>
              <a:tblPr/>
              <a:tblGrid>
                <a:gridCol w="4107269">
                  <a:extLst>
                    <a:ext uri="{9D8B030D-6E8A-4147-A177-3AD203B41FA5}">
                      <a16:colId xmlns:a16="http://schemas.microsoft.com/office/drawing/2014/main" val="4265004049"/>
                    </a:ext>
                  </a:extLst>
                </a:gridCol>
              </a:tblGrid>
              <a:tr h="3701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2"/>
                          </a:solidFill>
                          <a:effectLst/>
                          <a:latin typeface="Aptos Narrow" panose="020B0004020202020204" pitchFamily="34" charset="0"/>
                        </a:rPr>
                        <a:t>By Country: Jul-Sep 2025 (N=14)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56705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28D3BE9-AF83-26C1-9970-3664AFEE090A}"/>
              </a:ext>
            </a:extLst>
          </p:cNvPr>
          <p:cNvGraphicFramePr>
            <a:graphicFrameLocks noGrp="1"/>
          </p:cNvGraphicFramePr>
          <p:nvPr/>
        </p:nvGraphicFramePr>
        <p:xfrm>
          <a:off x="6673704" y="652503"/>
          <a:ext cx="3416594" cy="389696"/>
        </p:xfrm>
        <a:graphic>
          <a:graphicData uri="http://schemas.openxmlformats.org/drawingml/2006/table">
            <a:tbl>
              <a:tblPr/>
              <a:tblGrid>
                <a:gridCol w="3416594">
                  <a:extLst>
                    <a:ext uri="{9D8B030D-6E8A-4147-A177-3AD203B41FA5}">
                      <a16:colId xmlns:a16="http://schemas.microsoft.com/office/drawing/2014/main" val="724871191"/>
                    </a:ext>
                  </a:extLst>
                </a:gridCol>
              </a:tblGrid>
              <a:tr h="3896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A02B93"/>
                          </a:solidFill>
                          <a:effectLst/>
                          <a:latin typeface="Aptos Narrow" panose="020B0004020202020204" pitchFamily="34" charset="0"/>
                        </a:rPr>
                        <a:t>By Country: Oct-Nov 2025 (N=14)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23920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81CF6C-3F1B-6FDC-C1E2-96D47DB85304}"/>
              </a:ext>
            </a:extLst>
          </p:cNvPr>
          <p:cNvGraphicFramePr>
            <a:graphicFrameLocks noGrp="1"/>
          </p:cNvGraphicFramePr>
          <p:nvPr/>
        </p:nvGraphicFramePr>
        <p:xfrm>
          <a:off x="213724" y="1096785"/>
          <a:ext cx="5851526" cy="5157404"/>
        </p:xfrm>
        <a:graphic>
          <a:graphicData uri="http://schemas.openxmlformats.org/drawingml/2006/table">
            <a:tbl>
              <a:tblPr/>
              <a:tblGrid>
                <a:gridCol w="1612914">
                  <a:extLst>
                    <a:ext uri="{9D8B030D-6E8A-4147-A177-3AD203B41FA5}">
                      <a16:colId xmlns:a16="http://schemas.microsoft.com/office/drawing/2014/main" val="3486601410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1185570640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410797075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3928983246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3222848221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798674598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694985663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3851212266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2625289107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3502912476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1328533903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3705779129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702238166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2299283270"/>
                    </a:ext>
                  </a:extLst>
                </a:gridCol>
                <a:gridCol w="302758">
                  <a:extLst>
                    <a:ext uri="{9D8B030D-6E8A-4147-A177-3AD203B41FA5}">
                      <a16:colId xmlns:a16="http://schemas.microsoft.com/office/drawing/2014/main" val="179953626"/>
                    </a:ext>
                  </a:extLst>
                </a:gridCol>
              </a:tblGrid>
              <a:tr h="165184">
                <a:tc>
                  <a:txBody>
                    <a:bodyPr/>
                    <a:lstStyle/>
                    <a:p>
                      <a:pPr marL="27432"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Intervention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BUR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LIB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NIG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56996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0–6w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19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6–12w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2960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LR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643047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PEP (guidelines)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33480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PEP (GBV/KP)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7023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condoms/lube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37409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KP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67774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28368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KP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26455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PBFW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941104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others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70523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Annual PrEP review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84912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review 6-monthly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8680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DSD-indiv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6509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Out-facility PrEP DSD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5555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Virtual PrEP refills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455663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Adherence/risk counselling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5553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15041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07978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6199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at-risk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67944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KP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0107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AGYW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22279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others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007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 post-start 1–3m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90663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demand creation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40708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37802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128416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start education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70606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Facility-first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18773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929109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OAMT refills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341391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Initiate/continue OAMT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446270"/>
                  </a:ext>
                </a:extLst>
              </a:tr>
              <a:tr h="146830">
                <a:tc>
                  <a:txBody>
                    <a:bodyPr/>
                    <a:lstStyle/>
                    <a:p>
                      <a:pPr marL="27432"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Targeted VMMC scale-up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80808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22770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FE80A5-5CD5-16D7-1117-020C56FB2C3A}"/>
              </a:ext>
            </a:extLst>
          </p:cNvPr>
          <p:cNvGraphicFramePr>
            <a:graphicFrameLocks noGrp="1"/>
          </p:cNvGraphicFramePr>
          <p:nvPr/>
        </p:nvGraphicFramePr>
        <p:xfrm>
          <a:off x="6145744" y="1096785"/>
          <a:ext cx="5851525" cy="5157404"/>
        </p:xfrm>
        <a:graphic>
          <a:graphicData uri="http://schemas.openxmlformats.org/drawingml/2006/table">
            <a:tbl>
              <a:tblPr/>
              <a:tblGrid>
                <a:gridCol w="1536669">
                  <a:extLst>
                    <a:ext uri="{9D8B030D-6E8A-4147-A177-3AD203B41FA5}">
                      <a16:colId xmlns:a16="http://schemas.microsoft.com/office/drawing/2014/main" val="1593915859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2692548924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2113090293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320659574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1252272785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2485568824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4121898217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79860237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657671063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4188293964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2489510425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484871813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2612895065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4066507594"/>
                    </a:ext>
                  </a:extLst>
                </a:gridCol>
                <a:gridCol w="308204">
                  <a:extLst>
                    <a:ext uri="{9D8B030D-6E8A-4147-A177-3AD203B41FA5}">
                      <a16:colId xmlns:a16="http://schemas.microsoft.com/office/drawing/2014/main" val="1673652907"/>
                    </a:ext>
                  </a:extLst>
                </a:gridCol>
              </a:tblGrid>
              <a:tr h="146548">
                <a:tc>
                  <a:txBody>
                    <a:bodyPr/>
                    <a:lstStyle/>
                    <a:p>
                      <a:pPr marL="27432"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Intervention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BUR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ETH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GHA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LIB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MOZ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NIG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TZ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08192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0–6w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54248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HR 6–12w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201481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Infant PNP LR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58880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PEP (guidelines)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5604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PEP (GBV/KP)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697097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condoms/lube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9429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KP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21988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condom points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13456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KP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3503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PBFW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7350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others 3MMD/6m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90281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Annual PrEP review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841906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review 6-monthly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9745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 PrEP DSD-indiv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93746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Out-facility PrEP DSD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530973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Virtual </a:t>
                      </a:r>
                      <a:r>
                        <a:rPr 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refills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302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Adherence/risk counselling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080557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1434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81951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0226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PBFW at-risk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0780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KP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20606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AGYW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371745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PrEP others self-ID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907070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Test post-start 1–3m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200923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demand creation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5495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DVR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6448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LAI PrEP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83033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 start education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323464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Facility-first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7285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Community NSP+naloxone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075892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Continue OAMT refills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428989"/>
                  </a:ext>
                </a:extLst>
              </a:tr>
              <a:tr h="145923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Initiate/continue OAMT (PWID)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93039"/>
                  </a:ext>
                </a:extLst>
              </a:tr>
              <a:tr h="195397">
                <a:tc>
                  <a:txBody>
                    <a:bodyPr/>
                    <a:lstStyle/>
                    <a:p>
                      <a:pPr marL="27432" algn="l" rtl="0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Targeted VMMC scale-up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###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ADADAD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12501A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1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7D359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14163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A9ED-5EA9-ED6A-A725-FD09DBA23A9C}"/>
              </a:ext>
            </a:extLst>
          </p:cNvPr>
          <p:cNvSpPr txBox="1">
            <a:spLocks/>
          </p:cNvSpPr>
          <p:nvPr/>
        </p:nvSpPr>
        <p:spPr>
          <a:xfrm>
            <a:off x="491126" y="1768475"/>
            <a:ext cx="11487150" cy="3479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Changes in Prevention Service Prioritization Across 14 Countries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(Jul–Sep vs Oct–Nov 2025)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14 interventions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saw a decline in “Keep (No Change)” status, indicating reduced consensus on maintaining services as-is.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4 interventions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saw a decline in “Keep (Modify)” status, suggesting fewer planned contextual adaptations.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A total of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33 interventions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2206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shifted away from active prioritization - either dropped or clarified as not applicable - highlighting a trend toward streamlining and contextual tailoring of HIV prevention interventions.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2069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115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AB01-09C4-4C58-8F63-2BD400AD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HIV Prevention – Summative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8E05D-2EC0-7802-F445-9A52938C95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371600"/>
            <a:ext cx="9795882" cy="4953000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Sustained Emphasis on Infant Prophylaxis and PEP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Facility-based infant prophylaxis (especially for high-risk infants in the first 6 weeks) and PEP remained high-priority across both periods. </a:t>
            </a:r>
            <a:r>
              <a:rPr lang="en-US" sz="2000" b="0" kern="100">
                <a:solidFill>
                  <a:schemeClr val="tx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Emphasizing </a:t>
            </a: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critical role in vertical transmission and post-exposure prevention.</a:t>
            </a:r>
          </a:p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err="1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PrEP</a:t>
            </a: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Services Show Mixed Prioritization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 err="1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PrEP</a:t>
            </a: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initiation and continuation for key populations and pregnant/breastfeeding women remained prioritized.  Slight downgrading in </a:t>
            </a:r>
            <a:r>
              <a:rPr lang="en-US" sz="2000" b="0" kern="100">
                <a:solidFill>
                  <a:schemeClr val="tx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October-November </a:t>
            </a: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 virtual </a:t>
            </a:r>
            <a:r>
              <a:rPr lang="en-US" sz="2000" b="0" kern="100" err="1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PrEP</a:t>
            </a: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refills and out-of-facility DSD models.</a:t>
            </a:r>
          </a:p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Condom Distribution Deprioritized in Community Settings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Community-based condom distribution (especially for general populations) saw a decline in prioritization in </a:t>
            </a:r>
            <a:r>
              <a:rPr lang="en-US" sz="2000" b="0" kern="100">
                <a:solidFill>
                  <a:schemeClr val="tx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October-November.</a:t>
            </a: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Facility-based condom availability remained more stable.</a:t>
            </a:r>
          </a:p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Harm Reduction for PWID Remains Low Priority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Interventions like OAMT and needle/syringe distribution continued to have lower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105444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A674-7695-2A0E-7DC2-2895A218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HIV Testing – Summative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E3622-4266-545B-23DF-E485EB5306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Facility-Based Testing Remains a Pillar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Testing at ANC, TB, STI, and malnutrition clinics remained consistently prioritized. Testing for HIV-exposed infants and symptomatic individuals also remained prioritized across both periods.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>
                <a:solidFill>
                  <a:schemeClr val="tx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Virtual and Community-Based HIVST Deprioritized</a:t>
            </a:r>
            <a:br>
              <a:rPr lang="en-US" sz="2000" kern="100">
                <a:solidFill>
                  <a:schemeClr val="tx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Interventions involving virtual HIVST platforms and community-based HIVST collection points were deprioritized in October-November, suggesting a retreat from digital or decentralized testing modalities.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Partner Notification and Index Testing Maintained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Provider-assisted and passive partner notification approaches remained prioritized, especially for newly diagnosed people with HIV and key populations.</a:t>
            </a:r>
          </a:p>
        </p:txBody>
      </p:sp>
    </p:spTree>
    <p:extLst>
      <p:ext uri="{BB962C8B-B14F-4D97-AF65-F5344CB8AC3E}">
        <p14:creationId xmlns:p14="http://schemas.microsoft.com/office/powerpoint/2010/main" val="398979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653E-C963-1577-D0B5-C1A509EF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HIV Treatment – Summative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B9955-8D69-2993-C76F-C7A9F2182D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872082" cy="4738688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 Continuity and Initiation - Universally Prioritized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Uninterrupted ART, initiation for all populations (including children, pregnant women, and those with AHD), and viral load monitoring for treatment failure remained top priorities across both periods.</a:t>
            </a:r>
          </a:p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DSD Models - Mixed Support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Facility-based individual DSD models retained high prioritization, but group models and out-of-facility options showed more variability and some </a:t>
            </a:r>
            <a:r>
              <a:rPr lang="en-US" sz="2000" b="0" kern="100" err="1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deprioritization</a:t>
            </a: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October-November.</a:t>
            </a:r>
          </a:p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OI Prophylaxis and AHD Package - Gaining 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Cotrimoxazole and fluconazole prophylaxis, CD4 testing, and LAM/CRAG testing for AHD clients remained moderately prioritized.</a:t>
            </a:r>
          </a:p>
          <a:p>
            <a:pPr marL="342900" marR="0" lvl="0" indent="-342900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Integration of NCD and FP Services - ? Work in Progress</a:t>
            </a:r>
            <a:br>
              <a:rPr lang="en-US" sz="20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Interventions like cervical cancer screening, hypertension/diabetes management, and FP integration showed continued variability, with limited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1449191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18FE-02D7-8881-ED0C-F14E1A57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Overall Summative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7C64-FC1A-5199-B21B-A4328FA7E6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592682" cy="4826000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High Continuity in Core Interventions</a:t>
            </a:r>
            <a:br>
              <a:rPr lang="en-US" sz="24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4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HIV services such as ART continuity, infant prophylaxis (0–6 weeks), TB testing and treatment, and HIV testing for symptomatic individuals remain consistently prioritized (“</a:t>
            </a:r>
            <a:r>
              <a:rPr lang="en-US" sz="2400" b="0">
                <a:solidFill>
                  <a:schemeClr val="tx2"/>
                </a:solidFill>
              </a:rPr>
              <a:t>Keep (No Change)” </a:t>
            </a:r>
            <a:r>
              <a:rPr lang="en-US" sz="24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across most countries).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Selective </a:t>
            </a:r>
            <a:r>
              <a:rPr lang="en-US" sz="2400" b="1" kern="100" err="1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Deprioritization</a:t>
            </a:r>
            <a:r>
              <a:rPr lang="en-US" sz="2400" b="1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and Refinement</a:t>
            </a:r>
            <a:br>
              <a:rPr lang="en-US" sz="240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4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Several interventions saw a shift from “Keep” to “Drop” or “Not Applicable” between July-September and October-November, particularly: Community-based services (e.g., community condom distribution, virtual </a:t>
            </a:r>
            <a:r>
              <a:rPr lang="en-US" sz="2400" b="0" kern="100" err="1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PrEP</a:t>
            </a:r>
            <a:r>
              <a:rPr lang="en-US" sz="2400" b="0" kern="10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refills).</a:t>
            </a:r>
          </a:p>
        </p:txBody>
      </p:sp>
    </p:spTree>
    <p:extLst>
      <p:ext uri="{BB962C8B-B14F-4D97-AF65-F5344CB8AC3E}">
        <p14:creationId xmlns:p14="http://schemas.microsoft.com/office/powerpoint/2010/main" val="329503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3C4D79-29DB-1770-BFD2-CF3F91C102BD}"/>
              </a:ext>
            </a:extLst>
          </p:cNvPr>
          <p:cNvSpPr/>
          <p:nvPr/>
        </p:nvSpPr>
        <p:spPr>
          <a:xfrm>
            <a:off x="0" y="5915025"/>
            <a:ext cx="12192000" cy="942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710CE2-5328-62A9-A4E9-71587BC3807C}"/>
              </a:ext>
            </a:extLst>
          </p:cNvPr>
          <p:cNvSpPr/>
          <p:nvPr/>
        </p:nvSpPr>
        <p:spPr>
          <a:xfrm>
            <a:off x="0" y="1365707"/>
            <a:ext cx="4099342" cy="5492293"/>
          </a:xfrm>
          <a:prstGeom prst="rect">
            <a:avLst/>
          </a:prstGeom>
          <a:solidFill>
            <a:srgbClr val="DAE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EC7D0-CDC9-EA4A-0EA0-4A754C90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CQUIN Tools in Support of Country Response</a:t>
            </a:r>
          </a:p>
        </p:txBody>
      </p:sp>
      <p:pic>
        <p:nvPicPr>
          <p:cNvPr id="3074" name="Picture 1">
            <a:extLst>
              <a:ext uri="{FF2B5EF4-FFF2-40B4-BE49-F238E27FC236}">
                <a16:creationId xmlns:a16="http://schemas.microsoft.com/office/drawing/2014/main" id="{65686B45-8BBF-6E08-1F2B-1F4239FABA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" t="1402" r="1127" b="19460"/>
          <a:stretch>
            <a:fillRect/>
          </a:stretch>
        </p:blipFill>
        <p:spPr bwMode="auto">
          <a:xfrm>
            <a:off x="4453599" y="1850828"/>
            <a:ext cx="3158930" cy="23115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95F03-A6BE-4011-D24B-924E0C11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85" y="1850827"/>
            <a:ext cx="3349107" cy="2310380"/>
          </a:xfrm>
          <a:prstGeom prst="rect">
            <a:avLst/>
          </a:prstGeom>
          <a:ln w="3175">
            <a:solidFill>
              <a:srgbClr val="022169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F649A8-E04A-6125-D747-145D45F9A1D8}"/>
              </a:ext>
            </a:extLst>
          </p:cNvPr>
          <p:cNvSpPr txBox="1"/>
          <p:nvPr/>
        </p:nvSpPr>
        <p:spPr>
          <a:xfrm>
            <a:off x="430485" y="1543050"/>
            <a:ext cx="3349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CQUIN Modified TIER Tool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0B47C-AB2E-9CBE-372F-1373E56EEA9A}"/>
              </a:ext>
            </a:extLst>
          </p:cNvPr>
          <p:cNvSpPr txBox="1"/>
          <p:nvPr/>
        </p:nvSpPr>
        <p:spPr>
          <a:xfrm>
            <a:off x="4453599" y="1327607"/>
            <a:ext cx="3158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CQUIN National M&amp;E System Vulnerabilities Assessment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793ECE-B55E-05F2-B4C4-5EF696E1EF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91" b="4426"/>
          <a:stretch>
            <a:fillRect/>
          </a:stretch>
        </p:blipFill>
        <p:spPr>
          <a:xfrm>
            <a:off x="8782049" y="4683209"/>
            <a:ext cx="2419351" cy="2077196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0C2AA7-B0A8-CEB2-82BD-8AE27D8A8902}"/>
              </a:ext>
            </a:extLst>
          </p:cNvPr>
          <p:cNvSpPr txBox="1"/>
          <p:nvPr/>
        </p:nvSpPr>
        <p:spPr>
          <a:xfrm>
            <a:off x="8243887" y="1330021"/>
            <a:ext cx="34956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HIV Program Minimum Package Service Quality Assessment Toolkit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23A9B3-72E5-7821-0C89-13BDC11E7F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32"/>
          <a:stretch>
            <a:fillRect/>
          </a:stretch>
        </p:blipFill>
        <p:spPr>
          <a:xfrm>
            <a:off x="8243887" y="1849609"/>
            <a:ext cx="3495676" cy="2311598"/>
          </a:xfrm>
          <a:prstGeom prst="rect">
            <a:avLst/>
          </a:prstGeom>
        </p:spPr>
      </p:pic>
      <p:pic>
        <p:nvPicPr>
          <p:cNvPr id="15" name="Picture 14" descr="A close-up of a document&#10;&#10;AI-generated content may be incorrect.">
            <a:extLst>
              <a:ext uri="{FF2B5EF4-FFF2-40B4-BE49-F238E27FC236}">
                <a16:creationId xmlns:a16="http://schemas.microsoft.com/office/drawing/2014/main" id="{6830F61B-EA1E-01E2-22D8-3A7C623BE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203" y="4580229"/>
            <a:ext cx="3484196" cy="201646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04F82E-AC79-3150-29DD-43BA70AC0D61}"/>
              </a:ext>
            </a:extLst>
          </p:cNvPr>
          <p:cNvSpPr txBox="1"/>
          <p:nvPr/>
        </p:nvSpPr>
        <p:spPr>
          <a:xfrm>
            <a:off x="8243887" y="4161207"/>
            <a:ext cx="3495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Population Friendly Services Quality Management Toolkit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262890-B528-B2A7-855B-06AEC01899F9}"/>
              </a:ext>
            </a:extLst>
          </p:cNvPr>
          <p:cNvSpPr txBox="1"/>
          <p:nvPr/>
        </p:nvSpPr>
        <p:spPr>
          <a:xfrm>
            <a:off x="4453599" y="4217439"/>
            <a:ext cx="3158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CQUIN Services Integration CMM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8F3166-2071-23AD-690F-1523B98E6320}"/>
              </a:ext>
            </a:extLst>
          </p:cNvPr>
          <p:cNvSpPr txBox="1"/>
          <p:nvPr/>
        </p:nvSpPr>
        <p:spPr>
          <a:xfrm>
            <a:off x="429008" y="4217438"/>
            <a:ext cx="3349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CQUIN M&amp;E Indicator Prioritization Tool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F69FD43-CE22-9CA7-CEF1-124ABBC7F23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3913"/>
          <a:stretch>
            <a:fillRect/>
          </a:stretch>
        </p:blipFill>
        <p:spPr>
          <a:xfrm>
            <a:off x="452437" y="4529252"/>
            <a:ext cx="3345109" cy="2174506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86839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87E6-20B7-3B40-8B79-6F224530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CQUIN Cross Cutting Themes</a:t>
            </a:r>
          </a:p>
        </p:txBody>
      </p:sp>
      <p:pic>
        <p:nvPicPr>
          <p:cNvPr id="7" name="Picture 6" descr="A puzzle with text on it&#10;&#10;AI-generated content may be incorrect.">
            <a:extLst>
              <a:ext uri="{FF2B5EF4-FFF2-40B4-BE49-F238E27FC236}">
                <a16:creationId xmlns:a16="http://schemas.microsoft.com/office/drawing/2014/main" id="{969D971F-4C4B-8E9E-3602-D4D10E7D1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4258" t="27639" r="13611" b="16250"/>
          <a:stretch>
            <a:fillRect/>
          </a:stretch>
        </p:blipFill>
        <p:spPr>
          <a:xfrm>
            <a:off x="1964317" y="1571624"/>
            <a:ext cx="9294233" cy="4233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6A28880-0218-EC14-4D53-17BD46DD5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B13B5C34-C53F-0220-D8E7-3F51331E7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743" y="837711"/>
            <a:ext cx="6927362" cy="28575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5790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A6CC-8F27-C17E-3E62-C990142E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B01CBD-0A27-1FD0-4EBD-F28771FB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422" y="485776"/>
            <a:ext cx="10273225" cy="761999"/>
          </a:xfrm>
        </p:spPr>
        <p:txBody>
          <a:bodyPr>
            <a:normAutofit/>
          </a:bodyPr>
          <a:lstStyle/>
          <a:p>
            <a:r>
              <a:rPr lang="en-US"/>
              <a:t>Outline</a:t>
            </a:r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ED39D62-67E1-3963-713B-A33F922665B9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1982615" y="1303283"/>
            <a:ext cx="8850485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0"/>
              <a:t>Country HIV monitoring and evaluation (M&amp;E) indicator prioritization 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0"/>
              <a:t>Country national health management information system (HMIS) data, 2024-25 </a:t>
            </a:r>
          </a:p>
          <a:p>
            <a:pPr marL="120015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0"/>
              <a:t>Patterns suggesting program disruptions and impacts 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0"/>
              <a:t>CQUIN national M&amp;E system vulnerabilities assessment</a:t>
            </a:r>
          </a:p>
        </p:txBody>
      </p:sp>
    </p:spTree>
    <p:extLst>
      <p:ext uri="{BB962C8B-B14F-4D97-AF65-F5344CB8AC3E}">
        <p14:creationId xmlns:p14="http://schemas.microsoft.com/office/powerpoint/2010/main" val="641654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DABE-4538-3F8D-00ED-080505C5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469" y="2528137"/>
            <a:ext cx="7321061" cy="90086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Country priority HIV indicators</a:t>
            </a:r>
          </a:p>
        </p:txBody>
      </p:sp>
    </p:spTree>
    <p:extLst>
      <p:ext uri="{BB962C8B-B14F-4D97-AF65-F5344CB8AC3E}">
        <p14:creationId xmlns:p14="http://schemas.microsoft.com/office/powerpoint/2010/main" val="2340479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8E58-D4E1-487C-812C-033B0CD2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17" y="731523"/>
            <a:ext cx="3076575" cy="286892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/>
              <a:t>25 HIV indicators considered by CQUIN countries for prioritization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0035A7-8EF6-D165-D15E-0B646EE8016A}"/>
              </a:ext>
            </a:extLst>
          </p:cNvPr>
          <p:cNvGraphicFramePr>
            <a:graphicFrameLocks noGrp="1"/>
          </p:cNvGraphicFramePr>
          <p:nvPr/>
        </p:nvGraphicFramePr>
        <p:xfrm>
          <a:off x="3495675" y="57153"/>
          <a:ext cx="8446508" cy="6080754"/>
        </p:xfrm>
        <a:graphic>
          <a:graphicData uri="http://schemas.openxmlformats.org/drawingml/2006/table">
            <a:tbl>
              <a:tblPr/>
              <a:tblGrid>
                <a:gridCol w="1384951">
                  <a:extLst>
                    <a:ext uri="{9D8B030D-6E8A-4147-A177-3AD203B41FA5}">
                      <a16:colId xmlns:a16="http://schemas.microsoft.com/office/drawing/2014/main" val="3647626800"/>
                    </a:ext>
                  </a:extLst>
                </a:gridCol>
                <a:gridCol w="7061557">
                  <a:extLst>
                    <a:ext uri="{9D8B030D-6E8A-4147-A177-3AD203B41FA5}">
                      <a16:colId xmlns:a16="http://schemas.microsoft.com/office/drawing/2014/main" val="3464719656"/>
                    </a:ext>
                  </a:extLst>
                </a:gridCol>
              </a:tblGrid>
              <a:tr h="87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 Area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Indicator</a:t>
                      </a:r>
                    </a:p>
                  </a:txBody>
                  <a:tcPr marL="4689" marR="4689" marT="46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718793"/>
                  </a:ext>
                </a:extLst>
              </a:tr>
              <a:tr h="184752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70C0"/>
                          </a:solidFill>
                          <a:effectLst/>
                          <a:latin typeface="Aptos Narrow" panose="020B0004020202020204" pitchFamily="34" charset="0"/>
                        </a:rPr>
                        <a:t>HIV testing services (HTS)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tested for HIV and received the result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46991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tested HIV positive and received the result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325108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tested for HIV and received the result , by modality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327962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tested HIV positive and received the result , by modality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357251"/>
                  </a:ext>
                </a:extLst>
              </a:tr>
              <a:tr h="94721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70C0"/>
                          </a:solidFill>
                          <a:effectLst/>
                          <a:latin typeface="Aptos Narrow" panose="020B0004020202020204" pitchFamily="34" charset="0"/>
                        </a:rPr>
                        <a:t>ART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who initiated ART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480349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who initiated ART , disaggregated by CD4 +/- 200 cells/µL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2991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currently on ART - disaggregated by MMD (&lt;3, 3-5, 6+mo)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982718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on ART who experienced interruption in treatment this month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285613"/>
                  </a:ext>
                </a:extLst>
              </a:tr>
              <a:tr h="947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on ART who died this month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290160"/>
                  </a:ext>
                </a:extLst>
              </a:tr>
              <a:tr h="94721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70C0"/>
                          </a:solidFill>
                          <a:effectLst/>
                          <a:latin typeface="Aptos Narrow" panose="020B0004020202020204" pitchFamily="34" charset="0"/>
                        </a:rPr>
                        <a:t>Viral load (VL)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VL results received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100660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VL results &lt;1000 copies/ml received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46636"/>
                  </a:ext>
                </a:extLst>
              </a:tr>
              <a:tr h="18475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70C0"/>
                          </a:solidFill>
                          <a:effectLst/>
                          <a:latin typeface="Aptos Narrow" panose="020B0004020202020204" pitchFamily="34" charset="0"/>
                        </a:rPr>
                        <a:t>TB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new on ART who were diagnosed with active TB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27781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new on ART who screened negative and initiated TPT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747876"/>
                  </a:ext>
                </a:extLst>
              </a:tr>
              <a:tr h="1532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of people new on ART who completed TPT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73065"/>
                  </a:ext>
                </a:extLst>
              </a:tr>
              <a:tr h="947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70C0"/>
                          </a:solidFill>
                          <a:effectLst/>
                          <a:latin typeface="Aptos Narrow" panose="020B0004020202020204" pitchFamily="34" charset="0"/>
                        </a:rPr>
                        <a:t>HIV Prevention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initiating PrEP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381229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receiving PrEP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210172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received post-exposure prophylaxis (PEP) this month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737827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people received condoms this month (by HIV status)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631200"/>
                  </a:ext>
                </a:extLst>
              </a:tr>
              <a:tr h="184752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70C0"/>
                          </a:solidFill>
                          <a:effectLst/>
                          <a:latin typeface="Aptos Narrow" panose="020B0004020202020204" pitchFamily="34" charset="0"/>
                        </a:rPr>
                        <a:t>Vertical transmission prevention (VTP)</a:t>
                      </a:r>
                    </a:p>
                  </a:txBody>
                  <a:tcPr marL="4689" marR="4689" marT="46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pregnant women attending first ANC visit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5547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pregnant women attending first ANC visit tested for HIV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129217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pregnant women attending first ANC visit tested HIV positive 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697345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pregnant women attending first ANC visit  already known to be HIV-positive</a:t>
                      </a:r>
                    </a:p>
                  </a:txBody>
                  <a:tcPr marL="4689" marR="4689" marT="46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40829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HIV-exposed infants receiving a first virological HIV test &lt; 2 months of age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028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Final HIV status of infants at 18 months or cessation of BF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909358"/>
                  </a:ext>
                </a:extLst>
              </a:tr>
              <a:tr h="184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No. HIV-exposed infants who were started on ARV prophylaxis at birth</a:t>
                      </a:r>
                    </a:p>
                  </a:txBody>
                  <a:tcPr marL="4689" marR="4689" marT="46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740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475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58B6-2863-DC2D-6A7F-93A73BFA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A2AFB-FFD6-99F7-B78F-8928ABB65C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0" t="22947" r="55455" b="8148"/>
          <a:stretch>
            <a:fillRect/>
          </a:stretch>
        </p:blipFill>
        <p:spPr>
          <a:xfrm>
            <a:off x="7586519" y="5927724"/>
            <a:ext cx="1233316" cy="819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6F3355-68FD-4A45-CB41-F11F90704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651" y="376094"/>
            <a:ext cx="10297962" cy="550621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5BB549B-633A-57C5-339D-9D7E7489589A}"/>
              </a:ext>
            </a:extLst>
          </p:cNvPr>
          <p:cNvSpPr txBox="1">
            <a:spLocks/>
          </p:cNvSpPr>
          <p:nvPr/>
        </p:nvSpPr>
        <p:spPr>
          <a:xfrm>
            <a:off x="2886157" y="-28575"/>
            <a:ext cx="9144456" cy="838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22169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169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/>
              </a:rPr>
              <a:t>Indicator prioritization, by funding scenario and country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D943A9-E250-CB2C-EA3C-D1B7D0589650}"/>
              </a:ext>
            </a:extLst>
          </p:cNvPr>
          <p:cNvSpPr/>
          <p:nvPr/>
        </p:nvSpPr>
        <p:spPr>
          <a:xfrm>
            <a:off x="2479962" y="1484417"/>
            <a:ext cx="845125" cy="231651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BD85B3-F978-E0FA-2F7D-03383CD83B25}"/>
              </a:ext>
            </a:extLst>
          </p:cNvPr>
          <p:cNvSpPr/>
          <p:nvPr/>
        </p:nvSpPr>
        <p:spPr>
          <a:xfrm>
            <a:off x="2479963" y="2384956"/>
            <a:ext cx="643247" cy="231651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1A4883-FE3E-B688-EEAA-A0BBE3A7946D}"/>
              </a:ext>
            </a:extLst>
          </p:cNvPr>
          <p:cNvSpPr txBox="1"/>
          <p:nvPr/>
        </p:nvSpPr>
        <p:spPr>
          <a:xfrm>
            <a:off x="281599" y="2505670"/>
            <a:ext cx="1606401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PEPFAR MOU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HIV services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indicators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3C6831-71C8-718C-E650-F7FAB9E8981B}"/>
              </a:ext>
            </a:extLst>
          </p:cNvPr>
          <p:cNvSpPr txBox="1"/>
          <p:nvPr/>
        </p:nvSpPr>
        <p:spPr>
          <a:xfrm>
            <a:off x="162567" y="5688348"/>
            <a:ext cx="1678216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PEPFAR MOU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pop-level HIV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indicators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A3086B-6076-16FD-EFC8-14E55186168B}"/>
              </a:ext>
            </a:extLst>
          </p:cNvPr>
          <p:cNvSpPr txBox="1"/>
          <p:nvPr/>
        </p:nvSpPr>
        <p:spPr>
          <a:xfrm>
            <a:off x="2226426" y="5904869"/>
            <a:ext cx="283859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95-95-95,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of PBFW with HIV on ART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1CF0BE-DACE-8567-797D-BA9269903A61}"/>
              </a:ext>
            </a:extLst>
          </p:cNvPr>
          <p:cNvCxnSpPr/>
          <p:nvPr/>
        </p:nvCxnSpPr>
        <p:spPr>
          <a:xfrm>
            <a:off x="1818206" y="6185638"/>
            <a:ext cx="50935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5B04B24-0443-21A2-AD53-72B28BF6F546}"/>
              </a:ext>
            </a:extLst>
          </p:cNvPr>
          <p:cNvSpPr/>
          <p:nvPr/>
        </p:nvSpPr>
        <p:spPr>
          <a:xfrm>
            <a:off x="2479963" y="5497517"/>
            <a:ext cx="1165762" cy="170936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22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12F41-64D3-6FAA-D0C6-28AEC9A2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6760-754C-22E9-DA34-AB97D854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E895D1-EDDB-A13A-D97C-1B6A7FA48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0" t="22947" r="55455" b="8148"/>
          <a:stretch>
            <a:fillRect/>
          </a:stretch>
        </p:blipFill>
        <p:spPr>
          <a:xfrm>
            <a:off x="7586519" y="5927724"/>
            <a:ext cx="1233316" cy="819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B53F2D-1CF0-A7B0-3D78-1E6F5F44F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651" y="376094"/>
            <a:ext cx="10297962" cy="550621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B2A9805-E3E1-689D-1E32-2D5AA3FC1480}"/>
              </a:ext>
            </a:extLst>
          </p:cNvPr>
          <p:cNvSpPr txBox="1">
            <a:spLocks/>
          </p:cNvSpPr>
          <p:nvPr/>
        </p:nvSpPr>
        <p:spPr>
          <a:xfrm>
            <a:off x="2475359" y="-28575"/>
            <a:ext cx="9555254" cy="838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22169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22169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/>
              </a:rPr>
              <a:t>CQUIN-requested national HMIS indicators – Jan ’24 - current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6A2E00-4300-AEAF-46B1-36237321B999}"/>
              </a:ext>
            </a:extLst>
          </p:cNvPr>
          <p:cNvSpPr/>
          <p:nvPr/>
        </p:nvSpPr>
        <p:spPr>
          <a:xfrm>
            <a:off x="2479962" y="1484417"/>
            <a:ext cx="845125" cy="231651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96AE2-8FBC-9B3A-2031-4A8AE5E7BA2A}"/>
              </a:ext>
            </a:extLst>
          </p:cNvPr>
          <p:cNvSpPr/>
          <p:nvPr/>
        </p:nvSpPr>
        <p:spPr>
          <a:xfrm>
            <a:off x="2479963" y="2384956"/>
            <a:ext cx="643247" cy="231651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DF93A-2BC7-E2E4-865E-EFEE775377D8}"/>
              </a:ext>
            </a:extLst>
          </p:cNvPr>
          <p:cNvSpPr txBox="1"/>
          <p:nvPr/>
        </p:nvSpPr>
        <p:spPr>
          <a:xfrm>
            <a:off x="281599" y="2505670"/>
            <a:ext cx="1606401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PEPFAR MOU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HIV services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99FEAF-3046-0F03-985D-4A1A970233ED}"/>
              </a:ext>
            </a:extLst>
          </p:cNvPr>
          <p:cNvSpPr/>
          <p:nvPr/>
        </p:nvSpPr>
        <p:spPr>
          <a:xfrm>
            <a:off x="2479963" y="5497517"/>
            <a:ext cx="1165762" cy="170936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B45E9-1B85-85BA-4A83-1D0324FB9FCC}"/>
              </a:ext>
            </a:extLst>
          </p:cNvPr>
          <p:cNvSpPr txBox="1"/>
          <p:nvPr/>
        </p:nvSpPr>
        <p:spPr>
          <a:xfrm>
            <a:off x="162567" y="5688348"/>
            <a:ext cx="1678216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PEPFAR MOU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pop-level HIV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indicators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5B142B-EFB1-3501-A2CE-DC7EBC45CB13}"/>
              </a:ext>
            </a:extLst>
          </p:cNvPr>
          <p:cNvSpPr txBox="1"/>
          <p:nvPr/>
        </p:nvSpPr>
        <p:spPr>
          <a:xfrm>
            <a:off x="2226426" y="5904869"/>
            <a:ext cx="283859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95-95-95,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of PBFW with HIV on ART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AF4AE5-C81B-4836-E6B0-9E428B80EE2E}"/>
              </a:ext>
            </a:extLst>
          </p:cNvPr>
          <p:cNvCxnSpPr/>
          <p:nvPr/>
        </p:nvCxnSpPr>
        <p:spPr>
          <a:xfrm>
            <a:off x="1818206" y="6185638"/>
            <a:ext cx="50935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85EFDF41-69E2-8280-FEEC-8432B97629DF}"/>
              </a:ext>
            </a:extLst>
          </p:cNvPr>
          <p:cNvSpPr/>
          <p:nvPr/>
        </p:nvSpPr>
        <p:spPr>
          <a:xfrm>
            <a:off x="2072885" y="20717"/>
            <a:ext cx="402474" cy="389563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D3F9C2F6-0260-D42C-FE56-22BF59B2511A}"/>
              </a:ext>
            </a:extLst>
          </p:cNvPr>
          <p:cNvSpPr/>
          <p:nvPr/>
        </p:nvSpPr>
        <p:spPr>
          <a:xfrm>
            <a:off x="2286000" y="1296557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AB91A65A-BA30-AEAF-E039-CD4EEC96DC4B}"/>
              </a:ext>
            </a:extLst>
          </p:cNvPr>
          <p:cNvSpPr/>
          <p:nvPr/>
        </p:nvSpPr>
        <p:spPr>
          <a:xfrm>
            <a:off x="2286000" y="1479337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7B01B159-B023-EC1D-34DB-B3AA2440B475}"/>
              </a:ext>
            </a:extLst>
          </p:cNvPr>
          <p:cNvSpPr/>
          <p:nvPr/>
        </p:nvSpPr>
        <p:spPr>
          <a:xfrm>
            <a:off x="2289592" y="2037624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0A8CA2DB-61A0-5C85-DBC4-A7E7C96AAEC9}"/>
              </a:ext>
            </a:extLst>
          </p:cNvPr>
          <p:cNvSpPr/>
          <p:nvPr/>
        </p:nvSpPr>
        <p:spPr>
          <a:xfrm>
            <a:off x="2303879" y="2397307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A28FD05E-1ACB-2546-04B0-140C8CABCB9C}"/>
              </a:ext>
            </a:extLst>
          </p:cNvPr>
          <p:cNvSpPr/>
          <p:nvPr/>
        </p:nvSpPr>
        <p:spPr>
          <a:xfrm>
            <a:off x="2333755" y="2931568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29633AB-DCC7-5D41-0B84-E4BE57BAE988}"/>
              </a:ext>
            </a:extLst>
          </p:cNvPr>
          <p:cNvSpPr/>
          <p:nvPr/>
        </p:nvSpPr>
        <p:spPr>
          <a:xfrm>
            <a:off x="2333755" y="3095644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FE7CCB49-552A-13E3-9FC4-6D3816144146}"/>
              </a:ext>
            </a:extLst>
          </p:cNvPr>
          <p:cNvSpPr/>
          <p:nvPr/>
        </p:nvSpPr>
        <p:spPr>
          <a:xfrm>
            <a:off x="2333755" y="3302592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136B9550-A4C9-65A3-FB9B-9D5A82C6969A}"/>
              </a:ext>
            </a:extLst>
          </p:cNvPr>
          <p:cNvSpPr/>
          <p:nvPr/>
        </p:nvSpPr>
        <p:spPr>
          <a:xfrm>
            <a:off x="2338170" y="3486383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AA6E4D7-7B19-B12F-0E06-4871F8936D45}"/>
              </a:ext>
            </a:extLst>
          </p:cNvPr>
          <p:cNvSpPr/>
          <p:nvPr/>
        </p:nvSpPr>
        <p:spPr>
          <a:xfrm>
            <a:off x="2333755" y="3662417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23B11B33-EDE3-F56A-211F-6BDCC35D6F9D}"/>
              </a:ext>
            </a:extLst>
          </p:cNvPr>
          <p:cNvSpPr/>
          <p:nvPr/>
        </p:nvSpPr>
        <p:spPr>
          <a:xfrm>
            <a:off x="2338170" y="3845197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D8E59FD6-9A2C-9E66-B4C0-1F86507192E9}"/>
              </a:ext>
            </a:extLst>
          </p:cNvPr>
          <p:cNvSpPr/>
          <p:nvPr/>
        </p:nvSpPr>
        <p:spPr>
          <a:xfrm>
            <a:off x="2338170" y="4021231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7C7454B2-C226-E561-A3FB-7F0C782A3053}"/>
              </a:ext>
            </a:extLst>
          </p:cNvPr>
          <p:cNvSpPr/>
          <p:nvPr/>
        </p:nvSpPr>
        <p:spPr>
          <a:xfrm>
            <a:off x="2338170" y="4741367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0F294279-FD4A-8AEE-AFBA-CA70C8ED2E75}"/>
              </a:ext>
            </a:extLst>
          </p:cNvPr>
          <p:cNvSpPr/>
          <p:nvPr/>
        </p:nvSpPr>
        <p:spPr>
          <a:xfrm>
            <a:off x="2338170" y="4918899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ABFD2D53-0E52-A642-7324-0F783815DD66}"/>
              </a:ext>
            </a:extLst>
          </p:cNvPr>
          <p:cNvSpPr/>
          <p:nvPr/>
        </p:nvSpPr>
        <p:spPr>
          <a:xfrm>
            <a:off x="2338170" y="5090480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D33EA242-DE9D-C2DF-2965-C2BA7294FCC9}"/>
              </a:ext>
            </a:extLst>
          </p:cNvPr>
          <p:cNvSpPr/>
          <p:nvPr/>
        </p:nvSpPr>
        <p:spPr>
          <a:xfrm>
            <a:off x="2338170" y="5268012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3EDFF6C9-1BB8-CAE1-C9D2-B7B54C4E563A}"/>
              </a:ext>
            </a:extLst>
          </p:cNvPr>
          <p:cNvSpPr/>
          <p:nvPr/>
        </p:nvSpPr>
        <p:spPr>
          <a:xfrm>
            <a:off x="2303879" y="5641919"/>
            <a:ext cx="193962" cy="206948"/>
          </a:xfrm>
          <a:prstGeom prst="star5">
            <a:avLst/>
          </a:prstGeom>
          <a:solidFill>
            <a:srgbClr val="00B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6D8930-5630-75AC-9F2D-E10779D66DA3}"/>
              </a:ext>
            </a:extLst>
          </p:cNvPr>
          <p:cNvCxnSpPr/>
          <p:nvPr/>
        </p:nvCxnSpPr>
        <p:spPr>
          <a:xfrm>
            <a:off x="2730500" y="3403600"/>
            <a:ext cx="594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6197E01-B390-15C9-E77C-B35B712150CD}"/>
              </a:ext>
            </a:extLst>
          </p:cNvPr>
          <p:cNvSpPr txBox="1"/>
          <p:nvPr/>
        </p:nvSpPr>
        <p:spPr>
          <a:xfrm>
            <a:off x="3259924" y="3262305"/>
            <a:ext cx="1059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screened pos.</a:t>
            </a:r>
          </a:p>
        </p:txBody>
      </p:sp>
    </p:spTree>
    <p:extLst>
      <p:ext uri="{BB962C8B-B14F-4D97-AF65-F5344CB8AC3E}">
        <p14:creationId xmlns:p14="http://schemas.microsoft.com/office/powerpoint/2010/main" val="2077066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4D151-BA45-1DB8-9746-F495A38E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5D97-B8C3-9ED3-15D3-325C01E7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469" y="2423362"/>
            <a:ext cx="7321061" cy="90086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Country national HMIS data, 2024-25 </a:t>
            </a:r>
          </a:p>
        </p:txBody>
      </p:sp>
    </p:spTree>
    <p:extLst>
      <p:ext uri="{BB962C8B-B14F-4D97-AF65-F5344CB8AC3E}">
        <p14:creationId xmlns:p14="http://schemas.microsoft.com/office/powerpoint/2010/main" val="3105784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4C2850-C860-E8D9-7EF1-33574F00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220318"/>
            <a:ext cx="10515596" cy="615361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accent1">
                    <a:lumMod val="20000"/>
                    <a:lumOff val="80000"/>
                  </a:schemeClr>
                </a:solidFill>
              </a:rPr>
              <a:t>Example: </a:t>
            </a:r>
            <a:r>
              <a:rPr lang="en-US"/>
              <a:t>Number of people tested for HIV, Jan 2024-Aug 2025</a:t>
            </a:r>
            <a:br>
              <a:rPr lang="en-US"/>
            </a:br>
            <a:r>
              <a:rPr lang="en-US" sz="2200"/>
              <a:t>4 countries, Western/West-Central region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405B9-0747-3641-D6DA-01317E546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331031"/>
            <a:ext cx="9031567" cy="4488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969010-14BD-3EDA-818D-BCD48E56EA48}"/>
              </a:ext>
            </a:extLst>
          </p:cNvPr>
          <p:cNvSpPr txBox="1"/>
          <p:nvPr/>
        </p:nvSpPr>
        <p:spPr>
          <a:xfrm>
            <a:off x="9426705" y="2285464"/>
            <a:ext cx="2612895" cy="1938992"/>
          </a:xfrm>
          <a:prstGeom prst="rect">
            <a:avLst/>
          </a:prstGeom>
          <a:solidFill>
            <a:srgbClr val="022069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of the four countries reported clearly visible declines in HIV testing in 2025</a:t>
            </a:r>
          </a:p>
        </p:txBody>
      </p:sp>
    </p:spTree>
    <p:extLst>
      <p:ext uri="{BB962C8B-B14F-4D97-AF65-F5344CB8AC3E}">
        <p14:creationId xmlns:p14="http://schemas.microsoft.com/office/powerpoint/2010/main" val="150177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E15069-4A5E-C1E1-BBD0-231B46E2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AF1-BBDD-5C45-BD8A-357304E54C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FD25C6-FDBC-8AA5-37DF-1DD6F548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09" y="195525"/>
            <a:ext cx="11620982" cy="615361"/>
          </a:xfrm>
        </p:spPr>
        <p:txBody>
          <a:bodyPr>
            <a:noAutofit/>
          </a:bodyPr>
          <a:lstStyle/>
          <a:p>
            <a:pPr algn="ctr"/>
            <a:r>
              <a:rPr lang="en-US" sz="2300"/>
              <a:t>% change in HIV services: 2025 vs. overall 2024 monthly means, 19 countries</a:t>
            </a:r>
            <a:br>
              <a:rPr lang="en-US" sz="2300"/>
            </a:br>
            <a:r>
              <a:rPr lang="en-US" sz="2000">
                <a:solidFill>
                  <a:schemeClr val="accent1">
                    <a:lumMod val="40000"/>
                    <a:lumOff val="60000"/>
                  </a:schemeClr>
                </a:solidFill>
              </a:rPr>
              <a:t>= (monthly #) / (overall mean monthly #, 2024)</a:t>
            </a:r>
            <a:endParaRPr lang="en-US" sz="230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3F34E3-4D75-6EFB-6264-0C3448138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470" y="4525893"/>
            <a:ext cx="2897714" cy="22547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E907BC-5DAF-54F7-DE53-1CED06ADA5FC}"/>
              </a:ext>
            </a:extLst>
          </p:cNvPr>
          <p:cNvSpPr txBox="1"/>
          <p:nvPr/>
        </p:nvSpPr>
        <p:spPr>
          <a:xfrm>
            <a:off x="473002" y="1041131"/>
            <a:ext cx="2080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receiving HIV testing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F2E58-5AD0-BB9E-6EC6-B6B50CEA385E}"/>
              </a:ext>
            </a:extLst>
          </p:cNvPr>
          <p:cNvSpPr txBox="1"/>
          <p:nvPr/>
        </p:nvSpPr>
        <p:spPr>
          <a:xfrm>
            <a:off x="3702595" y="1058008"/>
            <a:ext cx="1351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new on 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A4CA09-560C-A853-A2BD-47BE7FAC41FF}"/>
              </a:ext>
            </a:extLst>
          </p:cNvPr>
          <p:cNvSpPr txBox="1"/>
          <p:nvPr/>
        </p:nvSpPr>
        <p:spPr>
          <a:xfrm>
            <a:off x="6406435" y="1090434"/>
            <a:ext cx="1925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received VL 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CD5E3E-658F-5B4E-9F7B-6BE08C0E32B3}"/>
              </a:ext>
            </a:extLst>
          </p:cNvPr>
          <p:cNvSpPr txBox="1"/>
          <p:nvPr/>
        </p:nvSpPr>
        <p:spPr>
          <a:xfrm>
            <a:off x="6432144" y="3788852"/>
            <a:ext cx="1403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new on PrEP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501B82-4E38-13F2-FBD5-A04BA505A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154" y="1357389"/>
            <a:ext cx="2726544" cy="3107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7E5C20-77D8-D4B7-1BE7-F5EABD4C4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33" y="1379685"/>
            <a:ext cx="2692250" cy="3211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29DAD1-551E-51B3-03A6-2926A1F6B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616" y="1396562"/>
            <a:ext cx="2726544" cy="23671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5F846DC-466E-648F-627B-8CE3D46F9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6321" y="4069803"/>
            <a:ext cx="2745625" cy="236711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1482763-709E-9E96-975D-BC96A6981EB5}"/>
              </a:ext>
            </a:extLst>
          </p:cNvPr>
          <p:cNvSpPr txBox="1"/>
          <p:nvPr/>
        </p:nvSpPr>
        <p:spPr>
          <a:xfrm>
            <a:off x="2130467" y="4764648"/>
            <a:ext cx="3471794" cy="1323439"/>
          </a:xfrm>
          <a:prstGeom prst="rect">
            <a:avLst/>
          </a:prstGeom>
          <a:solidFill>
            <a:srgbClr val="022069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20% reductions in volume of HTS, ART initiations, VL testing, and PrEP initiations in many countries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9C3D3-24D9-86FA-4704-4B3EC67E3961}"/>
              </a:ext>
            </a:extLst>
          </p:cNvPr>
          <p:cNvSpPr txBox="1"/>
          <p:nvPr/>
        </p:nvSpPr>
        <p:spPr>
          <a:xfrm>
            <a:off x="9592039" y="1090434"/>
            <a:ext cx="1733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with VL &lt; 1000*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D4AC2-D7CA-22AF-1424-D4C23D46F8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2979" y="1383993"/>
            <a:ext cx="2796558" cy="2366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55613-31C4-A64D-0879-948B29D056B9}"/>
              </a:ext>
            </a:extLst>
          </p:cNvPr>
          <p:cNvSpPr txBox="1"/>
          <p:nvPr/>
        </p:nvSpPr>
        <p:spPr>
          <a:xfrm>
            <a:off x="9104887" y="3769255"/>
            <a:ext cx="2604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*Among people on ART with VL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2661B-9773-64E7-A6B4-39A6A57112F7}"/>
              </a:ext>
            </a:extLst>
          </p:cNvPr>
          <p:cNvSpPr txBox="1"/>
          <p:nvPr/>
        </p:nvSpPr>
        <p:spPr>
          <a:xfrm>
            <a:off x="8741946" y="4038379"/>
            <a:ext cx="3471794" cy="369332"/>
          </a:xfrm>
          <a:prstGeom prst="rect">
            <a:avLst/>
          </a:prstGeom>
          <a:solidFill>
            <a:srgbClr val="022069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clear change in % with VL&gt;1000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9D6101-71A5-5457-3C30-80F3CE051D3C}"/>
              </a:ext>
            </a:extLst>
          </p:cNvPr>
          <p:cNvSpPr/>
          <p:nvPr/>
        </p:nvSpPr>
        <p:spPr>
          <a:xfrm>
            <a:off x="189833" y="1524000"/>
            <a:ext cx="2726544" cy="3302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23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8A9C-4264-5EFC-FE0E-A0F2E583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D8B0E95-055E-15DA-8149-EDA6E0189723}"/>
              </a:ext>
            </a:extLst>
          </p:cNvPr>
          <p:cNvSpPr/>
          <p:nvPr/>
        </p:nvSpPr>
        <p:spPr>
          <a:xfrm>
            <a:off x="2426959" y="5955030"/>
            <a:ext cx="7563564" cy="836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231EB6-78AB-B7AE-24D2-335B5441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7805" y="6253613"/>
            <a:ext cx="1184563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AF1-BBDD-5C45-BD8A-357304E54C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813F9F-5B83-DF9A-23EC-5355C141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09" y="195525"/>
            <a:ext cx="11620982" cy="615361"/>
          </a:xfrm>
        </p:spPr>
        <p:txBody>
          <a:bodyPr>
            <a:noAutofit/>
          </a:bodyPr>
          <a:lstStyle/>
          <a:p>
            <a:pPr algn="ctr"/>
            <a:r>
              <a:rPr lang="en-US"/>
              <a:t>Unpacking reductions in </a:t>
            </a:r>
            <a:r>
              <a:rPr lang="en-US" i="1"/>
              <a:t># new on ART</a:t>
            </a:r>
            <a:r>
              <a:rPr lang="en-US"/>
              <a:t> in 2025, 19 countries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5676FC-F590-527C-66CD-701F44FFD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0" y="4921372"/>
            <a:ext cx="1836700" cy="14291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70575A-C143-D61A-BDEE-B07322CB81C1}"/>
              </a:ext>
            </a:extLst>
          </p:cNvPr>
          <p:cNvSpPr txBox="1"/>
          <p:nvPr/>
        </p:nvSpPr>
        <p:spPr>
          <a:xfrm>
            <a:off x="346646" y="1011813"/>
            <a:ext cx="20803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receiving HIV testing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E6ECE-808E-8984-E397-CB82B7D46BD3}"/>
              </a:ext>
            </a:extLst>
          </p:cNvPr>
          <p:cNvSpPr txBox="1"/>
          <p:nvPr/>
        </p:nvSpPr>
        <p:spPr>
          <a:xfrm>
            <a:off x="5424421" y="1023992"/>
            <a:ext cx="1320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tested HIV+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73BBE-EB7F-4637-A0B5-7B6C8A7A3DAE}"/>
              </a:ext>
            </a:extLst>
          </p:cNvPr>
          <p:cNvSpPr txBox="1"/>
          <p:nvPr/>
        </p:nvSpPr>
        <p:spPr>
          <a:xfrm>
            <a:off x="9990523" y="1023992"/>
            <a:ext cx="1351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new on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06EB0-AF3E-EAA0-0011-5C49455FEBDF}"/>
              </a:ext>
            </a:extLst>
          </p:cNvPr>
          <p:cNvSpPr txBox="1"/>
          <p:nvPr/>
        </p:nvSpPr>
        <p:spPr>
          <a:xfrm>
            <a:off x="3053702" y="3740529"/>
            <a:ext cx="1366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tested HIV+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7F5241-0D6C-784B-B4E3-72A384DB1D3B}"/>
              </a:ext>
            </a:extLst>
          </p:cNvPr>
          <p:cNvCxnSpPr>
            <a:cxnSpLocks/>
          </p:cNvCxnSpPr>
          <p:nvPr/>
        </p:nvCxnSpPr>
        <p:spPr>
          <a:xfrm flipH="1">
            <a:off x="8951722" y="3088794"/>
            <a:ext cx="555592" cy="47146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5A8715A-5FF4-349A-7DFA-48931BE39139}"/>
              </a:ext>
            </a:extLst>
          </p:cNvPr>
          <p:cNvSpPr txBox="1"/>
          <p:nvPr/>
        </p:nvSpPr>
        <p:spPr>
          <a:xfrm>
            <a:off x="7585947" y="3588582"/>
            <a:ext cx="1564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Proxy % linkage to ART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9EA9E1-282B-3888-A01D-55DC7D280BBE}"/>
              </a:ext>
            </a:extLst>
          </p:cNvPr>
          <p:cNvCxnSpPr>
            <a:cxnSpLocks/>
          </p:cNvCxnSpPr>
          <p:nvPr/>
        </p:nvCxnSpPr>
        <p:spPr>
          <a:xfrm>
            <a:off x="7434998" y="3056385"/>
            <a:ext cx="484020" cy="53555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DB35EB2-190E-9AE0-5F5C-4431911FC6F6}"/>
              </a:ext>
            </a:extLst>
          </p:cNvPr>
          <p:cNvSpPr txBox="1"/>
          <p:nvPr/>
        </p:nvSpPr>
        <p:spPr>
          <a:xfrm>
            <a:off x="5180467" y="4220496"/>
            <a:ext cx="1876783" cy="2554545"/>
          </a:xfrm>
          <a:prstGeom prst="rect">
            <a:avLst/>
          </a:prstGeom>
          <a:solidFill>
            <a:srgbClr val="022069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Reductions generally due to reduced testing volume and reduced % positivity (i.e.,</a:t>
            </a:r>
            <a:r>
              <a:rPr kumimoji="0" lang="en-US" sz="20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not reduced linkage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F7008BD-DC5B-2BDE-FD68-AB7C36363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768" y="1288023"/>
            <a:ext cx="2464788" cy="28095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DFBA15-4554-8DB0-DAFA-7A5DF0EA1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807" y="4089618"/>
            <a:ext cx="2407694" cy="271494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787929E-D2FF-6BE4-4699-43E704CBE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416" y="1308662"/>
            <a:ext cx="2466192" cy="280951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638C8A4-375B-1DAB-59C5-ADA41FA4F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937" y="1323711"/>
            <a:ext cx="2428091" cy="28967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A625F7A-152C-F108-9F0D-F9D50C4E67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3651" y="4115459"/>
            <a:ext cx="2385488" cy="2725475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692F9A-802C-99A5-627F-182E03692A0F}"/>
              </a:ext>
            </a:extLst>
          </p:cNvPr>
          <p:cNvCxnSpPr>
            <a:cxnSpLocks/>
          </p:cNvCxnSpPr>
          <p:nvPr/>
        </p:nvCxnSpPr>
        <p:spPr>
          <a:xfrm>
            <a:off x="2535338" y="3163065"/>
            <a:ext cx="484020" cy="53555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E89B15-0017-8095-68B0-9E2D6946D14A}"/>
              </a:ext>
            </a:extLst>
          </p:cNvPr>
          <p:cNvCxnSpPr>
            <a:cxnSpLocks/>
          </p:cNvCxnSpPr>
          <p:nvPr/>
        </p:nvCxnSpPr>
        <p:spPr>
          <a:xfrm flipH="1">
            <a:off x="4303522" y="3206904"/>
            <a:ext cx="555592" cy="47146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992FDCF-2A5C-96D3-C2B9-62354F63B670}"/>
              </a:ext>
            </a:extLst>
          </p:cNvPr>
          <p:cNvSpPr/>
          <p:nvPr/>
        </p:nvSpPr>
        <p:spPr>
          <a:xfrm>
            <a:off x="7384198" y="4090277"/>
            <a:ext cx="2273998" cy="2684764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62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B58E8C5-714E-EB68-D8FB-4759773DE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47" t="9294"/>
          <a:stretch>
            <a:fillRect/>
          </a:stretch>
        </p:blipFill>
        <p:spPr>
          <a:xfrm>
            <a:off x="2015018" y="1505583"/>
            <a:ext cx="7108211" cy="4889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32627-EC2D-1071-2D0D-EF6AEE2C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184987"/>
            <a:ext cx="11214099" cy="8381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/>
              <a:t>Trends in # current on ART</a:t>
            </a:r>
            <a:br>
              <a:rPr lang="en-US"/>
            </a:br>
            <a:r>
              <a:rPr lang="en-US" sz="2700">
                <a:solidFill>
                  <a:schemeClr val="tx2">
                    <a:lumMod val="20000"/>
                    <a:lumOff val="80000"/>
                  </a:schemeClr>
                </a:solidFill>
              </a:rPr>
              <a:t>Summarized as % difference from Nov 2024 # current on 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541AA-7288-E870-A9D0-CCA4A53B88D1}"/>
              </a:ext>
            </a:extLst>
          </p:cNvPr>
          <p:cNvSpPr txBox="1"/>
          <p:nvPr/>
        </p:nvSpPr>
        <p:spPr>
          <a:xfrm>
            <a:off x="5270500" y="1371787"/>
            <a:ext cx="168909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November 2024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77D382-BD69-BBE9-C54A-F8BEE6F5E001}"/>
              </a:ext>
            </a:extLst>
          </p:cNvPr>
          <p:cNvCxnSpPr>
            <a:cxnSpLocks/>
          </p:cNvCxnSpPr>
          <p:nvPr/>
        </p:nvCxnSpPr>
        <p:spPr>
          <a:xfrm flipH="1">
            <a:off x="6038849" y="2202784"/>
            <a:ext cx="1" cy="39567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9ADB4B-3A41-A6A7-A311-B987E28C8115}"/>
              </a:ext>
            </a:extLst>
          </p:cNvPr>
          <p:cNvSpPr txBox="1"/>
          <p:nvPr/>
        </p:nvSpPr>
        <p:spPr>
          <a:xfrm>
            <a:off x="599376" y="3158002"/>
            <a:ext cx="19875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Equal to # on ART in Nov 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CE16F-9D27-98B1-76F6-857E6E7FB127}"/>
              </a:ext>
            </a:extLst>
          </p:cNvPr>
          <p:cNvSpPr txBox="1"/>
          <p:nvPr/>
        </p:nvSpPr>
        <p:spPr>
          <a:xfrm>
            <a:off x="0" y="2423635"/>
            <a:ext cx="1793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Nov 2024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current on ART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4E4E18-7F9B-4FC4-D50E-4DE2864D15FC}"/>
              </a:ext>
            </a:extLst>
          </p:cNvPr>
          <p:cNvSpPr txBox="1"/>
          <p:nvPr/>
        </p:nvSpPr>
        <p:spPr>
          <a:xfrm>
            <a:off x="-283570" y="3892370"/>
            <a:ext cx="2092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 Nov 2024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current on ART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E1C36172-AA14-3825-F83D-EC05CF54DD53}"/>
              </a:ext>
            </a:extLst>
          </p:cNvPr>
          <p:cNvSpPr/>
          <p:nvPr/>
        </p:nvSpPr>
        <p:spPr>
          <a:xfrm>
            <a:off x="1654075" y="2113989"/>
            <a:ext cx="428945" cy="1099403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29FBF1E5-23B6-C069-4AD6-03DDF9D55E8C}"/>
              </a:ext>
            </a:extLst>
          </p:cNvPr>
          <p:cNvSpPr/>
          <p:nvPr/>
        </p:nvSpPr>
        <p:spPr>
          <a:xfrm>
            <a:off x="1713252" y="3858136"/>
            <a:ext cx="428945" cy="1099403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1C0A89-BCE7-1778-6B01-18FAB79D10F5}"/>
              </a:ext>
            </a:extLst>
          </p:cNvPr>
          <p:cNvSpPr txBox="1"/>
          <p:nvPr/>
        </p:nvSpPr>
        <p:spPr>
          <a:xfrm>
            <a:off x="4851399" y="6393465"/>
            <a:ext cx="23748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&amp; Year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07498A-6064-8E7D-CF8C-D48EA9E50C02}"/>
              </a:ext>
            </a:extLst>
          </p:cNvPr>
          <p:cNvCxnSpPr>
            <a:cxnSpLocks/>
          </p:cNvCxnSpPr>
          <p:nvPr/>
        </p:nvCxnSpPr>
        <p:spPr>
          <a:xfrm flipV="1">
            <a:off x="2689772" y="3429000"/>
            <a:ext cx="3406227" cy="394108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F18DE94-B2BF-772F-FD5F-7D8CE83B423A}"/>
              </a:ext>
            </a:extLst>
          </p:cNvPr>
          <p:cNvSpPr txBox="1"/>
          <p:nvPr/>
        </p:nvSpPr>
        <p:spPr>
          <a:xfrm>
            <a:off x="3214165" y="4055502"/>
            <a:ext cx="24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1.) Mostly consistent increase in # on ART from January 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11A6DB-9CD9-7651-510E-8B0D0CB20910}"/>
              </a:ext>
            </a:extLst>
          </p:cNvPr>
          <p:cNvSpPr txBox="1"/>
          <p:nvPr/>
        </p:nvSpPr>
        <p:spPr>
          <a:xfrm>
            <a:off x="6340616" y="4000126"/>
            <a:ext cx="2553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2.) Less consistent but generally increasing # on ART from November 2024 to August 2025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5BEC55-C148-7A6E-9206-4EB6866B7836}"/>
              </a:ext>
            </a:extLst>
          </p:cNvPr>
          <p:cNvCxnSpPr>
            <a:cxnSpLocks/>
          </p:cNvCxnSpPr>
          <p:nvPr/>
        </p:nvCxnSpPr>
        <p:spPr>
          <a:xfrm flipV="1">
            <a:off x="2689772" y="3082170"/>
            <a:ext cx="6433457" cy="739367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724EC46-0EA8-71FD-459E-340A4ED71A12}"/>
              </a:ext>
            </a:extLst>
          </p:cNvPr>
          <p:cNvSpPr txBox="1"/>
          <p:nvPr/>
        </p:nvSpPr>
        <p:spPr>
          <a:xfrm>
            <a:off x="9474330" y="2456914"/>
            <a:ext cx="2354775" cy="19389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Suggests some degree of disruption in ART services and/or data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8D5B4-89FE-A40E-7A15-674547C345F4}"/>
              </a:ext>
            </a:extLst>
          </p:cNvPr>
          <p:cNvSpPr txBox="1"/>
          <p:nvPr/>
        </p:nvSpPr>
        <p:spPr>
          <a:xfrm rot="21165500">
            <a:off x="6049376" y="2868271"/>
            <a:ext cx="319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Expected # current on ART</a:t>
            </a:r>
          </a:p>
        </p:txBody>
      </p:sp>
    </p:spTree>
    <p:extLst>
      <p:ext uri="{BB962C8B-B14F-4D97-AF65-F5344CB8AC3E}">
        <p14:creationId xmlns:p14="http://schemas.microsoft.com/office/powerpoint/2010/main" val="269123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40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E1ED-2C84-C5BB-87CB-0388C82B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709C-CA65-7560-15CE-CC05A631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074"/>
            <a:ext cx="12192000" cy="838199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Trends in # current on ART, Jan 2024-Sep 2025</a:t>
            </a:r>
            <a:br>
              <a:rPr lang="en-US"/>
            </a:br>
            <a:r>
              <a:rPr lang="en-US" sz="2000"/>
              <a:t>8 countries, Eastern and Southern Africa </a:t>
            </a:r>
            <a:br>
              <a:rPr lang="en-US" sz="2000"/>
            </a:br>
            <a:r>
              <a:rPr lang="en-US" sz="2000">
                <a:solidFill>
                  <a:schemeClr val="tx2">
                    <a:lumMod val="20000"/>
                    <a:lumOff val="80000"/>
                  </a:schemeClr>
                </a:solidFill>
              </a:rPr>
              <a:t>Shown as % difference from November 2024 # on ART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2FE618-9EAD-6B9F-C36C-C064EBC2C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12" y="1459575"/>
            <a:ext cx="5372513" cy="5398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4641D-F794-D664-8AF8-9469CEBBF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289" y="1459574"/>
            <a:ext cx="5415699" cy="53984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3023A1-1C56-F5D1-2B16-989E0122EE5B}"/>
              </a:ext>
            </a:extLst>
          </p:cNvPr>
          <p:cNvCxnSpPr>
            <a:cxnSpLocks/>
          </p:cNvCxnSpPr>
          <p:nvPr/>
        </p:nvCxnSpPr>
        <p:spPr>
          <a:xfrm flipV="1">
            <a:off x="990600" y="2676525"/>
            <a:ext cx="2047668" cy="50482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557091-6914-6D32-F183-8E89B4F407F2}"/>
              </a:ext>
            </a:extLst>
          </p:cNvPr>
          <p:cNvCxnSpPr>
            <a:cxnSpLocks/>
          </p:cNvCxnSpPr>
          <p:nvPr/>
        </p:nvCxnSpPr>
        <p:spPr>
          <a:xfrm flipV="1">
            <a:off x="3395206" y="2890838"/>
            <a:ext cx="2103084" cy="16668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F620D9-86E7-6A87-9846-F58D5103B546}"/>
              </a:ext>
            </a:extLst>
          </p:cNvPr>
          <p:cNvCxnSpPr>
            <a:cxnSpLocks/>
          </p:cNvCxnSpPr>
          <p:nvPr/>
        </p:nvCxnSpPr>
        <p:spPr>
          <a:xfrm flipV="1">
            <a:off x="1325915" y="5133975"/>
            <a:ext cx="1712353" cy="40957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E55A74-11BA-3F22-FE6D-B3ABE73F0438}"/>
              </a:ext>
            </a:extLst>
          </p:cNvPr>
          <p:cNvCxnSpPr>
            <a:cxnSpLocks/>
          </p:cNvCxnSpPr>
          <p:nvPr/>
        </p:nvCxnSpPr>
        <p:spPr>
          <a:xfrm flipV="1">
            <a:off x="3427347" y="5205413"/>
            <a:ext cx="2070943" cy="27146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84E359-CF53-1FFB-6B6A-02F2278B8AF5}"/>
              </a:ext>
            </a:extLst>
          </p:cNvPr>
          <p:cNvCxnSpPr>
            <a:cxnSpLocks/>
          </p:cNvCxnSpPr>
          <p:nvPr/>
        </p:nvCxnSpPr>
        <p:spPr>
          <a:xfrm flipV="1">
            <a:off x="7092135" y="2676525"/>
            <a:ext cx="2040003" cy="55245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708FF0-CA98-9E78-7357-2FA5A22326A9}"/>
              </a:ext>
            </a:extLst>
          </p:cNvPr>
          <p:cNvCxnSpPr>
            <a:cxnSpLocks/>
          </p:cNvCxnSpPr>
          <p:nvPr/>
        </p:nvCxnSpPr>
        <p:spPr>
          <a:xfrm flipV="1">
            <a:off x="9565069" y="2847975"/>
            <a:ext cx="2017249" cy="17145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7384EA9-2628-A9C5-EE8D-744FBABD20A4}"/>
              </a:ext>
            </a:extLst>
          </p:cNvPr>
          <p:cNvCxnSpPr>
            <a:cxnSpLocks/>
          </p:cNvCxnSpPr>
          <p:nvPr/>
        </p:nvCxnSpPr>
        <p:spPr>
          <a:xfrm>
            <a:off x="7092135" y="5205413"/>
            <a:ext cx="2175690" cy="1930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A70196-4B64-7712-410A-D7A9BBA7B47C}"/>
              </a:ext>
            </a:extLst>
          </p:cNvPr>
          <p:cNvCxnSpPr>
            <a:cxnSpLocks/>
          </p:cNvCxnSpPr>
          <p:nvPr/>
        </p:nvCxnSpPr>
        <p:spPr>
          <a:xfrm flipV="1">
            <a:off x="9565068" y="5133975"/>
            <a:ext cx="2017250" cy="39652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2930F26-9F0A-B0DC-9580-C886DF3B1DC5}"/>
              </a:ext>
            </a:extLst>
          </p:cNvPr>
          <p:cNvSpPr txBox="1"/>
          <p:nvPr/>
        </p:nvSpPr>
        <p:spPr>
          <a:xfrm rot="16200000">
            <a:off x="5436939" y="5288960"/>
            <a:ext cx="261232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-10%	   -5%   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change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          10%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5FAF1-BEA0-C589-152E-DD1111F1028E}"/>
              </a:ext>
            </a:extLst>
          </p:cNvPr>
          <p:cNvSpPr txBox="1"/>
          <p:nvPr/>
        </p:nvSpPr>
        <p:spPr>
          <a:xfrm rot="16200000">
            <a:off x="5431149" y="2793370"/>
            <a:ext cx="261232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-10%	   -5%   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change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          10%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EB715C-BAE0-F1FC-BCA8-8382F71CBA55}"/>
              </a:ext>
            </a:extLst>
          </p:cNvPr>
          <p:cNvSpPr txBox="1"/>
          <p:nvPr/>
        </p:nvSpPr>
        <p:spPr>
          <a:xfrm rot="16200000">
            <a:off x="-647625" y="5296195"/>
            <a:ext cx="261232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-10%	   -5%   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change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          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792CEA-B4EF-9285-B48D-67C45517C181}"/>
              </a:ext>
            </a:extLst>
          </p:cNvPr>
          <p:cNvSpPr txBox="1"/>
          <p:nvPr/>
        </p:nvSpPr>
        <p:spPr>
          <a:xfrm rot="16200000">
            <a:off x="-665441" y="2820709"/>
            <a:ext cx="261232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-10%	   -5%   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change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          10%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6DAC59-297B-5D8A-7DB6-D032281B78DE}"/>
              </a:ext>
            </a:extLst>
          </p:cNvPr>
          <p:cNvSpPr/>
          <p:nvPr/>
        </p:nvSpPr>
        <p:spPr>
          <a:xfrm>
            <a:off x="4445938" y="2847976"/>
            <a:ext cx="1114005" cy="1265628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2CD750-573C-B9F9-D117-AFD3DFB1A8B1}"/>
              </a:ext>
            </a:extLst>
          </p:cNvPr>
          <p:cNvSpPr/>
          <p:nvPr/>
        </p:nvSpPr>
        <p:spPr>
          <a:xfrm>
            <a:off x="8356600" y="2676526"/>
            <a:ext cx="999558" cy="1171574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F3D7F4-4C61-8E68-91A3-46218DDFB261}"/>
              </a:ext>
            </a:extLst>
          </p:cNvPr>
          <p:cNvSpPr/>
          <p:nvPr/>
        </p:nvSpPr>
        <p:spPr>
          <a:xfrm>
            <a:off x="4543715" y="5099970"/>
            <a:ext cx="1251818" cy="1491330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ED1B9-D548-A67D-C016-0BB66438A780}"/>
              </a:ext>
            </a:extLst>
          </p:cNvPr>
          <p:cNvSpPr txBox="1"/>
          <p:nvPr/>
        </p:nvSpPr>
        <p:spPr>
          <a:xfrm>
            <a:off x="3101007" y="4204002"/>
            <a:ext cx="6362434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Declines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# current on ART in 3 countries, of 5-10% and in some cases even &gt;20%</a:t>
            </a:r>
          </a:p>
        </p:txBody>
      </p:sp>
    </p:spTree>
    <p:extLst>
      <p:ext uri="{BB962C8B-B14F-4D97-AF65-F5344CB8AC3E}">
        <p14:creationId xmlns:p14="http://schemas.microsoft.com/office/powerpoint/2010/main" val="224468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89A8-1033-5D00-A6D2-6CE17CC1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Interpretation of HMIS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56BCB-9290-48F5-2CA1-901C5026C1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602842" cy="47386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/>
              <a:t>Large (</a:t>
            </a:r>
            <a:r>
              <a:rPr lang="en-US" sz="2400" b="0" u="sng"/>
              <a:t>&gt;</a:t>
            </a:r>
            <a:r>
              <a:rPr lang="en-US" sz="2400" b="0"/>
              <a:t>20%) reductions in HIV testing volume, ART initiations, VL testing, and PrEP initiations in many countries</a:t>
            </a:r>
          </a:p>
          <a:p>
            <a:pPr marL="1028700" lvl="1"/>
            <a:r>
              <a:rPr lang="en-US" sz="2400" b="0"/>
              <a:t>Reductions in # new on ART generally due to reduced testing volume and reduced % positivity (i.e., not linkage to 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/>
              <a:t>No clear pattern suggesting a decline in % of ROC with VL&lt;1000, among ROC receiving VL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/>
              <a:t>Several countries reported substantial drops in # current on ART in 2025 – potentially a critical priority</a:t>
            </a:r>
          </a:p>
          <a:p>
            <a:endParaRPr lang="en-US" sz="24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53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D2BF-D5D2-F092-EFDE-3589D4EC3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D7A0-730B-3234-3F6D-0EF266FD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469" y="2423362"/>
            <a:ext cx="7321061" cy="90086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CQUIN M&amp;E system vulnerabilities assessment</a:t>
            </a:r>
          </a:p>
        </p:txBody>
      </p:sp>
    </p:spTree>
    <p:extLst>
      <p:ext uri="{BB962C8B-B14F-4D97-AF65-F5344CB8AC3E}">
        <p14:creationId xmlns:p14="http://schemas.microsoft.com/office/powerpoint/2010/main" val="3196160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D38C9-24D5-5CAA-B465-974B7C95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F81BFD-9D3B-9515-7581-0B17A864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150134"/>
            <a:ext cx="10515596" cy="6153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200"/>
              <a:t>Objectives of assessment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D8AD35-A576-F8E2-44D4-C0A1664E68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chemeClr val="tx2"/>
                </a:solidFill>
              </a:rPr>
              <a:t>Main objective:</a:t>
            </a:r>
          </a:p>
          <a:p>
            <a:r>
              <a:rPr lang="en-US" sz="2800" b="0"/>
              <a:t>To help countries </a:t>
            </a:r>
            <a:r>
              <a:rPr lang="en-US" sz="2800"/>
              <a:t>document the scope, and degree of vulnerabilities in national HIV M&amp;E systems </a:t>
            </a:r>
            <a:r>
              <a:rPr lang="en-US" sz="2800" b="0"/>
              <a:t>related to potential cuts in support by external funders such as PEPFAR and Global Fund</a:t>
            </a:r>
          </a:p>
          <a:p>
            <a:r>
              <a:rPr lang="en-US" sz="1400"/>
              <a:t>   </a:t>
            </a:r>
          </a:p>
          <a:p>
            <a:r>
              <a:rPr lang="en-US" sz="2800" b="1">
                <a:solidFill>
                  <a:schemeClr val="tx2"/>
                </a:solidFill>
              </a:rPr>
              <a:t>Secondary objective:</a:t>
            </a:r>
          </a:p>
          <a:p>
            <a:r>
              <a:rPr lang="en-US" sz="2800" b="0"/>
              <a:t>To </a:t>
            </a:r>
            <a:r>
              <a:rPr lang="en-US" sz="2800"/>
              <a:t>identify gaps in country HIV M&amp;E systems</a:t>
            </a:r>
            <a:r>
              <a:rPr lang="en-US" sz="2800" b="0"/>
              <a:t>, which may be unrelated to current or future cuts in external support</a:t>
            </a:r>
          </a:p>
        </p:txBody>
      </p:sp>
    </p:spTree>
    <p:extLst>
      <p:ext uri="{BB962C8B-B14F-4D97-AF65-F5344CB8AC3E}">
        <p14:creationId xmlns:p14="http://schemas.microsoft.com/office/powerpoint/2010/main" val="3444809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CADF-FAF8-1FDB-3A8B-00F4B7E1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43F9E-8B8A-BFBB-67BC-D198AC6D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4417" y="6299580"/>
            <a:ext cx="1184563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AF1-BBDD-5C45-BD8A-357304E54C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5F8DCF-F852-D72F-B9AB-3A65F942C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619" y="154238"/>
            <a:ext cx="10296179" cy="6153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>
                <a:latin typeface="Century Gothic"/>
              </a:rPr>
              <a:t>M&amp;E-related domains assessed</a:t>
            </a:r>
            <a:br>
              <a:rPr lang="en-US">
                <a:latin typeface="Century Gothic"/>
              </a:rPr>
            </a:br>
            <a:r>
              <a:rPr lang="en-US" sz="22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</a:rPr>
              <a:t>Domains contain sub-domains (n=46) and M&amp;E functions (n=199) for scoring</a:t>
            </a:r>
            <a:endParaRPr lang="en-US">
              <a:solidFill>
                <a:schemeClr val="tx2">
                  <a:lumMod val="20000"/>
                  <a:lumOff val="80000"/>
                </a:schemeClr>
              </a:solidFill>
              <a:latin typeface="Century Gothic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F5901-74B6-722E-EC94-61C54F1CBF46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36334" y="1297189"/>
            <a:ext cx="1709054" cy="503336"/>
          </a:xfrm>
        </p:spPr>
        <p:txBody>
          <a:bodyPr/>
          <a:lstStyle/>
          <a:p>
            <a:r>
              <a:rPr lang="en-US" u="sng"/>
              <a:t>Categories: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F3E76F8-7D17-0C1C-9438-69312BD89831}"/>
              </a:ext>
            </a:extLst>
          </p:cNvPr>
          <p:cNvSpPr txBox="1">
            <a:spLocks/>
          </p:cNvSpPr>
          <p:nvPr/>
        </p:nvSpPr>
        <p:spPr>
          <a:xfrm>
            <a:off x="229640" y="2771426"/>
            <a:ext cx="1709054" cy="503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Domains: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BEFA60E-2BDC-0017-7432-240C9807D19A}"/>
              </a:ext>
            </a:extLst>
          </p:cNvPr>
          <p:cNvGraphicFramePr/>
          <p:nvPr/>
        </p:nvGraphicFramePr>
        <p:xfrm>
          <a:off x="2020983" y="756050"/>
          <a:ext cx="9499080" cy="4284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9D9D6E-E935-D7C0-03FE-270C74E69D53}"/>
              </a:ext>
            </a:extLst>
          </p:cNvPr>
          <p:cNvSpPr/>
          <p:nvPr/>
        </p:nvSpPr>
        <p:spPr>
          <a:xfrm>
            <a:off x="2584736" y="5131033"/>
            <a:ext cx="8321963" cy="5033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M&amp;E of community-based HIV services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EB4316-69B7-6EAC-A49A-9AF6F601ECFC}"/>
              </a:ext>
            </a:extLst>
          </p:cNvPr>
          <p:cNvSpPr/>
          <p:nvPr/>
        </p:nvSpPr>
        <p:spPr>
          <a:xfrm>
            <a:off x="2584736" y="5715306"/>
            <a:ext cx="8321963" cy="50333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Community-led monitoring and community engagement in M&amp;E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CEEA9-CD7B-CA14-2A75-077ADA7F42CB}"/>
              </a:ext>
            </a:extLst>
          </p:cNvPr>
          <p:cNvSpPr/>
          <p:nvPr/>
        </p:nvSpPr>
        <p:spPr>
          <a:xfrm>
            <a:off x="229640" y="5730945"/>
            <a:ext cx="2049326" cy="9728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A3A7D33-3C85-9917-96E7-8E4122340F29}"/>
              </a:ext>
            </a:extLst>
          </p:cNvPr>
          <p:cNvSpPr/>
          <p:nvPr/>
        </p:nvSpPr>
        <p:spPr>
          <a:xfrm>
            <a:off x="2584736" y="4553365"/>
            <a:ext cx="8321963" cy="4967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M&amp;E human resources for health (HRH) capacity </a:t>
            </a: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30E736B8-B582-33AF-38EC-D5DCFA53B707}"/>
              </a:ext>
            </a:extLst>
          </p:cNvPr>
          <p:cNvSpPr txBox="1">
            <a:spLocks/>
          </p:cNvSpPr>
          <p:nvPr/>
        </p:nvSpPr>
        <p:spPr>
          <a:xfrm>
            <a:off x="569912" y="4939199"/>
            <a:ext cx="1709054" cy="503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Cross-cutting domains: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534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39746717-086D-C28C-63AB-C352D1F3C1A2}"/>
              </a:ext>
            </a:extLst>
          </p:cNvPr>
          <p:cNvGraphicFramePr>
            <a:graphicFrameLocks/>
          </p:cNvGraphicFramePr>
          <p:nvPr/>
        </p:nvGraphicFramePr>
        <p:xfrm>
          <a:off x="1682312" y="1597818"/>
          <a:ext cx="4945583" cy="3533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A8C0D0A9-91F5-C152-3C5E-ACAC7BAED0C5}"/>
              </a:ext>
            </a:extLst>
          </p:cNvPr>
          <p:cNvGraphicFramePr>
            <a:graphicFrameLocks/>
          </p:cNvGraphicFramePr>
          <p:nvPr/>
        </p:nvGraphicFramePr>
        <p:xfrm>
          <a:off x="6872438" y="9625"/>
          <a:ext cx="5188017" cy="3493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tar: 5 Points 4">
            <a:extLst>
              <a:ext uri="{FF2B5EF4-FFF2-40B4-BE49-F238E27FC236}">
                <a16:creationId xmlns:a16="http://schemas.microsoft.com/office/drawing/2014/main" id="{1B394B69-C2A8-33B3-2AC1-1AF4473AB6E9}"/>
              </a:ext>
            </a:extLst>
          </p:cNvPr>
          <p:cNvSpPr/>
          <p:nvPr/>
        </p:nvSpPr>
        <p:spPr>
          <a:xfrm>
            <a:off x="4364336" y="2693602"/>
            <a:ext cx="210897" cy="171935"/>
          </a:xfrm>
          <a:prstGeom prst="star5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81DC2-7AF2-3734-11E9-EC8A35FA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728" y="155487"/>
            <a:ext cx="4826167" cy="134874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Autofit/>
          </a:bodyPr>
          <a:lstStyle/>
          <a:p>
            <a:pPr algn="ctr"/>
            <a:r>
              <a:rPr lang="en-US" sz="2400"/>
              <a:t>Summaries of M&amp;E vulnerability assessment pilot results: </a:t>
            </a:r>
            <a:br>
              <a:rPr lang="en-US" sz="2400"/>
            </a:br>
            <a:r>
              <a:rPr lang="en-US" sz="2400"/>
              <a:t>M&amp;E function-level scores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D61FD8-5972-B31D-A807-7DC2A0EBC7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07725" y="6253163"/>
            <a:ext cx="118427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AF1-BBDD-5C45-BD8A-357304E54C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B17230-C17F-3563-EAF5-89C8BA466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726" y="5260182"/>
            <a:ext cx="3829584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9D056E8-264F-8CA0-96C4-23EE15998379}"/>
              </a:ext>
            </a:extLst>
          </p:cNvPr>
          <p:cNvGraphicFramePr>
            <a:graphicFrameLocks/>
          </p:cNvGraphicFramePr>
          <p:nvPr/>
        </p:nvGraphicFramePr>
        <p:xfrm>
          <a:off x="6872438" y="3364395"/>
          <a:ext cx="5188017" cy="3493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7F2B336-ACFB-34CE-F7BE-A35EE04F5C01}"/>
              </a:ext>
            </a:extLst>
          </p:cNvPr>
          <p:cNvSpPr txBox="1"/>
          <p:nvPr/>
        </p:nvSpPr>
        <p:spPr>
          <a:xfrm>
            <a:off x="3698471" y="1597818"/>
            <a:ext cx="92756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Country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BF3949-1D97-4C1B-C0C8-CAACFC440D2E}"/>
              </a:ext>
            </a:extLst>
          </p:cNvPr>
          <p:cNvSpPr txBox="1"/>
          <p:nvPr/>
        </p:nvSpPr>
        <p:spPr>
          <a:xfrm>
            <a:off x="8996644" y="134750"/>
            <a:ext cx="91326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Country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FE01BC-ACFC-DD88-737B-F28563A9D3DD}"/>
              </a:ext>
            </a:extLst>
          </p:cNvPr>
          <p:cNvSpPr txBox="1"/>
          <p:nvPr/>
        </p:nvSpPr>
        <p:spPr>
          <a:xfrm>
            <a:off x="8996644" y="3483886"/>
            <a:ext cx="91326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Country C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6554281E-1549-60FA-ECB6-BF8B60268174}"/>
              </a:ext>
            </a:extLst>
          </p:cNvPr>
          <p:cNvSpPr/>
          <p:nvPr/>
        </p:nvSpPr>
        <p:spPr>
          <a:xfrm>
            <a:off x="10414241" y="471102"/>
            <a:ext cx="210897" cy="171935"/>
          </a:xfrm>
          <a:prstGeom prst="star5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FDAB09CF-E22E-E108-5885-8C13DC7BE350}"/>
              </a:ext>
            </a:extLst>
          </p:cNvPr>
          <p:cNvSpPr/>
          <p:nvPr/>
        </p:nvSpPr>
        <p:spPr>
          <a:xfrm>
            <a:off x="9655907" y="1273138"/>
            <a:ext cx="210897" cy="171935"/>
          </a:xfrm>
          <a:prstGeom prst="star5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F6EFC522-F580-8594-6EE5-5A7865626150}"/>
              </a:ext>
            </a:extLst>
          </p:cNvPr>
          <p:cNvSpPr/>
          <p:nvPr/>
        </p:nvSpPr>
        <p:spPr>
          <a:xfrm>
            <a:off x="5938737" y="5801335"/>
            <a:ext cx="210897" cy="171935"/>
          </a:xfrm>
          <a:prstGeom prst="star5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90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FF94-3476-111A-0506-CEFFAC1A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E34B-CD64-8F09-4113-B5B897F2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317" y="401431"/>
            <a:ext cx="9144456" cy="838199"/>
          </a:xfrm>
        </p:spPr>
        <p:txBody>
          <a:bodyPr>
            <a:normAutofit fontScale="90000"/>
          </a:bodyPr>
          <a:lstStyle/>
          <a:p>
            <a:r>
              <a:rPr lang="en-US"/>
              <a:t>M&amp;E system vulnerability assessment pilots –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2090C-DF17-4D21-6718-92F37BF2F8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7" y="1769689"/>
            <a:ext cx="9602842" cy="4361030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All three countries showed partial or complete vulnerability, or gaps in M&amp;E, in all domains assessed</a:t>
            </a:r>
          </a:p>
          <a:p>
            <a:pPr marL="1028700" lvl="1"/>
            <a:r>
              <a:rPr lang="en-US" sz="2400" b="0"/>
              <a:t>The degree of reliance on external funders varied across countries</a:t>
            </a:r>
          </a:p>
          <a:p>
            <a:pPr marL="1028700" lvl="1"/>
            <a:r>
              <a:rPr lang="en-US" sz="2400" b="0"/>
              <a:t>One country reported substantial M&amp;E system </a:t>
            </a:r>
            <a:r>
              <a:rPr lang="en-US" sz="2400" b="0" u="sng"/>
              <a:t>gaps</a:t>
            </a:r>
            <a:r>
              <a:rPr lang="en-US" sz="2400" b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/>
              <a:t>This information may help countries prepare for discussions with donors, and plan for government-financed and led M&amp;E functions where prioritized </a:t>
            </a:r>
          </a:p>
          <a:p>
            <a:endParaRPr lang="en-US" sz="2800"/>
          </a:p>
          <a:p>
            <a:r>
              <a:rPr lang="en-US" sz="2800">
                <a:solidFill>
                  <a:srgbClr val="0070C0"/>
                </a:solidFill>
              </a:rPr>
              <a:t>More details on pilot results will be presented by countries in sessions 9 and 12. 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37883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00000"/>
      </a:dk1>
      <a:lt1>
        <a:srgbClr val="FFFFFF"/>
      </a:lt1>
      <a:dk2>
        <a:srgbClr val="022069"/>
      </a:dk2>
      <a:lt2>
        <a:srgbClr val="DBDCDC"/>
      </a:lt2>
      <a:accent1>
        <a:srgbClr val="00B5DE"/>
      </a:accent1>
      <a:accent2>
        <a:srgbClr val="FDB913"/>
      </a:accent2>
      <a:accent3>
        <a:srgbClr val="00B8A5"/>
      </a:accent3>
      <a:accent4>
        <a:srgbClr val="F04E58"/>
      </a:accent4>
      <a:accent5>
        <a:srgbClr val="975CA5"/>
      </a:accent5>
      <a:accent6>
        <a:srgbClr val="70AD47"/>
      </a:accent6>
      <a:hlink>
        <a:srgbClr val="0071CE"/>
      </a:hlink>
      <a:folHlink>
        <a:srgbClr val="6CACE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5D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F1C20AD-2B43-49A8-A44D-73243EC4F3F0}" vid="{6ABE10FF-601A-43BC-92B5-D5492DD3341D}"/>
    </a:ext>
  </a:extLst>
</a:theme>
</file>

<file path=ppt/theme/theme2.xml><?xml version="1.0" encoding="utf-8"?>
<a:theme xmlns:a="http://schemas.openxmlformats.org/drawingml/2006/main" name="3_Theme1">
  <a:themeElements>
    <a:clrScheme name="ICAP 2024">
      <a:dk1>
        <a:srgbClr val="000000"/>
      </a:dk1>
      <a:lt1>
        <a:srgbClr val="FFFFFF"/>
      </a:lt1>
      <a:dk2>
        <a:srgbClr val="022069"/>
      </a:dk2>
      <a:lt2>
        <a:srgbClr val="B9D9EB"/>
      </a:lt2>
      <a:accent1>
        <a:srgbClr val="6CACE3"/>
      </a:accent1>
      <a:accent2>
        <a:srgbClr val="FDB913"/>
      </a:accent2>
      <a:accent3>
        <a:srgbClr val="00B8A5"/>
      </a:accent3>
      <a:accent4>
        <a:srgbClr val="F04E58"/>
      </a:accent4>
      <a:accent5>
        <a:srgbClr val="975CA5"/>
      </a:accent5>
      <a:accent6>
        <a:srgbClr val="70AD47"/>
      </a:accent6>
      <a:hlink>
        <a:srgbClr val="0071CE"/>
      </a:hlink>
      <a:folHlink>
        <a:srgbClr val="6CACE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5D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F1C20AD-2B43-49A8-A44D-73243EC4F3F0}" vid="{6ABE10FF-601A-43BC-92B5-D5492DD3341D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NGOOnlineDocument" ma:contentTypeID="0x010100E87BF1D48505D84EB0D589F252D1AFB200D627E0FEC4140D4E8DE54C47B7C8B9C8" ma:contentTypeVersion="21" ma:contentTypeDescription="NGO Document content type" ma:contentTypeScope="" ma:versionID="386bc06c9eca09cfafc441f0bef41d04">
  <xsd:schema xmlns:xsd="http://www.w3.org/2001/XMLSchema" xmlns:xs="http://www.w3.org/2001/XMLSchema" xmlns:p="http://schemas.microsoft.com/office/2006/metadata/properties" xmlns:ns2="264440c9-7b8c-4af8-95ca-ba2abb485d1a" xmlns:ns3="440186f3-efbf-47f8-9b2f-099ee5b0127d" targetNamespace="http://schemas.microsoft.com/office/2006/metadata/properties" ma:root="true" ma:fieldsID="d1ba7595ba0f7e4e20e3ef5b58066609" ns2:_="" ns3:_="">
    <xsd:import namespace="264440c9-7b8c-4af8-95ca-ba2abb485d1a"/>
    <xsd:import namespace="440186f3-efbf-47f8-9b2f-099ee5b0127d"/>
    <xsd:element name="properties">
      <xsd:complexType>
        <xsd:sequence>
          <xsd:element name="documentManagement">
            <xsd:complexType>
              <xsd:all>
                <xsd:element ref="ns2:FavoriteUsers" minOccurs="0"/>
                <xsd:element ref="ns2:KeyEntities" minOccurs="0"/>
                <xsd:element ref="ns2:TaxCatchAll" minOccurs="0"/>
                <xsd:element ref="ns2:i9f2da93fcc74e869d070fd34a0597c4" minOccurs="0"/>
                <xsd:element ref="ns2:TaxCatchAllLabel" minOccurs="0"/>
                <xsd:element ref="ns2:cc92bdb0fa944447acf309642a11bf0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440c9-7b8c-4af8-95ca-ba2abb485d1a" elementFormDefault="qualified">
    <xsd:import namespace="http://schemas.microsoft.com/office/2006/documentManagement/types"/>
    <xsd:import namespace="http://schemas.microsoft.com/office/infopath/2007/PartnerControls"/>
    <xsd:element name="FavoriteUsers" ma:index="8" nillable="true" ma:displayName="F" ma:description="Store all users who mark this document as favorite" ma:internalName="FavoriteUsers" ma:readOnly="false">
      <xsd:simpleType>
        <xsd:restriction base="dms:Text"/>
      </xsd:simpleType>
    </xsd:element>
    <xsd:element name="KeyEntities" ma:index="9" nillable="true" ma:displayName="K" ma:description="Store all entities which this document as a key" ma:internalName="KeyEntities" ma:readOnly="false">
      <xsd:simpleType>
        <xsd:restriction base="dms:Text"/>
      </xsd:simpleType>
    </xsd:element>
    <xsd:element name="TaxCatchAll" ma:index="10" nillable="true" ma:displayName="Taxonomy Catch All Column" ma:hidden="true" ma:list="{6a85807d-4faa-4bb6-a909-4fc62e55d43f}" ma:internalName="TaxCatchAll" ma:readOnly="false" ma:showField="CatchAllData" ma:web="264440c9-7b8c-4af8-95ca-ba2abb485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9f2da93fcc74e869d070fd34a0597c4" ma:index="13" nillable="true" ma:taxonomy="true" ma:internalName="i9f2da93fcc74e869d070fd34a0597c4" ma:taxonomyFieldName="NGOOnlineDocumentType" ma:displayName="Document types" ma:readOnly="false" ma:fieldId="{29f2da93-fcc7-4e86-9d07-0fd34a0597c4}" ma:taxonomyMulti="true" ma:sspId="e492bf4d-7d24-4a02-9dd7-4d67ddc3dcfb" ma:termSetId="ab881ecd-e3fb-4592-9594-ea70170c21a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4" nillable="true" ma:displayName="Taxonomy Catch All Column1" ma:hidden="true" ma:list="{6a85807d-4faa-4bb6-a909-4fc62e55d43f}" ma:internalName="TaxCatchAllLabel" ma:readOnly="true" ma:showField="CatchAllDataLabel" ma:web="264440c9-7b8c-4af8-95ca-ba2abb485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c92bdb0fa944447acf309642a11bf0d" ma:index="15" nillable="true" ma:taxonomy="true" ma:internalName="cc92bdb0fa944447acf309642a11bf0d" ma:taxonomyFieldName="NGOOnlineKeywords" ma:displayName="Keywords" ma:readOnly="false" ma:fieldId="{cc92bdb0-fa94-4447-acf3-09642a11bf0d}" ma:taxonomyMulti="true" ma:sspId="e492bf4d-7d24-4a02-9dd7-4d67ddc3dcfb" ma:termSetId="7c9b2214-6d63-47c8-ad9c-de84cf58bf6c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186f3-efbf-47f8-9b2f-099ee5b012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e492bf4d-7d24-4a02-9dd7-4d67ddc3dc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583428629096080","enableDocumentContentUpdater":true,"version":"1.10"}]]></TemplafySlideTemplateConfigur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9f2da93fcc74e869d070fd34a0597c4 xmlns="264440c9-7b8c-4af8-95ca-ba2abb485d1a">
      <Terms xmlns="http://schemas.microsoft.com/office/infopath/2007/PartnerControls"/>
    </i9f2da93fcc74e869d070fd34a0597c4>
    <FavoriteUsers xmlns="264440c9-7b8c-4af8-95ca-ba2abb485d1a" xsi:nil="true"/>
    <cc92bdb0fa944447acf309642a11bf0d xmlns="264440c9-7b8c-4af8-95ca-ba2abb485d1a">
      <Terms xmlns="http://schemas.microsoft.com/office/infopath/2007/PartnerControls"/>
    </cc92bdb0fa944447acf309642a11bf0d>
    <KeyEntities xmlns="264440c9-7b8c-4af8-95ca-ba2abb485d1a" xsi:nil="true"/>
    <TaxCatchAll xmlns="264440c9-7b8c-4af8-95ca-ba2abb485d1a" xsi:nil="true"/>
    <lcf76f155ced4ddcb4097134ff3c332f xmlns="440186f3-efbf-47f8-9b2f-099ee5b0127d">
      <Terms xmlns="http://schemas.microsoft.com/office/infopath/2007/PartnerControls"/>
    </lcf76f155ced4ddcb4097134ff3c332f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1A543-3406-45EC-9961-9E8D367B816D}">
  <ds:schemaRefs/>
</ds:datastoreItem>
</file>

<file path=customXml/itemProps2.xml><?xml version="1.0" encoding="utf-8"?>
<ds:datastoreItem xmlns:ds="http://schemas.openxmlformats.org/officeDocument/2006/customXml" ds:itemID="{A8F586D0-38A5-4816-844E-EA55C06CCE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4440c9-7b8c-4af8-95ca-ba2abb485d1a"/>
    <ds:schemaRef ds:uri="440186f3-efbf-47f8-9b2f-099ee5b01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0710A7-7050-43BF-8B2B-21011ED693CA}">
  <ds:schemaRefs/>
</ds:datastoreItem>
</file>

<file path=customXml/itemProps4.xml><?xml version="1.0" encoding="utf-8"?>
<ds:datastoreItem xmlns:ds="http://schemas.openxmlformats.org/officeDocument/2006/customXml" ds:itemID="{640978B8-74BD-4ABE-8747-4338AF74F122}">
  <ds:schemaRefs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440186f3-efbf-47f8-9b2f-099ee5b0127d"/>
    <ds:schemaRef ds:uri="264440c9-7b8c-4af8-95ca-ba2abb485d1a"/>
    <ds:schemaRef ds:uri="http://schemas.microsoft.com/office/2006/metadata/properties"/>
    <ds:schemaRef ds:uri="http://purl.org/dc/dcmitype/"/>
  </ds:schemaRefs>
</ds:datastoreItem>
</file>

<file path=customXml/itemProps5.xml><?xml version="1.0" encoding="utf-8"?>
<ds:datastoreItem xmlns:ds="http://schemas.openxmlformats.org/officeDocument/2006/customXml" ds:itemID="{1404C719-C8BD-4BD3-B99B-ACAE57CC69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</TotalTime>
  <Words>6227</Words>
  <Application>Microsoft Macintosh PowerPoint</Application>
  <PresentationFormat>Widescreen</PresentationFormat>
  <Paragraphs>1726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Aptos</vt:lpstr>
      <vt:lpstr>Aptos Narrow</vt:lpstr>
      <vt:lpstr>Arial</vt:lpstr>
      <vt:lpstr>Calibri</vt:lpstr>
      <vt:lpstr>Calibri Light</vt:lpstr>
      <vt:lpstr>Century Gothic</vt:lpstr>
      <vt:lpstr>Noah</vt:lpstr>
      <vt:lpstr>Noah Light</vt:lpstr>
      <vt:lpstr>Theme1</vt:lpstr>
      <vt:lpstr>3_Theme1</vt:lpstr>
      <vt:lpstr>1_Custom Design</vt:lpstr>
      <vt:lpstr>PowerPoint Presentation</vt:lpstr>
      <vt:lpstr>Global Tools to Support Country Response</vt:lpstr>
      <vt:lpstr>HIV Service Prioritization</vt:lpstr>
      <vt:lpstr>HIV Prevention</vt:lpstr>
      <vt:lpstr>HIV Prevention – Changes Across Time</vt:lpstr>
      <vt:lpstr>HIV Prevention – Summative Findings</vt:lpstr>
      <vt:lpstr>HIV Testing – Summative Findings</vt:lpstr>
      <vt:lpstr>HIV Treatment – Summative Findings</vt:lpstr>
      <vt:lpstr>Overall Summative Findings </vt:lpstr>
      <vt:lpstr>CQUIN Tools in Support of Country Response</vt:lpstr>
      <vt:lpstr>Additional CQUIN Cross Cutting Themes</vt:lpstr>
      <vt:lpstr>Outline</vt:lpstr>
      <vt:lpstr>Country priority HIV indicators</vt:lpstr>
      <vt:lpstr>25 HIV indicators considered by CQUIN countries for prioritization</vt:lpstr>
      <vt:lpstr>PowerPoint Presentation</vt:lpstr>
      <vt:lpstr>PowerPoint Presentation</vt:lpstr>
      <vt:lpstr>Country national HMIS data, 2024-25 </vt:lpstr>
      <vt:lpstr>Example: Number of people tested for HIV, Jan 2024-Aug 2025 4 countries, Western/West-Central region</vt:lpstr>
      <vt:lpstr>% change in HIV services: 2025 vs. overall 2024 monthly means, 19 countries = (monthly #) / (overall mean monthly #, 2024)</vt:lpstr>
      <vt:lpstr>Unpacking reductions in # new on ART in 2025, 19 countries </vt:lpstr>
      <vt:lpstr>Trends in # current on ART Summarized as % difference from Nov 2024 # current on ART</vt:lpstr>
      <vt:lpstr>Trends in # current on ART, Jan 2024-Sep 2025 8 countries, Eastern and Southern Africa  Shown as % difference from November 2024 # on ART</vt:lpstr>
      <vt:lpstr>Interpretation of HMIS data</vt:lpstr>
      <vt:lpstr>CQUIN M&amp;E system vulnerabilities assessment</vt:lpstr>
      <vt:lpstr>Objectives of assessment</vt:lpstr>
      <vt:lpstr>M&amp;E-related domains assessed Domains contain sub-domains (n=46) and M&amp;E functions (n=199) for scoring</vt:lpstr>
      <vt:lpstr>Summaries of M&amp;E vulnerability assessment pilot results:  M&amp;E function-level scores</vt:lpstr>
      <vt:lpstr>M&amp;E system vulnerability assessment pilots –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Mudekereza</dc:creator>
  <cp:lastModifiedBy>Microsoft Office User</cp:lastModifiedBy>
  <cp:revision>15</cp:revision>
  <cp:lastPrinted>2021-07-21T14:19:26Z</cp:lastPrinted>
  <dcterms:created xsi:type="dcterms:W3CDTF">2022-06-22T19:43:12Z</dcterms:created>
  <dcterms:modified xsi:type="dcterms:W3CDTF">2025-11-18T06:33:05Z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0x010100E87BF1D48505D84EB0D589F252D1AFB200D627E0FEC4140D4E8DE54C47B7C8B9C8</vt:lpwstr>
  </property>
  <property fmtid="{D5CDD505-2E9C-101B-9397-08002B2CF9AE}" pid="3" name="NGOOnlineKeywords">
    <vt:lpwstr/>
  </property>
  <property fmtid="{D5CDD505-2E9C-101B-9397-08002B2CF9AE}" pid="4" name="NGOOnlineDocumentType">
    <vt:lpwstr/>
  </property>
  <property fmtid="{D5CDD505-2E9C-101B-9397-08002B2CF9AE}" pid="5" name="MediaServiceImageTags">
    <vt:lpwstr/>
  </property>
  <property fmtid="{D5CDD505-2E9C-101B-9397-08002B2CF9AE}" pid="6" name="_ExtendedDescription">
    <vt:lpwstr/>
  </property>
</Properties>
</file>