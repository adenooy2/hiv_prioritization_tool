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701" r:id="rId4"/>
  </p:sldMasterIdLst>
  <p:notesMasterIdLst>
    <p:notesMasterId r:id="rId25"/>
  </p:notesMasterIdLst>
  <p:sldIdLst>
    <p:sldId id="268" r:id="rId5"/>
    <p:sldId id="2145706891" r:id="rId6"/>
    <p:sldId id="310" r:id="rId7"/>
    <p:sldId id="2145706877" r:id="rId8"/>
    <p:sldId id="2145706870" r:id="rId9"/>
    <p:sldId id="2145706885" r:id="rId10"/>
    <p:sldId id="2145706871" r:id="rId11"/>
    <p:sldId id="2145706884" r:id="rId12"/>
    <p:sldId id="2145706886" r:id="rId13"/>
    <p:sldId id="2145706872" r:id="rId14"/>
    <p:sldId id="2145706887" r:id="rId15"/>
    <p:sldId id="2145706874" r:id="rId16"/>
    <p:sldId id="2145706876" r:id="rId17"/>
    <p:sldId id="2145706875" r:id="rId18"/>
    <p:sldId id="2145706888" r:id="rId19"/>
    <p:sldId id="2145706883" r:id="rId20"/>
    <p:sldId id="322" r:id="rId21"/>
    <p:sldId id="272" r:id="rId22"/>
    <p:sldId id="273" r:id="rId23"/>
    <p:sldId id="2145706881" r:id="rId24"/>
  </p:sldIdLst>
  <p:sldSz cx="12192000" cy="6858000"/>
  <p:notesSz cx="6858000" cy="9144000"/>
  <p:embeddedFontLst>
    <p:embeddedFont>
      <p:font typeface="Verdana" panose="020B0604030504040204" pitchFamily="34" charset="0"/>
      <p:regular r:id="rId26"/>
      <p:bold r:id="rId27"/>
      <p:italic r:id="rId28"/>
      <p:boldItalic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8D3C"/>
    <a:srgbClr val="4DAF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B57953-B606-FD4E-A333-8022F13F7577}" v="13" dt="2026-07-26T17:08:16.7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18" autoAdjust="0"/>
    <p:restoredTop sz="78744" autoAdjust="0"/>
  </p:normalViewPr>
  <p:slideViewPr>
    <p:cSldViewPr snapToGrid="0" snapToObjects="1">
      <p:cViewPr varScale="1">
        <p:scale>
          <a:sx n="83" d="100"/>
          <a:sy n="83" d="100"/>
        </p:scale>
        <p:origin x="1704"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4D20E5-D8F7-594B-9D91-F763D43B9AF7}" type="datetimeFigureOut">
              <a:rPr lang="en-GB" smtClean="0"/>
              <a:t>27/07/2026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8DCDC-D13C-2549-BE6A-717E9EED41AD}" type="slidenum">
              <a:rPr lang="en-GB" smtClean="0"/>
              <a:t>‹#›</a:t>
            </a:fld>
            <a:endParaRPr lang="en-GB"/>
          </a:p>
        </p:txBody>
      </p:sp>
    </p:spTree>
    <p:extLst>
      <p:ext uri="{BB962C8B-B14F-4D97-AF65-F5344CB8AC3E}">
        <p14:creationId xmlns:p14="http://schemas.microsoft.com/office/powerpoint/2010/main" val="3792321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3</a:t>
            </a:fld>
            <a:endParaRPr lang="en-GB"/>
          </a:p>
        </p:txBody>
      </p:sp>
    </p:spTree>
    <p:extLst>
      <p:ext uri="{BB962C8B-B14F-4D97-AF65-F5344CB8AC3E}">
        <p14:creationId xmlns:p14="http://schemas.microsoft.com/office/powerpoint/2010/main" val="2516736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4</a:t>
            </a:fld>
            <a:endParaRPr lang="en-GB"/>
          </a:p>
        </p:txBody>
      </p:sp>
    </p:spTree>
    <p:extLst>
      <p:ext uri="{BB962C8B-B14F-4D97-AF65-F5344CB8AC3E}">
        <p14:creationId xmlns:p14="http://schemas.microsoft.com/office/powerpoint/2010/main" val="3820317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0EE05-51EE-2B9C-537B-090CF0F06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F3B28-11D2-90CB-CC75-5F0AB5B7F3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D6307-C279-79C3-D125-A433A39D155F}"/>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EBBED3EF-A0D0-FE90-6AED-4FDB96A70103}"/>
              </a:ext>
            </a:extLst>
          </p:cNvPr>
          <p:cNvSpPr>
            <a:spLocks noGrp="1"/>
          </p:cNvSpPr>
          <p:nvPr>
            <p:ph type="sldNum" sz="quarter" idx="5"/>
          </p:nvPr>
        </p:nvSpPr>
        <p:spPr/>
        <p:txBody>
          <a:bodyPr/>
          <a:lstStyle/>
          <a:p>
            <a:fld id="{1BE8DCDC-D13C-2549-BE6A-717E9EED41AD}" type="slidenum">
              <a:rPr lang="en-GB" smtClean="0"/>
              <a:t>6</a:t>
            </a:fld>
            <a:endParaRPr lang="en-GB"/>
          </a:p>
        </p:txBody>
      </p:sp>
    </p:spTree>
    <p:extLst>
      <p:ext uri="{BB962C8B-B14F-4D97-AF65-F5344CB8AC3E}">
        <p14:creationId xmlns:p14="http://schemas.microsoft.com/office/powerpoint/2010/main" val="604066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7</a:t>
            </a:fld>
            <a:endParaRPr lang="en-GB"/>
          </a:p>
        </p:txBody>
      </p:sp>
    </p:spTree>
    <p:extLst>
      <p:ext uri="{BB962C8B-B14F-4D97-AF65-F5344CB8AC3E}">
        <p14:creationId xmlns:p14="http://schemas.microsoft.com/office/powerpoint/2010/main" val="2588058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5C5A6-271B-C098-1BAF-086A7839A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7AAD6-3D1D-B71D-7844-B1A32DB98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2DA6C-B224-FDA4-241B-F17B6002AC3B}"/>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43B4AE33-9653-4882-B18F-A63F5DC8EEDB}"/>
              </a:ext>
            </a:extLst>
          </p:cNvPr>
          <p:cNvSpPr>
            <a:spLocks noGrp="1"/>
          </p:cNvSpPr>
          <p:nvPr>
            <p:ph type="sldNum" sz="quarter" idx="5"/>
          </p:nvPr>
        </p:nvSpPr>
        <p:spPr/>
        <p:txBody>
          <a:bodyPr/>
          <a:lstStyle/>
          <a:p>
            <a:fld id="{1BE8DCDC-D13C-2549-BE6A-717E9EED41AD}" type="slidenum">
              <a:rPr lang="en-GB" smtClean="0"/>
              <a:t>9</a:t>
            </a:fld>
            <a:endParaRPr lang="en-GB"/>
          </a:p>
        </p:txBody>
      </p:sp>
    </p:spTree>
    <p:extLst>
      <p:ext uri="{BB962C8B-B14F-4D97-AF65-F5344CB8AC3E}">
        <p14:creationId xmlns:p14="http://schemas.microsoft.com/office/powerpoint/2010/main" val="2951671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10</a:t>
            </a:fld>
            <a:endParaRPr lang="en-GB"/>
          </a:p>
        </p:txBody>
      </p:sp>
    </p:spTree>
    <p:extLst>
      <p:ext uri="{BB962C8B-B14F-4D97-AF65-F5344CB8AC3E}">
        <p14:creationId xmlns:p14="http://schemas.microsoft.com/office/powerpoint/2010/main" val="2391300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6651C-4406-AF91-06B1-B18FB015E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AE330-B35F-A0C4-4EE8-CEAACFE360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B223B-BA12-7128-84F4-D2235CBC13D1}"/>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DA9CCE4D-4798-0F11-773A-E6DED9E020B6}"/>
              </a:ext>
            </a:extLst>
          </p:cNvPr>
          <p:cNvSpPr>
            <a:spLocks noGrp="1"/>
          </p:cNvSpPr>
          <p:nvPr>
            <p:ph type="sldNum" sz="quarter" idx="5"/>
          </p:nvPr>
        </p:nvSpPr>
        <p:spPr/>
        <p:txBody>
          <a:bodyPr/>
          <a:lstStyle/>
          <a:p>
            <a:fld id="{1BE8DCDC-D13C-2549-BE6A-717E9EED41AD}" type="slidenum">
              <a:rPr lang="en-GB" smtClean="0"/>
              <a:t>11</a:t>
            </a:fld>
            <a:endParaRPr lang="en-GB"/>
          </a:p>
        </p:txBody>
      </p:sp>
    </p:spTree>
    <p:extLst>
      <p:ext uri="{BB962C8B-B14F-4D97-AF65-F5344CB8AC3E}">
        <p14:creationId xmlns:p14="http://schemas.microsoft.com/office/powerpoint/2010/main" val="463344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To be updated with cost breakdown graph</a:t>
            </a:r>
          </a:p>
        </p:txBody>
      </p:sp>
      <p:sp>
        <p:nvSpPr>
          <p:cNvPr id="4" name="Slide Number Placeholder 3"/>
          <p:cNvSpPr>
            <a:spLocks noGrp="1"/>
          </p:cNvSpPr>
          <p:nvPr>
            <p:ph type="sldNum" sz="quarter" idx="5"/>
          </p:nvPr>
        </p:nvSpPr>
        <p:spPr/>
        <p:txBody>
          <a:bodyPr/>
          <a:lstStyle/>
          <a:p>
            <a:fld id="{1BE8DCDC-D13C-2549-BE6A-717E9EED41AD}" type="slidenum">
              <a:rPr lang="en-GB" smtClean="0"/>
              <a:t>13</a:t>
            </a:fld>
            <a:endParaRPr lang="en-GB"/>
          </a:p>
        </p:txBody>
      </p:sp>
    </p:spTree>
    <p:extLst>
      <p:ext uri="{BB962C8B-B14F-4D97-AF65-F5344CB8AC3E}">
        <p14:creationId xmlns:p14="http://schemas.microsoft.com/office/powerpoint/2010/main" val="3512786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0FFAF-AAED-62DA-CFA6-CCB08DFBA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951B6-6A48-8F35-9AFC-456FF2ADD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1FD61-94BA-C9C4-5E4D-2751594DBE65}"/>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EB3127A7-AFFD-63DD-F216-C1B07362C111}"/>
              </a:ext>
            </a:extLst>
          </p:cNvPr>
          <p:cNvSpPr>
            <a:spLocks noGrp="1"/>
          </p:cNvSpPr>
          <p:nvPr>
            <p:ph type="sldNum" sz="quarter" idx="5"/>
          </p:nvPr>
        </p:nvSpPr>
        <p:spPr/>
        <p:txBody>
          <a:bodyPr/>
          <a:lstStyle/>
          <a:p>
            <a:fld id="{1BE8DCDC-D13C-2549-BE6A-717E9EED41AD}" type="slidenum">
              <a:rPr lang="en-GB" smtClean="0"/>
              <a:t>15</a:t>
            </a:fld>
            <a:endParaRPr lang="en-GB"/>
          </a:p>
        </p:txBody>
      </p:sp>
    </p:spTree>
    <p:extLst>
      <p:ext uri="{BB962C8B-B14F-4D97-AF65-F5344CB8AC3E}">
        <p14:creationId xmlns:p14="http://schemas.microsoft.com/office/powerpoint/2010/main" val="1133016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A few major changes have been made in response to the piloting phase. Some is behind the scenes (updating algorithms, baseline data), some is formatting and presentation of results, and some is adding additional functionalities that were requested (like being able to break down PrEP for different risk groups), and adding in a functionality to change the frequency of clinical visits for stable clients</a:t>
            </a:r>
          </a:p>
          <a:p>
            <a:endParaRPr lang="en-NL" dirty="0"/>
          </a:p>
          <a:p>
            <a:r>
              <a:rPr lang="en-NL" dirty="0"/>
              <a:t>(NOTE: add the assumption sheet here too)</a:t>
            </a:r>
          </a:p>
        </p:txBody>
      </p:sp>
      <p:sp>
        <p:nvSpPr>
          <p:cNvPr id="4" name="Slide Number Placeholder 3"/>
          <p:cNvSpPr>
            <a:spLocks noGrp="1"/>
          </p:cNvSpPr>
          <p:nvPr>
            <p:ph type="sldNum" sz="quarter" idx="5"/>
          </p:nvPr>
        </p:nvSpPr>
        <p:spPr/>
        <p:txBody>
          <a:bodyPr/>
          <a:lstStyle/>
          <a:p>
            <a:fld id="{1BE8DCDC-D13C-2549-BE6A-717E9EED41AD}" type="slidenum">
              <a:rPr lang="en-GB" smtClean="0"/>
              <a:t>18</a:t>
            </a:fld>
            <a:endParaRPr lang="en-GB"/>
          </a:p>
        </p:txBody>
      </p:sp>
    </p:spTree>
    <p:extLst>
      <p:ext uri="{BB962C8B-B14F-4D97-AF65-F5344CB8AC3E}">
        <p14:creationId xmlns:p14="http://schemas.microsoft.com/office/powerpoint/2010/main" val="1357348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20</a:t>
            </a:fld>
            <a:endParaRPr lang="en-GB"/>
          </a:p>
        </p:txBody>
      </p:sp>
    </p:spTree>
    <p:extLst>
      <p:ext uri="{BB962C8B-B14F-4D97-AF65-F5344CB8AC3E}">
        <p14:creationId xmlns:p14="http://schemas.microsoft.com/office/powerpoint/2010/main" val="143139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357341" cy="5759450"/>
          </a:xfrm>
          <a:prstGeom prst="rect">
            <a:avLst/>
          </a:prstGeom>
        </p:spPr>
        <p:txBody>
          <a:bodyPr lIns="0" tIns="0" rIns="0" bIns="0" anchor="ctr" anchorCtr="0">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pic>
        <p:nvPicPr>
          <p:cNvPr id="9" name="Picture 8">
            <a:extLst>
              <a:ext uri="{FF2B5EF4-FFF2-40B4-BE49-F238E27FC236}">
                <a16:creationId xmlns:a16="http://schemas.microsoft.com/office/drawing/2014/main" id="{F044E8B6-6518-A33D-7A70-C9FD6E468D67}"/>
              </a:ext>
            </a:extLst>
          </p:cNvPr>
          <p:cNvPicPr>
            <a:picLocks noChangeAspect="1"/>
          </p:cNvPicPr>
          <p:nvPr userDrawn="1"/>
        </p:nvPicPr>
        <p:blipFill>
          <a:blip r:embed="rId2"/>
          <a:srcRect/>
          <a:stretch/>
        </p:blipFill>
        <p:spPr>
          <a:xfrm>
            <a:off x="127306" y="4037048"/>
            <a:ext cx="3585484" cy="2308665"/>
          </a:xfrm>
          <a:prstGeom prst="rect">
            <a:avLst/>
          </a:prstGeom>
        </p:spPr>
      </p:pic>
      <p:pic>
        <p:nvPicPr>
          <p:cNvPr id="21" name="Picture 20">
            <a:extLst>
              <a:ext uri="{FF2B5EF4-FFF2-40B4-BE49-F238E27FC236}">
                <a16:creationId xmlns:a16="http://schemas.microsoft.com/office/drawing/2014/main" id="{09FCB7F2-EDDE-2631-46A7-9B1DBF90345A}"/>
              </a:ext>
            </a:extLst>
          </p:cNvPr>
          <p:cNvPicPr>
            <a:picLocks noChangeAspect="1"/>
          </p:cNvPicPr>
          <p:nvPr userDrawn="1"/>
        </p:nvPicPr>
        <p:blipFill>
          <a:blip r:embed="rId3"/>
          <a:stretch>
            <a:fillRect/>
          </a:stretch>
        </p:blipFill>
        <p:spPr>
          <a:xfrm>
            <a:off x="0" y="0"/>
            <a:ext cx="4059534" cy="3696086"/>
          </a:xfrm>
          <a:prstGeom prst="rect">
            <a:avLst/>
          </a:prstGeom>
        </p:spPr>
      </p:pic>
      <p:sp>
        <p:nvSpPr>
          <p:cNvPr id="22" name="TextBox 21">
            <a:extLst>
              <a:ext uri="{FF2B5EF4-FFF2-40B4-BE49-F238E27FC236}">
                <a16:creationId xmlns:a16="http://schemas.microsoft.com/office/drawing/2014/main" id="{2E11E1F5-72FC-EA6D-2311-C01BA07ECAEE}"/>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23" name="TextBox 22">
            <a:extLst>
              <a:ext uri="{FF2B5EF4-FFF2-40B4-BE49-F238E27FC236}">
                <a16:creationId xmlns:a16="http://schemas.microsoft.com/office/drawing/2014/main" id="{FFD81D20-A5D3-92AD-E846-1BFCC81E7AC4}"/>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95456045"/>
      </p:ext>
    </p:extLst>
  </p:cSld>
  <p:clrMapOvr>
    <a:masterClrMapping/>
  </p:clrMapOvr>
  <p:extLst>
    <p:ext uri="{DCECCB84-F9BA-43D5-87BE-67443E8EF086}">
      <p15:sldGuideLst xmlns:p15="http://schemas.microsoft.com/office/powerpoint/2012/main">
        <p15:guide id="1" pos="3840">
          <p15:clr>
            <a:srgbClr val="FBAE40"/>
          </p15:clr>
        </p15:guide>
        <p15:guide id="2" pos="24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632700" cy="5759450"/>
          </a:xfrm>
          <a:prstGeom prst="rect">
            <a:avLst/>
          </a:prstGeom>
        </p:spPr>
        <p:txBody>
          <a:bodyPr lIns="0" tIns="0" rIns="0" bIns="0" anchor="ctr">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9" name="TextBox 8">
            <a:extLst>
              <a:ext uri="{FF2B5EF4-FFF2-40B4-BE49-F238E27FC236}">
                <a16:creationId xmlns:a16="http://schemas.microsoft.com/office/drawing/2014/main" id="{4696DA62-48A2-4910-51D9-5349612C170E}"/>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0" name="TextBox 9">
            <a:extLst>
              <a:ext uri="{FF2B5EF4-FFF2-40B4-BE49-F238E27FC236}">
                <a16:creationId xmlns:a16="http://schemas.microsoft.com/office/drawing/2014/main" id="{CBF5C391-D1F0-666B-06E0-AD34C2274C7A}"/>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11" name="Picture 10">
            <a:extLst>
              <a:ext uri="{FF2B5EF4-FFF2-40B4-BE49-F238E27FC236}">
                <a16:creationId xmlns:a16="http://schemas.microsoft.com/office/drawing/2014/main" id="{8B27D770-6B73-6C3D-D0E2-95502F84F8AE}"/>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51294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632700" cy="5759450"/>
          </a:xfrm>
          <a:prstGeom prst="rect">
            <a:avLst/>
          </a:prstGeom>
        </p:spPr>
        <p:txBody>
          <a:bodyPr lIns="0" tIns="0" rIns="0" bIns="0" anchor="ctr">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9" name="TextBox 8">
            <a:extLst>
              <a:ext uri="{FF2B5EF4-FFF2-40B4-BE49-F238E27FC236}">
                <a16:creationId xmlns:a16="http://schemas.microsoft.com/office/drawing/2014/main" id="{4696DA62-48A2-4910-51D9-5349612C170E}"/>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0" name="TextBox 9">
            <a:extLst>
              <a:ext uri="{FF2B5EF4-FFF2-40B4-BE49-F238E27FC236}">
                <a16:creationId xmlns:a16="http://schemas.microsoft.com/office/drawing/2014/main" id="{CBF5C391-D1F0-666B-06E0-AD34C2274C7A}"/>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5" name="Picture 4">
            <a:extLst>
              <a:ext uri="{FF2B5EF4-FFF2-40B4-BE49-F238E27FC236}">
                <a16:creationId xmlns:a16="http://schemas.microsoft.com/office/drawing/2014/main" id="{D37C8642-0124-622F-BAF5-E8A0C111DED4}"/>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165097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84E54A-D965-FC50-802E-562CE671CB7A}"/>
              </a:ext>
            </a:extLst>
          </p:cNvPr>
          <p:cNvSpPr/>
          <p:nvPr userDrawn="1"/>
        </p:nvSpPr>
        <p:spPr>
          <a:xfrm>
            <a:off x="0" y="0"/>
            <a:ext cx="12192000" cy="1665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Title 1">
            <a:extLst>
              <a:ext uri="{FF2B5EF4-FFF2-40B4-BE49-F238E27FC236}">
                <a16:creationId xmlns:a16="http://schemas.microsoft.com/office/drawing/2014/main" id="{0B918DAA-45D8-EF4A-B0DE-9DB83618DF2E}"/>
              </a:ext>
            </a:extLst>
          </p:cNvPr>
          <p:cNvSpPr>
            <a:spLocks noGrp="1"/>
          </p:cNvSpPr>
          <p:nvPr>
            <p:ph type="title"/>
          </p:nvPr>
        </p:nvSpPr>
        <p:spPr>
          <a:xfrm>
            <a:off x="442913" y="441325"/>
            <a:ext cx="8891914" cy="1223964"/>
          </a:xfrm>
          <a:prstGeom prst="rect">
            <a:avLst/>
          </a:prstGeom>
        </p:spPr>
        <p:txBody>
          <a:bodyPr lIns="0" tIns="0" rIns="0" bIns="0" anchor="b"/>
          <a:lstStyle/>
          <a:p>
            <a:r>
              <a:rPr lang="en-GB" noProof="0"/>
              <a:t>Click to edit Master title style</a:t>
            </a:r>
            <a:endParaRPr lang="en-GB" noProof="0" dirty="0"/>
          </a:p>
        </p:txBody>
      </p:sp>
      <p:sp>
        <p:nvSpPr>
          <p:cNvPr id="9" name="TextBox 8">
            <a:extLst>
              <a:ext uri="{FF2B5EF4-FFF2-40B4-BE49-F238E27FC236}">
                <a16:creationId xmlns:a16="http://schemas.microsoft.com/office/drawing/2014/main" id="{05DE0E92-4155-274E-B8D3-6224F5791510}"/>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8" name="TextBox 7">
            <a:extLst>
              <a:ext uri="{FF2B5EF4-FFF2-40B4-BE49-F238E27FC236}">
                <a16:creationId xmlns:a16="http://schemas.microsoft.com/office/drawing/2014/main" id="{E3DCB52A-22C1-CC1A-5306-2A67B54510F5}"/>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pic>
        <p:nvPicPr>
          <p:cNvPr id="11" name="Picture 10">
            <a:extLst>
              <a:ext uri="{FF2B5EF4-FFF2-40B4-BE49-F238E27FC236}">
                <a16:creationId xmlns:a16="http://schemas.microsoft.com/office/drawing/2014/main" id="{EB4EE815-10FC-404F-AA02-42FDEC9EF32B}"/>
              </a:ext>
            </a:extLst>
          </p:cNvPr>
          <p:cNvPicPr>
            <a:picLocks noChangeAspect="1"/>
          </p:cNvPicPr>
          <p:nvPr userDrawn="1"/>
        </p:nvPicPr>
        <p:blipFill>
          <a:blip r:embed="rId2"/>
          <a:srcRect/>
          <a:stretch/>
        </p:blipFill>
        <p:spPr>
          <a:xfrm>
            <a:off x="9641299" y="248555"/>
            <a:ext cx="2328312" cy="1499182"/>
          </a:xfrm>
          <a:prstGeom prst="rect">
            <a:avLst/>
          </a:prstGeom>
        </p:spPr>
      </p:pic>
      <p:sp>
        <p:nvSpPr>
          <p:cNvPr id="12" name="TextBox 11">
            <a:extLst>
              <a:ext uri="{FF2B5EF4-FFF2-40B4-BE49-F238E27FC236}">
                <a16:creationId xmlns:a16="http://schemas.microsoft.com/office/drawing/2014/main" id="{4AF0A2EB-42C3-D81B-AB52-D398F3B5452D}"/>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3" name="TextBox 12">
            <a:extLst>
              <a:ext uri="{FF2B5EF4-FFF2-40B4-BE49-F238E27FC236}">
                <a16:creationId xmlns:a16="http://schemas.microsoft.com/office/drawing/2014/main" id="{E3B065CA-40FB-7F48-9E62-95C7492E7738}"/>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453005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C6D1B286-EE94-DE44-8BBB-C1AC46863680}"/>
              </a:ext>
            </a:extLst>
          </p:cNvPr>
          <p:cNvSpPr>
            <a:spLocks noGrp="1"/>
          </p:cNvSpPr>
          <p:nvPr>
            <p:ph sz="quarter" idx="13"/>
          </p:nvPr>
        </p:nvSpPr>
        <p:spPr>
          <a:xfrm>
            <a:off x="442913" y="2097089"/>
            <a:ext cx="5437187" cy="4103686"/>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3" y="2097091"/>
            <a:ext cx="5437188" cy="4103687"/>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0" name="Title 1">
            <a:extLst>
              <a:ext uri="{FF2B5EF4-FFF2-40B4-BE49-F238E27FC236}">
                <a16:creationId xmlns:a16="http://schemas.microsoft.com/office/drawing/2014/main" id="{E5A67C6D-451D-6C40-B015-49D1207326AE}"/>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48551B1C-217B-4F4B-81FF-529B758036DF}"/>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Box 3">
            <a:extLst>
              <a:ext uri="{FF2B5EF4-FFF2-40B4-BE49-F238E27FC236}">
                <a16:creationId xmlns:a16="http://schemas.microsoft.com/office/drawing/2014/main" id="{23DF6C31-4E8E-5BDB-94AB-7610F1DA05D3}"/>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CC054057-F02E-2B99-E32E-F9979D4EEE57}"/>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6" name="TextBox 5">
            <a:extLst>
              <a:ext uri="{FF2B5EF4-FFF2-40B4-BE49-F238E27FC236}">
                <a16:creationId xmlns:a16="http://schemas.microsoft.com/office/drawing/2014/main" id="{091067E1-F7EC-01BB-7973-A7A252E1C286}"/>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4357420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with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2D4093A-7AF9-304D-AE6D-F745B4F0164D}"/>
              </a:ext>
            </a:extLst>
          </p:cNvPr>
          <p:cNvSpPr>
            <a:spLocks noGrp="1"/>
          </p:cNvSpPr>
          <p:nvPr>
            <p:ph type="body" sz="quarter" idx="13"/>
          </p:nvPr>
        </p:nvSpPr>
        <p:spPr>
          <a:xfrm>
            <a:off x="442915" y="3256767"/>
            <a:ext cx="5437188" cy="2944008"/>
          </a:xfrm>
          <a:prstGeom prst="rect">
            <a:avLst/>
          </a:prstGeom>
        </p:spPr>
        <p:txBody>
          <a:bodyPr lIns="0" tIns="0" rIns="0" bIns="0" anchor="t">
            <a:normAutofit/>
          </a:bodyPr>
          <a:lstStyle>
            <a:lvl1pPr marL="0" indent="0">
              <a:buNone/>
              <a:defRPr sz="1400"/>
            </a:lvl1pPr>
          </a:lstStyle>
          <a:p>
            <a:pPr lvl="0"/>
            <a:r>
              <a:rPr lang="en-GB" noProof="0"/>
              <a:t>Click to edit Master text styles</a:t>
            </a:r>
          </a:p>
        </p:txBody>
      </p:sp>
      <p:sp>
        <p:nvSpPr>
          <p:cNvPr id="12" name="Content Placeholder 11">
            <a:extLst>
              <a:ext uri="{FF2B5EF4-FFF2-40B4-BE49-F238E27FC236}">
                <a16:creationId xmlns:a16="http://schemas.microsoft.com/office/drawing/2014/main" id="{FEE9A4EF-A011-1744-9932-D74E1968F6E7}"/>
              </a:ext>
            </a:extLst>
          </p:cNvPr>
          <p:cNvSpPr>
            <a:spLocks noGrp="1"/>
          </p:cNvSpPr>
          <p:nvPr>
            <p:ph sz="quarter" idx="14"/>
          </p:nvPr>
        </p:nvSpPr>
        <p:spPr>
          <a:xfrm>
            <a:off x="6311903" y="441325"/>
            <a:ext cx="5437188" cy="5759450"/>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6" name="Title 10">
            <a:extLst>
              <a:ext uri="{FF2B5EF4-FFF2-40B4-BE49-F238E27FC236}">
                <a16:creationId xmlns:a16="http://schemas.microsoft.com/office/drawing/2014/main" id="{091C71F5-B0A7-8745-8F8B-E636D57FA2A7}"/>
              </a:ext>
            </a:extLst>
          </p:cNvPr>
          <p:cNvSpPr>
            <a:spLocks noGrp="1"/>
          </p:cNvSpPr>
          <p:nvPr>
            <p:ph type="title"/>
          </p:nvPr>
        </p:nvSpPr>
        <p:spPr>
          <a:xfrm>
            <a:off x="442913" y="1881188"/>
            <a:ext cx="5437187" cy="1212747"/>
          </a:xfrm>
          <a:prstGeom prst="rect">
            <a:avLst/>
          </a:prstGeom>
        </p:spPr>
        <p:txBody>
          <a:bodyPr lIns="0" tIns="0" rIns="0" bIns="0" anchor="b"/>
          <a:lstStyle/>
          <a:p>
            <a:r>
              <a:rPr lang="en-GB" noProof="0"/>
              <a:t>Click to edit Master title style</a:t>
            </a:r>
            <a:endParaRPr lang="en-GB" noProof="0" dirty="0"/>
          </a:p>
        </p:txBody>
      </p:sp>
      <p:sp>
        <p:nvSpPr>
          <p:cNvPr id="13" name="TextBox 12">
            <a:extLst>
              <a:ext uri="{FF2B5EF4-FFF2-40B4-BE49-F238E27FC236}">
                <a16:creationId xmlns:a16="http://schemas.microsoft.com/office/drawing/2014/main" id="{67AD4010-0096-6B46-B74C-E77670FCDEA8}"/>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Box 3">
            <a:extLst>
              <a:ext uri="{FF2B5EF4-FFF2-40B4-BE49-F238E27FC236}">
                <a16:creationId xmlns:a16="http://schemas.microsoft.com/office/drawing/2014/main" id="{70103DDA-7889-4B5B-0956-8066BA50259B}"/>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15F07B0A-8C48-EF80-3A83-BF9149E741FA}"/>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6" name="TextBox 5">
            <a:extLst>
              <a:ext uri="{FF2B5EF4-FFF2-40B4-BE49-F238E27FC236}">
                <a16:creationId xmlns:a16="http://schemas.microsoft.com/office/drawing/2014/main" id="{8A89AE47-1EEB-2C92-3C54-1F045097632D}"/>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06148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Text 2">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4116388" y="2097089"/>
            <a:ext cx="7632703"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3368799" cy="4103687"/>
          </a:xfrm>
        </p:spPr>
        <p:txBody>
          <a:bodyPr/>
          <a:lstStyle>
            <a:lvl1pPr marL="0" indent="0">
              <a:buNone/>
              <a:defRPr/>
            </a:lvl1pPr>
          </a:lstStyle>
          <a:p>
            <a:pPr lvl="0"/>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p:txBody>
      </p:sp>
      <p:sp>
        <p:nvSpPr>
          <p:cNvPr id="5" name="TextBox 4">
            <a:extLst>
              <a:ext uri="{FF2B5EF4-FFF2-40B4-BE49-F238E27FC236}">
                <a16:creationId xmlns:a16="http://schemas.microsoft.com/office/drawing/2014/main" id="{B922CF7E-E712-017E-103E-DCEC9512CD09}"/>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90AB2192-2677-291C-F2AE-B0A152218DEC}"/>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E0DD3AD8-8F42-1667-07F4-9D017FB25D1D}"/>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026460239"/>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Text 3">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0" y="2097089"/>
            <a:ext cx="5437191"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5437187" cy="4103687"/>
          </a:xfrm>
        </p:spPr>
        <p:txBody>
          <a:bodyPr/>
          <a:lstStyle>
            <a:lvl1pPr marL="0" indent="0">
              <a:buNone/>
              <a:defRPr/>
            </a:lvl1pPr>
          </a:lstStyle>
          <a:p>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a:p>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 Lorem ipsum </a:t>
            </a:r>
            <a:r>
              <a:rPr lang="en-GB" noProof="0" dirty="0" err="1"/>
              <a:t>dolor</a:t>
            </a:r>
            <a:r>
              <a:rPr lang="en-GB" noProof="0" dirty="0"/>
              <a:t> sit </a:t>
            </a:r>
            <a:r>
              <a:rPr lang="en-GB" noProof="0" dirty="0" err="1"/>
              <a:t>amet</a:t>
            </a:r>
            <a:r>
              <a:rPr lang="en-GB" noProof="0" dirty="0"/>
              <a:t>, </a:t>
            </a:r>
            <a:r>
              <a:rPr lang="en-GB" noProof="0" dirty="0" err="1"/>
              <a:t>consectetur</a:t>
            </a:r>
            <a:r>
              <a:rPr lang="en-GB" noProof="0" dirty="0"/>
              <a:t> </a:t>
            </a:r>
            <a:r>
              <a:rPr lang="en-GB" noProof="0" dirty="0" err="1"/>
              <a:t>adipiscing</a:t>
            </a:r>
            <a:r>
              <a:rPr lang="en-GB" noProof="0" dirty="0"/>
              <a:t> </a:t>
            </a:r>
            <a:r>
              <a:rPr lang="en-GB" noProof="0" dirty="0" err="1"/>
              <a:t>elit</a:t>
            </a:r>
            <a:r>
              <a:rPr lang="en-GB" noProof="0" dirty="0"/>
              <a:t>.</a:t>
            </a:r>
          </a:p>
        </p:txBody>
      </p:sp>
      <p:sp>
        <p:nvSpPr>
          <p:cNvPr id="5" name="TextBox 4">
            <a:extLst>
              <a:ext uri="{FF2B5EF4-FFF2-40B4-BE49-F238E27FC236}">
                <a16:creationId xmlns:a16="http://schemas.microsoft.com/office/drawing/2014/main" id="{FE3A1906-1C90-CD57-B856-9068C16F17CD}"/>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AE4B60B3-9B42-510D-CCDA-A4FD4CB13D11}"/>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DF6A1745-FF3F-423F-8AA2-E352A08E2E46}"/>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367536159"/>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Text 4">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8075613" y="2097089"/>
            <a:ext cx="3673478"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7200900" cy="4103687"/>
          </a:xfrm>
        </p:spPr>
        <p:txBody>
          <a:bodyPr/>
          <a:lstStyle>
            <a:lvl1pPr marL="0" indent="0">
              <a:buNone/>
              <a:defRPr/>
            </a:lvl1pPr>
          </a:lstStyle>
          <a:p>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a:p>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 Lorem ipsum </a:t>
            </a:r>
            <a:r>
              <a:rPr lang="en-GB" noProof="0" dirty="0" err="1"/>
              <a:t>dolor</a:t>
            </a:r>
            <a:r>
              <a:rPr lang="en-GB" noProof="0" dirty="0"/>
              <a:t> sit </a:t>
            </a:r>
            <a:r>
              <a:rPr lang="en-GB" noProof="0" dirty="0" err="1"/>
              <a:t>amet</a:t>
            </a:r>
            <a:r>
              <a:rPr lang="en-GB" noProof="0" dirty="0"/>
              <a:t>, </a:t>
            </a:r>
            <a:r>
              <a:rPr lang="en-GB" noProof="0" dirty="0" err="1"/>
              <a:t>consectetur</a:t>
            </a:r>
            <a:r>
              <a:rPr lang="en-GB" noProof="0" dirty="0"/>
              <a:t> </a:t>
            </a:r>
            <a:r>
              <a:rPr lang="en-GB" noProof="0" dirty="0" err="1"/>
              <a:t>adipiscing</a:t>
            </a:r>
            <a:r>
              <a:rPr lang="en-GB" noProof="0" dirty="0"/>
              <a:t> </a:t>
            </a:r>
            <a:r>
              <a:rPr lang="en-GB" noProof="0" dirty="0" err="1"/>
              <a:t>elit</a:t>
            </a:r>
            <a:r>
              <a:rPr lang="en-GB" noProof="0" dirty="0"/>
              <a:t>.</a:t>
            </a:r>
          </a:p>
          <a:p>
            <a:pPr marL="457200" indent="-457200">
              <a:buFont typeface="Arial" panose="020B0604020202020204" pitchFamily="34" charset="0"/>
              <a:buChar char="•"/>
            </a:pPr>
            <a:r>
              <a:rPr lang="en-GB" noProof="0" dirty="0"/>
              <a:t>Donec </a:t>
            </a:r>
            <a:r>
              <a:rPr lang="en-GB" noProof="0" dirty="0" err="1"/>
              <a:t>rutrum</a:t>
            </a:r>
            <a:r>
              <a:rPr lang="en-GB" noProof="0" dirty="0"/>
              <a:t> </a:t>
            </a:r>
            <a:r>
              <a:rPr lang="en-GB" noProof="0" dirty="0" err="1"/>
              <a:t>congue</a:t>
            </a:r>
            <a:r>
              <a:rPr lang="en-GB" noProof="0" dirty="0"/>
              <a:t> </a:t>
            </a:r>
            <a:r>
              <a:rPr lang="en-GB" noProof="0" dirty="0" err="1"/>
              <a:t>leo</a:t>
            </a:r>
            <a:r>
              <a:rPr lang="en-GB" noProof="0" dirty="0"/>
              <a:t> </a:t>
            </a:r>
            <a:r>
              <a:rPr lang="en-GB" noProof="0" dirty="0" err="1"/>
              <a:t>eget</a:t>
            </a:r>
            <a:r>
              <a:rPr lang="en-GB" noProof="0" dirty="0"/>
              <a:t> </a:t>
            </a:r>
            <a:r>
              <a:rPr lang="en-GB" noProof="0" dirty="0" err="1"/>
              <a:t>malesuada</a:t>
            </a:r>
            <a:r>
              <a:rPr lang="en-GB" noProof="0" dirty="0"/>
              <a:t>.</a:t>
            </a:r>
          </a:p>
          <a:p>
            <a:pPr marL="457200" indent="-457200">
              <a:buFont typeface="Arial" panose="020B0604020202020204" pitchFamily="34" charset="0"/>
              <a:buChar char="•"/>
            </a:pPr>
            <a:r>
              <a:rPr lang="en-GB" noProof="0" dirty="0" err="1"/>
              <a:t>Curabitur</a:t>
            </a:r>
            <a:r>
              <a:rPr lang="en-GB" noProof="0" dirty="0"/>
              <a:t> </a:t>
            </a:r>
            <a:r>
              <a:rPr lang="en-GB" noProof="0" dirty="0" err="1"/>
              <a:t>aliquet</a:t>
            </a:r>
            <a:r>
              <a:rPr lang="en-GB" noProof="0" dirty="0"/>
              <a:t> </a:t>
            </a:r>
            <a:r>
              <a:rPr lang="en-GB" noProof="0" dirty="0" err="1"/>
              <a:t>quam</a:t>
            </a:r>
            <a:r>
              <a:rPr lang="en-GB" noProof="0" dirty="0"/>
              <a:t> id dui </a:t>
            </a:r>
            <a:r>
              <a:rPr lang="en-GB" noProof="0" dirty="0" err="1"/>
              <a:t>posuere</a:t>
            </a:r>
            <a:r>
              <a:rPr lang="en-GB" noProof="0" dirty="0"/>
              <a:t> </a:t>
            </a:r>
            <a:r>
              <a:rPr lang="en-GB" noProof="0" dirty="0" err="1"/>
              <a:t>blandit</a:t>
            </a:r>
            <a:r>
              <a:rPr lang="en-GB" noProof="0" dirty="0"/>
              <a:t>.</a:t>
            </a:r>
          </a:p>
          <a:p>
            <a:pPr marL="457200" indent="-457200">
              <a:buFont typeface="Arial" panose="020B0604020202020204" pitchFamily="34" charset="0"/>
              <a:buChar char="•"/>
            </a:pPr>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a:t>
            </a:r>
          </a:p>
        </p:txBody>
      </p:sp>
      <p:sp>
        <p:nvSpPr>
          <p:cNvPr id="5" name="TextBox 4">
            <a:extLst>
              <a:ext uri="{FF2B5EF4-FFF2-40B4-BE49-F238E27FC236}">
                <a16:creationId xmlns:a16="http://schemas.microsoft.com/office/drawing/2014/main" id="{776350AF-01E5-1584-1D6E-A24252F1C3E6}"/>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8F091343-887A-7C27-2A65-1394B1B02F38}"/>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8D42407B-17FD-C502-1243-774F728D13CE}"/>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73630937"/>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with Caption 2">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5512DB3-4C68-E6AE-8D86-2B37C85E701B}"/>
              </a:ext>
            </a:extLst>
          </p:cNvPr>
          <p:cNvPicPr>
            <a:picLocks noChangeAspect="1"/>
          </p:cNvPicPr>
          <p:nvPr userDrawn="1"/>
        </p:nvPicPr>
        <p:blipFill>
          <a:blip r:embed="rId2"/>
          <a:srcRect/>
          <a:stretch/>
        </p:blipFill>
        <p:spPr>
          <a:xfrm>
            <a:off x="8075613" y="0"/>
            <a:ext cx="4114800" cy="6858000"/>
          </a:xfrm>
          <a:prstGeom prst="rect">
            <a:avLst/>
          </a:prstGeom>
        </p:spPr>
      </p:pic>
      <p:sp>
        <p:nvSpPr>
          <p:cNvPr id="8" name="Text Placeholder 7">
            <a:extLst>
              <a:ext uri="{FF2B5EF4-FFF2-40B4-BE49-F238E27FC236}">
                <a16:creationId xmlns:a16="http://schemas.microsoft.com/office/drawing/2014/main" id="{22D4093A-7AF9-304D-AE6D-F745B4F0164D}"/>
              </a:ext>
            </a:extLst>
          </p:cNvPr>
          <p:cNvSpPr>
            <a:spLocks noGrp="1"/>
          </p:cNvSpPr>
          <p:nvPr>
            <p:ph type="body" sz="quarter" idx="13"/>
          </p:nvPr>
        </p:nvSpPr>
        <p:spPr>
          <a:xfrm>
            <a:off x="442915" y="3256767"/>
            <a:ext cx="5437188" cy="2944008"/>
          </a:xfrm>
          <a:prstGeom prst="rect">
            <a:avLst/>
          </a:prstGeom>
        </p:spPr>
        <p:txBody>
          <a:bodyPr lIns="0" tIns="0" rIns="0" bIns="0" anchor="t">
            <a:normAutofit/>
          </a:bodyPr>
          <a:lstStyle>
            <a:lvl1pPr marL="0" indent="0">
              <a:buNone/>
              <a:defRPr sz="1400"/>
            </a:lvl1pPr>
          </a:lstStyle>
          <a:p>
            <a:pPr lvl="0"/>
            <a:r>
              <a:rPr lang="en-GB" noProof="0"/>
              <a:t>Click to edit Master text styles</a:t>
            </a:r>
          </a:p>
        </p:txBody>
      </p:sp>
      <p:sp>
        <p:nvSpPr>
          <p:cNvPr id="11" name="Title 10">
            <a:extLst>
              <a:ext uri="{FF2B5EF4-FFF2-40B4-BE49-F238E27FC236}">
                <a16:creationId xmlns:a16="http://schemas.microsoft.com/office/drawing/2014/main" id="{22C07795-8A1B-4F48-ADAF-7475467E7A60}"/>
              </a:ext>
            </a:extLst>
          </p:cNvPr>
          <p:cNvSpPr>
            <a:spLocks noGrp="1"/>
          </p:cNvSpPr>
          <p:nvPr>
            <p:ph type="title"/>
          </p:nvPr>
        </p:nvSpPr>
        <p:spPr>
          <a:xfrm>
            <a:off x="442913" y="1881188"/>
            <a:ext cx="5437187" cy="1212747"/>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DD43CCD-AAFC-B847-BF0F-B7E2A805F6E1}"/>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10" name="Picture Placeholder 9">
            <a:extLst>
              <a:ext uri="{FF2B5EF4-FFF2-40B4-BE49-F238E27FC236}">
                <a16:creationId xmlns:a16="http://schemas.microsoft.com/office/drawing/2014/main" id="{A12FA691-34E1-B147-9F45-2CFB053A59B9}"/>
              </a:ext>
            </a:extLst>
          </p:cNvPr>
          <p:cNvSpPr>
            <a:spLocks noGrp="1"/>
          </p:cNvSpPr>
          <p:nvPr>
            <p:ph type="pic" sz="quarter" idx="14"/>
          </p:nvPr>
        </p:nvSpPr>
        <p:spPr>
          <a:xfrm>
            <a:off x="6474702" y="979714"/>
            <a:ext cx="4734000" cy="4898572"/>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5" name="TextBox 4">
            <a:extLst>
              <a:ext uri="{FF2B5EF4-FFF2-40B4-BE49-F238E27FC236}">
                <a16:creationId xmlns:a16="http://schemas.microsoft.com/office/drawing/2014/main" id="{A79FCCC6-1BCF-D16E-D5A2-940EE11165DD}"/>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7" name="TextBox 6">
            <a:extLst>
              <a:ext uri="{FF2B5EF4-FFF2-40B4-BE49-F238E27FC236}">
                <a16:creationId xmlns:a16="http://schemas.microsoft.com/office/drawing/2014/main" id="{3A19DD43-09A7-C0FA-FD23-56F06106877D}"/>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2" name="TextBox 11">
            <a:extLst>
              <a:ext uri="{FF2B5EF4-FFF2-40B4-BE49-F238E27FC236}">
                <a16:creationId xmlns:a16="http://schemas.microsoft.com/office/drawing/2014/main" id="{BEC753A9-3B8C-F8F1-F06A-BC751753B4D7}"/>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34550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mage and Content - Pattern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B0B8AC0-F5B9-4961-AB36-A3709CEF5207}"/>
              </a:ext>
            </a:extLst>
          </p:cNvPr>
          <p:cNvPicPr>
            <a:picLocks noChangeAspect="1"/>
          </p:cNvPicPr>
          <p:nvPr userDrawn="1"/>
        </p:nvPicPr>
        <p:blipFill>
          <a:blip r:embed="rId2"/>
          <a:stretch>
            <a:fillRect/>
          </a:stretch>
        </p:blipFill>
        <p:spPr>
          <a:xfrm>
            <a:off x="0" y="2960642"/>
            <a:ext cx="4280598" cy="3897357"/>
          </a:xfrm>
          <a:prstGeom prst="rect">
            <a:avLst/>
          </a:prstGeom>
        </p:spPr>
      </p:pic>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3" y="2097091"/>
            <a:ext cx="5437188" cy="4103687"/>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3" name="Title 1">
            <a:extLst>
              <a:ext uri="{FF2B5EF4-FFF2-40B4-BE49-F238E27FC236}">
                <a16:creationId xmlns:a16="http://schemas.microsoft.com/office/drawing/2014/main" id="{3A9FAEF4-2CDC-9742-AEF3-A25C5A448891}"/>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7" name="Picture Placeholder 2">
            <a:extLst>
              <a:ext uri="{FF2B5EF4-FFF2-40B4-BE49-F238E27FC236}">
                <a16:creationId xmlns:a16="http://schemas.microsoft.com/office/drawing/2014/main" id="{14DCF326-D6B4-5E4A-8E2C-D9FE40FD28A1}"/>
              </a:ext>
            </a:extLst>
          </p:cNvPr>
          <p:cNvSpPr>
            <a:spLocks noGrp="1"/>
          </p:cNvSpPr>
          <p:nvPr>
            <p:ph type="pic" sz="quarter" idx="15"/>
          </p:nvPr>
        </p:nvSpPr>
        <p:spPr>
          <a:xfrm>
            <a:off x="1188719" y="2098800"/>
            <a:ext cx="4690800" cy="3571200"/>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6" name="TextBox 5">
            <a:extLst>
              <a:ext uri="{FF2B5EF4-FFF2-40B4-BE49-F238E27FC236}">
                <a16:creationId xmlns:a16="http://schemas.microsoft.com/office/drawing/2014/main" id="{190943C6-B383-4763-B926-D1CB8D8C92A1}"/>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8" name="TextBox 7">
            <a:extLst>
              <a:ext uri="{FF2B5EF4-FFF2-40B4-BE49-F238E27FC236}">
                <a16:creationId xmlns:a16="http://schemas.microsoft.com/office/drawing/2014/main" id="{833B36E5-CE69-3B1E-B3BD-1693FA1E6BE8}"/>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9882922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mage and Content">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C6D1B286-EE94-DE44-8BBB-C1AC46863680}"/>
              </a:ext>
            </a:extLst>
          </p:cNvPr>
          <p:cNvSpPr>
            <a:spLocks noGrp="1"/>
          </p:cNvSpPr>
          <p:nvPr>
            <p:ph sz="quarter" idx="13"/>
          </p:nvPr>
        </p:nvSpPr>
        <p:spPr>
          <a:xfrm>
            <a:off x="442913" y="2097089"/>
            <a:ext cx="5437187" cy="4103686"/>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20" name="Title 1">
            <a:extLst>
              <a:ext uri="{FF2B5EF4-FFF2-40B4-BE49-F238E27FC236}">
                <a16:creationId xmlns:a16="http://schemas.microsoft.com/office/drawing/2014/main" id="{93976421-9C43-4A44-829D-511FFE0243F2}"/>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3" name="Picture Placeholder 2">
            <a:extLst>
              <a:ext uri="{FF2B5EF4-FFF2-40B4-BE49-F238E27FC236}">
                <a16:creationId xmlns:a16="http://schemas.microsoft.com/office/drawing/2014/main" id="{7BCB34A3-C584-1046-8C17-AB1BCE2694C8}"/>
              </a:ext>
            </a:extLst>
          </p:cNvPr>
          <p:cNvSpPr>
            <a:spLocks noGrp="1"/>
          </p:cNvSpPr>
          <p:nvPr>
            <p:ph type="pic" sz="quarter" idx="14"/>
          </p:nvPr>
        </p:nvSpPr>
        <p:spPr>
          <a:xfrm>
            <a:off x="6311903" y="2097091"/>
            <a:ext cx="5437188" cy="4103687"/>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11" name="TextBox 10">
            <a:extLst>
              <a:ext uri="{FF2B5EF4-FFF2-40B4-BE49-F238E27FC236}">
                <a16:creationId xmlns:a16="http://schemas.microsoft.com/office/drawing/2014/main" id="{C51A06C6-814D-4A47-8F9A-552C373FA66E}"/>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78FCF1BB-B3E9-B97A-8306-531C90803CA5}"/>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6F0D4EE2-C7DF-8A77-CC45-38E648A1250B}"/>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8" name="TextBox 7">
            <a:extLst>
              <a:ext uri="{FF2B5EF4-FFF2-40B4-BE49-F238E27FC236}">
                <a16:creationId xmlns:a16="http://schemas.microsoft.com/office/drawing/2014/main" id="{448E0526-BD62-081D-BB5E-E881DF8C3413}"/>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334984017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Full slide quo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hasCustomPrompt="1"/>
          </p:nvPr>
        </p:nvSpPr>
        <p:spPr>
          <a:xfrm>
            <a:off x="4116391" y="441325"/>
            <a:ext cx="7632700" cy="4609306"/>
          </a:xfrm>
          <a:prstGeom prst="rect">
            <a:avLst/>
          </a:prstGeom>
        </p:spPr>
        <p:txBody>
          <a:bodyPr lIns="0" tIns="0" rIns="0" bIns="0" anchor="b">
            <a:normAutofit/>
          </a:bodyPr>
          <a:lstStyle>
            <a:lvl1pPr>
              <a:defRPr sz="4800" b="0" i="0">
                <a:latin typeface="+mn-lt"/>
                <a:ea typeface="IAS Ribbon Sans Regular" pitchFamily="2" charset="0"/>
              </a:defRPr>
            </a:lvl1pPr>
          </a:lstStyle>
          <a:p>
            <a:r>
              <a:rPr lang="en-GB" noProof="0" dirty="0"/>
              <a:t>“Click to edit quote”</a:t>
            </a:r>
          </a:p>
        </p:txBody>
      </p:sp>
      <p:sp>
        <p:nvSpPr>
          <p:cNvPr id="4" name="Text Placeholder 3">
            <a:extLst>
              <a:ext uri="{FF2B5EF4-FFF2-40B4-BE49-F238E27FC236}">
                <a16:creationId xmlns:a16="http://schemas.microsoft.com/office/drawing/2014/main" id="{C5683131-2416-4447-B094-A11566C29689}"/>
              </a:ext>
            </a:extLst>
          </p:cNvPr>
          <p:cNvSpPr>
            <a:spLocks noGrp="1"/>
          </p:cNvSpPr>
          <p:nvPr>
            <p:ph type="body" sz="quarter" idx="10" hasCustomPrompt="1"/>
          </p:nvPr>
        </p:nvSpPr>
        <p:spPr>
          <a:xfrm>
            <a:off x="4116388" y="5364956"/>
            <a:ext cx="7632700" cy="835818"/>
          </a:xfrm>
          <a:prstGeom prst="rect">
            <a:avLst/>
          </a:prstGeom>
        </p:spPr>
        <p:txBody>
          <a:bodyPr lIns="0" tIns="0" rIns="0" bIns="0">
            <a:normAutofit/>
          </a:bodyPr>
          <a:lstStyle>
            <a:lvl1pPr marL="0" indent="0">
              <a:buNone/>
              <a:defRPr sz="2000" b="0" i="0">
                <a:solidFill>
                  <a:schemeClr val="accent1"/>
                </a:solidFill>
                <a:latin typeface="+mj-lt"/>
                <a:ea typeface="IAS Ribbon Sans Regular" pitchFamily="2" charset="0"/>
              </a:defRPr>
            </a:lvl1pPr>
          </a:lstStyle>
          <a:p>
            <a:pPr lvl="0"/>
            <a:r>
              <a:rPr lang="en-GB" noProof="0" dirty="0"/>
              <a:t>Quote citation</a:t>
            </a:r>
          </a:p>
        </p:txBody>
      </p:sp>
      <p:sp>
        <p:nvSpPr>
          <p:cNvPr id="10" name="TextBox 9">
            <a:extLst>
              <a:ext uri="{FF2B5EF4-FFF2-40B4-BE49-F238E27FC236}">
                <a16:creationId xmlns:a16="http://schemas.microsoft.com/office/drawing/2014/main" id="{8EE9E907-6C88-57CC-3433-E6393DEC17F9}"/>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1" name="TextBox 10">
            <a:extLst>
              <a:ext uri="{FF2B5EF4-FFF2-40B4-BE49-F238E27FC236}">
                <a16:creationId xmlns:a16="http://schemas.microsoft.com/office/drawing/2014/main" id="{88662DB7-DE31-C0AE-4ACD-C3866CFEC0B2}"/>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22" name="Picture 21">
            <a:extLst>
              <a:ext uri="{FF2B5EF4-FFF2-40B4-BE49-F238E27FC236}">
                <a16:creationId xmlns:a16="http://schemas.microsoft.com/office/drawing/2014/main" id="{EC47D151-E338-7A56-A46C-640C4619BA87}"/>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447325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ull slide quot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48F992-2AE2-529F-7179-FAFD77609F6B}"/>
              </a:ext>
            </a:extLst>
          </p:cNvPr>
          <p:cNvSpPr/>
          <p:nvPr userDrawn="1"/>
        </p:nvSpPr>
        <p:spPr>
          <a:xfrm>
            <a:off x="3125036" y="0"/>
            <a:ext cx="90669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GB" dirty="0"/>
          </a:p>
        </p:txBody>
      </p:sp>
      <p:sp>
        <p:nvSpPr>
          <p:cNvPr id="17" name="Title 1">
            <a:extLst>
              <a:ext uri="{FF2B5EF4-FFF2-40B4-BE49-F238E27FC236}">
                <a16:creationId xmlns:a16="http://schemas.microsoft.com/office/drawing/2014/main" id="{1EAEC98C-6D09-7F42-88C1-4A9DE544669A}"/>
              </a:ext>
            </a:extLst>
          </p:cNvPr>
          <p:cNvSpPr>
            <a:spLocks noGrp="1"/>
          </p:cNvSpPr>
          <p:nvPr>
            <p:ph type="title" hasCustomPrompt="1"/>
          </p:nvPr>
        </p:nvSpPr>
        <p:spPr>
          <a:xfrm>
            <a:off x="4116391" y="441325"/>
            <a:ext cx="7632700" cy="4609306"/>
          </a:xfrm>
          <a:prstGeom prst="rect">
            <a:avLst/>
          </a:prstGeom>
        </p:spPr>
        <p:txBody>
          <a:bodyPr lIns="0" tIns="0" rIns="0" bIns="0" anchor="b">
            <a:normAutofit/>
          </a:bodyPr>
          <a:lstStyle>
            <a:lvl1pPr>
              <a:defRPr sz="4800" b="0" i="0">
                <a:solidFill>
                  <a:schemeClr val="bg1"/>
                </a:solidFill>
                <a:latin typeface="+mn-lt"/>
                <a:ea typeface="IAS Ribbon Sans Regular" pitchFamily="2" charset="0"/>
              </a:defRPr>
            </a:lvl1pPr>
          </a:lstStyle>
          <a:p>
            <a:r>
              <a:rPr lang="en-GB" noProof="0" dirty="0"/>
              <a:t>“Click to edit quote”</a:t>
            </a:r>
          </a:p>
        </p:txBody>
      </p:sp>
      <p:sp>
        <p:nvSpPr>
          <p:cNvPr id="4" name="Text Placeholder 3">
            <a:extLst>
              <a:ext uri="{FF2B5EF4-FFF2-40B4-BE49-F238E27FC236}">
                <a16:creationId xmlns:a16="http://schemas.microsoft.com/office/drawing/2014/main" id="{C5683131-2416-4447-B094-A11566C29689}"/>
              </a:ext>
            </a:extLst>
          </p:cNvPr>
          <p:cNvSpPr>
            <a:spLocks noGrp="1"/>
          </p:cNvSpPr>
          <p:nvPr>
            <p:ph type="body" sz="quarter" idx="10" hasCustomPrompt="1"/>
          </p:nvPr>
        </p:nvSpPr>
        <p:spPr>
          <a:xfrm>
            <a:off x="4116388" y="5364956"/>
            <a:ext cx="7632700" cy="835818"/>
          </a:xfrm>
          <a:prstGeom prst="rect">
            <a:avLst/>
          </a:prstGeom>
        </p:spPr>
        <p:txBody>
          <a:bodyPr lIns="0" tIns="0" rIns="0" bIns="0">
            <a:normAutofit/>
          </a:bodyPr>
          <a:lstStyle>
            <a:lvl1pPr marL="0" indent="0">
              <a:buNone/>
              <a:defRPr sz="2000" b="0" i="0">
                <a:solidFill>
                  <a:schemeClr val="bg1"/>
                </a:solidFill>
                <a:latin typeface="+mj-lt"/>
                <a:ea typeface="IAS Ribbon Sans Regular" pitchFamily="2" charset="0"/>
              </a:defRPr>
            </a:lvl1pPr>
          </a:lstStyle>
          <a:p>
            <a:pPr lvl="0"/>
            <a:r>
              <a:rPr lang="en-GB" noProof="0" dirty="0"/>
              <a:t>Quote citation</a:t>
            </a:r>
          </a:p>
        </p:txBody>
      </p:sp>
      <p:sp>
        <p:nvSpPr>
          <p:cNvPr id="10" name="TextBox 9">
            <a:extLst>
              <a:ext uri="{FF2B5EF4-FFF2-40B4-BE49-F238E27FC236}">
                <a16:creationId xmlns:a16="http://schemas.microsoft.com/office/drawing/2014/main" id="{8EE9E907-6C88-57CC-3433-E6393DEC17F9}"/>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bg1"/>
                </a:solidFill>
                <a:effectLst/>
                <a:latin typeface="+mn-lt"/>
                <a:ea typeface="IAS Ribbon Sans Regular" pitchFamily="2" charset="0"/>
                <a:cs typeface="+mn-cs"/>
              </a:rPr>
              <a:t>26–31 July  •  Rio de Janeiro, Brazil</a:t>
            </a:r>
          </a:p>
        </p:txBody>
      </p:sp>
      <p:sp>
        <p:nvSpPr>
          <p:cNvPr id="11" name="TextBox 10">
            <a:extLst>
              <a:ext uri="{FF2B5EF4-FFF2-40B4-BE49-F238E27FC236}">
                <a16:creationId xmlns:a16="http://schemas.microsoft.com/office/drawing/2014/main" id="{88662DB7-DE31-C0AE-4ACD-C3866CFEC0B2}"/>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bg1"/>
                </a:solidFill>
                <a:effectLst/>
                <a:latin typeface="+mn-lt"/>
                <a:ea typeface="IAS Ribbon Sans Regular" pitchFamily="2" charset="0"/>
                <a:cs typeface="+mn-cs"/>
              </a:rPr>
              <a:t>aids2026.org</a:t>
            </a:r>
          </a:p>
        </p:txBody>
      </p:sp>
      <p:pic>
        <p:nvPicPr>
          <p:cNvPr id="22" name="Picture 21">
            <a:extLst>
              <a:ext uri="{FF2B5EF4-FFF2-40B4-BE49-F238E27FC236}">
                <a16:creationId xmlns:a16="http://schemas.microsoft.com/office/drawing/2014/main" id="{EC47D151-E338-7A56-A46C-640C4619BA87}"/>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3424900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xt and image">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9F3A56-2912-4F6C-B763-FA01B5A3DBD6}"/>
              </a:ext>
            </a:extLst>
          </p:cNvPr>
          <p:cNvSpPr>
            <a:spLocks noGrp="1"/>
          </p:cNvSpPr>
          <p:nvPr>
            <p:ph type="title"/>
          </p:nvPr>
        </p:nvSpPr>
        <p:spPr bwMode="gray"/>
        <p:txBody>
          <a:bodyPr/>
          <a:lstStyle/>
          <a:p>
            <a:r>
              <a:rPr lang="en-GB"/>
              <a:t>Click to edit Master title style</a:t>
            </a:r>
            <a:endParaRPr lang="de-DE" dirty="0"/>
          </a:p>
        </p:txBody>
      </p:sp>
      <p:sp>
        <p:nvSpPr>
          <p:cNvPr id="3" name="Inhaltsplatzhalter 2">
            <a:extLst>
              <a:ext uri="{FF2B5EF4-FFF2-40B4-BE49-F238E27FC236}">
                <a16:creationId xmlns:a16="http://schemas.microsoft.com/office/drawing/2014/main" id="{A978F880-622A-4AD4-AD12-DB8ACC4A855D}"/>
              </a:ext>
            </a:extLst>
          </p:cNvPr>
          <p:cNvSpPr>
            <a:spLocks noGrp="1"/>
          </p:cNvSpPr>
          <p:nvPr>
            <p:ph idx="1"/>
          </p:nvPr>
        </p:nvSpPr>
        <p:spPr bwMode="gray"/>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4" name="Datumsplatzhalter 3">
            <a:extLst>
              <a:ext uri="{FF2B5EF4-FFF2-40B4-BE49-F238E27FC236}">
                <a16:creationId xmlns:a16="http://schemas.microsoft.com/office/drawing/2014/main" id="{C42E4203-C6EB-4A6B-B123-7F7ECE103EA1}"/>
              </a:ext>
            </a:extLst>
          </p:cNvPr>
          <p:cNvSpPr>
            <a:spLocks noGrp="1"/>
          </p:cNvSpPr>
          <p:nvPr>
            <p:ph type="dt" sz="half" idx="10"/>
          </p:nvPr>
        </p:nvSpPr>
        <p:spPr bwMode="gray"/>
        <p:txBody>
          <a:bodyPr/>
          <a:lstStyle/>
          <a:p>
            <a:r>
              <a:rPr lang="en-GB" noProof="0" dirty="0">
                <a:latin typeface="Verdana" panose="020B0604030504040204" pitchFamily="34" charset="0"/>
              </a:rPr>
              <a:t>Name of the Speaker</a:t>
            </a:r>
          </a:p>
        </p:txBody>
      </p:sp>
      <p:sp>
        <p:nvSpPr>
          <p:cNvPr id="5" name="Fußzeilenplatzhalter 4">
            <a:extLst>
              <a:ext uri="{FF2B5EF4-FFF2-40B4-BE49-F238E27FC236}">
                <a16:creationId xmlns:a16="http://schemas.microsoft.com/office/drawing/2014/main" id="{F5ACFDB4-E040-4C21-85D2-79A7480946FD}"/>
              </a:ext>
            </a:extLst>
          </p:cNvPr>
          <p:cNvSpPr>
            <a:spLocks noGrp="1"/>
          </p:cNvSpPr>
          <p:nvPr>
            <p:ph type="ftr" sz="quarter" idx="11"/>
          </p:nvPr>
        </p:nvSpPr>
        <p:spPr bwMode="gray"/>
        <p:txBody>
          <a:bodyPr/>
          <a:lstStyle/>
          <a:p>
            <a:r>
              <a:rPr lang="en-GB" noProof="0" dirty="0"/>
              <a:t>Topic Lore Ipsum</a:t>
            </a:r>
          </a:p>
        </p:txBody>
      </p:sp>
      <p:sp>
        <p:nvSpPr>
          <p:cNvPr id="8" name="Bildplatzhalter 7">
            <a:extLst>
              <a:ext uri="{FF2B5EF4-FFF2-40B4-BE49-F238E27FC236}">
                <a16:creationId xmlns:a16="http://schemas.microsoft.com/office/drawing/2014/main" id="{F5E3B62B-CF09-471B-9761-31105E803B91}"/>
              </a:ext>
            </a:extLst>
          </p:cNvPr>
          <p:cNvSpPr>
            <a:spLocks noGrp="1"/>
          </p:cNvSpPr>
          <p:nvPr>
            <p:ph type="pic" sz="quarter" idx="12"/>
          </p:nvPr>
        </p:nvSpPr>
        <p:spPr bwMode="gray">
          <a:xfrm>
            <a:off x="6996113" y="0"/>
            <a:ext cx="5195887" cy="6858000"/>
          </a:xfrm>
          <a:solidFill>
            <a:schemeClr val="bg1">
              <a:lumMod val="85000"/>
            </a:schemeClr>
          </a:solidFill>
        </p:spPr>
        <p:txBody>
          <a:bodyPr anchor="ctr"/>
          <a:lstStyle>
            <a:lvl1pPr algn="ctr">
              <a:buNone/>
              <a:defRPr sz="1400"/>
            </a:lvl1pPr>
          </a:lstStyle>
          <a:p>
            <a:r>
              <a:rPr lang="en-GB"/>
              <a:t>Click icon to add picture</a:t>
            </a:r>
            <a:endParaRPr lang="de-DE"/>
          </a:p>
        </p:txBody>
      </p:sp>
    </p:spTree>
    <p:extLst>
      <p:ext uri="{BB962C8B-B14F-4D97-AF65-F5344CB8AC3E}">
        <p14:creationId xmlns:p14="http://schemas.microsoft.com/office/powerpoint/2010/main" val="974517154"/>
      </p:ext>
    </p:extLst>
  </p:cSld>
  <p:clrMapOvr>
    <a:masterClrMapping/>
  </p:clrMapOvr>
  <p:hf sldNum="0" hdr="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el und Inhalt">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9F3A56-2912-4F6C-B763-FA01B5A3DBD6}"/>
              </a:ext>
            </a:extLst>
          </p:cNvPr>
          <p:cNvSpPr>
            <a:spLocks noGrp="1"/>
          </p:cNvSpPr>
          <p:nvPr>
            <p:ph type="title"/>
          </p:nvPr>
        </p:nvSpPr>
        <p:spPr bwMode="gray"/>
        <p:txBody>
          <a:bodyPr/>
          <a:lstStyle/>
          <a:p>
            <a:r>
              <a:rPr lang="en-GB"/>
              <a:t>Click to edit Master title style</a:t>
            </a:r>
            <a:endParaRPr lang="de-DE" dirty="0"/>
          </a:p>
        </p:txBody>
      </p:sp>
      <p:sp>
        <p:nvSpPr>
          <p:cNvPr id="3" name="Inhaltsplatzhalter 2">
            <a:extLst>
              <a:ext uri="{FF2B5EF4-FFF2-40B4-BE49-F238E27FC236}">
                <a16:creationId xmlns:a16="http://schemas.microsoft.com/office/drawing/2014/main" id="{A978F880-622A-4AD4-AD12-DB8ACC4A855D}"/>
              </a:ext>
            </a:extLst>
          </p:cNvPr>
          <p:cNvSpPr>
            <a:spLocks noGrp="1"/>
          </p:cNvSpPr>
          <p:nvPr>
            <p:ph idx="1"/>
          </p:nvPr>
        </p:nvSpPr>
        <p:spPr bwMode="gray"/>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4" name="Datumsplatzhalter 3">
            <a:extLst>
              <a:ext uri="{FF2B5EF4-FFF2-40B4-BE49-F238E27FC236}">
                <a16:creationId xmlns:a16="http://schemas.microsoft.com/office/drawing/2014/main" id="{C42E4203-C6EB-4A6B-B123-7F7ECE103EA1}"/>
              </a:ext>
            </a:extLst>
          </p:cNvPr>
          <p:cNvSpPr>
            <a:spLocks noGrp="1"/>
          </p:cNvSpPr>
          <p:nvPr>
            <p:ph type="dt" sz="half" idx="10"/>
          </p:nvPr>
        </p:nvSpPr>
        <p:spPr bwMode="gray"/>
        <p:txBody>
          <a:bodyPr/>
          <a:lstStyle>
            <a:lvl1pPr>
              <a:defRPr b="0" i="0">
                <a:latin typeface="Verdana" panose="020B0604030504040204" pitchFamily="34" charset="0"/>
              </a:defRPr>
            </a:lvl1pPr>
          </a:lstStyle>
          <a:p>
            <a:r>
              <a:rPr lang="de-DE" dirty="0"/>
              <a:t>Name </a:t>
            </a:r>
            <a:r>
              <a:rPr lang="de-DE" dirty="0" err="1"/>
              <a:t>of</a:t>
            </a:r>
            <a:r>
              <a:rPr lang="de-DE" dirty="0"/>
              <a:t> </a:t>
            </a:r>
            <a:r>
              <a:rPr lang="de-DE" dirty="0" err="1"/>
              <a:t>the</a:t>
            </a:r>
            <a:r>
              <a:rPr lang="de-DE" dirty="0"/>
              <a:t> Speaker</a:t>
            </a:r>
          </a:p>
        </p:txBody>
      </p:sp>
      <p:sp>
        <p:nvSpPr>
          <p:cNvPr id="5" name="Fußzeilenplatzhalter 4">
            <a:extLst>
              <a:ext uri="{FF2B5EF4-FFF2-40B4-BE49-F238E27FC236}">
                <a16:creationId xmlns:a16="http://schemas.microsoft.com/office/drawing/2014/main" id="{F5ACFDB4-E040-4C21-85D2-79A7480946FD}"/>
              </a:ext>
            </a:extLst>
          </p:cNvPr>
          <p:cNvSpPr>
            <a:spLocks noGrp="1"/>
          </p:cNvSpPr>
          <p:nvPr>
            <p:ph type="ftr" sz="quarter" idx="11"/>
          </p:nvPr>
        </p:nvSpPr>
        <p:spPr bwMode="gray"/>
        <p:txBody>
          <a:bodyPr/>
          <a:lstStyle/>
          <a:p>
            <a:r>
              <a:rPr lang="de-DE"/>
              <a:t>Topic Lore Ipsum</a:t>
            </a:r>
          </a:p>
        </p:txBody>
      </p:sp>
    </p:spTree>
    <p:extLst>
      <p:ext uri="{BB962C8B-B14F-4D97-AF65-F5344CB8AC3E}">
        <p14:creationId xmlns:p14="http://schemas.microsoft.com/office/powerpoint/2010/main" val="2390562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6390" y="441326"/>
            <a:ext cx="7632692" cy="1223964"/>
          </a:xfrm>
          <a:prstGeom prst="rect">
            <a:avLst/>
          </a:prstGeom>
        </p:spPr>
        <p:txBody>
          <a:bodyPr vert="horz" lIns="0" tIns="0" rIns="0" bIns="0" rtlCol="0" anchor="b">
            <a:normAutofit/>
          </a:bodyPr>
          <a:lstStyle/>
          <a:p>
            <a:endParaRPr lang="en-US" dirty="0"/>
          </a:p>
        </p:txBody>
      </p:sp>
      <p:sp>
        <p:nvSpPr>
          <p:cNvPr id="3" name="Text Placeholder 2"/>
          <p:cNvSpPr>
            <a:spLocks noGrp="1"/>
          </p:cNvSpPr>
          <p:nvPr>
            <p:ph type="body" idx="1"/>
          </p:nvPr>
        </p:nvSpPr>
        <p:spPr>
          <a:xfrm>
            <a:off x="442907" y="2097090"/>
            <a:ext cx="11306175" cy="4079872"/>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5" name="Picture 4">
            <a:extLst>
              <a:ext uri="{FF2B5EF4-FFF2-40B4-BE49-F238E27FC236}">
                <a16:creationId xmlns:a16="http://schemas.microsoft.com/office/drawing/2014/main" id="{1C779A7A-3E32-4C26-1C18-91765C53270A}"/>
              </a:ext>
            </a:extLst>
          </p:cNvPr>
          <p:cNvPicPr>
            <a:picLocks noChangeAspect="1"/>
          </p:cNvPicPr>
          <p:nvPr userDrawn="1"/>
        </p:nvPicPr>
        <p:blipFill>
          <a:blip r:embed="rId18"/>
          <a:srcRect/>
          <a:stretch/>
        </p:blipFill>
        <p:spPr>
          <a:xfrm>
            <a:off x="236214" y="248555"/>
            <a:ext cx="2328312" cy="1499182"/>
          </a:xfrm>
          <a:prstGeom prst="rect">
            <a:avLst/>
          </a:prstGeom>
        </p:spPr>
      </p:pic>
    </p:spTree>
    <p:extLst>
      <p:ext uri="{BB962C8B-B14F-4D97-AF65-F5344CB8AC3E}">
        <p14:creationId xmlns:p14="http://schemas.microsoft.com/office/powerpoint/2010/main" val="304730902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21" r:id="rId3"/>
    <p:sldLayoutId id="2147483706" r:id="rId4"/>
    <p:sldLayoutId id="2147483708" r:id="rId5"/>
    <p:sldLayoutId id="2147483709" r:id="rId6"/>
    <p:sldLayoutId id="2147483710" r:id="rId7"/>
    <p:sldLayoutId id="2147483711" r:id="rId8"/>
    <p:sldLayoutId id="2147483712" r:id="rId9"/>
    <p:sldLayoutId id="2147483714" r:id="rId10"/>
    <p:sldLayoutId id="2147483716" r:id="rId11"/>
    <p:sldLayoutId id="2147483717" r:id="rId12"/>
    <p:sldLayoutId id="2147483718" r:id="rId13"/>
    <p:sldLayoutId id="2147483720" r:id="rId14"/>
    <p:sldLayoutId id="2147483722" r:id="rId15"/>
    <p:sldLayoutId id="2147483723" r:id="rId16"/>
  </p:sldLayoutIdLst>
  <p:txStyles>
    <p:title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2593">
          <p15:clr>
            <a:srgbClr val="F26B43"/>
          </p15:clr>
        </p15:guide>
        <p15:guide id="3" pos="2865">
          <p15:clr>
            <a:srgbClr val="F26B43"/>
          </p15:clr>
        </p15:guide>
        <p15:guide id="4" pos="3704">
          <p15:clr>
            <a:srgbClr val="F26B43"/>
          </p15:clr>
        </p15:guide>
        <p15:guide id="5" pos="3976">
          <p15:clr>
            <a:srgbClr val="F26B43"/>
          </p15:clr>
        </p15:guide>
        <p15:guide id="6" pos="4815">
          <p15:clr>
            <a:srgbClr val="F26B43"/>
          </p15:clr>
        </p15:guide>
        <p15:guide id="7" pos="5087">
          <p15:clr>
            <a:srgbClr val="F26B43"/>
          </p15:clr>
        </p15:guide>
        <p15:guide id="8" pos="7401">
          <p15:clr>
            <a:srgbClr val="F26B43"/>
          </p15:clr>
        </p15:guide>
        <p15:guide id="9" orient="horz" pos="278">
          <p15:clr>
            <a:srgbClr val="F26B43"/>
          </p15:clr>
        </p15:guide>
        <p15:guide id="10" orient="horz" pos="1049">
          <p15:clr>
            <a:srgbClr val="F26B43"/>
          </p15:clr>
        </p15:guide>
        <p15:guide id="11" orient="horz" pos="1321">
          <p15:clr>
            <a:srgbClr val="F26B43"/>
          </p15:clr>
        </p15:guide>
        <p15:guide id="12" orient="horz" pos="3906">
          <p15:clr>
            <a:srgbClr val="F26B43"/>
          </p15:clr>
        </p15:guide>
        <p15:guide id="13" orient="horz" pos="4178">
          <p15:clr>
            <a:srgbClr val="F26B43"/>
          </p15:clr>
        </p15:guide>
        <p15:guide id="14" orient="horz" pos="4042">
          <p15:clr>
            <a:srgbClr val="F26B43"/>
          </p15:clr>
        </p15:guide>
        <p15:guide id="15" orient="horz" pos="118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04B1-372F-B359-D62A-9CC263D7C0AA}"/>
              </a:ext>
            </a:extLst>
          </p:cNvPr>
          <p:cNvSpPr>
            <a:spLocks noGrp="1"/>
          </p:cNvSpPr>
          <p:nvPr>
            <p:ph type="title"/>
          </p:nvPr>
        </p:nvSpPr>
        <p:spPr>
          <a:xfrm>
            <a:off x="4116391" y="180068"/>
            <a:ext cx="7357341" cy="5759450"/>
          </a:xfrm>
        </p:spPr>
        <p:txBody>
          <a:bodyPr>
            <a:normAutofit/>
          </a:bodyPr>
          <a:lstStyle/>
          <a:p>
            <a:r>
              <a:rPr lang="en-ZA" sz="5000" dirty="0"/>
              <a:t>TIER-Plus overview and core functionality</a:t>
            </a:r>
            <a:endParaRPr lang="en-CH" sz="5000" dirty="0"/>
          </a:p>
        </p:txBody>
      </p:sp>
      <p:sp>
        <p:nvSpPr>
          <p:cNvPr id="3" name="TextBox 2">
            <a:extLst>
              <a:ext uri="{FF2B5EF4-FFF2-40B4-BE49-F238E27FC236}">
                <a16:creationId xmlns:a16="http://schemas.microsoft.com/office/drawing/2014/main" id="{5359164F-E97A-9F08-0E28-96DFA83CFE4D}"/>
              </a:ext>
            </a:extLst>
          </p:cNvPr>
          <p:cNvSpPr txBox="1"/>
          <p:nvPr/>
        </p:nvSpPr>
        <p:spPr>
          <a:xfrm>
            <a:off x="4029304" y="5750004"/>
            <a:ext cx="7357341" cy="461665"/>
          </a:xfrm>
          <a:prstGeom prst="rect">
            <a:avLst/>
          </a:prstGeom>
          <a:noFill/>
        </p:spPr>
        <p:txBody>
          <a:bodyPr wrap="square" rtlCol="0">
            <a:spAutoFit/>
          </a:bodyPr>
          <a:lstStyle/>
          <a:p>
            <a:r>
              <a:rPr lang="en-US" sz="1200" dirty="0"/>
              <a:t>Brooke Nichols, Boston University</a:t>
            </a:r>
            <a:br>
              <a:rPr lang="en-US" sz="1200" dirty="0"/>
            </a:br>
            <a:r>
              <a:rPr lang="en-US" sz="1200" b="1" dirty="0"/>
              <a:t>Prioritization under pressure: Rethinking HIV service delivery </a:t>
            </a:r>
            <a:r>
              <a:rPr lang="en-US" sz="1200" b="1"/>
              <a:t>with TIER-Plus</a:t>
            </a:r>
            <a:endParaRPr lang="en-US" sz="1200" dirty="0"/>
          </a:p>
        </p:txBody>
      </p:sp>
      <p:pic>
        <p:nvPicPr>
          <p:cNvPr id="4" name="Picture 3">
            <a:extLst>
              <a:ext uri="{FF2B5EF4-FFF2-40B4-BE49-F238E27FC236}">
                <a16:creationId xmlns:a16="http://schemas.microsoft.com/office/drawing/2014/main" id="{447F3F0C-6ACF-A9B0-252F-245D32C89270}"/>
              </a:ext>
            </a:extLst>
          </p:cNvPr>
          <p:cNvPicPr>
            <a:picLocks noChangeAspect="1"/>
          </p:cNvPicPr>
          <p:nvPr/>
        </p:nvPicPr>
        <p:blipFill>
          <a:blip r:embed="rId2"/>
          <a:stretch>
            <a:fillRect/>
          </a:stretch>
        </p:blipFill>
        <p:spPr>
          <a:xfrm>
            <a:off x="10821042" y="94340"/>
            <a:ext cx="1393825" cy="1393825"/>
          </a:xfrm>
          <a:prstGeom prst="rect">
            <a:avLst/>
          </a:prstGeom>
        </p:spPr>
      </p:pic>
    </p:spTree>
    <p:extLst>
      <p:ext uri="{BB962C8B-B14F-4D97-AF65-F5344CB8AC3E}">
        <p14:creationId xmlns:p14="http://schemas.microsoft.com/office/powerpoint/2010/main" val="2365305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DFFC1-5EF9-054D-62F0-D92CD1E67BE8}"/>
              </a:ext>
            </a:extLst>
          </p:cNvPr>
          <p:cNvSpPr>
            <a:spLocks noGrp="1"/>
          </p:cNvSpPr>
          <p:nvPr>
            <p:ph type="title"/>
          </p:nvPr>
        </p:nvSpPr>
        <p:spPr/>
        <p:txBody>
          <a:bodyPr/>
          <a:lstStyle/>
          <a:p>
            <a:pPr algn="ctr"/>
            <a:r>
              <a:rPr lang="en-NL" dirty="0"/>
              <a:t>Who is TIER-Plus for?</a:t>
            </a:r>
          </a:p>
        </p:txBody>
      </p:sp>
    </p:spTree>
    <p:extLst>
      <p:ext uri="{BB962C8B-B14F-4D97-AF65-F5344CB8AC3E}">
        <p14:creationId xmlns:p14="http://schemas.microsoft.com/office/powerpoint/2010/main" val="2875468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6865D-5835-395B-81BB-F00FFA1524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A42C8C-1F7A-999C-D111-71CA1157A46A}"/>
              </a:ext>
            </a:extLst>
          </p:cNvPr>
          <p:cNvSpPr>
            <a:spLocks noGrp="1"/>
          </p:cNvSpPr>
          <p:nvPr>
            <p:ph type="title"/>
          </p:nvPr>
        </p:nvSpPr>
        <p:spPr/>
        <p:txBody>
          <a:bodyPr/>
          <a:lstStyle/>
          <a:p>
            <a:r>
              <a:rPr lang="en-GB" i="1" dirty="0"/>
              <a:t>Let’s take a look</a:t>
            </a:r>
            <a:endParaRPr lang="en-CH" dirty="0"/>
          </a:p>
        </p:txBody>
      </p:sp>
      <p:sp>
        <p:nvSpPr>
          <p:cNvPr id="3" name="Text Placeholder 2">
            <a:extLst>
              <a:ext uri="{FF2B5EF4-FFF2-40B4-BE49-F238E27FC236}">
                <a16:creationId xmlns:a16="http://schemas.microsoft.com/office/drawing/2014/main" id="{09AD9157-F2D3-C6A1-C9B6-4DEC57BF2807}"/>
              </a:ext>
            </a:extLst>
          </p:cNvPr>
          <p:cNvSpPr>
            <a:spLocks noGrp="1"/>
          </p:cNvSpPr>
          <p:nvPr>
            <p:ph idx="1"/>
          </p:nvPr>
        </p:nvSpPr>
        <p:spPr/>
        <p:txBody>
          <a:bodyPr>
            <a:normAutofit fontScale="92500" lnSpcReduction="20000"/>
          </a:bodyPr>
          <a:lstStyle/>
          <a:p>
            <a:pPr marL="342900" indent="-342900" algn="ctr">
              <a:buAutoNum type="arabicPeriod"/>
            </a:pPr>
            <a:r>
              <a:rPr lang="en-US" sz="2400" dirty="0">
                <a:solidFill>
                  <a:schemeClr val="tx2"/>
                </a:solidFill>
              </a:rPr>
              <a:t>ORIENTATION</a:t>
            </a:r>
          </a:p>
          <a:p>
            <a:pPr marL="342900" indent="-342900" algn="ctr">
              <a:buAutoNum type="arabicPeriod"/>
            </a:pPr>
            <a:endParaRPr lang="en-US" sz="2400" dirty="0">
              <a:solidFill>
                <a:schemeClr val="tx2"/>
              </a:solidFill>
            </a:endParaRPr>
          </a:p>
          <a:p>
            <a:pPr marL="342900" indent="-342900" algn="ctr">
              <a:buAutoNum type="arabicPeriod"/>
            </a:pPr>
            <a:r>
              <a:rPr lang="en-US" sz="2400" dirty="0">
                <a:solidFill>
                  <a:schemeClr val="tx2"/>
                </a:solidFill>
              </a:rPr>
              <a:t>INPUTS </a:t>
            </a:r>
            <a:br>
              <a:rPr lang="en-US" sz="2400" dirty="0">
                <a:solidFill>
                  <a:schemeClr val="tx2"/>
                </a:solidFill>
              </a:rPr>
            </a:br>
            <a:r>
              <a:rPr lang="en-US" sz="2400" dirty="0">
                <a:solidFill>
                  <a:schemeClr val="tx2"/>
                </a:solidFill>
              </a:rPr>
              <a:t>(country &amp; coverage)</a:t>
            </a:r>
            <a:br>
              <a:rPr lang="en-US" sz="2400" dirty="0">
                <a:solidFill>
                  <a:schemeClr val="tx2"/>
                </a:solidFill>
              </a:rPr>
            </a:br>
            <a:br>
              <a:rPr lang="en-US" sz="2400" dirty="0">
                <a:solidFill>
                  <a:schemeClr val="tx2"/>
                </a:solidFill>
              </a:rPr>
            </a:br>
            <a:endParaRPr lang="en-US" sz="2400" dirty="0">
              <a:solidFill>
                <a:schemeClr val="tx2"/>
              </a:solidFill>
            </a:endParaRPr>
          </a:p>
          <a:p>
            <a:pPr marL="342900" indent="-342900" algn="ctr">
              <a:buAutoNum type="arabicPeriod"/>
            </a:pPr>
            <a:r>
              <a:rPr lang="en-US" sz="2400" dirty="0">
                <a:solidFill>
                  <a:schemeClr val="tx2"/>
                </a:solidFill>
              </a:rPr>
              <a:t>SCENARIOS </a:t>
            </a:r>
            <a:br>
              <a:rPr lang="en-US" sz="2400" dirty="0">
                <a:solidFill>
                  <a:schemeClr val="tx2"/>
                </a:solidFill>
              </a:rPr>
            </a:br>
            <a:r>
              <a:rPr lang="en-US" sz="2400" dirty="0">
                <a:solidFill>
                  <a:schemeClr val="tx2"/>
                </a:solidFill>
              </a:rPr>
              <a:t>(adjust interventions)</a:t>
            </a:r>
          </a:p>
          <a:p>
            <a:pPr marL="0" indent="0" algn="ctr">
              <a:buNone/>
            </a:pPr>
            <a:endParaRPr lang="en-US" sz="2400" dirty="0">
              <a:solidFill>
                <a:schemeClr val="tx2"/>
              </a:solidFill>
            </a:endParaRPr>
          </a:p>
          <a:p>
            <a:pPr marL="0" indent="0" algn="ctr">
              <a:buNone/>
            </a:pPr>
            <a:r>
              <a:rPr lang="en-US" sz="2400" dirty="0">
                <a:solidFill>
                  <a:schemeClr val="tx2"/>
                </a:solidFill>
              </a:rPr>
              <a:t>4. OUTPUTS </a:t>
            </a:r>
            <a:br>
              <a:rPr lang="en-US" sz="2400" dirty="0">
                <a:solidFill>
                  <a:schemeClr val="tx2"/>
                </a:solidFill>
              </a:rPr>
            </a:br>
            <a:r>
              <a:rPr lang="en-US" sz="2400" dirty="0">
                <a:solidFill>
                  <a:schemeClr val="tx2"/>
                </a:solidFill>
              </a:rPr>
              <a:t>(costs + outcomes + cascades)</a:t>
            </a:r>
          </a:p>
        </p:txBody>
      </p:sp>
      <p:pic>
        <p:nvPicPr>
          <p:cNvPr id="1026" name="Picture 2" descr="Route icon vektor | Premium Vector">
            <a:extLst>
              <a:ext uri="{FF2B5EF4-FFF2-40B4-BE49-F238E27FC236}">
                <a16:creationId xmlns:a16="http://schemas.microsoft.com/office/drawing/2014/main" id="{9E23C527-EF01-6D4C-485F-5D2D946941C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394533" y="2645000"/>
            <a:ext cx="2438240" cy="243824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73A922D7-B083-9736-C136-87AEBE82136B}"/>
              </a:ext>
            </a:extLst>
          </p:cNvPr>
          <p:cNvCxnSpPr/>
          <p:nvPr/>
        </p:nvCxnSpPr>
        <p:spPr>
          <a:xfrm>
            <a:off x="6183079" y="2439260"/>
            <a:ext cx="0" cy="411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F01275D-AEEF-4E42-F870-1960DB468078}"/>
              </a:ext>
            </a:extLst>
          </p:cNvPr>
          <p:cNvCxnSpPr/>
          <p:nvPr/>
        </p:nvCxnSpPr>
        <p:spPr>
          <a:xfrm>
            <a:off x="6248380" y="4965464"/>
            <a:ext cx="0" cy="411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587DAD8C-C257-D22D-F198-3B81B904A586}"/>
              </a:ext>
            </a:extLst>
          </p:cNvPr>
          <p:cNvCxnSpPr/>
          <p:nvPr/>
        </p:nvCxnSpPr>
        <p:spPr>
          <a:xfrm>
            <a:off x="6215729" y="3778202"/>
            <a:ext cx="0" cy="411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977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6AF448-B760-77E0-3B35-C9A0A4A990A1}"/>
              </a:ext>
            </a:extLst>
          </p:cNvPr>
          <p:cNvPicPr>
            <a:picLocks noChangeAspect="1"/>
          </p:cNvPicPr>
          <p:nvPr/>
        </p:nvPicPr>
        <p:blipFill>
          <a:blip r:embed="rId3"/>
          <a:stretch>
            <a:fillRect/>
          </a:stretch>
        </p:blipFill>
        <p:spPr>
          <a:xfrm>
            <a:off x="210142" y="687854"/>
            <a:ext cx="9542256" cy="5455770"/>
          </a:xfrm>
          <a:prstGeom prst="rect">
            <a:avLst/>
          </a:prstGeom>
        </p:spPr>
      </p:pic>
      <p:sp>
        <p:nvSpPr>
          <p:cNvPr id="4" name="Date Placeholder 3">
            <a:extLst>
              <a:ext uri="{FF2B5EF4-FFF2-40B4-BE49-F238E27FC236}">
                <a16:creationId xmlns:a16="http://schemas.microsoft.com/office/drawing/2014/main" id="{72FA2944-FF61-590F-9116-6FCF23C3F859}"/>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E3892D84-8B63-61FE-2F2F-E9E0F213498E}"/>
              </a:ext>
            </a:extLst>
          </p:cNvPr>
          <p:cNvSpPr>
            <a:spLocks noGrp="1"/>
          </p:cNvSpPr>
          <p:nvPr>
            <p:ph type="ftr" sz="quarter" idx="4294967295"/>
          </p:nvPr>
        </p:nvSpPr>
        <p:spPr>
          <a:xfrm>
            <a:off x="0" y="0"/>
            <a:ext cx="0" cy="0"/>
          </a:xfrm>
        </p:spPr>
        <p:txBody>
          <a:bodyPr/>
          <a:lstStyle/>
          <a:p>
            <a:endParaRPr lang="en-GB" noProof="0" dirty="0"/>
          </a:p>
        </p:txBody>
      </p:sp>
      <p:sp>
        <p:nvSpPr>
          <p:cNvPr id="11" name="TextBox 10">
            <a:extLst>
              <a:ext uri="{FF2B5EF4-FFF2-40B4-BE49-F238E27FC236}">
                <a16:creationId xmlns:a16="http://schemas.microsoft.com/office/drawing/2014/main" id="{DB153D7F-FEB7-A89A-00F0-11402243C876}"/>
              </a:ext>
            </a:extLst>
          </p:cNvPr>
          <p:cNvSpPr txBox="1"/>
          <p:nvPr/>
        </p:nvSpPr>
        <p:spPr>
          <a:xfrm>
            <a:off x="9752397" y="3665836"/>
            <a:ext cx="2149948" cy="461665"/>
          </a:xfrm>
          <a:prstGeom prst="rect">
            <a:avLst/>
          </a:prstGeom>
          <a:noFill/>
        </p:spPr>
        <p:txBody>
          <a:bodyPr wrap="none" rtlCol="0">
            <a:spAutoFit/>
          </a:bodyPr>
          <a:lstStyle/>
          <a:p>
            <a:r>
              <a:rPr lang="en-NL" sz="2400" b="1" dirty="0">
                <a:solidFill>
                  <a:schemeClr val="accent1"/>
                </a:solidFill>
              </a:rPr>
              <a:t>Orientation</a:t>
            </a:r>
          </a:p>
        </p:txBody>
      </p:sp>
      <p:sp>
        <p:nvSpPr>
          <p:cNvPr id="12" name="Rectangle 11">
            <a:extLst>
              <a:ext uri="{FF2B5EF4-FFF2-40B4-BE49-F238E27FC236}">
                <a16:creationId xmlns:a16="http://schemas.microsoft.com/office/drawing/2014/main" id="{F0158D9D-61A9-5F34-70EB-CACB5954ADA1}"/>
              </a:ext>
            </a:extLst>
          </p:cNvPr>
          <p:cNvSpPr/>
          <p:nvPr/>
        </p:nvSpPr>
        <p:spPr>
          <a:xfrm flipV="1">
            <a:off x="2369859" y="2028825"/>
            <a:ext cx="5071535" cy="3251199"/>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13" name="Rectangle 12">
            <a:extLst>
              <a:ext uri="{FF2B5EF4-FFF2-40B4-BE49-F238E27FC236}">
                <a16:creationId xmlns:a16="http://schemas.microsoft.com/office/drawing/2014/main" id="{403C8D1C-3D59-E7C5-2C08-A45D4B26240C}"/>
              </a:ext>
            </a:extLst>
          </p:cNvPr>
          <p:cNvSpPr/>
          <p:nvPr/>
        </p:nvSpPr>
        <p:spPr>
          <a:xfrm flipV="1">
            <a:off x="2272239" y="5280024"/>
            <a:ext cx="7480158" cy="56356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pic>
        <p:nvPicPr>
          <p:cNvPr id="14" name="Picture 13">
            <a:extLst>
              <a:ext uri="{FF2B5EF4-FFF2-40B4-BE49-F238E27FC236}">
                <a16:creationId xmlns:a16="http://schemas.microsoft.com/office/drawing/2014/main" id="{8F25D920-CDBD-61FF-9B92-172FAA876775}"/>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3ED02E5F-A150-A6DF-0B41-13560B93BA99}"/>
              </a:ext>
            </a:extLst>
          </p:cNvPr>
          <p:cNvSpPr/>
          <p:nvPr/>
        </p:nvSpPr>
        <p:spPr>
          <a:xfrm flipV="1">
            <a:off x="7571769" y="1377987"/>
            <a:ext cx="962759" cy="21560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16" name="Rectangle 15">
            <a:extLst>
              <a:ext uri="{FF2B5EF4-FFF2-40B4-BE49-F238E27FC236}">
                <a16:creationId xmlns:a16="http://schemas.microsoft.com/office/drawing/2014/main" id="{4EB882C5-5722-0185-697B-DB5CCB056ADC}"/>
              </a:ext>
            </a:extLst>
          </p:cNvPr>
          <p:cNvSpPr/>
          <p:nvPr/>
        </p:nvSpPr>
        <p:spPr>
          <a:xfrm flipV="1">
            <a:off x="8632571" y="1375186"/>
            <a:ext cx="1122932" cy="215600"/>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21" name="Rectangle 20">
            <a:extLst>
              <a:ext uri="{FF2B5EF4-FFF2-40B4-BE49-F238E27FC236}">
                <a16:creationId xmlns:a16="http://schemas.microsoft.com/office/drawing/2014/main" id="{8F01F066-7906-48E4-8CC7-F4E8F16AEE86}"/>
              </a:ext>
            </a:extLst>
          </p:cNvPr>
          <p:cNvSpPr/>
          <p:nvPr/>
        </p:nvSpPr>
        <p:spPr>
          <a:xfrm flipV="1">
            <a:off x="210140" y="1398494"/>
            <a:ext cx="2041503" cy="4745130"/>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339864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0452BB-4A11-A608-DD73-B3CEBE7FFBC2}"/>
              </a:ext>
            </a:extLst>
          </p:cNvPr>
          <p:cNvPicPr>
            <a:picLocks noChangeAspect="1"/>
          </p:cNvPicPr>
          <p:nvPr/>
        </p:nvPicPr>
        <p:blipFill>
          <a:blip r:embed="rId2"/>
          <a:srcRect l="-74921" t="1593" r="74921" b="-1593"/>
          <a:stretch>
            <a:fillRect/>
          </a:stretch>
        </p:blipFill>
        <p:spPr>
          <a:xfrm>
            <a:off x="878665" y="1305462"/>
            <a:ext cx="8736272" cy="5529943"/>
          </a:xfrm>
          <a:prstGeom prst="rect">
            <a:avLst/>
          </a:prstGeom>
        </p:spPr>
      </p:pic>
      <p:sp>
        <p:nvSpPr>
          <p:cNvPr id="2" name="Title 1">
            <a:extLst>
              <a:ext uri="{FF2B5EF4-FFF2-40B4-BE49-F238E27FC236}">
                <a16:creationId xmlns:a16="http://schemas.microsoft.com/office/drawing/2014/main" id="{9B1C0C0C-821F-82FA-3496-69CF2FA6CDD9}"/>
              </a:ext>
            </a:extLst>
          </p:cNvPr>
          <p:cNvSpPr>
            <a:spLocks noGrp="1"/>
          </p:cNvSpPr>
          <p:nvPr>
            <p:ph type="title"/>
          </p:nvPr>
        </p:nvSpPr>
        <p:spPr>
          <a:xfrm>
            <a:off x="4081916" y="22595"/>
            <a:ext cx="7632692" cy="1223964"/>
          </a:xfrm>
        </p:spPr>
        <p:txBody>
          <a:bodyPr/>
          <a:lstStyle/>
          <a:p>
            <a:r>
              <a:rPr lang="en-US" dirty="0"/>
              <a:t>What goes in (inputs 1)</a:t>
            </a:r>
            <a:endParaRPr lang="en-CH" dirty="0"/>
          </a:p>
        </p:txBody>
      </p:sp>
      <p:sp>
        <p:nvSpPr>
          <p:cNvPr id="3" name="Content Placeholder 2">
            <a:extLst>
              <a:ext uri="{FF2B5EF4-FFF2-40B4-BE49-F238E27FC236}">
                <a16:creationId xmlns:a16="http://schemas.microsoft.com/office/drawing/2014/main" id="{F1D0F6F1-E38B-3AA6-DB46-D6334125BFA9}"/>
              </a:ext>
            </a:extLst>
          </p:cNvPr>
          <p:cNvSpPr>
            <a:spLocks noGrp="1"/>
          </p:cNvSpPr>
          <p:nvPr>
            <p:ph idx="1"/>
          </p:nvPr>
        </p:nvSpPr>
        <p:spPr>
          <a:xfrm>
            <a:off x="442914" y="2766059"/>
            <a:ext cx="4464090" cy="3291841"/>
          </a:xfrm>
        </p:spPr>
        <p:txBody>
          <a:bodyPr/>
          <a:lstStyle/>
          <a:p>
            <a:pPr marL="742950" indent="-742950">
              <a:buAutoNum type="alphaLcPeriod"/>
            </a:pPr>
            <a:r>
              <a:rPr lang="en-US" sz="2400" dirty="0"/>
              <a:t>Select the </a:t>
            </a:r>
            <a:r>
              <a:rPr lang="en-US" sz="2400" dirty="0">
                <a:latin typeface="+mj-lt"/>
              </a:rPr>
              <a:t>country</a:t>
            </a:r>
            <a:br>
              <a:rPr lang="en-US" sz="2400" dirty="0"/>
            </a:br>
            <a:endParaRPr lang="en-US" sz="2400" dirty="0"/>
          </a:p>
          <a:p>
            <a:pPr marL="742950" indent="-742950">
              <a:buAutoNum type="alphaLcPeriod"/>
            </a:pPr>
            <a:r>
              <a:rPr lang="en-US" sz="2400" dirty="0"/>
              <a:t>Confirm (or edit) </a:t>
            </a:r>
            <a:r>
              <a:rPr lang="en-US" sz="2400" dirty="0">
                <a:latin typeface="+mj-lt"/>
              </a:rPr>
              <a:t>epidemic parameters </a:t>
            </a:r>
            <a:r>
              <a:rPr lang="en-US" sz="1600" dirty="0">
                <a:latin typeface="+mj-lt"/>
              </a:rPr>
              <a:t>(greyed out cannot be modified)</a:t>
            </a:r>
          </a:p>
        </p:txBody>
      </p:sp>
      <p:cxnSp>
        <p:nvCxnSpPr>
          <p:cNvPr id="10" name="Straight Arrow Connector 9">
            <a:extLst>
              <a:ext uri="{FF2B5EF4-FFF2-40B4-BE49-F238E27FC236}">
                <a16:creationId xmlns:a16="http://schemas.microsoft.com/office/drawing/2014/main" id="{D62104F0-C19A-6C2D-5478-0AE49B8F217E}"/>
              </a:ext>
            </a:extLst>
          </p:cNvPr>
          <p:cNvCxnSpPr>
            <a:cxnSpLocks/>
          </p:cNvCxnSpPr>
          <p:nvPr/>
        </p:nvCxnSpPr>
        <p:spPr>
          <a:xfrm flipV="1">
            <a:off x="4081916" y="2232408"/>
            <a:ext cx="3304722" cy="7317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94CD9BF-D852-F9D6-B0B7-6A1A74D69534}"/>
              </a:ext>
            </a:extLst>
          </p:cNvPr>
          <p:cNvCxnSpPr>
            <a:cxnSpLocks/>
          </p:cNvCxnSpPr>
          <p:nvPr/>
        </p:nvCxnSpPr>
        <p:spPr>
          <a:xfrm flipV="1">
            <a:off x="4461164" y="3497772"/>
            <a:ext cx="2823834" cy="2688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459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982AC-2D25-2B98-C618-04F1FDEE1AC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4502194-E9E6-4B52-1337-358E975A6C1A}"/>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9010D6B4-1100-68A1-083E-643BB539A0E1}"/>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956AB3C1-DA94-47BD-1B7D-F84CBFD90C3C}"/>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E6E5F851-21F8-ACEE-B146-E49200D74FEE}"/>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F84EA183-BA86-0B19-9A7F-06EC5541208C}"/>
              </a:ext>
            </a:extLst>
          </p:cNvPr>
          <p:cNvSpPr/>
          <p:nvPr/>
        </p:nvSpPr>
        <p:spPr>
          <a:xfrm flipV="1">
            <a:off x="3232851" y="1826222"/>
            <a:ext cx="1159856" cy="199802"/>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259114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0098-84FB-A912-FB44-FFD9BBEF72B5}"/>
              </a:ext>
            </a:extLst>
          </p:cNvPr>
          <p:cNvSpPr>
            <a:spLocks noGrp="1"/>
          </p:cNvSpPr>
          <p:nvPr>
            <p:ph type="title"/>
          </p:nvPr>
        </p:nvSpPr>
        <p:spPr/>
        <p:txBody>
          <a:bodyPr/>
          <a:lstStyle/>
          <a:p>
            <a:r>
              <a:rPr lang="en-US" dirty="0"/>
              <a:t>What goes in (inputs 2)</a:t>
            </a:r>
            <a:endParaRPr lang="en-CH" dirty="0"/>
          </a:p>
        </p:txBody>
      </p:sp>
      <p:sp>
        <p:nvSpPr>
          <p:cNvPr id="3" name="Content Placeholder 2">
            <a:extLst>
              <a:ext uri="{FF2B5EF4-FFF2-40B4-BE49-F238E27FC236}">
                <a16:creationId xmlns:a16="http://schemas.microsoft.com/office/drawing/2014/main" id="{F39F62AE-F6AE-0F88-5723-8ADD4990B641}"/>
              </a:ext>
            </a:extLst>
          </p:cNvPr>
          <p:cNvSpPr>
            <a:spLocks noGrp="1"/>
          </p:cNvSpPr>
          <p:nvPr>
            <p:ph idx="1"/>
          </p:nvPr>
        </p:nvSpPr>
        <p:spPr/>
        <p:txBody>
          <a:bodyPr/>
          <a:lstStyle/>
          <a:p>
            <a:pPr marL="0" indent="0">
              <a:buNone/>
            </a:pPr>
            <a:r>
              <a:rPr lang="en-US" dirty="0"/>
              <a:t>c. </a:t>
            </a:r>
            <a:r>
              <a:rPr lang="en-US" dirty="0">
                <a:latin typeface="+mj-lt"/>
              </a:rPr>
              <a:t>Baseline interventions (coverage)</a:t>
            </a:r>
          </a:p>
          <a:p>
            <a:pPr lvl="1"/>
            <a:r>
              <a:rPr lang="en-US" dirty="0"/>
              <a:t>For prevention</a:t>
            </a:r>
          </a:p>
          <a:p>
            <a:pPr lvl="1"/>
            <a:r>
              <a:rPr lang="en-US" dirty="0"/>
              <a:t>For testing and diagnosis </a:t>
            </a:r>
          </a:p>
          <a:p>
            <a:pPr lvl="1"/>
            <a:r>
              <a:rPr lang="en-US" dirty="0"/>
              <a:t>For treatment monitoring and quality</a:t>
            </a:r>
          </a:p>
          <a:p>
            <a:pPr lvl="1"/>
            <a:r>
              <a:rPr lang="en-US" dirty="0"/>
              <a:t>For retention and adherence support</a:t>
            </a:r>
          </a:p>
          <a:p>
            <a:pPr lvl="1"/>
            <a:r>
              <a:rPr lang="en-US" dirty="0"/>
              <a:t>For advanced HIV disease </a:t>
            </a:r>
          </a:p>
          <a:p>
            <a:endParaRPr lang="en-CH" dirty="0"/>
          </a:p>
        </p:txBody>
      </p:sp>
      <p:sp>
        <p:nvSpPr>
          <p:cNvPr id="9" name="Content Placeholder 2">
            <a:extLst>
              <a:ext uri="{FF2B5EF4-FFF2-40B4-BE49-F238E27FC236}">
                <a16:creationId xmlns:a16="http://schemas.microsoft.com/office/drawing/2014/main" id="{5EDDF111-EEDB-4838-1E92-A784B9080D0C}"/>
              </a:ext>
            </a:extLst>
          </p:cNvPr>
          <p:cNvSpPr txBox="1">
            <a:spLocks/>
          </p:cNvSpPr>
          <p:nvPr/>
        </p:nvSpPr>
        <p:spPr>
          <a:xfrm>
            <a:off x="538619" y="5231219"/>
            <a:ext cx="4681967" cy="1059514"/>
          </a:xfrm>
          <a:prstGeom prst="rect">
            <a:avLst/>
          </a:prstGeom>
        </p:spPr>
        <p:txBody>
          <a:bodyPr vert="horz" lIns="91440" tIns="45720" rIns="91440" bIns="45720" rtlCol="0">
            <a:normAutofit fontScale="62500" lnSpcReduction="20000"/>
          </a:bodyPr>
          <a:lst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b="0" i="1" dirty="0">
                <a:solidFill>
                  <a:schemeClr val="tx2"/>
                </a:solidFill>
                <a:latin typeface="+mj-lt"/>
              </a:rPr>
              <a:t>Important note!</a:t>
            </a:r>
          </a:p>
          <a:p>
            <a:r>
              <a:rPr lang="en-US" sz="2800" b="0" dirty="0">
                <a:solidFill>
                  <a:schemeClr val="tx2"/>
                </a:solidFill>
              </a:rPr>
              <a:t>Default data is provided </a:t>
            </a:r>
            <a:r>
              <a:rPr lang="en-US" sz="2800" b="0" dirty="0">
                <a:solidFill>
                  <a:schemeClr val="tx2"/>
                </a:solidFill>
                <a:sym typeface="Wingdings" pitchFamily="2" charset="2"/>
              </a:rPr>
              <a:t> </a:t>
            </a:r>
            <a:r>
              <a:rPr lang="en-US" sz="2800" b="0" dirty="0">
                <a:solidFill>
                  <a:schemeClr val="tx2"/>
                </a:solidFill>
              </a:rPr>
              <a:t>Users can customize if better national data are available.</a:t>
            </a:r>
          </a:p>
        </p:txBody>
      </p:sp>
      <p:pic>
        <p:nvPicPr>
          <p:cNvPr id="5" name="Picture 4">
            <a:extLst>
              <a:ext uri="{FF2B5EF4-FFF2-40B4-BE49-F238E27FC236}">
                <a16:creationId xmlns:a16="http://schemas.microsoft.com/office/drawing/2014/main" id="{9D2632DD-9788-3CC5-7570-5905DC6CD0B4}"/>
              </a:ext>
            </a:extLst>
          </p:cNvPr>
          <p:cNvPicPr>
            <a:picLocks noChangeAspect="1"/>
          </p:cNvPicPr>
          <p:nvPr/>
        </p:nvPicPr>
        <p:blipFill>
          <a:blip r:embed="rId3"/>
          <a:stretch>
            <a:fillRect/>
          </a:stretch>
        </p:blipFill>
        <p:spPr>
          <a:xfrm>
            <a:off x="5292635" y="1983319"/>
            <a:ext cx="2903429" cy="3647898"/>
          </a:xfrm>
          <a:prstGeom prst="rect">
            <a:avLst/>
          </a:prstGeom>
        </p:spPr>
      </p:pic>
      <p:pic>
        <p:nvPicPr>
          <p:cNvPr id="6" name="Picture 5">
            <a:extLst>
              <a:ext uri="{FF2B5EF4-FFF2-40B4-BE49-F238E27FC236}">
                <a16:creationId xmlns:a16="http://schemas.microsoft.com/office/drawing/2014/main" id="{80CF5830-C77A-CEC5-186A-6B4D69738818}"/>
              </a:ext>
            </a:extLst>
          </p:cNvPr>
          <p:cNvPicPr>
            <a:picLocks noChangeAspect="1"/>
          </p:cNvPicPr>
          <p:nvPr/>
        </p:nvPicPr>
        <p:blipFill>
          <a:blip r:embed="rId4"/>
          <a:stretch>
            <a:fillRect/>
          </a:stretch>
        </p:blipFill>
        <p:spPr>
          <a:xfrm>
            <a:off x="8546552" y="2097090"/>
            <a:ext cx="3047524" cy="3579631"/>
          </a:xfrm>
          <a:prstGeom prst="rect">
            <a:avLst/>
          </a:prstGeom>
        </p:spPr>
      </p:pic>
      <p:pic>
        <p:nvPicPr>
          <p:cNvPr id="4" name="Picture 3">
            <a:extLst>
              <a:ext uri="{FF2B5EF4-FFF2-40B4-BE49-F238E27FC236}">
                <a16:creationId xmlns:a16="http://schemas.microsoft.com/office/drawing/2014/main" id="{994E523F-EFC7-A04A-0D81-B9991963B95D}"/>
              </a:ext>
            </a:extLst>
          </p:cNvPr>
          <p:cNvPicPr>
            <a:picLocks noChangeAspect="1"/>
          </p:cNvPicPr>
          <p:nvPr/>
        </p:nvPicPr>
        <p:blipFill>
          <a:blip r:embed="rId5"/>
          <a:stretch>
            <a:fillRect/>
          </a:stretch>
        </p:blipFill>
        <p:spPr>
          <a:xfrm>
            <a:off x="5707546" y="2816503"/>
            <a:ext cx="2903429" cy="3454337"/>
          </a:xfrm>
          <a:prstGeom prst="rect">
            <a:avLst/>
          </a:prstGeom>
        </p:spPr>
      </p:pic>
      <p:pic>
        <p:nvPicPr>
          <p:cNvPr id="8" name="Picture 7">
            <a:extLst>
              <a:ext uri="{FF2B5EF4-FFF2-40B4-BE49-F238E27FC236}">
                <a16:creationId xmlns:a16="http://schemas.microsoft.com/office/drawing/2014/main" id="{3E552C6F-A70A-219F-5B6B-0E01CF84927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982014" y="3216427"/>
            <a:ext cx="2474880" cy="2140437"/>
          </a:xfrm>
          <a:prstGeom prst="rect">
            <a:avLst/>
          </a:prstGeom>
        </p:spPr>
      </p:pic>
    </p:spTree>
    <p:extLst>
      <p:ext uri="{BB962C8B-B14F-4D97-AF65-F5344CB8AC3E}">
        <p14:creationId xmlns:p14="http://schemas.microsoft.com/office/powerpoint/2010/main" val="52020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D0F044-56C8-9E98-ECCB-C2BFA2731DFE}"/>
              </a:ext>
            </a:extLst>
          </p:cNvPr>
          <p:cNvPicPr>
            <a:picLocks noChangeAspect="1"/>
          </p:cNvPicPr>
          <p:nvPr/>
        </p:nvPicPr>
        <p:blipFill>
          <a:blip r:embed="rId2"/>
          <a:srcRect l="13029"/>
          <a:stretch>
            <a:fillRect/>
          </a:stretch>
        </p:blipFill>
        <p:spPr>
          <a:xfrm>
            <a:off x="6660239" y="0"/>
            <a:ext cx="5971947" cy="6858000"/>
          </a:xfrm>
          <a:prstGeom prst="rect">
            <a:avLst/>
          </a:prstGeom>
        </p:spPr>
      </p:pic>
      <p:sp>
        <p:nvSpPr>
          <p:cNvPr id="5" name="Title 1">
            <a:extLst>
              <a:ext uri="{FF2B5EF4-FFF2-40B4-BE49-F238E27FC236}">
                <a16:creationId xmlns:a16="http://schemas.microsoft.com/office/drawing/2014/main" id="{BD618870-B790-5827-117F-3B9D21821827}"/>
              </a:ext>
            </a:extLst>
          </p:cNvPr>
          <p:cNvSpPr txBox="1">
            <a:spLocks/>
          </p:cNvSpPr>
          <p:nvPr/>
        </p:nvSpPr>
        <p:spPr>
          <a:xfrm>
            <a:off x="737759" y="1785768"/>
            <a:ext cx="4834701" cy="1600803"/>
          </a:xfrm>
          <a:prstGeom prst="rect">
            <a:avLst/>
          </a:prstGeom>
        </p:spPr>
        <p:txBody>
          <a:bodyPr vert="horz" lIns="0" tIns="0" rIns="0" bIns="0" rtlCol="0" anchor="b">
            <a:normAutofit fontScale="75000" lnSpcReduction="20000"/>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nSpc>
                <a:spcPct val="120000"/>
              </a:lnSpc>
            </a:pPr>
            <a:r>
              <a:rPr lang="en-NL" dirty="0"/>
              <a:t>Countries represented in TIER-Plus</a:t>
            </a:r>
          </a:p>
        </p:txBody>
      </p:sp>
      <p:sp>
        <p:nvSpPr>
          <p:cNvPr id="6" name="Rectangle 5">
            <a:extLst>
              <a:ext uri="{FF2B5EF4-FFF2-40B4-BE49-F238E27FC236}">
                <a16:creationId xmlns:a16="http://schemas.microsoft.com/office/drawing/2014/main" id="{4A851CFE-13C9-6CE6-C85A-1390BDF2E0C4}"/>
              </a:ext>
            </a:extLst>
          </p:cNvPr>
          <p:cNvSpPr/>
          <p:nvPr/>
        </p:nvSpPr>
        <p:spPr>
          <a:xfrm>
            <a:off x="2750746" y="3859956"/>
            <a:ext cx="174172" cy="217715"/>
          </a:xfrm>
          <a:prstGeom prst="rect">
            <a:avLst/>
          </a:prstGeom>
          <a:solidFill>
            <a:srgbClr val="4DAF4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7" name="Rectangle 6">
            <a:extLst>
              <a:ext uri="{FF2B5EF4-FFF2-40B4-BE49-F238E27FC236}">
                <a16:creationId xmlns:a16="http://schemas.microsoft.com/office/drawing/2014/main" id="{9F6751F9-50C5-4C40-8F34-3A647EDFA71F}"/>
              </a:ext>
            </a:extLst>
          </p:cNvPr>
          <p:cNvSpPr/>
          <p:nvPr/>
        </p:nvSpPr>
        <p:spPr>
          <a:xfrm>
            <a:off x="2722176" y="4771975"/>
            <a:ext cx="174172" cy="217715"/>
          </a:xfrm>
          <a:prstGeom prst="rect">
            <a:avLst/>
          </a:prstGeom>
          <a:solidFill>
            <a:srgbClr val="FD8D3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8" name="TextBox 7">
            <a:extLst>
              <a:ext uri="{FF2B5EF4-FFF2-40B4-BE49-F238E27FC236}">
                <a16:creationId xmlns:a16="http://schemas.microsoft.com/office/drawing/2014/main" id="{B52AF9F2-1F0B-5D62-4A98-8EC7CF5A4148}"/>
              </a:ext>
            </a:extLst>
          </p:cNvPr>
          <p:cNvSpPr txBox="1"/>
          <p:nvPr/>
        </p:nvSpPr>
        <p:spPr>
          <a:xfrm>
            <a:off x="3018300" y="3727703"/>
            <a:ext cx="3530009" cy="923330"/>
          </a:xfrm>
          <a:prstGeom prst="rect">
            <a:avLst/>
          </a:prstGeom>
          <a:noFill/>
        </p:spPr>
        <p:txBody>
          <a:bodyPr wrap="square" rtlCol="0">
            <a:spAutoFit/>
          </a:bodyPr>
          <a:lstStyle/>
          <a:p>
            <a:r>
              <a:rPr lang="en-NL" dirty="0"/>
              <a:t>Baseline data values reviewed and updated by in-country teams</a:t>
            </a:r>
          </a:p>
        </p:txBody>
      </p:sp>
      <p:sp>
        <p:nvSpPr>
          <p:cNvPr id="9" name="TextBox 8">
            <a:extLst>
              <a:ext uri="{FF2B5EF4-FFF2-40B4-BE49-F238E27FC236}">
                <a16:creationId xmlns:a16="http://schemas.microsoft.com/office/drawing/2014/main" id="{86DA6C53-37EA-FF2B-8340-D03B7A19CD2C}"/>
              </a:ext>
            </a:extLst>
          </p:cNvPr>
          <p:cNvSpPr txBox="1"/>
          <p:nvPr/>
        </p:nvSpPr>
        <p:spPr>
          <a:xfrm>
            <a:off x="2975442" y="4660621"/>
            <a:ext cx="3530009" cy="923330"/>
          </a:xfrm>
          <a:prstGeom prst="rect">
            <a:avLst/>
          </a:prstGeom>
          <a:noFill/>
        </p:spPr>
        <p:txBody>
          <a:bodyPr wrap="square" rtlCol="0">
            <a:spAutoFit/>
          </a:bodyPr>
          <a:lstStyle/>
          <a:p>
            <a:r>
              <a:rPr lang="en-NL" dirty="0"/>
              <a:t>Baseline data values from publicly available resources and literature</a:t>
            </a:r>
          </a:p>
        </p:txBody>
      </p:sp>
      <p:cxnSp>
        <p:nvCxnSpPr>
          <p:cNvPr id="12" name="Straight Connector 11">
            <a:extLst>
              <a:ext uri="{FF2B5EF4-FFF2-40B4-BE49-F238E27FC236}">
                <a16:creationId xmlns:a16="http://schemas.microsoft.com/office/drawing/2014/main" id="{1D75DF23-DC03-2A59-B18E-6ED013430956}"/>
              </a:ext>
            </a:extLst>
          </p:cNvPr>
          <p:cNvCxnSpPr>
            <a:cxnSpLocks/>
          </p:cNvCxnSpPr>
          <p:nvPr/>
        </p:nvCxnSpPr>
        <p:spPr>
          <a:xfrm flipH="1">
            <a:off x="7169787" y="2870791"/>
            <a:ext cx="645151" cy="184262"/>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048DF21-38F8-19BF-F562-32E0A6125B19}"/>
              </a:ext>
            </a:extLst>
          </p:cNvPr>
          <p:cNvSpPr txBox="1"/>
          <p:nvPr/>
        </p:nvSpPr>
        <p:spPr>
          <a:xfrm>
            <a:off x="5970029" y="2952179"/>
            <a:ext cx="1268820" cy="276999"/>
          </a:xfrm>
          <a:prstGeom prst="rect">
            <a:avLst/>
          </a:prstGeom>
          <a:noFill/>
        </p:spPr>
        <p:txBody>
          <a:bodyPr wrap="square" rtlCol="0">
            <a:spAutoFit/>
          </a:bodyPr>
          <a:lstStyle/>
          <a:p>
            <a:r>
              <a:rPr lang="en-US" sz="1200" dirty="0">
                <a:solidFill>
                  <a:schemeClr val="accent3">
                    <a:lumMod val="75000"/>
                  </a:schemeClr>
                </a:solidFill>
              </a:rPr>
              <a:t>Côte d’Ivoire</a:t>
            </a:r>
            <a:endParaRPr lang="en-CH" sz="1200" dirty="0">
              <a:solidFill>
                <a:schemeClr val="accent3">
                  <a:lumMod val="75000"/>
                </a:schemeClr>
              </a:solidFill>
            </a:endParaRPr>
          </a:p>
        </p:txBody>
      </p:sp>
      <p:cxnSp>
        <p:nvCxnSpPr>
          <p:cNvPr id="18" name="Straight Connector 17">
            <a:extLst>
              <a:ext uri="{FF2B5EF4-FFF2-40B4-BE49-F238E27FC236}">
                <a16:creationId xmlns:a16="http://schemas.microsoft.com/office/drawing/2014/main" id="{5693D745-B2E5-C8F2-CB7A-D42196302D8C}"/>
              </a:ext>
            </a:extLst>
          </p:cNvPr>
          <p:cNvCxnSpPr>
            <a:cxnSpLocks/>
          </p:cNvCxnSpPr>
          <p:nvPr/>
        </p:nvCxnSpPr>
        <p:spPr>
          <a:xfrm flipH="1">
            <a:off x="7630639" y="2891201"/>
            <a:ext cx="516615" cy="36454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1C28B64-58DC-F560-0C75-43FCB331D895}"/>
              </a:ext>
            </a:extLst>
          </p:cNvPr>
          <p:cNvSpPr txBox="1"/>
          <p:nvPr/>
        </p:nvSpPr>
        <p:spPr>
          <a:xfrm>
            <a:off x="7017124" y="3203873"/>
            <a:ext cx="741203" cy="276999"/>
          </a:xfrm>
          <a:prstGeom prst="rect">
            <a:avLst/>
          </a:prstGeom>
          <a:noFill/>
        </p:spPr>
        <p:txBody>
          <a:bodyPr wrap="square" rtlCol="0">
            <a:spAutoFit/>
          </a:bodyPr>
          <a:lstStyle/>
          <a:p>
            <a:r>
              <a:rPr lang="en-US" sz="1200" dirty="0">
                <a:solidFill>
                  <a:schemeClr val="accent1"/>
                </a:solidFill>
              </a:rPr>
              <a:t>Ghana</a:t>
            </a:r>
            <a:endParaRPr lang="en-CH" sz="1200" dirty="0">
              <a:solidFill>
                <a:schemeClr val="accent1"/>
              </a:solidFill>
            </a:endParaRPr>
          </a:p>
        </p:txBody>
      </p:sp>
      <p:cxnSp>
        <p:nvCxnSpPr>
          <p:cNvPr id="21" name="Straight Connector 20">
            <a:extLst>
              <a:ext uri="{FF2B5EF4-FFF2-40B4-BE49-F238E27FC236}">
                <a16:creationId xmlns:a16="http://schemas.microsoft.com/office/drawing/2014/main" id="{2E92E6B7-EFC0-E421-971A-EAEFFF309C41}"/>
              </a:ext>
            </a:extLst>
          </p:cNvPr>
          <p:cNvCxnSpPr>
            <a:cxnSpLocks/>
          </p:cNvCxnSpPr>
          <p:nvPr/>
        </p:nvCxnSpPr>
        <p:spPr>
          <a:xfrm flipH="1">
            <a:off x="8223462" y="2796267"/>
            <a:ext cx="558027" cy="454138"/>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9B9B3B4-ED61-E359-EE77-09737448BA72}"/>
              </a:ext>
            </a:extLst>
          </p:cNvPr>
          <p:cNvSpPr txBox="1"/>
          <p:nvPr/>
        </p:nvSpPr>
        <p:spPr>
          <a:xfrm>
            <a:off x="7836811" y="3218949"/>
            <a:ext cx="741203" cy="276999"/>
          </a:xfrm>
          <a:prstGeom prst="rect">
            <a:avLst/>
          </a:prstGeom>
          <a:noFill/>
        </p:spPr>
        <p:txBody>
          <a:bodyPr wrap="square" rtlCol="0">
            <a:spAutoFit/>
          </a:bodyPr>
          <a:lstStyle/>
          <a:p>
            <a:r>
              <a:rPr lang="en-US" sz="1200" dirty="0">
                <a:solidFill>
                  <a:schemeClr val="accent3">
                    <a:lumMod val="75000"/>
                  </a:schemeClr>
                </a:solidFill>
              </a:rPr>
              <a:t>Nigeria</a:t>
            </a:r>
            <a:endParaRPr lang="en-CH" sz="1200" dirty="0">
              <a:solidFill>
                <a:schemeClr val="accent3">
                  <a:lumMod val="75000"/>
                </a:schemeClr>
              </a:solidFill>
            </a:endParaRPr>
          </a:p>
        </p:txBody>
      </p:sp>
      <p:cxnSp>
        <p:nvCxnSpPr>
          <p:cNvPr id="25" name="Straight Connector 24">
            <a:extLst>
              <a:ext uri="{FF2B5EF4-FFF2-40B4-BE49-F238E27FC236}">
                <a16:creationId xmlns:a16="http://schemas.microsoft.com/office/drawing/2014/main" id="{4B99DA2C-8D56-7874-4AFA-A125A7995BB1}"/>
              </a:ext>
            </a:extLst>
          </p:cNvPr>
          <p:cNvCxnSpPr>
            <a:cxnSpLocks/>
          </p:cNvCxnSpPr>
          <p:nvPr/>
        </p:nvCxnSpPr>
        <p:spPr>
          <a:xfrm flipH="1">
            <a:off x="9096427" y="5256591"/>
            <a:ext cx="390847" cy="124085"/>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6BF134C-87D2-1B39-28C5-B0F9C043A74A}"/>
              </a:ext>
            </a:extLst>
          </p:cNvPr>
          <p:cNvSpPr txBox="1"/>
          <p:nvPr/>
        </p:nvSpPr>
        <p:spPr>
          <a:xfrm>
            <a:off x="8331523" y="5318633"/>
            <a:ext cx="857751" cy="276999"/>
          </a:xfrm>
          <a:prstGeom prst="rect">
            <a:avLst/>
          </a:prstGeom>
          <a:noFill/>
        </p:spPr>
        <p:txBody>
          <a:bodyPr wrap="square" rtlCol="0">
            <a:spAutoFit/>
          </a:bodyPr>
          <a:lstStyle/>
          <a:p>
            <a:r>
              <a:rPr lang="en-US" sz="1200" dirty="0">
                <a:solidFill>
                  <a:schemeClr val="accent3">
                    <a:lumMod val="75000"/>
                  </a:schemeClr>
                </a:solidFill>
              </a:rPr>
              <a:t>Namibia</a:t>
            </a:r>
            <a:endParaRPr lang="en-CH" sz="1200" dirty="0">
              <a:solidFill>
                <a:schemeClr val="accent3">
                  <a:lumMod val="75000"/>
                </a:schemeClr>
              </a:solidFill>
            </a:endParaRPr>
          </a:p>
        </p:txBody>
      </p:sp>
      <p:cxnSp>
        <p:nvCxnSpPr>
          <p:cNvPr id="28" name="Straight Connector 27">
            <a:extLst>
              <a:ext uri="{FF2B5EF4-FFF2-40B4-BE49-F238E27FC236}">
                <a16:creationId xmlns:a16="http://schemas.microsoft.com/office/drawing/2014/main" id="{F2D65D9F-F5E6-EB3D-EF4C-D3285D4A74A5}"/>
              </a:ext>
            </a:extLst>
          </p:cNvPr>
          <p:cNvCxnSpPr>
            <a:cxnSpLocks/>
          </p:cNvCxnSpPr>
          <p:nvPr/>
        </p:nvCxnSpPr>
        <p:spPr>
          <a:xfrm flipH="1">
            <a:off x="9035397" y="6064224"/>
            <a:ext cx="713217" cy="215632"/>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EF38591-E721-49A3-B420-4F3D2652CAEB}"/>
              </a:ext>
            </a:extLst>
          </p:cNvPr>
          <p:cNvSpPr txBox="1"/>
          <p:nvPr/>
        </p:nvSpPr>
        <p:spPr>
          <a:xfrm>
            <a:off x="7824942" y="6195265"/>
            <a:ext cx="1145602" cy="276999"/>
          </a:xfrm>
          <a:prstGeom prst="rect">
            <a:avLst/>
          </a:prstGeom>
          <a:noFill/>
        </p:spPr>
        <p:txBody>
          <a:bodyPr wrap="square" rtlCol="0">
            <a:spAutoFit/>
          </a:bodyPr>
          <a:lstStyle/>
          <a:p>
            <a:r>
              <a:rPr lang="en-US" sz="1200" dirty="0">
                <a:solidFill>
                  <a:schemeClr val="accent3">
                    <a:lumMod val="75000"/>
                  </a:schemeClr>
                </a:solidFill>
              </a:rPr>
              <a:t>South Africa</a:t>
            </a:r>
            <a:endParaRPr lang="en-CH" sz="1200" dirty="0">
              <a:solidFill>
                <a:schemeClr val="accent3">
                  <a:lumMod val="75000"/>
                </a:schemeClr>
              </a:solidFill>
            </a:endParaRPr>
          </a:p>
        </p:txBody>
      </p:sp>
      <p:cxnSp>
        <p:nvCxnSpPr>
          <p:cNvPr id="30" name="Straight Connector 29">
            <a:extLst>
              <a:ext uri="{FF2B5EF4-FFF2-40B4-BE49-F238E27FC236}">
                <a16:creationId xmlns:a16="http://schemas.microsoft.com/office/drawing/2014/main" id="{95C49B98-BAEF-8295-372A-5064FE990072}"/>
              </a:ext>
            </a:extLst>
          </p:cNvPr>
          <p:cNvCxnSpPr>
            <a:cxnSpLocks/>
          </p:cNvCxnSpPr>
          <p:nvPr/>
        </p:nvCxnSpPr>
        <p:spPr>
          <a:xfrm>
            <a:off x="10189937" y="5859130"/>
            <a:ext cx="345373" cy="68963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F285223-E9E1-15BF-563C-06986F580A6A}"/>
              </a:ext>
            </a:extLst>
          </p:cNvPr>
          <p:cNvSpPr txBox="1"/>
          <p:nvPr/>
        </p:nvSpPr>
        <p:spPr>
          <a:xfrm>
            <a:off x="10501327" y="6429795"/>
            <a:ext cx="1268820" cy="276999"/>
          </a:xfrm>
          <a:prstGeom prst="rect">
            <a:avLst/>
          </a:prstGeom>
          <a:noFill/>
        </p:spPr>
        <p:txBody>
          <a:bodyPr wrap="square" rtlCol="0">
            <a:spAutoFit/>
          </a:bodyPr>
          <a:lstStyle/>
          <a:p>
            <a:r>
              <a:rPr lang="en-US" sz="1200" dirty="0">
                <a:solidFill>
                  <a:schemeClr val="accent3">
                    <a:lumMod val="75000"/>
                  </a:schemeClr>
                </a:solidFill>
              </a:rPr>
              <a:t>Lesotho</a:t>
            </a:r>
            <a:endParaRPr lang="en-CH" sz="1200" dirty="0">
              <a:solidFill>
                <a:schemeClr val="accent3">
                  <a:lumMod val="75000"/>
                </a:schemeClr>
              </a:solidFill>
            </a:endParaRPr>
          </a:p>
        </p:txBody>
      </p:sp>
      <p:cxnSp>
        <p:nvCxnSpPr>
          <p:cNvPr id="33" name="Straight Connector 32">
            <a:extLst>
              <a:ext uri="{FF2B5EF4-FFF2-40B4-BE49-F238E27FC236}">
                <a16:creationId xmlns:a16="http://schemas.microsoft.com/office/drawing/2014/main" id="{83804B8B-6303-4300-ECF4-BAB5DDAA2ACB}"/>
              </a:ext>
            </a:extLst>
          </p:cNvPr>
          <p:cNvCxnSpPr>
            <a:cxnSpLocks/>
          </p:cNvCxnSpPr>
          <p:nvPr/>
        </p:nvCxnSpPr>
        <p:spPr>
          <a:xfrm>
            <a:off x="10396775" y="5001169"/>
            <a:ext cx="708418" cy="1023769"/>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25BDC37-42EA-D8C4-5908-AD6C18ABB81C}"/>
              </a:ext>
            </a:extLst>
          </p:cNvPr>
          <p:cNvSpPr txBox="1"/>
          <p:nvPr/>
        </p:nvSpPr>
        <p:spPr>
          <a:xfrm>
            <a:off x="11051976" y="5918266"/>
            <a:ext cx="1268820" cy="276999"/>
          </a:xfrm>
          <a:prstGeom prst="rect">
            <a:avLst/>
          </a:prstGeom>
          <a:noFill/>
        </p:spPr>
        <p:txBody>
          <a:bodyPr wrap="square" rtlCol="0">
            <a:spAutoFit/>
          </a:bodyPr>
          <a:lstStyle/>
          <a:p>
            <a:r>
              <a:rPr lang="en-US" sz="1200" dirty="0">
                <a:solidFill>
                  <a:schemeClr val="accent3">
                    <a:lumMod val="75000"/>
                  </a:schemeClr>
                </a:solidFill>
              </a:rPr>
              <a:t>Zimbabwe</a:t>
            </a:r>
            <a:endParaRPr lang="en-CH" sz="1200" dirty="0">
              <a:solidFill>
                <a:schemeClr val="accent3">
                  <a:lumMod val="75000"/>
                </a:schemeClr>
              </a:solidFill>
            </a:endParaRPr>
          </a:p>
        </p:txBody>
      </p:sp>
      <p:cxnSp>
        <p:nvCxnSpPr>
          <p:cNvPr id="37" name="Straight Connector 36">
            <a:extLst>
              <a:ext uri="{FF2B5EF4-FFF2-40B4-BE49-F238E27FC236}">
                <a16:creationId xmlns:a16="http://schemas.microsoft.com/office/drawing/2014/main" id="{7DCE374B-55CE-4DA7-B184-E6A8FA2142FE}"/>
              </a:ext>
            </a:extLst>
          </p:cNvPr>
          <p:cNvCxnSpPr>
            <a:cxnSpLocks/>
          </p:cNvCxnSpPr>
          <p:nvPr/>
        </p:nvCxnSpPr>
        <p:spPr>
          <a:xfrm>
            <a:off x="10952540" y="3971682"/>
            <a:ext cx="459651" cy="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54E1D0B-6625-7018-0793-EFA2D120E8DC}"/>
              </a:ext>
            </a:extLst>
          </p:cNvPr>
          <p:cNvSpPr txBox="1"/>
          <p:nvPr/>
        </p:nvSpPr>
        <p:spPr>
          <a:xfrm>
            <a:off x="11419277" y="3811916"/>
            <a:ext cx="1268820" cy="276999"/>
          </a:xfrm>
          <a:prstGeom prst="rect">
            <a:avLst/>
          </a:prstGeom>
          <a:noFill/>
        </p:spPr>
        <p:txBody>
          <a:bodyPr wrap="square" rtlCol="0">
            <a:spAutoFit/>
          </a:bodyPr>
          <a:lstStyle/>
          <a:p>
            <a:r>
              <a:rPr lang="en-US" sz="1200" dirty="0">
                <a:solidFill>
                  <a:schemeClr val="accent3">
                    <a:lumMod val="75000"/>
                  </a:schemeClr>
                </a:solidFill>
              </a:rPr>
              <a:t>Tanzania</a:t>
            </a:r>
            <a:endParaRPr lang="en-CH" sz="1200" dirty="0">
              <a:solidFill>
                <a:schemeClr val="accent3">
                  <a:lumMod val="75000"/>
                </a:schemeClr>
              </a:solidFill>
            </a:endParaRPr>
          </a:p>
        </p:txBody>
      </p:sp>
      <p:cxnSp>
        <p:nvCxnSpPr>
          <p:cNvPr id="40" name="Straight Connector 39">
            <a:extLst>
              <a:ext uri="{FF2B5EF4-FFF2-40B4-BE49-F238E27FC236}">
                <a16:creationId xmlns:a16="http://schemas.microsoft.com/office/drawing/2014/main" id="{472D2760-39E6-3F5A-9E12-6B3E0DB97CC2}"/>
              </a:ext>
            </a:extLst>
          </p:cNvPr>
          <p:cNvCxnSpPr>
            <a:cxnSpLocks/>
          </p:cNvCxnSpPr>
          <p:nvPr/>
        </p:nvCxnSpPr>
        <p:spPr>
          <a:xfrm flipV="1">
            <a:off x="10616139" y="1718193"/>
            <a:ext cx="584953" cy="1523179"/>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2E23B92-9FED-B693-4DD8-BBAF07C3F426}"/>
              </a:ext>
            </a:extLst>
          </p:cNvPr>
          <p:cNvSpPr txBox="1"/>
          <p:nvPr/>
        </p:nvSpPr>
        <p:spPr>
          <a:xfrm>
            <a:off x="10960947" y="1378637"/>
            <a:ext cx="1268820" cy="276999"/>
          </a:xfrm>
          <a:prstGeom prst="rect">
            <a:avLst/>
          </a:prstGeom>
          <a:noFill/>
        </p:spPr>
        <p:txBody>
          <a:bodyPr wrap="square" rtlCol="0">
            <a:spAutoFit/>
          </a:bodyPr>
          <a:lstStyle/>
          <a:p>
            <a:r>
              <a:rPr lang="en-US" sz="1200" dirty="0">
                <a:solidFill>
                  <a:schemeClr val="accent3">
                    <a:lumMod val="75000"/>
                  </a:schemeClr>
                </a:solidFill>
              </a:rPr>
              <a:t>Uganda</a:t>
            </a:r>
            <a:endParaRPr lang="en-CH" sz="1200" dirty="0">
              <a:solidFill>
                <a:schemeClr val="accent3">
                  <a:lumMod val="75000"/>
                </a:schemeClr>
              </a:solidFill>
            </a:endParaRPr>
          </a:p>
        </p:txBody>
      </p:sp>
      <p:cxnSp>
        <p:nvCxnSpPr>
          <p:cNvPr id="44" name="Straight Connector 43">
            <a:extLst>
              <a:ext uri="{FF2B5EF4-FFF2-40B4-BE49-F238E27FC236}">
                <a16:creationId xmlns:a16="http://schemas.microsoft.com/office/drawing/2014/main" id="{D58D5EFE-DAE5-5045-A3E5-1FF06E15D39E}"/>
              </a:ext>
            </a:extLst>
          </p:cNvPr>
          <p:cNvCxnSpPr>
            <a:cxnSpLocks/>
          </p:cNvCxnSpPr>
          <p:nvPr/>
        </p:nvCxnSpPr>
        <p:spPr>
          <a:xfrm>
            <a:off x="11088777" y="3329325"/>
            <a:ext cx="385495" cy="261902"/>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0E4849F-3840-0B88-304C-B6DA2CC9C1D5}"/>
              </a:ext>
            </a:extLst>
          </p:cNvPr>
          <p:cNvSpPr txBox="1"/>
          <p:nvPr/>
        </p:nvSpPr>
        <p:spPr>
          <a:xfrm>
            <a:off x="11450998" y="3513930"/>
            <a:ext cx="726745" cy="276999"/>
          </a:xfrm>
          <a:prstGeom prst="rect">
            <a:avLst/>
          </a:prstGeom>
          <a:noFill/>
        </p:spPr>
        <p:txBody>
          <a:bodyPr wrap="square" rtlCol="0">
            <a:spAutoFit/>
          </a:bodyPr>
          <a:lstStyle/>
          <a:p>
            <a:r>
              <a:rPr lang="en-US" sz="1200" dirty="0">
                <a:solidFill>
                  <a:schemeClr val="tx2"/>
                </a:solidFill>
              </a:rPr>
              <a:t>Kenya</a:t>
            </a:r>
            <a:endParaRPr lang="en-CH" sz="1200" dirty="0">
              <a:solidFill>
                <a:schemeClr val="tx2"/>
              </a:solidFill>
            </a:endParaRPr>
          </a:p>
        </p:txBody>
      </p:sp>
      <p:cxnSp>
        <p:nvCxnSpPr>
          <p:cNvPr id="49" name="Straight Connector 48">
            <a:extLst>
              <a:ext uri="{FF2B5EF4-FFF2-40B4-BE49-F238E27FC236}">
                <a16:creationId xmlns:a16="http://schemas.microsoft.com/office/drawing/2014/main" id="{98F159B1-6CB7-EC7B-C85D-3E8D044DB16E}"/>
              </a:ext>
            </a:extLst>
          </p:cNvPr>
          <p:cNvCxnSpPr>
            <a:cxnSpLocks/>
          </p:cNvCxnSpPr>
          <p:nvPr/>
        </p:nvCxnSpPr>
        <p:spPr>
          <a:xfrm>
            <a:off x="10466042" y="5564307"/>
            <a:ext cx="465618" cy="630958"/>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F8AA4FB8-38EA-33F9-B7DD-68AF56B2DFA1}"/>
              </a:ext>
            </a:extLst>
          </p:cNvPr>
          <p:cNvSpPr txBox="1"/>
          <p:nvPr/>
        </p:nvSpPr>
        <p:spPr>
          <a:xfrm>
            <a:off x="10858655" y="6154726"/>
            <a:ext cx="911492" cy="276999"/>
          </a:xfrm>
          <a:prstGeom prst="rect">
            <a:avLst/>
          </a:prstGeom>
          <a:noFill/>
        </p:spPr>
        <p:txBody>
          <a:bodyPr wrap="square" rtlCol="0">
            <a:spAutoFit/>
          </a:bodyPr>
          <a:lstStyle/>
          <a:p>
            <a:r>
              <a:rPr lang="en-US" sz="1200" dirty="0">
                <a:solidFill>
                  <a:schemeClr val="tx2"/>
                </a:solidFill>
              </a:rPr>
              <a:t>Eswatini</a:t>
            </a:r>
            <a:endParaRPr lang="en-CH" sz="1200" dirty="0">
              <a:solidFill>
                <a:schemeClr val="tx2"/>
              </a:solidFill>
            </a:endParaRPr>
          </a:p>
        </p:txBody>
      </p:sp>
      <p:cxnSp>
        <p:nvCxnSpPr>
          <p:cNvPr id="52" name="Straight Connector 51">
            <a:extLst>
              <a:ext uri="{FF2B5EF4-FFF2-40B4-BE49-F238E27FC236}">
                <a16:creationId xmlns:a16="http://schemas.microsoft.com/office/drawing/2014/main" id="{8A67CF9A-06DF-1E47-ABB4-6531E766C9ED}"/>
              </a:ext>
            </a:extLst>
          </p:cNvPr>
          <p:cNvCxnSpPr>
            <a:cxnSpLocks/>
          </p:cNvCxnSpPr>
          <p:nvPr/>
        </p:nvCxnSpPr>
        <p:spPr>
          <a:xfrm>
            <a:off x="8578014" y="4452936"/>
            <a:ext cx="1493508" cy="124139"/>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4C9CD6E0-9C7C-7705-07B8-85A5A15A8D4A}"/>
              </a:ext>
            </a:extLst>
          </p:cNvPr>
          <p:cNvSpPr txBox="1"/>
          <p:nvPr/>
        </p:nvSpPr>
        <p:spPr>
          <a:xfrm>
            <a:off x="7888946" y="4283416"/>
            <a:ext cx="797196" cy="276999"/>
          </a:xfrm>
          <a:prstGeom prst="rect">
            <a:avLst/>
          </a:prstGeom>
          <a:noFill/>
        </p:spPr>
        <p:txBody>
          <a:bodyPr wrap="square" rtlCol="0">
            <a:spAutoFit/>
          </a:bodyPr>
          <a:lstStyle/>
          <a:p>
            <a:r>
              <a:rPr lang="en-US" sz="1200" dirty="0">
                <a:solidFill>
                  <a:schemeClr val="tx2"/>
                </a:solidFill>
              </a:rPr>
              <a:t>Zambia</a:t>
            </a:r>
            <a:endParaRPr lang="en-CH" sz="1200" dirty="0">
              <a:solidFill>
                <a:schemeClr val="tx2"/>
              </a:solidFill>
            </a:endParaRPr>
          </a:p>
        </p:txBody>
      </p:sp>
      <p:cxnSp>
        <p:nvCxnSpPr>
          <p:cNvPr id="56" name="Straight Connector 55">
            <a:extLst>
              <a:ext uri="{FF2B5EF4-FFF2-40B4-BE49-F238E27FC236}">
                <a16:creationId xmlns:a16="http://schemas.microsoft.com/office/drawing/2014/main" id="{CF1650D1-BFBF-10B3-6632-86715E7ECF9E}"/>
              </a:ext>
            </a:extLst>
          </p:cNvPr>
          <p:cNvCxnSpPr>
            <a:cxnSpLocks/>
          </p:cNvCxnSpPr>
          <p:nvPr/>
        </p:nvCxnSpPr>
        <p:spPr>
          <a:xfrm flipV="1">
            <a:off x="10735148" y="4270858"/>
            <a:ext cx="733536" cy="352894"/>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301C180-40B2-65F6-B685-3D5CF8C0D7EA}"/>
              </a:ext>
            </a:extLst>
          </p:cNvPr>
          <p:cNvSpPr txBox="1"/>
          <p:nvPr/>
        </p:nvSpPr>
        <p:spPr>
          <a:xfrm>
            <a:off x="11450999" y="4035739"/>
            <a:ext cx="726745" cy="276999"/>
          </a:xfrm>
          <a:prstGeom prst="rect">
            <a:avLst/>
          </a:prstGeom>
          <a:noFill/>
        </p:spPr>
        <p:txBody>
          <a:bodyPr wrap="square" rtlCol="0">
            <a:spAutoFit/>
          </a:bodyPr>
          <a:lstStyle/>
          <a:p>
            <a:r>
              <a:rPr lang="en-US" sz="1200" dirty="0">
                <a:solidFill>
                  <a:schemeClr val="tx2"/>
                </a:solidFill>
              </a:rPr>
              <a:t>Malawi</a:t>
            </a:r>
            <a:endParaRPr lang="en-CH" sz="1200" dirty="0">
              <a:solidFill>
                <a:schemeClr val="tx2"/>
              </a:solidFill>
            </a:endParaRPr>
          </a:p>
        </p:txBody>
      </p:sp>
      <p:cxnSp>
        <p:nvCxnSpPr>
          <p:cNvPr id="60" name="Straight Connector 59">
            <a:extLst>
              <a:ext uri="{FF2B5EF4-FFF2-40B4-BE49-F238E27FC236}">
                <a16:creationId xmlns:a16="http://schemas.microsoft.com/office/drawing/2014/main" id="{F3EFCB16-55F7-4A55-25D0-2D4F68F60B71}"/>
              </a:ext>
            </a:extLst>
          </p:cNvPr>
          <p:cNvCxnSpPr>
            <a:cxnSpLocks/>
          </p:cNvCxnSpPr>
          <p:nvPr/>
        </p:nvCxnSpPr>
        <p:spPr>
          <a:xfrm>
            <a:off x="10625191" y="5122286"/>
            <a:ext cx="557174" cy="625653"/>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26FF60D-7714-D0DD-BA1F-48A01D6B311D}"/>
              </a:ext>
            </a:extLst>
          </p:cNvPr>
          <p:cNvSpPr txBox="1"/>
          <p:nvPr/>
        </p:nvSpPr>
        <p:spPr>
          <a:xfrm>
            <a:off x="11118566" y="5671996"/>
            <a:ext cx="1184871" cy="276999"/>
          </a:xfrm>
          <a:prstGeom prst="rect">
            <a:avLst/>
          </a:prstGeom>
          <a:noFill/>
        </p:spPr>
        <p:txBody>
          <a:bodyPr wrap="square" rtlCol="0">
            <a:spAutoFit/>
          </a:bodyPr>
          <a:lstStyle/>
          <a:p>
            <a:r>
              <a:rPr lang="en-US" sz="1200" dirty="0">
                <a:solidFill>
                  <a:schemeClr val="tx2"/>
                </a:solidFill>
              </a:rPr>
              <a:t>Mozambique</a:t>
            </a:r>
            <a:endParaRPr lang="en-CH" sz="1200" dirty="0">
              <a:solidFill>
                <a:schemeClr val="tx2"/>
              </a:solidFill>
            </a:endParaRPr>
          </a:p>
        </p:txBody>
      </p:sp>
    </p:spTree>
    <p:extLst>
      <p:ext uri="{BB962C8B-B14F-4D97-AF65-F5344CB8AC3E}">
        <p14:creationId xmlns:p14="http://schemas.microsoft.com/office/powerpoint/2010/main" val="4177135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541B5-9204-3796-6AEF-217F87DFD7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CA80DB6-42F0-8323-5206-F8BA886249C3}"/>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C56D3361-3BA6-FEAD-F5D0-B7E8C6567B0F}"/>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566C74C9-566F-B62E-4197-80284631F0A9}"/>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CAE42FBF-4038-8591-161F-03229063CEAE}"/>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A3D115FE-1C71-1864-027D-3448E7C3FC3C}"/>
              </a:ext>
            </a:extLst>
          </p:cNvPr>
          <p:cNvSpPr/>
          <p:nvPr/>
        </p:nvSpPr>
        <p:spPr>
          <a:xfrm flipV="1">
            <a:off x="4308614" y="1826221"/>
            <a:ext cx="855055" cy="21773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47396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8B16E-572C-3091-5D69-E47EB73BC14E}"/>
              </a:ext>
            </a:extLst>
          </p:cNvPr>
          <p:cNvSpPr>
            <a:spLocks noGrp="1"/>
          </p:cNvSpPr>
          <p:nvPr>
            <p:ph type="title"/>
          </p:nvPr>
        </p:nvSpPr>
        <p:spPr>
          <a:xfrm>
            <a:off x="442913" y="1524935"/>
            <a:ext cx="6509032" cy="1260000"/>
          </a:xfrm>
        </p:spPr>
        <p:txBody>
          <a:bodyPr>
            <a:normAutofit fontScale="90000"/>
          </a:bodyPr>
          <a:lstStyle/>
          <a:p>
            <a:r>
              <a:rPr lang="en-US" dirty="0"/>
              <a:t>Then it’s time to play – or build scenarios</a:t>
            </a:r>
            <a:endParaRPr lang="en-CH" dirty="0"/>
          </a:p>
        </p:txBody>
      </p:sp>
      <p:sp>
        <p:nvSpPr>
          <p:cNvPr id="3" name="Content Placeholder 2">
            <a:extLst>
              <a:ext uri="{FF2B5EF4-FFF2-40B4-BE49-F238E27FC236}">
                <a16:creationId xmlns:a16="http://schemas.microsoft.com/office/drawing/2014/main" id="{53E58055-4FE1-DC43-878C-A0E9545FD188}"/>
              </a:ext>
            </a:extLst>
          </p:cNvPr>
          <p:cNvSpPr>
            <a:spLocks noGrp="1"/>
          </p:cNvSpPr>
          <p:nvPr>
            <p:ph idx="1"/>
          </p:nvPr>
        </p:nvSpPr>
        <p:spPr>
          <a:xfrm>
            <a:off x="442913" y="3032760"/>
            <a:ext cx="5843588" cy="4079872"/>
          </a:xfrm>
        </p:spPr>
        <p:txBody>
          <a:bodyPr/>
          <a:lstStyle/>
          <a:p>
            <a:r>
              <a:rPr lang="en-US" dirty="0"/>
              <a:t>Adapt the coverage of different interventions (populate different scenarios for comparison)</a:t>
            </a:r>
          </a:p>
          <a:p>
            <a:r>
              <a:rPr lang="en-US" dirty="0"/>
              <a:t>Add more interventions, and/or take some away</a:t>
            </a:r>
          </a:p>
          <a:p>
            <a:endParaRPr lang="en-US" dirty="0"/>
          </a:p>
          <a:p>
            <a:endParaRPr lang="en-CH" dirty="0"/>
          </a:p>
        </p:txBody>
      </p:sp>
      <p:sp>
        <p:nvSpPr>
          <p:cNvPr id="7" name="Content Placeholder 2">
            <a:extLst>
              <a:ext uri="{FF2B5EF4-FFF2-40B4-BE49-F238E27FC236}">
                <a16:creationId xmlns:a16="http://schemas.microsoft.com/office/drawing/2014/main" id="{2E68EBC9-B63A-0615-9146-5AF7F46A1DF0}"/>
              </a:ext>
            </a:extLst>
          </p:cNvPr>
          <p:cNvSpPr txBox="1">
            <a:spLocks/>
          </p:cNvSpPr>
          <p:nvPr/>
        </p:nvSpPr>
        <p:spPr>
          <a:xfrm>
            <a:off x="538619" y="5072696"/>
            <a:ext cx="6097131" cy="1320800"/>
          </a:xfrm>
          <a:prstGeom prst="rect">
            <a:avLst/>
          </a:prstGeom>
        </p:spPr>
        <p:txBody>
          <a:bodyPr vert="horz" lIns="91440" tIns="45720" rIns="91440" bIns="45720" rtlCol="0">
            <a:normAutofit fontScale="92500" lnSpcReduction="10000"/>
          </a:bodyPr>
          <a:lst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0" dirty="0">
                <a:solidFill>
                  <a:schemeClr val="tx2"/>
                </a:solidFill>
                <a:latin typeface="+mj-lt"/>
              </a:rPr>
              <a:t>With this information</a:t>
            </a:r>
            <a:r>
              <a:rPr lang="en-US" sz="2400" b="0" dirty="0">
                <a:solidFill>
                  <a:schemeClr val="tx2"/>
                </a:solidFill>
              </a:rPr>
              <a:t>, more and less of different interventions, </a:t>
            </a:r>
            <a:r>
              <a:rPr lang="en-US" sz="2400" b="0" dirty="0">
                <a:solidFill>
                  <a:schemeClr val="tx2"/>
                </a:solidFill>
                <a:latin typeface="+mj-lt"/>
              </a:rPr>
              <a:t>TIER-Plus can then compare the impact</a:t>
            </a:r>
            <a:r>
              <a:rPr lang="en-US" sz="2400" b="0" dirty="0">
                <a:solidFill>
                  <a:schemeClr val="tx2"/>
                </a:solidFill>
              </a:rPr>
              <a:t> on costs and outcomes</a:t>
            </a:r>
          </a:p>
        </p:txBody>
      </p:sp>
      <p:pic>
        <p:nvPicPr>
          <p:cNvPr id="8" name="Picture 2" descr="177+ Thousand Circle Dial Royalty-Free Images, Stock Photos &amp; Pictures |  Shutterstock">
            <a:extLst>
              <a:ext uri="{FF2B5EF4-FFF2-40B4-BE49-F238E27FC236}">
                <a16:creationId xmlns:a16="http://schemas.microsoft.com/office/drawing/2014/main" id="{7095CDE8-1B4B-92A4-4703-EAEF8EDDE8F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94722" y="3797109"/>
            <a:ext cx="3689217" cy="1229740"/>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3">
            <a:extLst>
              <a:ext uri="{FF2B5EF4-FFF2-40B4-BE49-F238E27FC236}">
                <a16:creationId xmlns:a16="http://schemas.microsoft.com/office/drawing/2014/main" id="{9ADA400A-D92A-D118-F911-7D9FB8B61B5E}"/>
              </a:ext>
            </a:extLst>
          </p:cNvPr>
          <p:cNvSpPr txBox="1">
            <a:spLocks/>
          </p:cNvSpPr>
          <p:nvPr/>
        </p:nvSpPr>
        <p:spPr bwMode="gray">
          <a:xfrm>
            <a:off x="7627965" y="507850"/>
            <a:ext cx="2254599" cy="1098609"/>
          </a:xfrm>
          <a:prstGeom prst="rect">
            <a:avLst/>
          </a:prstGeom>
          <a:noFill/>
        </p:spPr>
        <p:txBody>
          <a:bodyPr vert="horz" lIns="0" tIns="0" rIns="0" bIns="0" rtlCol="0" anchor="ctr" anchorCtr="0">
            <a:noAutofit/>
          </a:bodyPr>
          <a:lstStyle>
            <a:lvl1pPr marL="220663" indent="-220663" algn="ctr"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defTabSz="457200">
              <a:spcAft>
                <a:spcPts val="600"/>
              </a:spcAft>
            </a:pPr>
            <a:r>
              <a:rPr lang="en-US" sz="1800" dirty="0">
                <a:latin typeface="+mj-lt"/>
                <a:cs typeface="Arial"/>
              </a:rPr>
              <a:t>For example:</a:t>
            </a:r>
          </a:p>
          <a:p>
            <a:pPr marL="285750" indent="-285750" algn="l" defTabSz="457200">
              <a:spcAft>
                <a:spcPts val="600"/>
              </a:spcAft>
              <a:buFont typeface="Arial" panose="020B0604020202020204" pitchFamily="34" charset="0"/>
              <a:buChar char="•"/>
            </a:pPr>
            <a:r>
              <a:rPr lang="en-US" sz="1800" dirty="0">
                <a:cs typeface="Arial"/>
              </a:rPr>
              <a:t>Scenario 1: No self-testing</a:t>
            </a:r>
          </a:p>
        </p:txBody>
      </p:sp>
      <p:sp>
        <p:nvSpPr>
          <p:cNvPr id="13" name="Content Placeholder 3">
            <a:extLst>
              <a:ext uri="{FF2B5EF4-FFF2-40B4-BE49-F238E27FC236}">
                <a16:creationId xmlns:a16="http://schemas.microsoft.com/office/drawing/2014/main" id="{3CCACA57-7701-98C8-55D7-81CC9ACA923E}"/>
              </a:ext>
            </a:extLst>
          </p:cNvPr>
          <p:cNvSpPr txBox="1">
            <a:spLocks/>
          </p:cNvSpPr>
          <p:nvPr/>
        </p:nvSpPr>
        <p:spPr>
          <a:xfrm>
            <a:off x="9882564" y="507850"/>
            <a:ext cx="1958454" cy="1465268"/>
          </a:xfrm>
          <a:prstGeom prst="rect">
            <a:avLst/>
          </a:prstGeom>
        </p:spPr>
        <p:txBody>
          <a:bodyPr vert="horz" lIns="91440" tIns="45720" rIns="91440" bIns="45720" rtlCol="0">
            <a:normAutofit/>
          </a:bodyPr>
          <a:lst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b="0" dirty="0"/>
          </a:p>
          <a:p>
            <a:pPr marL="285750" indent="-285750">
              <a:buFont typeface="Arial" panose="020B0604020202020204" pitchFamily="34" charset="0"/>
              <a:buChar char="•"/>
            </a:pPr>
            <a:r>
              <a:rPr lang="en-US" b="0" dirty="0"/>
              <a:t>Scenario 2: more 6MMD</a:t>
            </a:r>
          </a:p>
          <a:p>
            <a:endParaRPr lang="en-CH" dirty="0"/>
          </a:p>
        </p:txBody>
      </p:sp>
      <p:pic>
        <p:nvPicPr>
          <p:cNvPr id="4" name="Picture 3">
            <a:extLst>
              <a:ext uri="{FF2B5EF4-FFF2-40B4-BE49-F238E27FC236}">
                <a16:creationId xmlns:a16="http://schemas.microsoft.com/office/drawing/2014/main" id="{FCCD7A79-FC8C-CD6D-5216-45CC7662D8F2}"/>
              </a:ext>
            </a:extLst>
          </p:cNvPr>
          <p:cNvPicPr>
            <a:picLocks noChangeAspect="1"/>
          </p:cNvPicPr>
          <p:nvPr/>
        </p:nvPicPr>
        <p:blipFill>
          <a:blip r:embed="rId4"/>
          <a:stretch>
            <a:fillRect/>
          </a:stretch>
        </p:blipFill>
        <p:spPr>
          <a:xfrm>
            <a:off x="7551256" y="3797109"/>
            <a:ext cx="3912817" cy="2658247"/>
          </a:xfrm>
          <a:prstGeom prst="rect">
            <a:avLst/>
          </a:prstGeom>
        </p:spPr>
      </p:pic>
      <p:pic>
        <p:nvPicPr>
          <p:cNvPr id="5" name="Picture 4">
            <a:extLst>
              <a:ext uri="{FF2B5EF4-FFF2-40B4-BE49-F238E27FC236}">
                <a16:creationId xmlns:a16="http://schemas.microsoft.com/office/drawing/2014/main" id="{826E061A-76ED-59A8-4DAA-8310497AD252}"/>
              </a:ext>
            </a:extLst>
          </p:cNvPr>
          <p:cNvPicPr>
            <a:picLocks noChangeAspect="1"/>
          </p:cNvPicPr>
          <p:nvPr/>
        </p:nvPicPr>
        <p:blipFill>
          <a:blip r:embed="rId5"/>
          <a:stretch>
            <a:fillRect/>
          </a:stretch>
        </p:blipFill>
        <p:spPr>
          <a:xfrm>
            <a:off x="7551256" y="2429297"/>
            <a:ext cx="3912817" cy="1156878"/>
          </a:xfrm>
          <a:prstGeom prst="rect">
            <a:avLst/>
          </a:prstGeom>
        </p:spPr>
      </p:pic>
      <p:pic>
        <p:nvPicPr>
          <p:cNvPr id="6" name="Picture 5">
            <a:extLst>
              <a:ext uri="{FF2B5EF4-FFF2-40B4-BE49-F238E27FC236}">
                <a16:creationId xmlns:a16="http://schemas.microsoft.com/office/drawing/2014/main" id="{8D7E3ED0-9536-4C0B-41BA-9E5017AEB59C}"/>
              </a:ext>
            </a:extLst>
          </p:cNvPr>
          <p:cNvPicPr>
            <a:picLocks noChangeAspect="1"/>
          </p:cNvPicPr>
          <p:nvPr/>
        </p:nvPicPr>
        <p:blipFill>
          <a:blip r:embed="rId6"/>
          <a:stretch>
            <a:fillRect/>
          </a:stretch>
        </p:blipFill>
        <p:spPr>
          <a:xfrm>
            <a:off x="7551256" y="1973118"/>
            <a:ext cx="1860550" cy="539750"/>
          </a:xfrm>
          <a:prstGeom prst="rect">
            <a:avLst/>
          </a:prstGeom>
        </p:spPr>
      </p:pic>
    </p:spTree>
    <p:extLst>
      <p:ext uri="{BB962C8B-B14F-4D97-AF65-F5344CB8AC3E}">
        <p14:creationId xmlns:p14="http://schemas.microsoft.com/office/powerpoint/2010/main" val="56836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5518-B0EE-1578-89A0-C42FFCDF185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E04EA4F-EA11-5C11-F433-6D65DEDB1C99}"/>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5BAD0A48-2F51-1976-D259-18FB24BA2DAD}"/>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0E2E1AF4-8FB6-C22C-79E9-988FA16952F0}"/>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83920FB2-F8F8-55DA-BFE0-3B4EDEA28B5E}"/>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BF8A3185-C0F3-5486-EE57-F38C33895EC8}"/>
              </a:ext>
            </a:extLst>
          </p:cNvPr>
          <p:cNvSpPr/>
          <p:nvPr/>
        </p:nvSpPr>
        <p:spPr>
          <a:xfrm flipV="1">
            <a:off x="5079577" y="1826220"/>
            <a:ext cx="1159859" cy="25359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296285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FBC45-69D2-5E06-5CC1-7A111B849B4E}"/>
              </a:ext>
            </a:extLst>
          </p:cNvPr>
          <p:cNvSpPr>
            <a:spLocks noGrp="1"/>
          </p:cNvSpPr>
          <p:nvPr>
            <p:ph type="title"/>
          </p:nvPr>
        </p:nvSpPr>
        <p:spPr>
          <a:xfrm>
            <a:off x="3125858" y="485305"/>
            <a:ext cx="7360802" cy="1260000"/>
          </a:xfrm>
        </p:spPr>
        <p:txBody>
          <a:bodyPr>
            <a:normAutofit fontScale="90000"/>
          </a:bodyPr>
          <a:lstStyle/>
          <a:p>
            <a:r>
              <a:rPr lang="en-US" dirty="0"/>
              <a:t>What TIER-Plus produces (outputs) 1/3</a:t>
            </a:r>
            <a:endParaRPr lang="en-CH" dirty="0"/>
          </a:p>
        </p:txBody>
      </p:sp>
      <p:sp>
        <p:nvSpPr>
          <p:cNvPr id="3" name="Content Placeholder 2">
            <a:extLst>
              <a:ext uri="{FF2B5EF4-FFF2-40B4-BE49-F238E27FC236}">
                <a16:creationId xmlns:a16="http://schemas.microsoft.com/office/drawing/2014/main" id="{214FE213-FDB9-483A-ACD5-EE6019E0EAF7}"/>
              </a:ext>
            </a:extLst>
          </p:cNvPr>
          <p:cNvSpPr>
            <a:spLocks noGrp="1"/>
          </p:cNvSpPr>
          <p:nvPr>
            <p:ph idx="1"/>
          </p:nvPr>
        </p:nvSpPr>
        <p:spPr>
          <a:xfrm>
            <a:off x="442913" y="3054389"/>
            <a:ext cx="6192837" cy="512850"/>
          </a:xfrm>
        </p:spPr>
        <p:txBody>
          <a:bodyPr/>
          <a:lstStyle/>
          <a:p>
            <a:pPr marL="0" indent="0">
              <a:buNone/>
            </a:pPr>
            <a:r>
              <a:rPr lang="en-US" sz="2000" dirty="0"/>
              <a:t>a. Progress towards 95-95-95s</a:t>
            </a:r>
          </a:p>
          <a:p>
            <a:pPr marL="0" indent="0">
              <a:buNone/>
            </a:pPr>
            <a:endParaRPr lang="en-CH" dirty="0"/>
          </a:p>
        </p:txBody>
      </p:sp>
      <p:sp>
        <p:nvSpPr>
          <p:cNvPr id="9" name="Content Placeholder 2">
            <a:extLst>
              <a:ext uri="{FF2B5EF4-FFF2-40B4-BE49-F238E27FC236}">
                <a16:creationId xmlns:a16="http://schemas.microsoft.com/office/drawing/2014/main" id="{C24DE165-4453-0BD0-51EA-4FB5A7296258}"/>
              </a:ext>
            </a:extLst>
          </p:cNvPr>
          <p:cNvSpPr txBox="1">
            <a:spLocks/>
          </p:cNvSpPr>
          <p:nvPr/>
        </p:nvSpPr>
        <p:spPr bwMode="gray">
          <a:xfrm>
            <a:off x="6662146" y="2988027"/>
            <a:ext cx="5086941" cy="512850"/>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b. Key epidemiological outcomes</a:t>
            </a:r>
          </a:p>
        </p:txBody>
      </p:sp>
      <p:sp>
        <p:nvSpPr>
          <p:cNvPr id="14" name="TextBox 13">
            <a:extLst>
              <a:ext uri="{FF2B5EF4-FFF2-40B4-BE49-F238E27FC236}">
                <a16:creationId xmlns:a16="http://schemas.microsoft.com/office/drawing/2014/main" id="{C3BC5248-23EC-92FF-2B22-9B4C39A8C0D0}"/>
              </a:ext>
            </a:extLst>
          </p:cNvPr>
          <p:cNvSpPr txBox="1"/>
          <p:nvPr/>
        </p:nvSpPr>
        <p:spPr>
          <a:xfrm>
            <a:off x="442913" y="2031579"/>
            <a:ext cx="4368800" cy="830997"/>
          </a:xfrm>
          <a:prstGeom prst="rect">
            <a:avLst/>
          </a:prstGeom>
          <a:noFill/>
        </p:spPr>
        <p:txBody>
          <a:bodyPr wrap="square">
            <a:spAutoFit/>
          </a:bodyPr>
          <a:lstStyle/>
          <a:p>
            <a:pPr marL="0" indent="0">
              <a:buNone/>
            </a:pPr>
            <a:r>
              <a:rPr lang="en-US" sz="2400" dirty="0">
                <a:solidFill>
                  <a:schemeClr val="tx2"/>
                </a:solidFill>
                <a:latin typeface="+mj-lt"/>
                <a:sym typeface="Wingdings" panose="05000000000000000000" pitchFamily="2" charset="2"/>
              </a:rPr>
              <a:t> </a:t>
            </a:r>
            <a:r>
              <a:rPr lang="en-US" sz="2400" dirty="0">
                <a:solidFill>
                  <a:schemeClr val="tx2"/>
                </a:solidFill>
                <a:latin typeface="+mj-lt"/>
              </a:rPr>
              <a:t>Two scenarios compared to the baseline</a:t>
            </a:r>
          </a:p>
        </p:txBody>
      </p:sp>
      <p:pic>
        <p:nvPicPr>
          <p:cNvPr id="4" name="Picture 3">
            <a:extLst>
              <a:ext uri="{FF2B5EF4-FFF2-40B4-BE49-F238E27FC236}">
                <a16:creationId xmlns:a16="http://schemas.microsoft.com/office/drawing/2014/main" id="{8A47E019-3641-BAB1-CE89-6DE6B1235014}"/>
              </a:ext>
            </a:extLst>
          </p:cNvPr>
          <p:cNvPicPr>
            <a:picLocks noChangeAspect="1"/>
          </p:cNvPicPr>
          <p:nvPr/>
        </p:nvPicPr>
        <p:blipFill>
          <a:blip r:embed="rId2"/>
          <a:stretch>
            <a:fillRect/>
          </a:stretch>
        </p:blipFill>
        <p:spPr>
          <a:xfrm>
            <a:off x="371154" y="3463063"/>
            <a:ext cx="5509408" cy="2909632"/>
          </a:xfrm>
          <a:prstGeom prst="rect">
            <a:avLst/>
          </a:prstGeom>
        </p:spPr>
      </p:pic>
      <p:pic>
        <p:nvPicPr>
          <p:cNvPr id="5" name="Picture 4">
            <a:extLst>
              <a:ext uri="{FF2B5EF4-FFF2-40B4-BE49-F238E27FC236}">
                <a16:creationId xmlns:a16="http://schemas.microsoft.com/office/drawing/2014/main" id="{9D6B5B91-2185-BA69-ED26-4F1CA91683CE}"/>
              </a:ext>
            </a:extLst>
          </p:cNvPr>
          <p:cNvPicPr>
            <a:picLocks noChangeAspect="1"/>
          </p:cNvPicPr>
          <p:nvPr/>
        </p:nvPicPr>
        <p:blipFill>
          <a:blip r:embed="rId3"/>
          <a:stretch>
            <a:fillRect/>
          </a:stretch>
        </p:blipFill>
        <p:spPr>
          <a:xfrm>
            <a:off x="6096000" y="3697585"/>
            <a:ext cx="5983806" cy="2357475"/>
          </a:xfrm>
          <a:prstGeom prst="rect">
            <a:avLst/>
          </a:prstGeom>
        </p:spPr>
      </p:pic>
      <p:sp>
        <p:nvSpPr>
          <p:cNvPr id="6" name="TextBox 5">
            <a:extLst>
              <a:ext uri="{FF2B5EF4-FFF2-40B4-BE49-F238E27FC236}">
                <a16:creationId xmlns:a16="http://schemas.microsoft.com/office/drawing/2014/main" id="{3ECA9B22-6D26-6BA2-3840-8B59B802C8E6}"/>
              </a:ext>
            </a:extLst>
          </p:cNvPr>
          <p:cNvSpPr txBox="1"/>
          <p:nvPr/>
        </p:nvSpPr>
        <p:spPr>
          <a:xfrm>
            <a:off x="9431723" y="2030515"/>
            <a:ext cx="2109873" cy="369332"/>
          </a:xfrm>
          <a:prstGeom prst="rect">
            <a:avLst/>
          </a:prstGeom>
          <a:noFill/>
        </p:spPr>
        <p:txBody>
          <a:bodyPr wrap="none" rtlCol="0">
            <a:spAutoFit/>
          </a:bodyPr>
          <a:lstStyle/>
          <a:p>
            <a:r>
              <a:rPr lang="en-NL" b="1" i="1" dirty="0"/>
              <a:t>1-year outputs</a:t>
            </a:r>
          </a:p>
        </p:txBody>
      </p:sp>
    </p:spTree>
    <p:extLst>
      <p:ext uri="{BB962C8B-B14F-4D97-AF65-F5344CB8AC3E}">
        <p14:creationId xmlns:p14="http://schemas.microsoft.com/office/powerpoint/2010/main" val="141980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86C7-6917-72A8-89B7-E9557DF70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9F688-F9F5-844B-AADA-F1B06B59ECAA}"/>
              </a:ext>
            </a:extLst>
          </p:cNvPr>
          <p:cNvSpPr>
            <a:spLocks noGrp="1"/>
          </p:cNvSpPr>
          <p:nvPr>
            <p:ph type="title"/>
          </p:nvPr>
        </p:nvSpPr>
        <p:spPr>
          <a:xfrm>
            <a:off x="3286124" y="397587"/>
            <a:ext cx="7586271" cy="1260000"/>
          </a:xfrm>
        </p:spPr>
        <p:txBody>
          <a:bodyPr/>
          <a:lstStyle/>
          <a:p>
            <a:r>
              <a:rPr lang="en-US" dirty="0"/>
              <a:t>What TIER-Plus produces (outputs) 2/3</a:t>
            </a:r>
            <a:endParaRPr lang="en-CH" dirty="0"/>
          </a:p>
        </p:txBody>
      </p:sp>
      <p:sp>
        <p:nvSpPr>
          <p:cNvPr id="3" name="Content Placeholder 2">
            <a:extLst>
              <a:ext uri="{FF2B5EF4-FFF2-40B4-BE49-F238E27FC236}">
                <a16:creationId xmlns:a16="http://schemas.microsoft.com/office/drawing/2014/main" id="{586C77B6-F7B9-07A8-BA2C-8D051B42B584}"/>
              </a:ext>
            </a:extLst>
          </p:cNvPr>
          <p:cNvSpPr>
            <a:spLocks noGrp="1"/>
          </p:cNvSpPr>
          <p:nvPr>
            <p:ph idx="1"/>
          </p:nvPr>
        </p:nvSpPr>
        <p:spPr>
          <a:xfrm>
            <a:off x="442913" y="2447078"/>
            <a:ext cx="6192837" cy="512850"/>
          </a:xfrm>
        </p:spPr>
        <p:txBody>
          <a:bodyPr>
            <a:noAutofit/>
          </a:bodyPr>
          <a:lstStyle/>
          <a:p>
            <a:pPr marL="0" indent="0">
              <a:buNone/>
            </a:pPr>
            <a:r>
              <a:rPr lang="en-US" sz="2000" dirty="0"/>
              <a:t>c. Health outcomes</a:t>
            </a:r>
            <a:endParaRPr lang="en-CH" sz="2000" dirty="0"/>
          </a:p>
        </p:txBody>
      </p:sp>
      <p:sp>
        <p:nvSpPr>
          <p:cNvPr id="9" name="Content Placeholder 2">
            <a:extLst>
              <a:ext uri="{FF2B5EF4-FFF2-40B4-BE49-F238E27FC236}">
                <a16:creationId xmlns:a16="http://schemas.microsoft.com/office/drawing/2014/main" id="{7CA3D025-62A2-C2D2-E4DB-7EF1B56EE374}"/>
              </a:ext>
            </a:extLst>
          </p:cNvPr>
          <p:cNvSpPr txBox="1">
            <a:spLocks/>
          </p:cNvSpPr>
          <p:nvPr/>
        </p:nvSpPr>
        <p:spPr bwMode="gray">
          <a:xfrm>
            <a:off x="6662146" y="2447078"/>
            <a:ext cx="5086941" cy="512850"/>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 Cost analysis</a:t>
            </a:r>
            <a:endParaRPr lang="en-CH" dirty="0"/>
          </a:p>
        </p:txBody>
      </p:sp>
      <p:pic>
        <p:nvPicPr>
          <p:cNvPr id="6" name="Picture 5">
            <a:extLst>
              <a:ext uri="{FF2B5EF4-FFF2-40B4-BE49-F238E27FC236}">
                <a16:creationId xmlns:a16="http://schemas.microsoft.com/office/drawing/2014/main" id="{2731C7B0-4F3A-2D05-A2E2-B7E771045549}"/>
              </a:ext>
            </a:extLst>
          </p:cNvPr>
          <p:cNvPicPr>
            <a:picLocks noChangeAspect="1"/>
          </p:cNvPicPr>
          <p:nvPr/>
        </p:nvPicPr>
        <p:blipFill>
          <a:blip r:embed="rId3"/>
          <a:stretch>
            <a:fillRect/>
          </a:stretch>
        </p:blipFill>
        <p:spPr>
          <a:xfrm>
            <a:off x="208878" y="2822181"/>
            <a:ext cx="5887122" cy="2703270"/>
          </a:xfrm>
          <a:prstGeom prst="rect">
            <a:avLst/>
          </a:prstGeom>
        </p:spPr>
      </p:pic>
      <p:pic>
        <p:nvPicPr>
          <p:cNvPr id="7" name="Picture 6">
            <a:extLst>
              <a:ext uri="{FF2B5EF4-FFF2-40B4-BE49-F238E27FC236}">
                <a16:creationId xmlns:a16="http://schemas.microsoft.com/office/drawing/2014/main" id="{44F758FB-18FF-4E03-31A1-A0639FC3E819}"/>
              </a:ext>
            </a:extLst>
          </p:cNvPr>
          <p:cNvPicPr>
            <a:picLocks noChangeAspect="1"/>
          </p:cNvPicPr>
          <p:nvPr/>
        </p:nvPicPr>
        <p:blipFill>
          <a:blip r:embed="rId4"/>
          <a:stretch>
            <a:fillRect/>
          </a:stretch>
        </p:blipFill>
        <p:spPr>
          <a:xfrm>
            <a:off x="6405849" y="2959928"/>
            <a:ext cx="5577273" cy="2703270"/>
          </a:xfrm>
          <a:prstGeom prst="rect">
            <a:avLst/>
          </a:prstGeom>
        </p:spPr>
      </p:pic>
    </p:spTree>
    <p:extLst>
      <p:ext uri="{BB962C8B-B14F-4D97-AF65-F5344CB8AC3E}">
        <p14:creationId xmlns:p14="http://schemas.microsoft.com/office/powerpoint/2010/main" val="72612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94D51-7518-9543-7763-5AA628822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4B773-62C9-4AC8-B33C-60B4AE7D7B07}"/>
              </a:ext>
            </a:extLst>
          </p:cNvPr>
          <p:cNvSpPr>
            <a:spLocks noGrp="1"/>
          </p:cNvSpPr>
          <p:nvPr>
            <p:ph type="title"/>
          </p:nvPr>
        </p:nvSpPr>
        <p:spPr>
          <a:xfrm>
            <a:off x="3186113" y="539419"/>
            <a:ext cx="7461010" cy="1260000"/>
          </a:xfrm>
        </p:spPr>
        <p:txBody>
          <a:bodyPr/>
          <a:lstStyle/>
          <a:p>
            <a:r>
              <a:rPr lang="en-US" dirty="0"/>
              <a:t>What TIER-Plus produces (outputs) 3/3</a:t>
            </a:r>
            <a:endParaRPr lang="en-CH" dirty="0"/>
          </a:p>
        </p:txBody>
      </p:sp>
      <p:sp>
        <p:nvSpPr>
          <p:cNvPr id="3" name="Content Placeholder 2">
            <a:extLst>
              <a:ext uri="{FF2B5EF4-FFF2-40B4-BE49-F238E27FC236}">
                <a16:creationId xmlns:a16="http://schemas.microsoft.com/office/drawing/2014/main" id="{C05A7906-2E85-5091-21DD-834322ED5210}"/>
              </a:ext>
            </a:extLst>
          </p:cNvPr>
          <p:cNvSpPr>
            <a:spLocks noGrp="1"/>
          </p:cNvSpPr>
          <p:nvPr>
            <p:ph idx="1"/>
          </p:nvPr>
        </p:nvSpPr>
        <p:spPr>
          <a:xfrm>
            <a:off x="442913" y="2447078"/>
            <a:ext cx="6192837" cy="512850"/>
          </a:xfrm>
        </p:spPr>
        <p:txBody>
          <a:bodyPr>
            <a:normAutofit/>
          </a:bodyPr>
          <a:lstStyle/>
          <a:p>
            <a:pPr marL="0" indent="0">
              <a:buNone/>
            </a:pPr>
            <a:r>
              <a:rPr lang="en-US" sz="2000" dirty="0"/>
              <a:t>e. Impact on HIV care cascade</a:t>
            </a:r>
            <a:endParaRPr lang="en-CH" sz="2000" dirty="0"/>
          </a:p>
        </p:txBody>
      </p:sp>
      <p:sp>
        <p:nvSpPr>
          <p:cNvPr id="9" name="Content Placeholder 2">
            <a:extLst>
              <a:ext uri="{FF2B5EF4-FFF2-40B4-BE49-F238E27FC236}">
                <a16:creationId xmlns:a16="http://schemas.microsoft.com/office/drawing/2014/main" id="{1C822E50-FEC4-FD1B-C982-683D092C794C}"/>
              </a:ext>
            </a:extLst>
          </p:cNvPr>
          <p:cNvSpPr txBox="1">
            <a:spLocks/>
          </p:cNvSpPr>
          <p:nvPr/>
        </p:nvSpPr>
        <p:spPr bwMode="gray">
          <a:xfrm>
            <a:off x="5679590" y="2447078"/>
            <a:ext cx="5086941" cy="512850"/>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 Cost breakdown</a:t>
            </a:r>
            <a:endParaRPr lang="en-CH" dirty="0"/>
          </a:p>
        </p:txBody>
      </p:sp>
      <p:pic>
        <p:nvPicPr>
          <p:cNvPr id="6" name="Picture 5">
            <a:extLst>
              <a:ext uri="{FF2B5EF4-FFF2-40B4-BE49-F238E27FC236}">
                <a16:creationId xmlns:a16="http://schemas.microsoft.com/office/drawing/2014/main" id="{0C6F9636-D342-DF6D-6A6B-814BE18F40DE}"/>
              </a:ext>
            </a:extLst>
          </p:cNvPr>
          <p:cNvPicPr>
            <a:picLocks noChangeAspect="1"/>
          </p:cNvPicPr>
          <p:nvPr/>
        </p:nvPicPr>
        <p:blipFill>
          <a:blip r:embed="rId2"/>
          <a:stretch>
            <a:fillRect/>
          </a:stretch>
        </p:blipFill>
        <p:spPr>
          <a:xfrm>
            <a:off x="238125" y="2959928"/>
            <a:ext cx="5440431" cy="3437119"/>
          </a:xfrm>
          <a:prstGeom prst="rect">
            <a:avLst/>
          </a:prstGeom>
        </p:spPr>
      </p:pic>
      <p:pic>
        <p:nvPicPr>
          <p:cNvPr id="4" name="Picture 3">
            <a:extLst>
              <a:ext uri="{FF2B5EF4-FFF2-40B4-BE49-F238E27FC236}">
                <a16:creationId xmlns:a16="http://schemas.microsoft.com/office/drawing/2014/main" id="{386F89F9-FACC-A2C8-CDFD-A2B309A3FC56}"/>
              </a:ext>
            </a:extLst>
          </p:cNvPr>
          <p:cNvPicPr>
            <a:picLocks noChangeAspect="1"/>
          </p:cNvPicPr>
          <p:nvPr/>
        </p:nvPicPr>
        <p:blipFill>
          <a:blip r:embed="rId3"/>
          <a:stretch>
            <a:fillRect/>
          </a:stretch>
        </p:blipFill>
        <p:spPr>
          <a:xfrm>
            <a:off x="5678557" y="2868132"/>
            <a:ext cx="5440432" cy="3569154"/>
          </a:xfrm>
          <a:prstGeom prst="rect">
            <a:avLst/>
          </a:prstGeom>
        </p:spPr>
      </p:pic>
    </p:spTree>
    <p:extLst>
      <p:ext uri="{BB962C8B-B14F-4D97-AF65-F5344CB8AC3E}">
        <p14:creationId xmlns:p14="http://schemas.microsoft.com/office/powerpoint/2010/main" val="402118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E6AEF-D986-59A8-8323-A8BCFFCDF2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7A99EE-B01E-6B7E-A8E1-D6F50C6BDE67}"/>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FA4EB575-FB71-E923-D90A-511BB630270D}"/>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2036B07A-13CC-0BF3-7592-EB2EE46ADC99}"/>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58CBAA85-3678-5CAE-88DF-8447CDC8ED1B}"/>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E25F7A1D-86E7-6352-9854-955A5299E9FA}"/>
              </a:ext>
            </a:extLst>
          </p:cNvPr>
          <p:cNvSpPr/>
          <p:nvPr/>
        </p:nvSpPr>
        <p:spPr>
          <a:xfrm flipV="1">
            <a:off x="6227060" y="1790360"/>
            <a:ext cx="872988" cy="27152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227391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4B653-1D37-0DC5-C4CF-044E975ED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11995-DF7C-3E85-4FBC-EE6F7C65B6E1}"/>
              </a:ext>
            </a:extLst>
          </p:cNvPr>
          <p:cNvSpPr>
            <a:spLocks noGrp="1"/>
          </p:cNvSpPr>
          <p:nvPr>
            <p:ph type="title"/>
          </p:nvPr>
        </p:nvSpPr>
        <p:spPr>
          <a:xfrm>
            <a:off x="3186113" y="539419"/>
            <a:ext cx="7461010" cy="1260000"/>
          </a:xfrm>
        </p:spPr>
        <p:txBody>
          <a:bodyPr>
            <a:normAutofit fontScale="90000"/>
          </a:bodyPr>
          <a:lstStyle/>
          <a:p>
            <a:r>
              <a:rPr lang="en-US" dirty="0"/>
              <a:t>What if you want to adjust the assumptions?</a:t>
            </a:r>
            <a:endParaRPr lang="en-CH" dirty="0"/>
          </a:p>
        </p:txBody>
      </p:sp>
      <p:pic>
        <p:nvPicPr>
          <p:cNvPr id="3" name="Picture 2">
            <a:extLst>
              <a:ext uri="{FF2B5EF4-FFF2-40B4-BE49-F238E27FC236}">
                <a16:creationId xmlns:a16="http://schemas.microsoft.com/office/drawing/2014/main" id="{A3B8976A-63B9-5C4D-182E-D5890B3D7DE2}"/>
              </a:ext>
            </a:extLst>
          </p:cNvPr>
          <p:cNvPicPr>
            <a:picLocks noChangeAspect="1"/>
          </p:cNvPicPr>
          <p:nvPr/>
        </p:nvPicPr>
        <p:blipFill>
          <a:blip r:embed="rId2"/>
          <a:stretch>
            <a:fillRect/>
          </a:stretch>
        </p:blipFill>
        <p:spPr>
          <a:xfrm>
            <a:off x="2442194" y="1799419"/>
            <a:ext cx="6858000" cy="4572000"/>
          </a:xfrm>
          <a:prstGeom prst="rect">
            <a:avLst/>
          </a:prstGeom>
        </p:spPr>
      </p:pic>
      <p:pic>
        <p:nvPicPr>
          <p:cNvPr id="7" name="Picture 6">
            <a:extLst>
              <a:ext uri="{FF2B5EF4-FFF2-40B4-BE49-F238E27FC236}">
                <a16:creationId xmlns:a16="http://schemas.microsoft.com/office/drawing/2014/main" id="{436A0D3B-81B6-4CF0-B87A-9979A26F37F8}"/>
              </a:ext>
            </a:extLst>
          </p:cNvPr>
          <p:cNvPicPr>
            <a:picLocks noChangeAspect="1"/>
          </p:cNvPicPr>
          <p:nvPr/>
        </p:nvPicPr>
        <p:blipFill>
          <a:blip r:embed="rId3"/>
          <a:stretch>
            <a:fillRect/>
          </a:stretch>
        </p:blipFill>
        <p:spPr>
          <a:xfrm>
            <a:off x="1533902" y="1799419"/>
            <a:ext cx="8674583" cy="5124056"/>
          </a:xfrm>
          <a:prstGeom prst="rect">
            <a:avLst/>
          </a:prstGeom>
        </p:spPr>
      </p:pic>
    </p:spTree>
    <p:extLst>
      <p:ext uri="{BB962C8B-B14F-4D97-AF65-F5344CB8AC3E}">
        <p14:creationId xmlns:p14="http://schemas.microsoft.com/office/powerpoint/2010/main" val="90840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BB6D5-8000-80DC-19AC-EB6803DA72A7}"/>
              </a:ext>
            </a:extLst>
          </p:cNvPr>
          <p:cNvSpPr>
            <a:spLocks noGrp="1"/>
          </p:cNvSpPr>
          <p:nvPr>
            <p:ph type="title"/>
          </p:nvPr>
        </p:nvSpPr>
        <p:spPr>
          <a:xfrm>
            <a:off x="442913" y="1652224"/>
            <a:ext cx="5358797" cy="1260000"/>
          </a:xfrm>
        </p:spPr>
        <p:txBody>
          <a:bodyPr/>
          <a:lstStyle/>
          <a:p>
            <a:r>
              <a:rPr lang="en-ZA" sz="4400" dirty="0"/>
              <a:t>✅ </a:t>
            </a:r>
            <a:r>
              <a:rPr lang="en-NL" dirty="0"/>
              <a:t>What TIER-</a:t>
            </a:r>
            <a:r>
              <a:rPr lang="en-US" dirty="0"/>
              <a:t>P</a:t>
            </a:r>
            <a:r>
              <a:rPr lang="en-NL" dirty="0"/>
              <a:t>lus </a:t>
            </a:r>
            <a:r>
              <a:rPr lang="en-NL" dirty="0">
                <a:solidFill>
                  <a:srgbClr val="00B050"/>
                </a:solidFill>
              </a:rPr>
              <a:t>can</a:t>
            </a:r>
            <a:r>
              <a:rPr lang="en-NL" dirty="0"/>
              <a:t> do</a:t>
            </a:r>
          </a:p>
        </p:txBody>
      </p:sp>
      <p:sp>
        <p:nvSpPr>
          <p:cNvPr id="3" name="Content Placeholder 2">
            <a:extLst>
              <a:ext uri="{FF2B5EF4-FFF2-40B4-BE49-F238E27FC236}">
                <a16:creationId xmlns:a16="http://schemas.microsoft.com/office/drawing/2014/main" id="{A5D12D20-21CF-0BFE-D577-10B7C297A7D2}"/>
              </a:ext>
            </a:extLst>
          </p:cNvPr>
          <p:cNvSpPr>
            <a:spLocks noGrp="1"/>
          </p:cNvSpPr>
          <p:nvPr>
            <p:ph idx="1"/>
          </p:nvPr>
        </p:nvSpPr>
        <p:spPr>
          <a:xfrm>
            <a:off x="442913" y="3144430"/>
            <a:ext cx="5653087" cy="3291841"/>
          </a:xfrm>
        </p:spPr>
        <p:txBody>
          <a:bodyPr>
            <a:normAutofit/>
          </a:bodyPr>
          <a:lstStyle/>
          <a:p>
            <a:pPr marL="0" indent="0">
              <a:buNone/>
            </a:pPr>
            <a:r>
              <a:rPr lang="en-ZA" sz="1800" dirty="0"/>
              <a:t>✅ </a:t>
            </a:r>
            <a:r>
              <a:rPr lang="en-NL" sz="1800" dirty="0"/>
              <a:t>Support </a:t>
            </a:r>
            <a:r>
              <a:rPr lang="en-NL" sz="1800" dirty="0">
                <a:latin typeface="+mj-lt"/>
              </a:rPr>
              <a:t>decision making </a:t>
            </a:r>
            <a:r>
              <a:rPr lang="en-NL" sz="1800" dirty="0"/>
              <a:t>conversations</a:t>
            </a:r>
            <a:r>
              <a:rPr lang="en-US" sz="1800" dirty="0"/>
              <a:t> at a </a:t>
            </a:r>
            <a:r>
              <a:rPr lang="en-US" sz="1800" dirty="0">
                <a:latin typeface="+mj-lt"/>
              </a:rPr>
              <a:t>national</a:t>
            </a:r>
            <a:r>
              <a:rPr lang="en-US" sz="1800" dirty="0"/>
              <a:t> level</a:t>
            </a:r>
          </a:p>
          <a:p>
            <a:endParaRPr lang="en-US" sz="1800" dirty="0"/>
          </a:p>
          <a:p>
            <a:pPr marL="0" indent="0">
              <a:buNone/>
            </a:pPr>
            <a:r>
              <a:rPr lang="en-ZA" sz="1800" dirty="0"/>
              <a:t>✅ </a:t>
            </a:r>
            <a:r>
              <a:rPr lang="en-US" sz="1800" dirty="0"/>
              <a:t>Look at the impact across the cascade of multiple interventions</a:t>
            </a:r>
            <a:endParaRPr lang="en-NL" sz="1800" dirty="0"/>
          </a:p>
          <a:p>
            <a:endParaRPr lang="en-NL" sz="1800" dirty="0"/>
          </a:p>
          <a:p>
            <a:pPr marL="0" indent="0">
              <a:buNone/>
            </a:pPr>
            <a:r>
              <a:rPr lang="en-ZA" sz="1800" dirty="0"/>
              <a:t>✅ </a:t>
            </a:r>
            <a:r>
              <a:rPr lang="en-NL" sz="1800" dirty="0"/>
              <a:t>Give an understanding of </a:t>
            </a:r>
            <a:r>
              <a:rPr lang="en-NL" sz="1800" dirty="0">
                <a:latin typeface="+mj-lt"/>
              </a:rPr>
              <a:t>relative</a:t>
            </a:r>
            <a:r>
              <a:rPr lang="en-NL" sz="1800" dirty="0"/>
              <a:t> impact of different interventions</a:t>
            </a:r>
            <a:r>
              <a:rPr lang="en-US" sz="1800" dirty="0"/>
              <a:t> on both outcomes and cost</a:t>
            </a:r>
            <a:endParaRPr lang="en-NL" sz="1800" dirty="0"/>
          </a:p>
        </p:txBody>
      </p:sp>
      <p:sp>
        <p:nvSpPr>
          <p:cNvPr id="6" name="Title 1">
            <a:extLst>
              <a:ext uri="{FF2B5EF4-FFF2-40B4-BE49-F238E27FC236}">
                <a16:creationId xmlns:a16="http://schemas.microsoft.com/office/drawing/2014/main" id="{BB6FEB8F-541A-1896-270F-CA47AE6011DA}"/>
              </a:ext>
            </a:extLst>
          </p:cNvPr>
          <p:cNvSpPr txBox="1">
            <a:spLocks/>
          </p:cNvSpPr>
          <p:nvPr/>
        </p:nvSpPr>
        <p:spPr bwMode="gray">
          <a:xfrm>
            <a:off x="6656835" y="1680800"/>
            <a:ext cx="5199722" cy="126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200" b="1" i="0" kern="1200">
                <a:solidFill>
                  <a:schemeClr val="tx1"/>
                </a:solidFill>
                <a:latin typeface="Verdana" panose="020B0604030504040204" pitchFamily="34" charset="0"/>
                <a:ea typeface="+mj-ea"/>
                <a:cs typeface="+mj-cs"/>
              </a:defRPr>
            </a:lvl1pPr>
          </a:lstStyle>
          <a:p>
            <a:r>
              <a:rPr lang="en-ZA" sz="4400" dirty="0">
                <a:latin typeface="+mj-lt"/>
              </a:rPr>
              <a:t>❌ </a:t>
            </a:r>
            <a:r>
              <a:rPr lang="en-NL" dirty="0">
                <a:latin typeface="+mj-lt"/>
              </a:rPr>
              <a:t>What TIER-</a:t>
            </a:r>
            <a:r>
              <a:rPr lang="en-US" dirty="0">
                <a:latin typeface="+mj-lt"/>
              </a:rPr>
              <a:t>P</a:t>
            </a:r>
            <a:r>
              <a:rPr lang="en-NL" dirty="0">
                <a:latin typeface="+mj-lt"/>
              </a:rPr>
              <a:t>lus </a:t>
            </a:r>
            <a:r>
              <a:rPr lang="en-NL" dirty="0">
                <a:solidFill>
                  <a:schemeClr val="accent1"/>
                </a:solidFill>
                <a:latin typeface="+mj-lt"/>
              </a:rPr>
              <a:t>cannot</a:t>
            </a:r>
            <a:r>
              <a:rPr lang="en-NL" dirty="0">
                <a:latin typeface="+mj-lt"/>
              </a:rPr>
              <a:t> do</a:t>
            </a:r>
          </a:p>
        </p:txBody>
      </p:sp>
      <p:sp>
        <p:nvSpPr>
          <p:cNvPr id="7" name="Content Placeholder 2">
            <a:extLst>
              <a:ext uri="{FF2B5EF4-FFF2-40B4-BE49-F238E27FC236}">
                <a16:creationId xmlns:a16="http://schemas.microsoft.com/office/drawing/2014/main" id="{CCE21EBA-D7EB-BA9F-4A8A-576B8841240C}"/>
              </a:ext>
            </a:extLst>
          </p:cNvPr>
          <p:cNvSpPr txBox="1">
            <a:spLocks/>
          </p:cNvSpPr>
          <p:nvPr/>
        </p:nvSpPr>
        <p:spPr bwMode="gray">
          <a:xfrm>
            <a:off x="6656835" y="3152506"/>
            <a:ext cx="5293428" cy="3291841"/>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dirty="0">
                <a:latin typeface="+mn-lt"/>
              </a:rPr>
              <a:t>❌ </a:t>
            </a:r>
            <a:r>
              <a:rPr lang="en-NL" dirty="0">
                <a:latin typeface="+mn-lt"/>
              </a:rPr>
              <a:t>Provide exact cost estimates for budgeting</a:t>
            </a:r>
          </a:p>
          <a:p>
            <a:endParaRPr lang="en-NL" dirty="0">
              <a:latin typeface="+mn-lt"/>
            </a:endParaRPr>
          </a:p>
          <a:p>
            <a:pPr marL="0" indent="0">
              <a:buNone/>
            </a:pPr>
            <a:r>
              <a:rPr lang="en-ZA" dirty="0">
                <a:latin typeface="+mn-lt"/>
              </a:rPr>
              <a:t>❌ </a:t>
            </a:r>
            <a:r>
              <a:rPr lang="en-NL" dirty="0">
                <a:latin typeface="+mn-lt"/>
              </a:rPr>
              <a:t>Give </a:t>
            </a:r>
            <a:r>
              <a:rPr lang="en-NL" b="1" dirty="0">
                <a:latin typeface="+mn-lt"/>
              </a:rPr>
              <a:t>long</a:t>
            </a:r>
            <a:r>
              <a:rPr lang="en-US" b="1" dirty="0">
                <a:latin typeface="+mn-lt"/>
              </a:rPr>
              <a:t>-</a:t>
            </a:r>
            <a:r>
              <a:rPr lang="en-NL" b="1" dirty="0">
                <a:latin typeface="+mn-lt"/>
              </a:rPr>
              <a:t>term </a:t>
            </a:r>
            <a:r>
              <a:rPr lang="en-NL" dirty="0">
                <a:latin typeface="+mn-lt"/>
              </a:rPr>
              <a:t>estimates on epidemic impact</a:t>
            </a:r>
            <a:br>
              <a:rPr lang="en-US" dirty="0">
                <a:latin typeface="+mn-lt"/>
              </a:rPr>
            </a:br>
            <a:endParaRPr lang="en-US" dirty="0">
              <a:latin typeface="+mn-lt"/>
            </a:endParaRPr>
          </a:p>
          <a:p>
            <a:pPr marL="0" indent="0">
              <a:buNone/>
            </a:pPr>
            <a:r>
              <a:rPr lang="en-ZA" dirty="0">
                <a:latin typeface="+mn-lt"/>
              </a:rPr>
              <a:t>❌ </a:t>
            </a:r>
            <a:r>
              <a:rPr lang="en-US" dirty="0">
                <a:latin typeface="+mn-lt"/>
              </a:rPr>
              <a:t>Replace intervention-specific planning (use DMPPT, PrEP-it, etc.)</a:t>
            </a:r>
          </a:p>
          <a:p>
            <a:pPr marL="0" indent="0">
              <a:buNone/>
            </a:pPr>
            <a:endParaRPr lang="en-US" dirty="0">
              <a:latin typeface="+mn-lt"/>
            </a:endParaRPr>
          </a:p>
          <a:p>
            <a:pPr marL="0" indent="0">
              <a:buNone/>
            </a:pPr>
            <a:endParaRPr lang="en-US" sz="2400" dirty="0"/>
          </a:p>
          <a:p>
            <a:pPr marL="0" indent="0">
              <a:buNone/>
            </a:pPr>
            <a:r>
              <a:rPr lang="en-ZA" sz="2400" dirty="0"/>
              <a:t>❌ </a:t>
            </a:r>
            <a:r>
              <a:rPr lang="en-US" sz="2400" b="1" dirty="0"/>
              <a:t>INTEGRATION</a:t>
            </a:r>
            <a:endParaRPr lang="en-NL" sz="2400" b="1" dirty="0"/>
          </a:p>
          <a:p>
            <a:pPr marL="0" indent="0">
              <a:buNone/>
            </a:pPr>
            <a:endParaRPr lang="en-NL" dirty="0">
              <a:latin typeface="+mn-lt"/>
            </a:endParaRPr>
          </a:p>
        </p:txBody>
      </p:sp>
    </p:spTree>
    <p:extLst>
      <p:ext uri="{BB962C8B-B14F-4D97-AF65-F5344CB8AC3E}">
        <p14:creationId xmlns:p14="http://schemas.microsoft.com/office/powerpoint/2010/main" val="62895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560E0A-E7A9-0869-7AD8-2B1966B6EF66}"/>
              </a:ext>
            </a:extLst>
          </p:cNvPr>
          <p:cNvSpPr>
            <a:spLocks noGrp="1"/>
          </p:cNvSpPr>
          <p:nvPr>
            <p:ph type="title"/>
          </p:nvPr>
        </p:nvSpPr>
        <p:spPr/>
        <p:txBody>
          <a:bodyPr/>
          <a:lstStyle/>
          <a:p>
            <a:r>
              <a:rPr lang="en-US" dirty="0"/>
              <a:t>The piloting phase</a:t>
            </a:r>
          </a:p>
        </p:txBody>
      </p:sp>
      <p:sp>
        <p:nvSpPr>
          <p:cNvPr id="4" name="Text Placeholder 3">
            <a:extLst>
              <a:ext uri="{FF2B5EF4-FFF2-40B4-BE49-F238E27FC236}">
                <a16:creationId xmlns:a16="http://schemas.microsoft.com/office/drawing/2014/main" id="{652D0C6E-BA00-54B8-ECFC-FE0C176E6046}"/>
              </a:ext>
            </a:extLst>
          </p:cNvPr>
          <p:cNvSpPr>
            <a:spLocks noGrp="1"/>
          </p:cNvSpPr>
          <p:nvPr>
            <p:ph type="body" sz="quarter" idx="17"/>
          </p:nvPr>
        </p:nvSpPr>
        <p:spPr>
          <a:xfrm>
            <a:off x="442913" y="1797051"/>
            <a:ext cx="7872412" cy="4103687"/>
          </a:xfrm>
        </p:spPr>
        <p:txBody>
          <a:bodyPr/>
          <a:lstStyle/>
          <a:p>
            <a:r>
              <a:rPr lang="en-US" dirty="0"/>
              <a:t>The piloting phase has resulted in several meaningful changes:</a:t>
            </a:r>
          </a:p>
        </p:txBody>
      </p:sp>
      <p:graphicFrame>
        <p:nvGraphicFramePr>
          <p:cNvPr id="7" name="Table 6">
            <a:extLst>
              <a:ext uri="{FF2B5EF4-FFF2-40B4-BE49-F238E27FC236}">
                <a16:creationId xmlns:a16="http://schemas.microsoft.com/office/drawing/2014/main" id="{6D1A9AF9-F718-C657-2803-1E6FA9824573}"/>
              </a:ext>
            </a:extLst>
          </p:cNvPr>
          <p:cNvGraphicFramePr>
            <a:graphicFrameLocks noGrp="1"/>
          </p:cNvGraphicFramePr>
          <p:nvPr>
            <p:extLst>
              <p:ext uri="{D42A27DB-BD31-4B8C-83A1-F6EECF244321}">
                <p14:modId xmlns:p14="http://schemas.microsoft.com/office/powerpoint/2010/main" val="2028493715"/>
              </p:ext>
            </p:extLst>
          </p:nvPr>
        </p:nvGraphicFramePr>
        <p:xfrm>
          <a:off x="717232" y="2132363"/>
          <a:ext cx="9834943" cy="4450080"/>
        </p:xfrm>
        <a:graphic>
          <a:graphicData uri="http://schemas.openxmlformats.org/drawingml/2006/table">
            <a:tbl>
              <a:tblPr firstRow="1" bandRow="1">
                <a:tableStyleId>{5C22544A-7EE6-4342-B048-85BDC9FD1C3A}</a:tableStyleId>
              </a:tblPr>
              <a:tblGrid>
                <a:gridCol w="7796393">
                  <a:extLst>
                    <a:ext uri="{9D8B030D-6E8A-4147-A177-3AD203B41FA5}">
                      <a16:colId xmlns:a16="http://schemas.microsoft.com/office/drawing/2014/main" val="2631047863"/>
                    </a:ext>
                  </a:extLst>
                </a:gridCol>
                <a:gridCol w="2038550">
                  <a:extLst>
                    <a:ext uri="{9D8B030D-6E8A-4147-A177-3AD203B41FA5}">
                      <a16:colId xmlns:a16="http://schemas.microsoft.com/office/drawing/2014/main" val="2749731368"/>
                    </a:ext>
                  </a:extLst>
                </a:gridCol>
              </a:tblGrid>
              <a:tr h="370840">
                <a:tc>
                  <a:txBody>
                    <a:bodyPr/>
                    <a:lstStyle/>
                    <a:p>
                      <a:r>
                        <a:rPr lang="en-NL" dirty="0"/>
                        <a:t>Feedback</a:t>
                      </a:r>
                    </a:p>
                  </a:txBody>
                  <a:tcPr/>
                </a:tc>
                <a:tc>
                  <a:txBody>
                    <a:bodyPr/>
                    <a:lstStyle/>
                    <a:p>
                      <a:r>
                        <a:rPr lang="en-NL" dirty="0"/>
                        <a:t>Completed</a:t>
                      </a:r>
                    </a:p>
                  </a:txBody>
                  <a:tcPr/>
                </a:tc>
                <a:extLst>
                  <a:ext uri="{0D108BD9-81ED-4DB2-BD59-A6C34878D82A}">
                    <a16:rowId xmlns:a16="http://schemas.microsoft.com/office/drawing/2014/main" val="1584561618"/>
                  </a:ext>
                </a:extLst>
              </a:tr>
              <a:tr h="370840">
                <a:tc>
                  <a:txBody>
                    <a:bodyPr/>
                    <a:lstStyle/>
                    <a:p>
                      <a:r>
                        <a:rPr lang="en-NL" dirty="0"/>
                        <a:t>PrEP targeting by sub-population</a:t>
                      </a:r>
                    </a:p>
                  </a:txBody>
                  <a:tcPr/>
                </a:tc>
                <a:tc>
                  <a:txBody>
                    <a:bodyPr/>
                    <a:lstStyle/>
                    <a:p>
                      <a:endParaRPr lang="en-NL" dirty="0"/>
                    </a:p>
                  </a:txBody>
                  <a:tcPr/>
                </a:tc>
                <a:extLst>
                  <a:ext uri="{0D108BD9-81ED-4DB2-BD59-A6C34878D82A}">
                    <a16:rowId xmlns:a16="http://schemas.microsoft.com/office/drawing/2014/main" val="2873610748"/>
                  </a:ext>
                </a:extLst>
              </a:tr>
              <a:tr h="370840">
                <a:tc>
                  <a:txBody>
                    <a:bodyPr/>
                    <a:lstStyle/>
                    <a:p>
                      <a:r>
                        <a:rPr lang="en-NL" dirty="0"/>
                        <a:t>Updated costs</a:t>
                      </a:r>
                    </a:p>
                  </a:txBody>
                  <a:tcPr/>
                </a:tc>
                <a:tc>
                  <a:txBody>
                    <a:bodyPr/>
                    <a:lstStyle/>
                    <a:p>
                      <a:endParaRPr lang="en-NL" dirty="0"/>
                    </a:p>
                  </a:txBody>
                  <a:tcPr/>
                </a:tc>
                <a:extLst>
                  <a:ext uri="{0D108BD9-81ED-4DB2-BD59-A6C34878D82A}">
                    <a16:rowId xmlns:a16="http://schemas.microsoft.com/office/drawing/2014/main" val="3014051867"/>
                  </a:ext>
                </a:extLst>
              </a:tr>
              <a:tr h="370840">
                <a:tc>
                  <a:txBody>
                    <a:bodyPr/>
                    <a:lstStyle/>
                    <a:p>
                      <a:r>
                        <a:rPr lang="en-NL" dirty="0"/>
                        <a:t>Output including cost breakdown by category of costs</a:t>
                      </a:r>
                    </a:p>
                  </a:txBody>
                  <a:tcPr/>
                </a:tc>
                <a:tc>
                  <a:txBody>
                    <a:bodyPr/>
                    <a:lstStyle/>
                    <a:p>
                      <a:endParaRPr lang="en-NL"/>
                    </a:p>
                  </a:txBody>
                  <a:tcPr/>
                </a:tc>
                <a:extLst>
                  <a:ext uri="{0D108BD9-81ED-4DB2-BD59-A6C34878D82A}">
                    <a16:rowId xmlns:a16="http://schemas.microsoft.com/office/drawing/2014/main" val="4000349788"/>
                  </a:ext>
                </a:extLst>
              </a:tr>
              <a:tr h="370840">
                <a:tc>
                  <a:txBody>
                    <a:bodyPr/>
                    <a:lstStyle/>
                    <a:p>
                      <a:r>
                        <a:rPr lang="en-NL" dirty="0"/>
                        <a:t>Inclusion of 6-monthly clinical visits vs 12- monthly clinical visits</a:t>
                      </a:r>
                    </a:p>
                  </a:txBody>
                  <a:tcPr/>
                </a:tc>
                <a:tc>
                  <a:txBody>
                    <a:bodyPr/>
                    <a:lstStyle/>
                    <a:p>
                      <a:endParaRPr lang="en-NL"/>
                    </a:p>
                  </a:txBody>
                  <a:tcPr/>
                </a:tc>
                <a:extLst>
                  <a:ext uri="{0D108BD9-81ED-4DB2-BD59-A6C34878D82A}">
                    <a16:rowId xmlns:a16="http://schemas.microsoft.com/office/drawing/2014/main" val="8492740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Model display improvements</a:t>
                      </a:r>
                    </a:p>
                  </a:txBody>
                  <a:tcPr/>
                </a:tc>
                <a:tc>
                  <a:txBody>
                    <a:bodyPr/>
                    <a:lstStyle/>
                    <a:p>
                      <a:endParaRPr lang="en-NL" dirty="0"/>
                    </a:p>
                  </a:txBody>
                  <a:tcPr/>
                </a:tc>
                <a:extLst>
                  <a:ext uri="{0D108BD9-81ED-4DB2-BD59-A6C34878D82A}">
                    <a16:rowId xmlns:a16="http://schemas.microsoft.com/office/drawing/2014/main" val="721394439"/>
                  </a:ext>
                </a:extLst>
              </a:tr>
              <a:tr h="370840">
                <a:tc>
                  <a:txBody>
                    <a:bodyPr/>
                    <a:lstStyle/>
                    <a:p>
                      <a:r>
                        <a:rPr lang="en-NL" dirty="0"/>
                        <a:t>Updated costs</a:t>
                      </a:r>
                    </a:p>
                  </a:txBody>
                  <a:tcPr/>
                </a:tc>
                <a:tc>
                  <a:txBody>
                    <a:bodyPr/>
                    <a:lstStyle/>
                    <a:p>
                      <a:endParaRPr lang="en-NL" dirty="0"/>
                    </a:p>
                  </a:txBody>
                  <a:tcPr/>
                </a:tc>
                <a:extLst>
                  <a:ext uri="{0D108BD9-81ED-4DB2-BD59-A6C34878D82A}">
                    <a16:rowId xmlns:a16="http://schemas.microsoft.com/office/drawing/2014/main" val="2369233851"/>
                  </a:ext>
                </a:extLst>
              </a:tr>
              <a:tr h="370840">
                <a:tc>
                  <a:txBody>
                    <a:bodyPr/>
                    <a:lstStyle/>
                    <a:p>
                      <a:r>
                        <a:rPr lang="en-NL" dirty="0"/>
                        <a:t>Users able to update parameters</a:t>
                      </a:r>
                    </a:p>
                  </a:txBody>
                  <a:tcPr/>
                </a:tc>
                <a:tc>
                  <a:txBody>
                    <a:bodyPr/>
                    <a:lstStyle/>
                    <a:p>
                      <a:endParaRPr lang="en-NL" dirty="0"/>
                    </a:p>
                  </a:txBody>
                  <a:tcPr/>
                </a:tc>
                <a:extLst>
                  <a:ext uri="{0D108BD9-81ED-4DB2-BD59-A6C34878D82A}">
                    <a16:rowId xmlns:a16="http://schemas.microsoft.com/office/drawing/2014/main" val="2124563310"/>
                  </a:ext>
                </a:extLst>
              </a:tr>
              <a:tr h="370840">
                <a:tc>
                  <a:txBody>
                    <a:bodyPr/>
                    <a:lstStyle/>
                    <a:p>
                      <a:r>
                        <a:rPr lang="en-NL" dirty="0"/>
                        <a:t>Adding additional countries</a:t>
                      </a:r>
                    </a:p>
                  </a:txBody>
                  <a:tcPr/>
                </a:tc>
                <a:tc>
                  <a:txBody>
                    <a:bodyPr/>
                    <a:lstStyle/>
                    <a:p>
                      <a:endParaRPr lang="en-NL" dirty="0"/>
                    </a:p>
                  </a:txBody>
                  <a:tcPr/>
                </a:tc>
                <a:extLst>
                  <a:ext uri="{0D108BD9-81ED-4DB2-BD59-A6C34878D82A}">
                    <a16:rowId xmlns:a16="http://schemas.microsoft.com/office/drawing/2014/main" val="3592218602"/>
                  </a:ext>
                </a:extLst>
              </a:tr>
              <a:tr h="370840">
                <a:tc>
                  <a:txBody>
                    <a:bodyPr/>
                    <a:lstStyle/>
                    <a:p>
                      <a:r>
                        <a:rPr lang="en-NL" dirty="0"/>
                        <a:t>PrEP targeting to pregnant and breastfeeding women</a:t>
                      </a:r>
                    </a:p>
                  </a:txBody>
                  <a:tcPr/>
                </a:tc>
                <a:tc>
                  <a:txBody>
                    <a:bodyPr/>
                    <a:lstStyle/>
                    <a:p>
                      <a:endParaRPr lang="en-NL" dirty="0"/>
                    </a:p>
                  </a:txBody>
                  <a:tcPr/>
                </a:tc>
                <a:extLst>
                  <a:ext uri="{0D108BD9-81ED-4DB2-BD59-A6C34878D82A}">
                    <a16:rowId xmlns:a16="http://schemas.microsoft.com/office/drawing/2014/main" val="4105000696"/>
                  </a:ext>
                </a:extLst>
              </a:tr>
              <a:tr h="370840">
                <a:tc>
                  <a:txBody>
                    <a:bodyPr/>
                    <a:lstStyle/>
                    <a:p>
                      <a:r>
                        <a:rPr lang="en-NL" dirty="0"/>
                        <a:t>Further results functionality </a:t>
                      </a:r>
                    </a:p>
                  </a:txBody>
                  <a:tcPr/>
                </a:tc>
                <a:tc>
                  <a:txBody>
                    <a:bodyPr/>
                    <a:lstStyle/>
                    <a:p>
                      <a:endParaRPr lang="en-NL" dirty="0"/>
                    </a:p>
                  </a:txBody>
                  <a:tcPr/>
                </a:tc>
                <a:extLst>
                  <a:ext uri="{0D108BD9-81ED-4DB2-BD59-A6C34878D82A}">
                    <a16:rowId xmlns:a16="http://schemas.microsoft.com/office/drawing/2014/main" val="979177308"/>
                  </a:ext>
                </a:extLst>
              </a:tr>
              <a:tr h="370840">
                <a:tc>
                  <a:txBody>
                    <a:bodyPr/>
                    <a:lstStyle/>
                    <a:p>
                      <a:r>
                        <a:rPr lang="en-NL" dirty="0"/>
                        <a:t>Changes to VL algorithm</a:t>
                      </a:r>
                    </a:p>
                  </a:txBody>
                  <a:tcPr/>
                </a:tc>
                <a:tc>
                  <a:txBody>
                    <a:bodyPr/>
                    <a:lstStyle/>
                    <a:p>
                      <a:endParaRPr lang="en-NL" dirty="0"/>
                    </a:p>
                  </a:txBody>
                  <a:tcPr/>
                </a:tc>
                <a:extLst>
                  <a:ext uri="{0D108BD9-81ED-4DB2-BD59-A6C34878D82A}">
                    <a16:rowId xmlns:a16="http://schemas.microsoft.com/office/drawing/2014/main" val="3291012944"/>
                  </a:ext>
                </a:extLst>
              </a:tr>
            </a:tbl>
          </a:graphicData>
        </a:graphic>
      </p:graphicFrame>
      <p:pic>
        <p:nvPicPr>
          <p:cNvPr id="9" name="Graphic 8" descr="Tick with solid fill">
            <a:extLst>
              <a:ext uri="{FF2B5EF4-FFF2-40B4-BE49-F238E27FC236}">
                <a16:creationId xmlns:a16="http://schemas.microsoft.com/office/drawing/2014/main" id="{3F3E9219-8079-E379-93AF-21AD447798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62900" y="2450752"/>
            <a:ext cx="457200" cy="457200"/>
          </a:xfrm>
          <a:prstGeom prst="rect">
            <a:avLst/>
          </a:prstGeom>
        </p:spPr>
      </p:pic>
      <p:pic>
        <p:nvPicPr>
          <p:cNvPr id="10" name="Graphic 9" descr="Tick with solid fill">
            <a:extLst>
              <a:ext uri="{FF2B5EF4-FFF2-40B4-BE49-F238E27FC236}">
                <a16:creationId xmlns:a16="http://schemas.microsoft.com/office/drawing/2014/main" id="{1100B35A-DDF1-BB6C-B00A-5A78A1AE49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68034" y="2804320"/>
            <a:ext cx="457200" cy="457200"/>
          </a:xfrm>
          <a:prstGeom prst="rect">
            <a:avLst/>
          </a:prstGeom>
        </p:spPr>
      </p:pic>
      <p:pic>
        <p:nvPicPr>
          <p:cNvPr id="11" name="Graphic 10" descr="Tick with solid fill">
            <a:extLst>
              <a:ext uri="{FF2B5EF4-FFF2-40B4-BE49-F238E27FC236}">
                <a16:creationId xmlns:a16="http://schemas.microsoft.com/office/drawing/2014/main" id="{427B3536-7B2B-A443-6D6E-1F75588237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5617" y="3179096"/>
            <a:ext cx="457200" cy="457200"/>
          </a:xfrm>
          <a:prstGeom prst="rect">
            <a:avLst/>
          </a:prstGeom>
        </p:spPr>
      </p:pic>
      <p:pic>
        <p:nvPicPr>
          <p:cNvPr id="12" name="Graphic 11" descr="Tick with solid fill">
            <a:extLst>
              <a:ext uri="{FF2B5EF4-FFF2-40B4-BE49-F238E27FC236}">
                <a16:creationId xmlns:a16="http://schemas.microsoft.com/office/drawing/2014/main" id="{0304EA60-698E-5BC1-782C-702A1E4AC5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70376" y="3532664"/>
            <a:ext cx="457200" cy="457200"/>
          </a:xfrm>
          <a:prstGeom prst="rect">
            <a:avLst/>
          </a:prstGeom>
        </p:spPr>
      </p:pic>
      <p:pic>
        <p:nvPicPr>
          <p:cNvPr id="13" name="Graphic 12" descr="Tick with solid fill">
            <a:extLst>
              <a:ext uri="{FF2B5EF4-FFF2-40B4-BE49-F238E27FC236}">
                <a16:creationId xmlns:a16="http://schemas.microsoft.com/office/drawing/2014/main" id="{24FE9AF7-6349-3358-20D5-4BA108E65E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8409" y="3935570"/>
            <a:ext cx="457200" cy="457200"/>
          </a:xfrm>
          <a:prstGeom prst="rect">
            <a:avLst/>
          </a:prstGeom>
        </p:spPr>
      </p:pic>
      <p:pic>
        <p:nvPicPr>
          <p:cNvPr id="14" name="Graphic 13" descr="Tick with solid fill">
            <a:extLst>
              <a:ext uri="{FF2B5EF4-FFF2-40B4-BE49-F238E27FC236}">
                <a16:creationId xmlns:a16="http://schemas.microsoft.com/office/drawing/2014/main" id="{FE58C3A1-4059-7183-0D40-56CF108182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918" y="4289138"/>
            <a:ext cx="457200" cy="457200"/>
          </a:xfrm>
          <a:prstGeom prst="rect">
            <a:avLst/>
          </a:prstGeom>
        </p:spPr>
      </p:pic>
      <p:pic>
        <p:nvPicPr>
          <p:cNvPr id="15" name="Graphic 14" descr="Tick with solid fill">
            <a:extLst>
              <a:ext uri="{FF2B5EF4-FFF2-40B4-BE49-F238E27FC236}">
                <a16:creationId xmlns:a16="http://schemas.microsoft.com/office/drawing/2014/main" id="{99CAA529-6B00-497A-D0FD-2E2C4284BA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918" y="4661821"/>
            <a:ext cx="457200" cy="457200"/>
          </a:xfrm>
          <a:prstGeom prst="rect">
            <a:avLst/>
          </a:prstGeom>
        </p:spPr>
      </p:pic>
      <p:sp>
        <p:nvSpPr>
          <p:cNvPr id="17" name="TextBox 16">
            <a:extLst>
              <a:ext uri="{FF2B5EF4-FFF2-40B4-BE49-F238E27FC236}">
                <a16:creationId xmlns:a16="http://schemas.microsoft.com/office/drawing/2014/main" id="{1A1216BF-1208-57A7-C723-F59651B51F5C}"/>
              </a:ext>
            </a:extLst>
          </p:cNvPr>
          <p:cNvSpPr txBox="1"/>
          <p:nvPr/>
        </p:nvSpPr>
        <p:spPr>
          <a:xfrm>
            <a:off x="9187867" y="4973569"/>
            <a:ext cx="540533" cy="584775"/>
          </a:xfrm>
          <a:prstGeom prst="rect">
            <a:avLst/>
          </a:prstGeom>
          <a:noFill/>
        </p:spPr>
        <p:txBody>
          <a:bodyPr wrap="none" rtlCol="0">
            <a:spAutoFit/>
          </a:bodyPr>
          <a:lstStyle/>
          <a:p>
            <a:r>
              <a:rPr lang="en-NL" sz="3200" b="1" dirty="0">
                <a:solidFill>
                  <a:schemeClr val="accent3"/>
                </a:solidFill>
              </a:rPr>
              <a:t>~</a:t>
            </a:r>
          </a:p>
        </p:txBody>
      </p:sp>
      <p:sp>
        <p:nvSpPr>
          <p:cNvPr id="18" name="TextBox 17">
            <a:extLst>
              <a:ext uri="{FF2B5EF4-FFF2-40B4-BE49-F238E27FC236}">
                <a16:creationId xmlns:a16="http://schemas.microsoft.com/office/drawing/2014/main" id="{1DC42056-77C7-6FED-A0E9-3AC6549E6A06}"/>
              </a:ext>
            </a:extLst>
          </p:cNvPr>
          <p:cNvSpPr txBox="1"/>
          <p:nvPr/>
        </p:nvSpPr>
        <p:spPr>
          <a:xfrm>
            <a:off x="9187718" y="5346252"/>
            <a:ext cx="540533" cy="584775"/>
          </a:xfrm>
          <a:prstGeom prst="rect">
            <a:avLst/>
          </a:prstGeom>
          <a:noFill/>
        </p:spPr>
        <p:txBody>
          <a:bodyPr wrap="none" rtlCol="0">
            <a:spAutoFit/>
          </a:bodyPr>
          <a:lstStyle/>
          <a:p>
            <a:r>
              <a:rPr lang="en-NL" sz="3200" b="1" dirty="0">
                <a:solidFill>
                  <a:schemeClr val="accent3"/>
                </a:solidFill>
              </a:rPr>
              <a:t>~</a:t>
            </a:r>
          </a:p>
        </p:txBody>
      </p:sp>
      <p:sp>
        <p:nvSpPr>
          <p:cNvPr id="19" name="TextBox 18">
            <a:extLst>
              <a:ext uri="{FF2B5EF4-FFF2-40B4-BE49-F238E27FC236}">
                <a16:creationId xmlns:a16="http://schemas.microsoft.com/office/drawing/2014/main" id="{465A3785-9C89-17D1-C7EB-D16548F92623}"/>
              </a:ext>
            </a:extLst>
          </p:cNvPr>
          <p:cNvSpPr txBox="1"/>
          <p:nvPr/>
        </p:nvSpPr>
        <p:spPr>
          <a:xfrm>
            <a:off x="9205150" y="5718935"/>
            <a:ext cx="540533" cy="584775"/>
          </a:xfrm>
          <a:prstGeom prst="rect">
            <a:avLst/>
          </a:prstGeom>
          <a:noFill/>
        </p:spPr>
        <p:txBody>
          <a:bodyPr wrap="none" rtlCol="0">
            <a:spAutoFit/>
          </a:bodyPr>
          <a:lstStyle/>
          <a:p>
            <a:r>
              <a:rPr lang="en-NL" sz="3200" b="1" dirty="0">
                <a:solidFill>
                  <a:schemeClr val="accent3"/>
                </a:solidFill>
              </a:rPr>
              <a:t>~</a:t>
            </a:r>
          </a:p>
        </p:txBody>
      </p:sp>
      <p:sp>
        <p:nvSpPr>
          <p:cNvPr id="20" name="TextBox 19">
            <a:extLst>
              <a:ext uri="{FF2B5EF4-FFF2-40B4-BE49-F238E27FC236}">
                <a16:creationId xmlns:a16="http://schemas.microsoft.com/office/drawing/2014/main" id="{C82E0F31-CADC-9EF0-5A4E-3EBA23546CB0}"/>
              </a:ext>
            </a:extLst>
          </p:cNvPr>
          <p:cNvSpPr txBox="1"/>
          <p:nvPr/>
        </p:nvSpPr>
        <p:spPr>
          <a:xfrm>
            <a:off x="9210335" y="6083611"/>
            <a:ext cx="540533" cy="584775"/>
          </a:xfrm>
          <a:prstGeom prst="rect">
            <a:avLst/>
          </a:prstGeom>
          <a:noFill/>
        </p:spPr>
        <p:txBody>
          <a:bodyPr wrap="none" rtlCol="0">
            <a:spAutoFit/>
          </a:bodyPr>
          <a:lstStyle/>
          <a:p>
            <a:r>
              <a:rPr lang="en-NL" sz="3200" b="1" dirty="0">
                <a:solidFill>
                  <a:schemeClr val="accent3"/>
                </a:solidFill>
              </a:rPr>
              <a:t>~</a:t>
            </a:r>
          </a:p>
        </p:txBody>
      </p:sp>
    </p:spTree>
    <p:extLst>
      <p:ext uri="{BB962C8B-B14F-4D97-AF65-F5344CB8AC3E}">
        <p14:creationId xmlns:p14="http://schemas.microsoft.com/office/powerpoint/2010/main" val="1979445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E659EE-9E08-ADC4-4017-AA3B863EA8AC}"/>
              </a:ext>
            </a:extLst>
          </p:cNvPr>
          <p:cNvSpPr>
            <a:spLocks noGrp="1"/>
          </p:cNvSpPr>
          <p:nvPr>
            <p:ph type="title"/>
          </p:nvPr>
        </p:nvSpPr>
        <p:spPr/>
        <p:txBody>
          <a:bodyPr/>
          <a:lstStyle/>
          <a:p>
            <a:r>
              <a:rPr lang="en-US" dirty="0"/>
              <a:t>TIER-plus is a living tool</a:t>
            </a:r>
          </a:p>
        </p:txBody>
      </p:sp>
      <p:sp>
        <p:nvSpPr>
          <p:cNvPr id="4" name="Text Placeholder 3">
            <a:extLst>
              <a:ext uri="{FF2B5EF4-FFF2-40B4-BE49-F238E27FC236}">
                <a16:creationId xmlns:a16="http://schemas.microsoft.com/office/drawing/2014/main" id="{59E7E15F-0AB4-E61F-FED5-60D353B5966B}"/>
              </a:ext>
            </a:extLst>
          </p:cNvPr>
          <p:cNvSpPr>
            <a:spLocks noGrp="1"/>
          </p:cNvSpPr>
          <p:nvPr>
            <p:ph type="body" sz="quarter" idx="17"/>
          </p:nvPr>
        </p:nvSpPr>
        <p:spPr>
          <a:xfrm>
            <a:off x="1843088" y="2425700"/>
            <a:ext cx="9544050" cy="4103687"/>
          </a:xfrm>
        </p:spPr>
        <p:txBody>
          <a:bodyPr>
            <a:normAutofit/>
          </a:bodyPr>
          <a:lstStyle/>
          <a:p>
            <a:r>
              <a:rPr lang="en-US" sz="2800" dirty="0"/>
              <a:t>We need and want your feedback to make TIER-plus as useful as possible! </a:t>
            </a:r>
          </a:p>
          <a:p>
            <a:r>
              <a:rPr lang="en-US" sz="2800" dirty="0"/>
              <a:t>What else would you like to see?</a:t>
            </a:r>
          </a:p>
          <a:p>
            <a:endParaRPr lang="en-US" sz="2800" dirty="0"/>
          </a:p>
          <a:p>
            <a:r>
              <a:rPr lang="en-US" sz="2800" dirty="0"/>
              <a:t>Please explore and provide feedback!</a:t>
            </a:r>
          </a:p>
        </p:txBody>
      </p:sp>
      <p:pic>
        <p:nvPicPr>
          <p:cNvPr id="5" name="Picture 4">
            <a:extLst>
              <a:ext uri="{FF2B5EF4-FFF2-40B4-BE49-F238E27FC236}">
                <a16:creationId xmlns:a16="http://schemas.microsoft.com/office/drawing/2014/main" id="{0E2922DE-409C-A4CC-F2C6-DCE9827DC7FB}"/>
              </a:ext>
            </a:extLst>
          </p:cNvPr>
          <p:cNvPicPr>
            <a:picLocks noChangeAspect="1"/>
          </p:cNvPicPr>
          <p:nvPr/>
        </p:nvPicPr>
        <p:blipFill>
          <a:blip r:embed="rId2"/>
          <a:stretch>
            <a:fillRect/>
          </a:stretch>
        </p:blipFill>
        <p:spPr>
          <a:xfrm>
            <a:off x="8786813" y="3349299"/>
            <a:ext cx="3191201" cy="3191201"/>
          </a:xfrm>
          <a:prstGeom prst="rect">
            <a:avLst/>
          </a:prstGeom>
        </p:spPr>
      </p:pic>
    </p:spTree>
    <p:extLst>
      <p:ext uri="{BB962C8B-B14F-4D97-AF65-F5344CB8AC3E}">
        <p14:creationId xmlns:p14="http://schemas.microsoft.com/office/powerpoint/2010/main" val="1641870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7AAE-BDDD-FE5B-63F1-36DECD799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D567B-E50C-0C94-57E4-3AB41E5CCF85}"/>
              </a:ext>
            </a:extLst>
          </p:cNvPr>
          <p:cNvSpPr>
            <a:spLocks noGrp="1"/>
          </p:cNvSpPr>
          <p:nvPr>
            <p:ph type="title"/>
          </p:nvPr>
        </p:nvSpPr>
        <p:spPr>
          <a:xfrm>
            <a:off x="5630866" y="3011091"/>
            <a:ext cx="7632700" cy="835818"/>
          </a:xfrm>
        </p:spPr>
        <p:txBody>
          <a:bodyPr/>
          <a:lstStyle/>
          <a:p>
            <a:r>
              <a:rPr lang="en-US" dirty="0"/>
              <a:t>Thank you!</a:t>
            </a:r>
          </a:p>
        </p:txBody>
      </p:sp>
    </p:spTree>
    <p:extLst>
      <p:ext uri="{BB962C8B-B14F-4D97-AF65-F5344CB8AC3E}">
        <p14:creationId xmlns:p14="http://schemas.microsoft.com/office/powerpoint/2010/main" val="3931003869"/>
      </p:ext>
    </p:extLst>
  </p:cSld>
  <p:clrMapOvr>
    <a:masterClrMapping/>
  </p:clrMapOvr>
</p:sld>
</file>

<file path=ppt/theme/theme1.xml><?xml version="1.0" encoding="utf-8"?>
<a:theme xmlns:a="http://schemas.openxmlformats.org/drawingml/2006/main" name="AIDS2026">
  <a:themeElements>
    <a:clrScheme name="AIDS 2026">
      <a:dk1>
        <a:srgbClr val="000000"/>
      </a:dk1>
      <a:lt1>
        <a:srgbClr val="FFFFFF"/>
      </a:lt1>
      <a:dk2>
        <a:srgbClr val="617F09"/>
      </a:dk2>
      <a:lt2>
        <a:srgbClr val="FFFFFF"/>
      </a:lt2>
      <a:accent1>
        <a:srgbClr val="61800A"/>
      </a:accent1>
      <a:accent2>
        <a:srgbClr val="0A41F3"/>
      </a:accent2>
      <a:accent3>
        <a:srgbClr val="FFA836"/>
      </a:accent3>
      <a:accent4>
        <a:srgbClr val="E0001B"/>
      </a:accent4>
      <a:accent5>
        <a:srgbClr val="105B2F"/>
      </a:accent5>
      <a:accent6>
        <a:srgbClr val="BFED2F"/>
      </a:accent6>
      <a:hlink>
        <a:srgbClr val="E0001B"/>
      </a:hlink>
      <a:folHlink>
        <a:srgbClr val="DF001A"/>
      </a:folHlink>
    </a:clrScheme>
    <a:fontScheme name="Verdana">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wrap="square" lIns="288000" tIns="288000" rIns="288000" bIns="288000" rtlCol="0" anchor="t"/>
      <a:lstStyle>
        <a:defPPr algn="l">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IDS-2026_Presentation_RibbonSans" id="{685A53CA-2BA7-D44B-B3BD-82F78AEAD68D}" vid="{A35E6BC0-8B90-C649-B0B0-A207886E5F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4EDCEEC58F924B8688429696C030D2" ma:contentTypeVersion="19" ma:contentTypeDescription="Create a new document." ma:contentTypeScope="" ma:versionID="b4d8bdf56c9ebdc58dfe75d904c50a7a">
  <xsd:schema xmlns:xsd="http://www.w3.org/2001/XMLSchema" xmlns:xs="http://www.w3.org/2001/XMLSchema" xmlns:p="http://schemas.microsoft.com/office/2006/metadata/properties" xmlns:ns2="e236f8d0-c4c0-4f47-ae05-f87aea30adc7" xmlns:ns3="73ce610f-b889-47d4-8ab5-c38f623799c9" targetNamespace="http://schemas.microsoft.com/office/2006/metadata/properties" ma:root="true" ma:fieldsID="6eb87eb5e6ae4b3023b2eee28dfdb8f0" ns2:_="" ns3:_="">
    <xsd:import namespace="e236f8d0-c4c0-4f47-ae05-f87aea30adc7"/>
    <xsd:import namespace="73ce610f-b889-47d4-8ab5-c38f623799c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DateTaken"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36f8d0-c4c0-4f47-ae05-f87aea30ad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d8752f36-f899-4024-97aa-312620fde4b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element name="MediaServiceLocation" ma:index="25" nillable="true" ma:displayName="Location"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3ce610f-b889-47d4-8ab5-c38f623799c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cc0bfebf-baa6-4c8c-8536-352a9d7474a2}" ma:internalName="TaxCatchAll" ma:showField="CatchAllData" ma:web="73ce610f-b889-47d4-8ab5-c38f623799c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236f8d0-c4c0-4f47-ae05-f87aea30adc7">
      <Terms xmlns="http://schemas.microsoft.com/office/infopath/2007/PartnerControls"/>
    </lcf76f155ced4ddcb4097134ff3c332f>
    <TaxCatchAll xmlns="73ce610f-b889-47d4-8ab5-c38f623799c9" xsi:nil="true"/>
  </documentManagement>
</p:properties>
</file>

<file path=customXml/itemProps1.xml><?xml version="1.0" encoding="utf-8"?>
<ds:datastoreItem xmlns:ds="http://schemas.openxmlformats.org/officeDocument/2006/customXml" ds:itemID="{1E6CDA49-A8AC-4040-9A16-E8C2473A2C67}">
  <ds:schemaRefs>
    <ds:schemaRef ds:uri="http://schemas.microsoft.com/sharepoint/v3/contenttype/forms"/>
  </ds:schemaRefs>
</ds:datastoreItem>
</file>

<file path=customXml/itemProps2.xml><?xml version="1.0" encoding="utf-8"?>
<ds:datastoreItem xmlns:ds="http://schemas.openxmlformats.org/officeDocument/2006/customXml" ds:itemID="{FB117379-9F30-481D-AB59-684DD01015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36f8d0-c4c0-4f47-ae05-f87aea30adc7"/>
    <ds:schemaRef ds:uri="73ce610f-b889-47d4-8ab5-c38f623799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03069EC-7E96-4C7A-9F5B-5A4BBE16E6C4}">
  <ds:schemaRefs>
    <ds:schemaRef ds:uri="http://www.w3.org/XML/1998/namespace"/>
    <ds:schemaRef ds:uri="http://purl.org/dc/elements/1.1/"/>
    <ds:schemaRef ds:uri="73ce610f-b889-47d4-8ab5-c38f623799c9"/>
    <ds:schemaRef ds:uri="http://purl.org/dc/term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e236f8d0-c4c0-4f47-ae05-f87aea30adc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AIDS2026</Template>
  <TotalTime>4163</TotalTime>
  <Words>1372</Words>
  <Application>Microsoft Macintosh PowerPoint</Application>
  <PresentationFormat>Widescreen</PresentationFormat>
  <Paragraphs>144</Paragraphs>
  <Slides>20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Wingdings</vt:lpstr>
      <vt:lpstr>Verdana</vt:lpstr>
      <vt:lpstr>Arial</vt:lpstr>
      <vt:lpstr>AIDS2026</vt:lpstr>
      <vt:lpstr>TIER-Plus overview and core functionality</vt:lpstr>
      <vt:lpstr>Who is TIER-Plus for?</vt:lpstr>
      <vt:lpstr>Let’s take a look</vt:lpstr>
      <vt:lpstr>PowerPoint Presentation</vt:lpstr>
      <vt:lpstr>What goes in (inputs 1)</vt:lpstr>
      <vt:lpstr>PowerPoint Presentation</vt:lpstr>
      <vt:lpstr>What goes in (inputs 2)</vt:lpstr>
      <vt:lpstr>PowerPoint Presentation</vt:lpstr>
      <vt:lpstr>PowerPoint Presentation</vt:lpstr>
      <vt:lpstr>Then it’s time to play – or build scenarios</vt:lpstr>
      <vt:lpstr>PowerPoint Presentation</vt:lpstr>
      <vt:lpstr>What TIER-Plus produces (outputs) 1/3</vt:lpstr>
      <vt:lpstr>What TIER-Plus produces (outputs) 2/3</vt:lpstr>
      <vt:lpstr>What TIER-Plus produces (outputs) 3/3</vt:lpstr>
      <vt:lpstr>PowerPoint Presentation</vt:lpstr>
      <vt:lpstr>What if you want to adjust the assumptions?</vt:lpstr>
      <vt:lpstr>✅ What TIER-Plus can do</vt:lpstr>
      <vt:lpstr>The piloting phase</vt:lpstr>
      <vt:lpstr>TIER-plus is a living tool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Alex de Nooy</cp:lastModifiedBy>
  <cp:revision>6</cp:revision>
  <dcterms:created xsi:type="dcterms:W3CDTF">2026-05-29T07:53:03Z</dcterms:created>
  <dcterms:modified xsi:type="dcterms:W3CDTF">2026-07-28T00:28:45Z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0x010100814EDCEEC58F924B8688429696C030D2</vt:lpwstr>
  </property>
  <property fmtid="{D5CDD505-2E9C-101B-9397-08002B2CF9AE}" pid="3" name="MediaServiceImageTags">
    <vt:lpwstr/>
  </property>
</Properties>
</file>