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handoutMasterIdLst>
    <p:handoutMasterId r:id="rId28"/>
  </p:handoutMasterIdLst>
  <p:sldIdLst>
    <p:sldId id="287" r:id="rId5"/>
    <p:sldId id="285" r:id="rId6"/>
    <p:sldId id="300" r:id="rId7"/>
    <p:sldId id="301" r:id="rId8"/>
    <p:sldId id="304" r:id="rId9"/>
    <p:sldId id="305" r:id="rId10"/>
    <p:sldId id="302" r:id="rId11"/>
    <p:sldId id="303" r:id="rId12"/>
    <p:sldId id="284" r:id="rId13"/>
    <p:sldId id="286" r:id="rId14"/>
    <p:sldId id="289" r:id="rId15"/>
    <p:sldId id="275" r:id="rId16"/>
    <p:sldId id="290" r:id="rId17"/>
    <p:sldId id="291" r:id="rId18"/>
    <p:sldId id="292" r:id="rId19"/>
    <p:sldId id="293" r:id="rId20"/>
    <p:sldId id="294" r:id="rId21"/>
    <p:sldId id="295" r:id="rId22"/>
    <p:sldId id="296" r:id="rId23"/>
    <p:sldId id="297" r:id="rId24"/>
    <p:sldId id="298" r:id="rId25"/>
    <p:sldId id="299"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D3FEF4-AEAF-917A-C660-C5359E089327}" name="Alex de Nooy" initials="Ad" userId="2ae90f5cbd0fd17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CB0F1"/>
    <a:srgbClr val="F88D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014B3E-5796-2D47-8EDF-95DBB63C553D}" v="9" dt="2026-02-06T13:03:55.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3" autoAdjust="0"/>
    <p:restoredTop sz="82854"/>
  </p:normalViewPr>
  <p:slideViewPr>
    <p:cSldViewPr snapToGrid="0" showGuides="1">
      <p:cViewPr varScale="1">
        <p:scale>
          <a:sx n="112" d="100"/>
          <a:sy n="112" d="100"/>
        </p:scale>
        <p:origin x="2048" y="48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21" d="100"/>
          <a:sy n="121" d="100"/>
        </p:scale>
        <p:origin x="4158"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de Nooy" userId="2ae90f5cbd0fd171" providerId="LiveId" clId="{68FAF11D-BE20-5239-B1D5-2BBFAE7D07C1}"/>
    <pc:docChg chg="undo custSel addSld modSld">
      <pc:chgData name="Alex de Nooy" userId="2ae90f5cbd0fd171" providerId="LiveId" clId="{68FAF11D-BE20-5239-B1D5-2BBFAE7D07C1}" dt="2026-02-06T13:05:39.958" v="818" actId="2890"/>
      <pc:docMkLst>
        <pc:docMk/>
      </pc:docMkLst>
      <pc:sldChg chg="modSp mod">
        <pc:chgData name="Alex de Nooy" userId="2ae90f5cbd0fd171" providerId="LiveId" clId="{68FAF11D-BE20-5239-B1D5-2BBFAE7D07C1}" dt="2026-02-06T12:22:31.805" v="79"/>
        <pc:sldMkLst>
          <pc:docMk/>
          <pc:sldMk cId="1689077881" sldId="285"/>
        </pc:sldMkLst>
        <pc:spChg chg="mod">
          <ac:chgData name="Alex de Nooy" userId="2ae90f5cbd0fd171" providerId="LiveId" clId="{68FAF11D-BE20-5239-B1D5-2BBFAE7D07C1}" dt="2026-02-06T12:22:31.805" v="79"/>
          <ac:spMkLst>
            <pc:docMk/>
            <pc:sldMk cId="1689077881" sldId="285"/>
            <ac:spMk id="3" creationId="{04DD0E3C-3675-44C6-AE22-972FDE27B6FE}"/>
          </ac:spMkLst>
        </pc:spChg>
      </pc:sldChg>
      <pc:sldChg chg="modSp mod">
        <pc:chgData name="Alex de Nooy" userId="2ae90f5cbd0fd171" providerId="LiveId" clId="{68FAF11D-BE20-5239-B1D5-2BBFAE7D07C1}" dt="2026-02-06T12:58:15.473" v="739" actId="1076"/>
        <pc:sldMkLst>
          <pc:docMk/>
          <pc:sldMk cId="2652198588" sldId="300"/>
        </pc:sldMkLst>
        <pc:spChg chg="mod">
          <ac:chgData name="Alex de Nooy" userId="2ae90f5cbd0fd171" providerId="LiveId" clId="{68FAF11D-BE20-5239-B1D5-2BBFAE7D07C1}" dt="2026-02-06T12:58:15.473" v="739" actId="1076"/>
          <ac:spMkLst>
            <pc:docMk/>
            <pc:sldMk cId="2652198588" sldId="300"/>
            <ac:spMk id="2" creationId="{5157EA78-41F6-5DDE-D298-774727701155}"/>
          </ac:spMkLst>
        </pc:spChg>
        <pc:spChg chg="mod">
          <ac:chgData name="Alex de Nooy" userId="2ae90f5cbd0fd171" providerId="LiveId" clId="{68FAF11D-BE20-5239-B1D5-2BBFAE7D07C1}" dt="2026-02-06T12:58:02.250" v="737" actId="14100"/>
          <ac:spMkLst>
            <pc:docMk/>
            <pc:sldMk cId="2652198588" sldId="300"/>
            <ac:spMk id="3" creationId="{786B0ECF-EB27-F0EA-A3A1-F19F1C60C491}"/>
          </ac:spMkLst>
        </pc:spChg>
      </pc:sldChg>
      <pc:sldChg chg="addSp delSp modSp mod">
        <pc:chgData name="Alex de Nooy" userId="2ae90f5cbd0fd171" providerId="LiveId" clId="{68FAF11D-BE20-5239-B1D5-2BBFAE7D07C1}" dt="2026-02-06T13:04:45.845" v="806" actId="207"/>
        <pc:sldMkLst>
          <pc:docMk/>
          <pc:sldMk cId="1582774337" sldId="301"/>
        </pc:sldMkLst>
        <pc:spChg chg="mod">
          <ac:chgData name="Alex de Nooy" userId="2ae90f5cbd0fd171" providerId="LiveId" clId="{68FAF11D-BE20-5239-B1D5-2BBFAE7D07C1}" dt="2026-02-06T13:04:45.845" v="806" actId="207"/>
          <ac:spMkLst>
            <pc:docMk/>
            <pc:sldMk cId="1582774337" sldId="301"/>
            <ac:spMk id="2" creationId="{07466AF4-2784-0696-F964-8D235C66DF3D}"/>
          </ac:spMkLst>
        </pc:spChg>
        <pc:spChg chg="del">
          <ac:chgData name="Alex de Nooy" userId="2ae90f5cbd0fd171" providerId="LiveId" clId="{68FAF11D-BE20-5239-B1D5-2BBFAE7D07C1}" dt="2026-02-06T12:58:27.983" v="740" actId="478"/>
          <ac:spMkLst>
            <pc:docMk/>
            <pc:sldMk cId="1582774337" sldId="301"/>
            <ac:spMk id="3" creationId="{B9950C3B-9FDE-9620-8662-C47749065F6F}"/>
          </ac:spMkLst>
        </pc:spChg>
        <pc:spChg chg="add del mod">
          <ac:chgData name="Alex de Nooy" userId="2ae90f5cbd0fd171" providerId="LiveId" clId="{68FAF11D-BE20-5239-B1D5-2BBFAE7D07C1}" dt="2026-02-06T12:59:12.996" v="741" actId="478"/>
          <ac:spMkLst>
            <pc:docMk/>
            <pc:sldMk cId="1582774337" sldId="301"/>
            <ac:spMk id="5" creationId="{64FC47E4-5ADF-7B3D-27CA-2E80CFF7C4EB}"/>
          </ac:spMkLst>
        </pc:spChg>
        <pc:graphicFrameChg chg="add mod modGraphic">
          <ac:chgData name="Alex de Nooy" userId="2ae90f5cbd0fd171" providerId="LiveId" clId="{68FAF11D-BE20-5239-B1D5-2BBFAE7D07C1}" dt="2026-02-06T13:01:39.120" v="772" actId="207"/>
          <ac:graphicFrameMkLst>
            <pc:docMk/>
            <pc:sldMk cId="1582774337" sldId="301"/>
            <ac:graphicFrameMk id="6" creationId="{F880109A-133C-CBC5-35D3-2E42F8B90261}"/>
          </ac:graphicFrameMkLst>
        </pc:graphicFrameChg>
      </pc:sldChg>
      <pc:sldChg chg="modSp mod">
        <pc:chgData name="Alex de Nooy" userId="2ae90f5cbd0fd171" providerId="LiveId" clId="{68FAF11D-BE20-5239-B1D5-2BBFAE7D07C1}" dt="2026-02-06T13:05:36.647" v="817" actId="20577"/>
        <pc:sldMkLst>
          <pc:docMk/>
          <pc:sldMk cId="1029131453" sldId="302"/>
        </pc:sldMkLst>
        <pc:spChg chg="mod">
          <ac:chgData name="Alex de Nooy" userId="2ae90f5cbd0fd171" providerId="LiveId" clId="{68FAF11D-BE20-5239-B1D5-2BBFAE7D07C1}" dt="2026-02-06T13:05:36.647" v="817" actId="20577"/>
          <ac:spMkLst>
            <pc:docMk/>
            <pc:sldMk cId="1029131453" sldId="302"/>
            <ac:spMk id="2" creationId="{A7AD0F49-C424-9CD6-66BB-8900E66191CF}"/>
          </ac:spMkLst>
        </pc:spChg>
      </pc:sldChg>
      <pc:sldChg chg="addSp delSp modSp add mod">
        <pc:chgData name="Alex de Nooy" userId="2ae90f5cbd0fd171" providerId="LiveId" clId="{68FAF11D-BE20-5239-B1D5-2BBFAE7D07C1}" dt="2026-02-06T13:05:21.696" v="808" actId="207"/>
        <pc:sldMkLst>
          <pc:docMk/>
          <pc:sldMk cId="4008255750" sldId="304"/>
        </pc:sldMkLst>
        <pc:spChg chg="mod">
          <ac:chgData name="Alex de Nooy" userId="2ae90f5cbd0fd171" providerId="LiveId" clId="{68FAF11D-BE20-5239-B1D5-2BBFAE7D07C1}" dt="2026-02-06T13:05:08.341" v="807" actId="207"/>
          <ac:spMkLst>
            <pc:docMk/>
            <pc:sldMk cId="4008255750" sldId="304"/>
            <ac:spMk id="2" creationId="{F1356E3F-A3A5-7BF8-230F-1440108EFAD4}"/>
          </ac:spMkLst>
        </pc:spChg>
        <pc:graphicFrameChg chg="add del mod modGraphic">
          <ac:chgData name="Alex de Nooy" userId="2ae90f5cbd0fd171" providerId="LiveId" clId="{68FAF11D-BE20-5239-B1D5-2BBFAE7D07C1}" dt="2026-02-06T13:03:17.736" v="788" actId="478"/>
          <ac:graphicFrameMkLst>
            <pc:docMk/>
            <pc:sldMk cId="4008255750" sldId="304"/>
            <ac:graphicFrameMk id="3" creationId="{1BE7CB89-911D-566D-F7AF-C8831EEE3B20}"/>
          </ac:graphicFrameMkLst>
        </pc:graphicFrameChg>
        <pc:graphicFrameChg chg="mod modGraphic">
          <ac:chgData name="Alex de Nooy" userId="2ae90f5cbd0fd171" providerId="LiveId" clId="{68FAF11D-BE20-5239-B1D5-2BBFAE7D07C1}" dt="2026-02-06T13:05:21.696" v="808" actId="207"/>
          <ac:graphicFrameMkLst>
            <pc:docMk/>
            <pc:sldMk cId="4008255750" sldId="304"/>
            <ac:graphicFrameMk id="6" creationId="{2F611F5E-C8B2-5AA9-4D42-04C42B600A1E}"/>
          </ac:graphicFrameMkLst>
        </pc:graphicFrameChg>
      </pc:sldChg>
      <pc:sldChg chg="add">
        <pc:chgData name="Alex de Nooy" userId="2ae90f5cbd0fd171" providerId="LiveId" clId="{68FAF11D-BE20-5239-B1D5-2BBFAE7D07C1}" dt="2026-02-06T13:05:39.958" v="818" actId="2890"/>
        <pc:sldMkLst>
          <pc:docMk/>
          <pc:sldMk cId="1714471306" sldId="30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NULL"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2000" b="1" dirty="0">
                <a:latin typeface="+mj-lt"/>
              </a:rPr>
              <a:t>Modelled</a:t>
            </a:r>
            <a:r>
              <a:rPr lang="en-GB" sz="2000" b="1" baseline="0" dirty="0">
                <a:latin typeface="+mj-lt"/>
              </a:rPr>
              <a:t> testing data, 2010-2015</a:t>
            </a:r>
          </a:p>
          <a:p>
            <a:pPr>
              <a:defRPr/>
            </a:pPr>
            <a:r>
              <a:rPr lang="en-GB" sz="2000" b="1" baseline="0" dirty="0">
                <a:latin typeface="+mj-lt"/>
              </a:rPr>
              <a:t>% of tests, % of new HIV diagnoses</a:t>
            </a:r>
            <a:endParaRPr lang="en-GB" sz="2000" b="1" dirty="0">
              <a:latin typeface="+mj-l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Sheet1!$B$13</c:f>
              <c:strCache>
                <c:ptCount val="1"/>
                <c:pt idx="0">
                  <c:v>% of HIV tests</c:v>
                </c:pt>
              </c:strCache>
            </c:strRef>
          </c:tx>
          <c:spPr>
            <a:solidFill>
              <a:schemeClr val="accent3"/>
            </a:solidFill>
            <a:ln>
              <a:noFill/>
            </a:ln>
            <a:effectLst/>
          </c:spPr>
          <c:invertIfNegative val="0"/>
          <c:cat>
            <c:strRef>
              <c:f>Sheet1!$A$14:$A$18</c:f>
              <c:strCache>
                <c:ptCount val="5"/>
                <c:pt idx="0">
                  <c:v>General HIV testing</c:v>
                </c:pt>
                <c:pt idx="1">
                  <c:v>Testing in STI clinics</c:v>
                </c:pt>
                <c:pt idx="2">
                  <c:v>Testing of OI patients</c:v>
                </c:pt>
                <c:pt idx="3">
                  <c:v>Testing of partners of newly diagnosed individuals</c:v>
                </c:pt>
                <c:pt idx="4">
                  <c:v>Antenatal testing</c:v>
                </c:pt>
              </c:strCache>
            </c:strRef>
          </c:cat>
          <c:val>
            <c:numRef>
              <c:f>Sheet1!$B$14:$B$18</c:f>
              <c:numCache>
                <c:formatCode>0%</c:formatCode>
                <c:ptCount val="5"/>
                <c:pt idx="0">
                  <c:v>0.63</c:v>
                </c:pt>
                <c:pt idx="1">
                  <c:v>0.114</c:v>
                </c:pt>
                <c:pt idx="2">
                  <c:v>9.8000000000000004E-2</c:v>
                </c:pt>
                <c:pt idx="4">
                  <c:v>7.1999999999999995E-2</c:v>
                </c:pt>
              </c:numCache>
            </c:numRef>
          </c:val>
          <c:extLst>
            <c:ext xmlns:c16="http://schemas.microsoft.com/office/drawing/2014/chart" uri="{C3380CC4-5D6E-409C-BE32-E72D297353CC}">
              <c16:uniqueId val="{00000000-5AB0-3C47-9C73-25BE74B78C01}"/>
            </c:ext>
          </c:extLst>
        </c:ser>
        <c:ser>
          <c:idx val="1"/>
          <c:order val="1"/>
          <c:tx>
            <c:strRef>
              <c:f>Sheet1!$C$13</c:f>
              <c:strCache>
                <c:ptCount val="1"/>
                <c:pt idx="0">
                  <c:v>% of new HIV diagnoses</c:v>
                </c:pt>
              </c:strCache>
            </c:strRef>
          </c:tx>
          <c:spPr>
            <a:solidFill>
              <a:schemeClr val="accent2"/>
            </a:solidFill>
            <a:ln>
              <a:noFill/>
            </a:ln>
            <a:effectLst/>
          </c:spPr>
          <c:invertIfNegative val="0"/>
          <c:cat>
            <c:strRef>
              <c:f>Sheet1!$A$14:$A$18</c:f>
              <c:strCache>
                <c:ptCount val="5"/>
                <c:pt idx="0">
                  <c:v>General HIV testing</c:v>
                </c:pt>
                <c:pt idx="1">
                  <c:v>Testing in STI clinics</c:v>
                </c:pt>
                <c:pt idx="2">
                  <c:v>Testing of OI patients</c:v>
                </c:pt>
                <c:pt idx="3">
                  <c:v>Testing of partners of newly diagnosed individuals</c:v>
                </c:pt>
                <c:pt idx="4">
                  <c:v>Antenatal testing</c:v>
                </c:pt>
              </c:strCache>
            </c:strRef>
          </c:cat>
          <c:val>
            <c:numRef>
              <c:f>Sheet1!$C$14:$C$18</c:f>
              <c:numCache>
                <c:formatCode>0%</c:formatCode>
                <c:ptCount val="5"/>
                <c:pt idx="0">
                  <c:v>0.436</c:v>
                </c:pt>
                <c:pt idx="1">
                  <c:v>8.1000000000000003E-2</c:v>
                </c:pt>
                <c:pt idx="2">
                  <c:v>0.32500000000000001</c:v>
                </c:pt>
                <c:pt idx="3">
                  <c:v>7.3999999999999996E-2</c:v>
                </c:pt>
              </c:numCache>
            </c:numRef>
          </c:val>
          <c:extLst>
            <c:ext xmlns:c16="http://schemas.microsoft.com/office/drawing/2014/chart" uri="{C3380CC4-5D6E-409C-BE32-E72D297353CC}">
              <c16:uniqueId val="{00000001-5AB0-3C47-9C73-25BE74B78C01}"/>
            </c:ext>
          </c:extLst>
        </c:ser>
        <c:dLbls>
          <c:showLegendKey val="0"/>
          <c:showVal val="0"/>
          <c:showCatName val="0"/>
          <c:showSerName val="0"/>
          <c:showPercent val="0"/>
          <c:showBubbleSize val="0"/>
        </c:dLbls>
        <c:gapWidth val="182"/>
        <c:axId val="1794480784"/>
        <c:axId val="1789849200"/>
      </c:barChart>
      <c:catAx>
        <c:axId val="17944807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789849200"/>
        <c:crosses val="autoZero"/>
        <c:auto val="1"/>
        <c:lblAlgn val="ctr"/>
        <c:lblOffset val="100"/>
        <c:noMultiLvlLbl val="0"/>
      </c:catAx>
      <c:valAx>
        <c:axId val="1789849200"/>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4807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701443569553799E-2"/>
          <c:y val="8.0203211080964801E-2"/>
          <c:w val="0.90999294619422599"/>
          <c:h val="0.72610742575624698"/>
        </c:manualLayout>
      </c:layout>
      <c:barChart>
        <c:barDir val="col"/>
        <c:grouping val="clustered"/>
        <c:varyColors val="0"/>
        <c:ser>
          <c:idx val="0"/>
          <c:order val="0"/>
          <c:tx>
            <c:strRef>
              <c:f>'Pivots and Graphs'!$A$3636</c:f>
              <c:strCache>
                <c:ptCount val="1"/>
                <c:pt idx="0">
                  <c:v>HTS_TST_POS Target</c:v>
                </c:pt>
              </c:strCache>
            </c:strRef>
          </c:tx>
          <c:spPr>
            <a:noFill/>
            <a:ln w="57150">
              <a:solidFill>
                <a:srgbClr val="E0001B"/>
              </a:solidFill>
              <a:prstDash val="dash"/>
            </a:ln>
            <a:effectLst/>
          </c:spPr>
          <c:invertIfNegative val="0"/>
          <c:cat>
            <c:multiLvlStrRef>
              <c:f>'Pivots and Graphs'!$B$3634:$W$3635</c:f>
              <c:multiLvlStrCache>
                <c:ptCount val="22"/>
                <c:lvl>
                  <c:pt idx="0">
                    <c:v>&lt;1</c:v>
                  </c:pt>
                  <c:pt idx="1">
                    <c:v>1-9</c:v>
                  </c:pt>
                  <c:pt idx="2">
                    <c:v>10-14</c:v>
                  </c:pt>
                  <c:pt idx="3">
                    <c:v>15-19</c:v>
                  </c:pt>
                  <c:pt idx="4">
                    <c:v>20-24</c:v>
                  </c:pt>
                  <c:pt idx="5">
                    <c:v>25-29</c:v>
                  </c:pt>
                  <c:pt idx="6">
                    <c:v>30-34</c:v>
                  </c:pt>
                  <c:pt idx="7">
                    <c:v>35-39</c:v>
                  </c:pt>
                  <c:pt idx="8">
                    <c:v>40-44</c:v>
                  </c:pt>
                  <c:pt idx="9">
                    <c:v>45-49</c:v>
                  </c:pt>
                  <c:pt idx="10">
                    <c:v>50+</c:v>
                  </c:pt>
                  <c:pt idx="11">
                    <c:v>&lt;1</c:v>
                  </c:pt>
                  <c:pt idx="12">
                    <c:v>1-9</c:v>
                  </c:pt>
                  <c:pt idx="13">
                    <c:v>10-14</c:v>
                  </c:pt>
                  <c:pt idx="14">
                    <c:v>15-19</c:v>
                  </c:pt>
                  <c:pt idx="15">
                    <c:v>20-24</c:v>
                  </c:pt>
                  <c:pt idx="16">
                    <c:v>25-29</c:v>
                  </c:pt>
                  <c:pt idx="17">
                    <c:v>30-34</c:v>
                  </c:pt>
                  <c:pt idx="18">
                    <c:v>35-39</c:v>
                  </c:pt>
                  <c:pt idx="19">
                    <c:v>40-44</c:v>
                  </c:pt>
                  <c:pt idx="20">
                    <c:v>45-49</c:v>
                  </c:pt>
                  <c:pt idx="21">
                    <c:v>50+</c:v>
                  </c:pt>
                </c:lvl>
                <c:lvl>
                  <c:pt idx="0">
                    <c:v>Male</c:v>
                  </c:pt>
                  <c:pt idx="11">
                    <c:v>Female</c:v>
                  </c:pt>
                </c:lvl>
              </c:multiLvlStrCache>
            </c:multiLvlStrRef>
          </c:cat>
          <c:val>
            <c:numRef>
              <c:f>'Pivots and Graphs'!$B$3636:$W$3636</c:f>
              <c:numCache>
                <c:formatCode>General</c:formatCode>
                <c:ptCount val="22"/>
                <c:pt idx="0">
                  <c:v>0</c:v>
                </c:pt>
                <c:pt idx="1">
                  <c:v>441</c:v>
                </c:pt>
                <c:pt idx="2">
                  <c:v>242</c:v>
                </c:pt>
                <c:pt idx="3">
                  <c:v>653</c:v>
                </c:pt>
                <c:pt idx="4">
                  <c:v>1033</c:v>
                </c:pt>
                <c:pt idx="5">
                  <c:v>1730</c:v>
                </c:pt>
                <c:pt idx="6">
                  <c:v>2848</c:v>
                </c:pt>
                <c:pt idx="7">
                  <c:v>1463</c:v>
                </c:pt>
                <c:pt idx="8">
                  <c:v>1437</c:v>
                </c:pt>
                <c:pt idx="9">
                  <c:v>1382</c:v>
                </c:pt>
                <c:pt idx="10">
                  <c:v>1829</c:v>
                </c:pt>
                <c:pt idx="11">
                  <c:v>0</c:v>
                </c:pt>
                <c:pt idx="12">
                  <c:v>390</c:v>
                </c:pt>
                <c:pt idx="13">
                  <c:v>351</c:v>
                </c:pt>
                <c:pt idx="14">
                  <c:v>807</c:v>
                </c:pt>
                <c:pt idx="15">
                  <c:v>1332</c:v>
                </c:pt>
                <c:pt idx="16">
                  <c:v>913</c:v>
                </c:pt>
                <c:pt idx="17">
                  <c:v>1117</c:v>
                </c:pt>
                <c:pt idx="18">
                  <c:v>720</c:v>
                </c:pt>
                <c:pt idx="19">
                  <c:v>702</c:v>
                </c:pt>
                <c:pt idx="20">
                  <c:v>520</c:v>
                </c:pt>
                <c:pt idx="21">
                  <c:v>1160</c:v>
                </c:pt>
              </c:numCache>
            </c:numRef>
          </c:val>
          <c:extLst>
            <c:ext xmlns:c16="http://schemas.microsoft.com/office/drawing/2014/chart" uri="{C3380CC4-5D6E-409C-BE32-E72D297353CC}">
              <c16:uniqueId val="{00000000-5582-DA4F-B126-7C614DE508E5}"/>
            </c:ext>
          </c:extLst>
        </c:ser>
        <c:ser>
          <c:idx val="1"/>
          <c:order val="1"/>
          <c:tx>
            <c:strRef>
              <c:f>'Pivots and Graphs'!$A$3637</c:f>
              <c:strCache>
                <c:ptCount val="1"/>
                <c:pt idx="0">
                  <c:v>Achievement</c:v>
                </c:pt>
              </c:strCache>
            </c:strRef>
          </c:tx>
          <c:spPr>
            <a:solidFill>
              <a:srgbClr val="8CCDCD"/>
            </a:solidFill>
            <a:ln>
              <a:noFill/>
            </a:ln>
            <a:effectLst/>
          </c:spPr>
          <c:invertIfNegative val="0"/>
          <c:cat>
            <c:multiLvlStrRef>
              <c:f>'Pivots and Graphs'!$B$3634:$W$3635</c:f>
              <c:multiLvlStrCache>
                <c:ptCount val="22"/>
                <c:lvl>
                  <c:pt idx="0">
                    <c:v>&lt;1</c:v>
                  </c:pt>
                  <c:pt idx="1">
                    <c:v>1-9</c:v>
                  </c:pt>
                  <c:pt idx="2">
                    <c:v>10-14</c:v>
                  </c:pt>
                  <c:pt idx="3">
                    <c:v>15-19</c:v>
                  </c:pt>
                  <c:pt idx="4">
                    <c:v>20-24</c:v>
                  </c:pt>
                  <c:pt idx="5">
                    <c:v>25-29</c:v>
                  </c:pt>
                  <c:pt idx="6">
                    <c:v>30-34</c:v>
                  </c:pt>
                  <c:pt idx="7">
                    <c:v>35-39</c:v>
                  </c:pt>
                  <c:pt idx="8">
                    <c:v>40-44</c:v>
                  </c:pt>
                  <c:pt idx="9">
                    <c:v>45-49</c:v>
                  </c:pt>
                  <c:pt idx="10">
                    <c:v>50+</c:v>
                  </c:pt>
                  <c:pt idx="11">
                    <c:v>&lt;1</c:v>
                  </c:pt>
                  <c:pt idx="12">
                    <c:v>1-9</c:v>
                  </c:pt>
                  <c:pt idx="13">
                    <c:v>10-14</c:v>
                  </c:pt>
                  <c:pt idx="14">
                    <c:v>15-19</c:v>
                  </c:pt>
                  <c:pt idx="15">
                    <c:v>20-24</c:v>
                  </c:pt>
                  <c:pt idx="16">
                    <c:v>25-29</c:v>
                  </c:pt>
                  <c:pt idx="17">
                    <c:v>30-34</c:v>
                  </c:pt>
                  <c:pt idx="18">
                    <c:v>35-39</c:v>
                  </c:pt>
                  <c:pt idx="19">
                    <c:v>40-44</c:v>
                  </c:pt>
                  <c:pt idx="20">
                    <c:v>45-49</c:v>
                  </c:pt>
                  <c:pt idx="21">
                    <c:v>50+</c:v>
                  </c:pt>
                </c:lvl>
                <c:lvl>
                  <c:pt idx="0">
                    <c:v>Male</c:v>
                  </c:pt>
                  <c:pt idx="11">
                    <c:v>Female</c:v>
                  </c:pt>
                </c:lvl>
              </c:multiLvlStrCache>
            </c:multiLvlStrRef>
          </c:cat>
          <c:val>
            <c:numRef>
              <c:f>'Pivots and Graphs'!$B$3637:$W$3637</c:f>
              <c:numCache>
                <c:formatCode>General</c:formatCode>
                <c:ptCount val="22"/>
                <c:pt idx="0">
                  <c:v>9</c:v>
                </c:pt>
                <c:pt idx="1">
                  <c:v>217</c:v>
                </c:pt>
                <c:pt idx="2">
                  <c:v>73</c:v>
                </c:pt>
                <c:pt idx="3">
                  <c:v>84</c:v>
                </c:pt>
                <c:pt idx="4">
                  <c:v>429</c:v>
                </c:pt>
                <c:pt idx="5">
                  <c:v>670</c:v>
                </c:pt>
                <c:pt idx="6">
                  <c:v>827</c:v>
                </c:pt>
                <c:pt idx="7">
                  <c:v>925</c:v>
                </c:pt>
                <c:pt idx="8">
                  <c:v>755</c:v>
                </c:pt>
                <c:pt idx="9">
                  <c:v>484</c:v>
                </c:pt>
                <c:pt idx="10">
                  <c:v>607</c:v>
                </c:pt>
                <c:pt idx="11">
                  <c:v>6</c:v>
                </c:pt>
                <c:pt idx="12">
                  <c:v>249</c:v>
                </c:pt>
                <c:pt idx="13">
                  <c:v>109</c:v>
                </c:pt>
                <c:pt idx="14">
                  <c:v>631</c:v>
                </c:pt>
                <c:pt idx="15">
                  <c:v>1810</c:v>
                </c:pt>
                <c:pt idx="16">
                  <c:v>1715</c:v>
                </c:pt>
                <c:pt idx="17">
                  <c:v>1295</c:v>
                </c:pt>
                <c:pt idx="18">
                  <c:v>1082</c:v>
                </c:pt>
                <c:pt idx="19">
                  <c:v>573</c:v>
                </c:pt>
                <c:pt idx="20">
                  <c:v>332</c:v>
                </c:pt>
                <c:pt idx="21">
                  <c:v>442</c:v>
                </c:pt>
              </c:numCache>
            </c:numRef>
          </c:val>
          <c:extLst>
            <c:ext xmlns:c16="http://schemas.microsoft.com/office/drawing/2014/chart" uri="{C3380CC4-5D6E-409C-BE32-E72D297353CC}">
              <c16:uniqueId val="{00000001-5582-DA4F-B126-7C614DE508E5}"/>
            </c:ext>
          </c:extLst>
        </c:ser>
        <c:dLbls>
          <c:showLegendKey val="0"/>
          <c:showVal val="0"/>
          <c:showCatName val="0"/>
          <c:showSerName val="0"/>
          <c:showPercent val="0"/>
          <c:showBubbleSize val="0"/>
        </c:dLbls>
        <c:gapWidth val="50"/>
        <c:overlap val="100"/>
        <c:axId val="-859786656"/>
        <c:axId val="-857274016"/>
      </c:barChart>
      <c:scatterChart>
        <c:scatterStyle val="lineMarker"/>
        <c:varyColors val="0"/>
        <c:ser>
          <c:idx val="2"/>
          <c:order val="2"/>
          <c:tx>
            <c:strRef>
              <c:f>'Pivots and Graphs'!$A$3638</c:f>
              <c:strCache>
                <c:ptCount val="1"/>
                <c:pt idx="0">
                  <c:v>% Achievement</c:v>
                </c:pt>
              </c:strCache>
            </c:strRef>
          </c:tx>
          <c:spPr>
            <a:ln w="25400" cap="rnd">
              <a:noFill/>
              <a:round/>
            </a:ln>
            <a:effectLst/>
          </c:spPr>
          <c:marker>
            <c:symbol val="dash"/>
            <c:size val="16"/>
            <c:spPr>
              <a:solidFill>
                <a:schemeClr val="bg1">
                  <a:lumMod val="75000"/>
                </a:schemeClr>
              </a:solidFill>
              <a:ln w="19050">
                <a:solidFill>
                  <a:sysClr val="window" lastClr="FFFFFF">
                    <a:lumMod val="50000"/>
                  </a:sysClr>
                </a:solidFill>
              </a:ln>
              <a:effectLst/>
            </c:spPr>
          </c:marker>
          <c:dPt>
            <c:idx val="0"/>
            <c:marker>
              <c:symbol val="dash"/>
              <c:size val="16"/>
              <c:spPr>
                <a:noFill/>
                <a:ln w="19050">
                  <a:noFill/>
                </a:ln>
                <a:effectLst/>
              </c:spPr>
            </c:marker>
            <c:bubble3D val="0"/>
            <c:spPr>
              <a:ln w="25400" cap="rnd">
                <a:noFill/>
                <a:round/>
              </a:ln>
              <a:effectLst/>
            </c:spPr>
            <c:extLst>
              <c:ext xmlns:c16="http://schemas.microsoft.com/office/drawing/2014/chart" uri="{C3380CC4-5D6E-409C-BE32-E72D297353CC}">
                <c16:uniqueId val="{00000003-5582-DA4F-B126-7C614DE508E5}"/>
              </c:ext>
            </c:extLst>
          </c:dPt>
          <c:dPt>
            <c:idx val="11"/>
            <c:marker>
              <c:symbol val="dash"/>
              <c:size val="16"/>
              <c:spPr>
                <a:noFill/>
                <a:ln w="19050">
                  <a:noFill/>
                </a:ln>
                <a:effectLst/>
              </c:spPr>
            </c:marker>
            <c:bubble3D val="0"/>
            <c:spPr>
              <a:ln w="25400" cap="rnd">
                <a:noFill/>
                <a:round/>
              </a:ln>
              <a:effectLst/>
            </c:spPr>
            <c:extLst>
              <c:ext xmlns:c16="http://schemas.microsoft.com/office/drawing/2014/chart" uri="{C3380CC4-5D6E-409C-BE32-E72D297353CC}">
                <c16:uniqueId val="{00000005-5582-DA4F-B126-7C614DE508E5}"/>
              </c:ext>
            </c:extLst>
          </c:dPt>
          <c:dLbls>
            <c:dLbl>
              <c:idx val="0"/>
              <c:delete val="1"/>
              <c:extLst>
                <c:ext xmlns:c15="http://schemas.microsoft.com/office/drawing/2012/chart" uri="{CE6537A1-D6FC-4f65-9D91-7224C49458BB}"/>
                <c:ext xmlns:c16="http://schemas.microsoft.com/office/drawing/2014/chart" uri="{C3380CC4-5D6E-409C-BE32-E72D297353CC}">
                  <c16:uniqueId val="{00000003-5582-DA4F-B126-7C614DE508E5}"/>
                </c:ext>
              </c:extLst>
            </c:dLbl>
            <c:dLbl>
              <c:idx val="11"/>
              <c:delete val="1"/>
              <c:extLst>
                <c:ext xmlns:c15="http://schemas.microsoft.com/office/drawing/2012/chart" uri="{CE6537A1-D6FC-4f65-9D91-7224C49458BB}"/>
                <c:ext xmlns:c16="http://schemas.microsoft.com/office/drawing/2014/chart" uri="{C3380CC4-5D6E-409C-BE32-E72D297353CC}">
                  <c16:uniqueId val="{00000005-5582-DA4F-B126-7C614DE508E5}"/>
                </c:ext>
              </c:extLst>
            </c:dLbl>
            <c:spPr>
              <a:solidFill>
                <a:srgbClr val="E7E6E6"/>
              </a:solid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multiLvlStrRef>
              <c:f>'Pivots and Graphs'!$B$3634:$W$3635</c:f>
              <c:multiLvlStrCache>
                <c:ptCount val="22"/>
                <c:lvl>
                  <c:pt idx="0">
                    <c:v>&lt;1</c:v>
                  </c:pt>
                  <c:pt idx="1">
                    <c:v>1-9</c:v>
                  </c:pt>
                  <c:pt idx="2">
                    <c:v>10-14</c:v>
                  </c:pt>
                  <c:pt idx="3">
                    <c:v>15-19</c:v>
                  </c:pt>
                  <c:pt idx="4">
                    <c:v>20-24</c:v>
                  </c:pt>
                  <c:pt idx="5">
                    <c:v>25-29</c:v>
                  </c:pt>
                  <c:pt idx="6">
                    <c:v>30-34</c:v>
                  </c:pt>
                  <c:pt idx="7">
                    <c:v>35-39</c:v>
                  </c:pt>
                  <c:pt idx="8">
                    <c:v>40-44</c:v>
                  </c:pt>
                  <c:pt idx="9">
                    <c:v>45-49</c:v>
                  </c:pt>
                  <c:pt idx="10">
                    <c:v>50+</c:v>
                  </c:pt>
                  <c:pt idx="11">
                    <c:v>&lt;1</c:v>
                  </c:pt>
                  <c:pt idx="12">
                    <c:v>1-9</c:v>
                  </c:pt>
                  <c:pt idx="13">
                    <c:v>10-14</c:v>
                  </c:pt>
                  <c:pt idx="14">
                    <c:v>15-19</c:v>
                  </c:pt>
                  <c:pt idx="15">
                    <c:v>20-24</c:v>
                  </c:pt>
                  <c:pt idx="16">
                    <c:v>25-29</c:v>
                  </c:pt>
                  <c:pt idx="17">
                    <c:v>30-34</c:v>
                  </c:pt>
                  <c:pt idx="18">
                    <c:v>35-39</c:v>
                  </c:pt>
                  <c:pt idx="19">
                    <c:v>40-44</c:v>
                  </c:pt>
                  <c:pt idx="20">
                    <c:v>45-49</c:v>
                  </c:pt>
                  <c:pt idx="21">
                    <c:v>50+</c:v>
                  </c:pt>
                </c:lvl>
                <c:lvl>
                  <c:pt idx="0">
                    <c:v>Male</c:v>
                  </c:pt>
                  <c:pt idx="11">
                    <c:v>Female</c:v>
                  </c:pt>
                </c:lvl>
              </c:multiLvlStrCache>
            </c:multiLvlStrRef>
          </c:xVal>
          <c:yVal>
            <c:numRef>
              <c:f>'Pivots and Graphs'!$B$3638:$W$3638</c:f>
              <c:numCache>
                <c:formatCode>0%</c:formatCode>
                <c:ptCount val="22"/>
                <c:pt idx="0">
                  <c:v>0</c:v>
                </c:pt>
                <c:pt idx="1">
                  <c:v>0.49206349206349198</c:v>
                </c:pt>
                <c:pt idx="2">
                  <c:v>0.30165289256198302</c:v>
                </c:pt>
                <c:pt idx="3">
                  <c:v>0.128637059724349</c:v>
                </c:pt>
                <c:pt idx="4">
                  <c:v>0.415295256534366</c:v>
                </c:pt>
                <c:pt idx="5">
                  <c:v>0.38728323699422001</c:v>
                </c:pt>
                <c:pt idx="6">
                  <c:v>0.29037921348314599</c:v>
                </c:pt>
                <c:pt idx="7">
                  <c:v>0.63226247436773697</c:v>
                </c:pt>
                <c:pt idx="8">
                  <c:v>0.52540013917884498</c:v>
                </c:pt>
                <c:pt idx="9">
                  <c:v>0.350217076700434</c:v>
                </c:pt>
                <c:pt idx="10">
                  <c:v>0.33187534171678501</c:v>
                </c:pt>
                <c:pt idx="11">
                  <c:v>0</c:v>
                </c:pt>
                <c:pt idx="12">
                  <c:v>0.63846153846153797</c:v>
                </c:pt>
                <c:pt idx="13">
                  <c:v>0.31054131054131001</c:v>
                </c:pt>
                <c:pt idx="14">
                  <c:v>0.78190830235439901</c:v>
                </c:pt>
                <c:pt idx="15">
                  <c:v>1.3588588588588599</c:v>
                </c:pt>
                <c:pt idx="16">
                  <c:v>1.8784227820372399</c:v>
                </c:pt>
                <c:pt idx="17">
                  <c:v>1.1593554162936439</c:v>
                </c:pt>
                <c:pt idx="18">
                  <c:v>1.502777777777778</c:v>
                </c:pt>
                <c:pt idx="19">
                  <c:v>0.816239316239316</c:v>
                </c:pt>
                <c:pt idx="20">
                  <c:v>0.63846153846153797</c:v>
                </c:pt>
                <c:pt idx="21">
                  <c:v>0.38103448275862101</c:v>
                </c:pt>
              </c:numCache>
            </c:numRef>
          </c:yVal>
          <c:smooth val="0"/>
          <c:extLst>
            <c:ext xmlns:c16="http://schemas.microsoft.com/office/drawing/2014/chart" uri="{C3380CC4-5D6E-409C-BE32-E72D297353CC}">
              <c16:uniqueId val="{00000006-5582-DA4F-B126-7C614DE508E5}"/>
            </c:ext>
          </c:extLst>
        </c:ser>
        <c:dLbls>
          <c:showLegendKey val="0"/>
          <c:showVal val="0"/>
          <c:showCatName val="0"/>
          <c:showSerName val="0"/>
          <c:showPercent val="0"/>
          <c:showBubbleSize val="0"/>
        </c:dLbls>
        <c:axId val="-858846224"/>
        <c:axId val="-858848544"/>
      </c:scatterChart>
      <c:catAx>
        <c:axId val="-859786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57274016"/>
        <c:crosses val="autoZero"/>
        <c:auto val="1"/>
        <c:lblAlgn val="ctr"/>
        <c:lblOffset val="100"/>
        <c:noMultiLvlLbl val="0"/>
      </c:catAx>
      <c:valAx>
        <c:axId val="-8572740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59786656"/>
        <c:crosses val="autoZero"/>
        <c:crossBetween val="between"/>
      </c:valAx>
      <c:valAx>
        <c:axId val="-85884854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58846224"/>
        <c:crosses val="max"/>
        <c:crossBetween val="midCat"/>
      </c:valAx>
      <c:valAx>
        <c:axId val="-858846224"/>
        <c:scaling>
          <c:orientation val="minMax"/>
        </c:scaling>
        <c:delete val="1"/>
        <c:axPos val="t"/>
        <c:majorTickMark val="out"/>
        <c:minorTickMark val="none"/>
        <c:tickLblPos val="nextTo"/>
        <c:crossAx val="-858848544"/>
        <c:crosses val="max"/>
        <c:crossBetween val="midCat"/>
      </c:valAx>
      <c:spPr>
        <a:noFill/>
        <a:ln>
          <a:noFill/>
        </a:ln>
        <a:effectLst/>
      </c:spPr>
    </c:plotArea>
    <c:legend>
      <c:legendPos val="b"/>
      <c:legendEntry>
        <c:idx val="0"/>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Entry>
      <c:legendEntry>
        <c:idx val="1"/>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Entry>
      <c:legendEntry>
        <c:idx val="2"/>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Entry>
      <c:layout>
        <c:manualLayout>
          <c:xMode val="edge"/>
          <c:yMode val="edge"/>
          <c:x val="6.5715988626421695E-2"/>
          <c:y val="4.5917130152004798E-2"/>
          <c:w val="0.52412344160104996"/>
          <c:h val="8.742718976494240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noFill/>
    <a:ln>
      <a:noFill/>
    </a:ln>
    <a:effectLst/>
  </c:spPr>
  <c:txPr>
    <a:bodyPr/>
    <a:lstStyle/>
    <a:p>
      <a:pPr>
        <a:defRPr>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'Pivots and Graphs'!$A$3261</c:f>
              <c:strCache>
                <c:ptCount val="1"/>
                <c:pt idx="0">
                  <c:v>M HTS_TST_NEG</c:v>
                </c:pt>
              </c:strCache>
            </c:strRef>
          </c:tx>
          <c:spPr>
            <a:solidFill>
              <a:srgbClr val="7F7F7F"/>
            </a:solidFill>
            <a:ln>
              <a:noFill/>
            </a:ln>
            <a:effectLst/>
          </c:spPr>
          <c:invertIfNegative val="0"/>
          <c:cat>
            <c:multiLvlStrRef>
              <c:f>'Pivots and Graphs'!$B$3259:$S$3260</c:f>
              <c:multiLvlStrCache>
                <c:ptCount val="18"/>
                <c:lvl>
                  <c:pt idx="0">
                    <c:v>10-14</c:v>
                  </c:pt>
                  <c:pt idx="1">
                    <c:v>15-19</c:v>
                  </c:pt>
                  <c:pt idx="2">
                    <c:v>20-24</c:v>
                  </c:pt>
                  <c:pt idx="3">
                    <c:v>25-29</c:v>
                  </c:pt>
                  <c:pt idx="4">
                    <c:v>30-34</c:v>
                  </c:pt>
                  <c:pt idx="5">
                    <c:v>35-39</c:v>
                  </c:pt>
                  <c:pt idx="6">
                    <c:v>40-44</c:v>
                  </c:pt>
                  <c:pt idx="7">
                    <c:v>45-49</c:v>
                  </c:pt>
                  <c:pt idx="8">
                    <c:v>50+</c:v>
                  </c:pt>
                  <c:pt idx="9">
                    <c:v>10-14</c:v>
                  </c:pt>
                  <c:pt idx="10">
                    <c:v>15-19</c:v>
                  </c:pt>
                  <c:pt idx="11">
                    <c:v>20-24</c:v>
                  </c:pt>
                  <c:pt idx="12">
                    <c:v>25-29</c:v>
                  </c:pt>
                  <c:pt idx="13">
                    <c:v>30-34</c:v>
                  </c:pt>
                  <c:pt idx="14">
                    <c:v>35-39</c:v>
                  </c:pt>
                  <c:pt idx="15">
                    <c:v>40-44</c:v>
                  </c:pt>
                  <c:pt idx="16">
                    <c:v>45-49</c:v>
                  </c:pt>
                  <c:pt idx="17">
                    <c:v>50+</c:v>
                  </c:pt>
                </c:lvl>
                <c:lvl>
                  <c:pt idx="0">
                    <c:v>Male</c:v>
                  </c:pt>
                  <c:pt idx="9">
                    <c:v>Female</c:v>
                  </c:pt>
                </c:lvl>
              </c:multiLvlStrCache>
            </c:multiLvlStrRef>
          </c:cat>
          <c:val>
            <c:numRef>
              <c:f>'Pivots and Graphs'!$B$3261:$S$3261</c:f>
              <c:numCache>
                <c:formatCode>General</c:formatCode>
                <c:ptCount val="18"/>
                <c:pt idx="0">
                  <c:v>4287</c:v>
                </c:pt>
                <c:pt idx="1">
                  <c:v>16650</c:v>
                </c:pt>
                <c:pt idx="2">
                  <c:v>40463</c:v>
                </c:pt>
                <c:pt idx="3">
                  <c:v>31630</c:v>
                </c:pt>
                <c:pt idx="4">
                  <c:v>21864</c:v>
                </c:pt>
                <c:pt idx="5">
                  <c:v>17431</c:v>
                </c:pt>
                <c:pt idx="6">
                  <c:v>11907</c:v>
                </c:pt>
                <c:pt idx="7">
                  <c:v>8047</c:v>
                </c:pt>
                <c:pt idx="8">
                  <c:v>14680</c:v>
                </c:pt>
              </c:numCache>
            </c:numRef>
          </c:val>
          <c:extLst>
            <c:ext xmlns:c16="http://schemas.microsoft.com/office/drawing/2014/chart" uri="{C3380CC4-5D6E-409C-BE32-E72D297353CC}">
              <c16:uniqueId val="{00000000-EBF5-7D40-A67C-47F615FBBB9F}"/>
            </c:ext>
          </c:extLst>
        </c:ser>
        <c:ser>
          <c:idx val="1"/>
          <c:order val="1"/>
          <c:tx>
            <c:strRef>
              <c:f>'Pivots and Graphs'!$A$3262</c:f>
              <c:strCache>
                <c:ptCount val="1"/>
                <c:pt idx="0">
                  <c:v>M HTS_TST_POS</c:v>
                </c:pt>
              </c:strCache>
            </c:strRef>
          </c:tx>
          <c:spPr>
            <a:solidFill>
              <a:srgbClr val="E0001B"/>
            </a:solidFill>
            <a:ln>
              <a:noFill/>
            </a:ln>
            <a:effectLst/>
          </c:spPr>
          <c:invertIfNegative val="0"/>
          <c:cat>
            <c:multiLvlStrRef>
              <c:f>'Pivots and Graphs'!$B$3259:$S$3260</c:f>
              <c:multiLvlStrCache>
                <c:ptCount val="18"/>
                <c:lvl>
                  <c:pt idx="0">
                    <c:v>10-14</c:v>
                  </c:pt>
                  <c:pt idx="1">
                    <c:v>15-19</c:v>
                  </c:pt>
                  <c:pt idx="2">
                    <c:v>20-24</c:v>
                  </c:pt>
                  <c:pt idx="3">
                    <c:v>25-29</c:v>
                  </c:pt>
                  <c:pt idx="4">
                    <c:v>30-34</c:v>
                  </c:pt>
                  <c:pt idx="5">
                    <c:v>35-39</c:v>
                  </c:pt>
                  <c:pt idx="6">
                    <c:v>40-44</c:v>
                  </c:pt>
                  <c:pt idx="7">
                    <c:v>45-49</c:v>
                  </c:pt>
                  <c:pt idx="8">
                    <c:v>50+</c:v>
                  </c:pt>
                  <c:pt idx="9">
                    <c:v>10-14</c:v>
                  </c:pt>
                  <c:pt idx="10">
                    <c:v>15-19</c:v>
                  </c:pt>
                  <c:pt idx="11">
                    <c:v>20-24</c:v>
                  </c:pt>
                  <c:pt idx="12">
                    <c:v>25-29</c:v>
                  </c:pt>
                  <c:pt idx="13">
                    <c:v>30-34</c:v>
                  </c:pt>
                  <c:pt idx="14">
                    <c:v>35-39</c:v>
                  </c:pt>
                  <c:pt idx="15">
                    <c:v>40-44</c:v>
                  </c:pt>
                  <c:pt idx="16">
                    <c:v>45-49</c:v>
                  </c:pt>
                  <c:pt idx="17">
                    <c:v>50+</c:v>
                  </c:pt>
                </c:lvl>
                <c:lvl>
                  <c:pt idx="0">
                    <c:v>Male</c:v>
                  </c:pt>
                  <c:pt idx="9">
                    <c:v>Female</c:v>
                  </c:pt>
                </c:lvl>
              </c:multiLvlStrCache>
            </c:multiLvlStrRef>
          </c:cat>
          <c:val>
            <c:numRef>
              <c:f>'Pivots and Graphs'!$B$3262:$S$3262</c:f>
              <c:numCache>
                <c:formatCode>General</c:formatCode>
                <c:ptCount val="18"/>
                <c:pt idx="0">
                  <c:v>80</c:v>
                </c:pt>
                <c:pt idx="1">
                  <c:v>92</c:v>
                </c:pt>
                <c:pt idx="2">
                  <c:v>470</c:v>
                </c:pt>
                <c:pt idx="3">
                  <c:v>738</c:v>
                </c:pt>
                <c:pt idx="4">
                  <c:v>898</c:v>
                </c:pt>
                <c:pt idx="5">
                  <c:v>1020</c:v>
                </c:pt>
                <c:pt idx="6">
                  <c:v>820</c:v>
                </c:pt>
                <c:pt idx="7">
                  <c:v>531</c:v>
                </c:pt>
                <c:pt idx="8">
                  <c:v>658</c:v>
                </c:pt>
              </c:numCache>
            </c:numRef>
          </c:val>
          <c:extLst>
            <c:ext xmlns:c16="http://schemas.microsoft.com/office/drawing/2014/chart" uri="{C3380CC4-5D6E-409C-BE32-E72D297353CC}">
              <c16:uniqueId val="{00000001-EBF5-7D40-A67C-47F615FBBB9F}"/>
            </c:ext>
          </c:extLst>
        </c:ser>
        <c:ser>
          <c:idx val="3"/>
          <c:order val="3"/>
          <c:tx>
            <c:strRef>
              <c:f>'Pivots and Graphs'!$A$3264</c:f>
              <c:strCache>
                <c:ptCount val="1"/>
                <c:pt idx="0">
                  <c:v>F HTS_TST_NEG</c:v>
                </c:pt>
              </c:strCache>
            </c:strRef>
          </c:tx>
          <c:spPr>
            <a:solidFill>
              <a:srgbClr val="8CCDCD"/>
            </a:solidFill>
            <a:ln>
              <a:noFill/>
            </a:ln>
            <a:effectLst/>
          </c:spPr>
          <c:invertIfNegative val="0"/>
          <c:cat>
            <c:multiLvlStrRef>
              <c:f>'Pivots and Graphs'!$B$3259:$S$3260</c:f>
              <c:multiLvlStrCache>
                <c:ptCount val="18"/>
                <c:lvl>
                  <c:pt idx="0">
                    <c:v>10-14</c:v>
                  </c:pt>
                  <c:pt idx="1">
                    <c:v>15-19</c:v>
                  </c:pt>
                  <c:pt idx="2">
                    <c:v>20-24</c:v>
                  </c:pt>
                  <c:pt idx="3">
                    <c:v>25-29</c:v>
                  </c:pt>
                  <c:pt idx="4">
                    <c:v>30-34</c:v>
                  </c:pt>
                  <c:pt idx="5">
                    <c:v>35-39</c:v>
                  </c:pt>
                  <c:pt idx="6">
                    <c:v>40-44</c:v>
                  </c:pt>
                  <c:pt idx="7">
                    <c:v>45-49</c:v>
                  </c:pt>
                  <c:pt idx="8">
                    <c:v>50+</c:v>
                  </c:pt>
                  <c:pt idx="9">
                    <c:v>10-14</c:v>
                  </c:pt>
                  <c:pt idx="10">
                    <c:v>15-19</c:v>
                  </c:pt>
                  <c:pt idx="11">
                    <c:v>20-24</c:v>
                  </c:pt>
                  <c:pt idx="12">
                    <c:v>25-29</c:v>
                  </c:pt>
                  <c:pt idx="13">
                    <c:v>30-34</c:v>
                  </c:pt>
                  <c:pt idx="14">
                    <c:v>35-39</c:v>
                  </c:pt>
                  <c:pt idx="15">
                    <c:v>40-44</c:v>
                  </c:pt>
                  <c:pt idx="16">
                    <c:v>45-49</c:v>
                  </c:pt>
                  <c:pt idx="17">
                    <c:v>50+</c:v>
                  </c:pt>
                </c:lvl>
                <c:lvl>
                  <c:pt idx="0">
                    <c:v>Male</c:v>
                  </c:pt>
                  <c:pt idx="9">
                    <c:v>Female</c:v>
                  </c:pt>
                </c:lvl>
              </c:multiLvlStrCache>
            </c:multiLvlStrRef>
          </c:cat>
          <c:val>
            <c:numRef>
              <c:f>'Pivots and Graphs'!$B$3264:$S$3264</c:f>
              <c:numCache>
                <c:formatCode>General</c:formatCode>
                <c:ptCount val="18"/>
                <c:pt idx="9">
                  <c:v>7697</c:v>
                </c:pt>
                <c:pt idx="10">
                  <c:v>82401</c:v>
                </c:pt>
                <c:pt idx="11">
                  <c:v>121189</c:v>
                </c:pt>
                <c:pt idx="12">
                  <c:v>80235</c:v>
                </c:pt>
                <c:pt idx="13">
                  <c:v>51114</c:v>
                </c:pt>
                <c:pt idx="14">
                  <c:v>36552</c:v>
                </c:pt>
                <c:pt idx="15">
                  <c:v>16388</c:v>
                </c:pt>
                <c:pt idx="16">
                  <c:v>9045</c:v>
                </c:pt>
                <c:pt idx="17">
                  <c:v>14954</c:v>
                </c:pt>
              </c:numCache>
            </c:numRef>
          </c:val>
          <c:extLst>
            <c:ext xmlns:c16="http://schemas.microsoft.com/office/drawing/2014/chart" uri="{C3380CC4-5D6E-409C-BE32-E72D297353CC}">
              <c16:uniqueId val="{00000002-EBF5-7D40-A67C-47F615FBBB9F}"/>
            </c:ext>
          </c:extLst>
        </c:ser>
        <c:ser>
          <c:idx val="4"/>
          <c:order val="4"/>
          <c:tx>
            <c:strRef>
              <c:f>'Pivots and Graphs'!$A$3265</c:f>
              <c:strCache>
                <c:ptCount val="1"/>
                <c:pt idx="0">
                  <c:v>F HTS_TST_POS</c:v>
                </c:pt>
              </c:strCache>
            </c:strRef>
          </c:tx>
          <c:spPr>
            <a:solidFill>
              <a:srgbClr val="472482"/>
            </a:solidFill>
            <a:ln>
              <a:noFill/>
            </a:ln>
            <a:effectLst/>
          </c:spPr>
          <c:invertIfNegative val="0"/>
          <c:cat>
            <c:multiLvlStrRef>
              <c:f>'Pivots and Graphs'!$B$3259:$S$3260</c:f>
              <c:multiLvlStrCache>
                <c:ptCount val="18"/>
                <c:lvl>
                  <c:pt idx="0">
                    <c:v>10-14</c:v>
                  </c:pt>
                  <c:pt idx="1">
                    <c:v>15-19</c:v>
                  </c:pt>
                  <c:pt idx="2">
                    <c:v>20-24</c:v>
                  </c:pt>
                  <c:pt idx="3">
                    <c:v>25-29</c:v>
                  </c:pt>
                  <c:pt idx="4">
                    <c:v>30-34</c:v>
                  </c:pt>
                  <c:pt idx="5">
                    <c:v>35-39</c:v>
                  </c:pt>
                  <c:pt idx="6">
                    <c:v>40-44</c:v>
                  </c:pt>
                  <c:pt idx="7">
                    <c:v>45-49</c:v>
                  </c:pt>
                  <c:pt idx="8">
                    <c:v>50+</c:v>
                  </c:pt>
                  <c:pt idx="9">
                    <c:v>10-14</c:v>
                  </c:pt>
                  <c:pt idx="10">
                    <c:v>15-19</c:v>
                  </c:pt>
                  <c:pt idx="11">
                    <c:v>20-24</c:v>
                  </c:pt>
                  <c:pt idx="12">
                    <c:v>25-29</c:v>
                  </c:pt>
                  <c:pt idx="13">
                    <c:v>30-34</c:v>
                  </c:pt>
                  <c:pt idx="14">
                    <c:v>35-39</c:v>
                  </c:pt>
                  <c:pt idx="15">
                    <c:v>40-44</c:v>
                  </c:pt>
                  <c:pt idx="16">
                    <c:v>45-49</c:v>
                  </c:pt>
                  <c:pt idx="17">
                    <c:v>50+</c:v>
                  </c:pt>
                </c:lvl>
                <c:lvl>
                  <c:pt idx="0">
                    <c:v>Male</c:v>
                  </c:pt>
                  <c:pt idx="9">
                    <c:v>Female</c:v>
                  </c:pt>
                </c:lvl>
              </c:multiLvlStrCache>
            </c:multiLvlStrRef>
          </c:cat>
          <c:val>
            <c:numRef>
              <c:f>'Pivots and Graphs'!$B$3265:$S$3265</c:f>
              <c:numCache>
                <c:formatCode>General</c:formatCode>
                <c:ptCount val="18"/>
                <c:pt idx="9">
                  <c:v>119</c:v>
                </c:pt>
                <c:pt idx="10">
                  <c:v>669</c:v>
                </c:pt>
                <c:pt idx="11">
                  <c:v>1977</c:v>
                </c:pt>
                <c:pt idx="12">
                  <c:v>1866</c:v>
                </c:pt>
                <c:pt idx="13">
                  <c:v>1409</c:v>
                </c:pt>
                <c:pt idx="14">
                  <c:v>1166</c:v>
                </c:pt>
                <c:pt idx="15">
                  <c:v>630</c:v>
                </c:pt>
                <c:pt idx="16">
                  <c:v>363</c:v>
                </c:pt>
                <c:pt idx="17">
                  <c:v>479</c:v>
                </c:pt>
              </c:numCache>
            </c:numRef>
          </c:val>
          <c:extLst>
            <c:ext xmlns:c16="http://schemas.microsoft.com/office/drawing/2014/chart" uri="{C3380CC4-5D6E-409C-BE32-E72D297353CC}">
              <c16:uniqueId val="{00000003-EBF5-7D40-A67C-47F615FBBB9F}"/>
            </c:ext>
          </c:extLst>
        </c:ser>
        <c:dLbls>
          <c:showLegendKey val="0"/>
          <c:showVal val="0"/>
          <c:showCatName val="0"/>
          <c:showSerName val="0"/>
          <c:showPercent val="0"/>
          <c:showBubbleSize val="0"/>
        </c:dLbls>
        <c:gapWidth val="29"/>
        <c:overlap val="100"/>
        <c:axId val="-843100272"/>
        <c:axId val="-845618592"/>
      </c:barChart>
      <c:scatterChart>
        <c:scatterStyle val="lineMarker"/>
        <c:varyColors val="0"/>
        <c:ser>
          <c:idx val="2"/>
          <c:order val="2"/>
          <c:tx>
            <c:strRef>
              <c:f>'Pivots and Graphs'!$A$3263</c:f>
              <c:strCache>
                <c:ptCount val="1"/>
                <c:pt idx="0">
                  <c:v>Yield</c:v>
                </c:pt>
              </c:strCache>
            </c:strRef>
          </c:tx>
          <c:spPr>
            <a:ln w="25400" cap="rnd">
              <a:noFill/>
              <a:round/>
            </a:ln>
            <a:effectLst/>
          </c:spPr>
          <c:marker>
            <c:symbol val="circle"/>
            <c:size val="7"/>
            <c:spPr>
              <a:solidFill>
                <a:schemeClr val="bg1">
                  <a:lumMod val="50000"/>
                </a:schemeClr>
              </a:solidFill>
              <a:ln w="19050">
                <a:solidFill>
                  <a:schemeClr val="bg1">
                    <a:lumMod val="65000"/>
                  </a:schemeClr>
                </a:solidFill>
              </a:ln>
              <a:effectLst/>
            </c:spPr>
          </c:marker>
          <c:dLbls>
            <c:spPr>
              <a:solidFill>
                <a:sysClr val="window" lastClr="FFFFFF">
                  <a:lumMod val="95000"/>
                </a:sysClr>
              </a:solid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multiLvlStrRef>
              <c:f>'Pivots and Graphs'!$B$3259:$S$3260</c:f>
              <c:multiLvlStrCache>
                <c:ptCount val="18"/>
                <c:lvl>
                  <c:pt idx="0">
                    <c:v>10-14</c:v>
                  </c:pt>
                  <c:pt idx="1">
                    <c:v>15-19</c:v>
                  </c:pt>
                  <c:pt idx="2">
                    <c:v>20-24</c:v>
                  </c:pt>
                  <c:pt idx="3">
                    <c:v>25-29</c:v>
                  </c:pt>
                  <c:pt idx="4">
                    <c:v>30-34</c:v>
                  </c:pt>
                  <c:pt idx="5">
                    <c:v>35-39</c:v>
                  </c:pt>
                  <c:pt idx="6">
                    <c:v>40-44</c:v>
                  </c:pt>
                  <c:pt idx="7">
                    <c:v>45-49</c:v>
                  </c:pt>
                  <c:pt idx="8">
                    <c:v>50+</c:v>
                  </c:pt>
                  <c:pt idx="9">
                    <c:v>10-14</c:v>
                  </c:pt>
                  <c:pt idx="10">
                    <c:v>15-19</c:v>
                  </c:pt>
                  <c:pt idx="11">
                    <c:v>20-24</c:v>
                  </c:pt>
                  <c:pt idx="12">
                    <c:v>25-29</c:v>
                  </c:pt>
                  <c:pt idx="13">
                    <c:v>30-34</c:v>
                  </c:pt>
                  <c:pt idx="14">
                    <c:v>35-39</c:v>
                  </c:pt>
                  <c:pt idx="15">
                    <c:v>40-44</c:v>
                  </c:pt>
                  <c:pt idx="16">
                    <c:v>45-49</c:v>
                  </c:pt>
                  <c:pt idx="17">
                    <c:v>50+</c:v>
                  </c:pt>
                </c:lvl>
                <c:lvl>
                  <c:pt idx="0">
                    <c:v>Male</c:v>
                  </c:pt>
                  <c:pt idx="9">
                    <c:v>Female</c:v>
                  </c:pt>
                </c:lvl>
              </c:multiLvlStrCache>
            </c:multiLvlStrRef>
          </c:xVal>
          <c:yVal>
            <c:numRef>
              <c:f>'Pivots and Graphs'!$B$3263:$S$3263</c:f>
              <c:numCache>
                <c:formatCode>0.0%</c:formatCode>
                <c:ptCount val="18"/>
                <c:pt idx="0">
                  <c:v>1.8319212273872201E-2</c:v>
                </c:pt>
                <c:pt idx="1">
                  <c:v>5.4951618683550399E-3</c:v>
                </c:pt>
                <c:pt idx="2">
                  <c:v>1.1482178193633501E-2</c:v>
                </c:pt>
                <c:pt idx="3">
                  <c:v>2.28002965892239E-2</c:v>
                </c:pt>
                <c:pt idx="4">
                  <c:v>3.9451717775239398E-2</c:v>
                </c:pt>
                <c:pt idx="5">
                  <c:v>5.5281556555200298E-2</c:v>
                </c:pt>
                <c:pt idx="6">
                  <c:v>6.4429952070401503E-2</c:v>
                </c:pt>
                <c:pt idx="7">
                  <c:v>6.1902541384938198E-2</c:v>
                </c:pt>
                <c:pt idx="8">
                  <c:v>4.2899986960490299E-2</c:v>
                </c:pt>
                <c:pt idx="9">
                  <c:v>1.5225179119754399E-2</c:v>
                </c:pt>
                <c:pt idx="10">
                  <c:v>8.0534488985193192E-3</c:v>
                </c:pt>
                <c:pt idx="11">
                  <c:v>1.60515077212867E-2</c:v>
                </c:pt>
                <c:pt idx="12">
                  <c:v>2.27281031899733E-2</c:v>
                </c:pt>
                <c:pt idx="13">
                  <c:v>2.6826342745083099E-2</c:v>
                </c:pt>
                <c:pt idx="14">
                  <c:v>3.0913622143273801E-2</c:v>
                </c:pt>
                <c:pt idx="15">
                  <c:v>3.70196262780585E-2</c:v>
                </c:pt>
                <c:pt idx="16">
                  <c:v>3.8584183673469399E-2</c:v>
                </c:pt>
                <c:pt idx="17">
                  <c:v>3.1037387416574899E-2</c:v>
                </c:pt>
              </c:numCache>
            </c:numRef>
          </c:yVal>
          <c:smooth val="0"/>
          <c:extLst>
            <c:ext xmlns:c16="http://schemas.microsoft.com/office/drawing/2014/chart" uri="{C3380CC4-5D6E-409C-BE32-E72D297353CC}">
              <c16:uniqueId val="{00000004-EBF5-7D40-A67C-47F615FBBB9F}"/>
            </c:ext>
          </c:extLst>
        </c:ser>
        <c:dLbls>
          <c:showLegendKey val="0"/>
          <c:showVal val="0"/>
          <c:showCatName val="0"/>
          <c:showSerName val="0"/>
          <c:showPercent val="0"/>
          <c:showBubbleSize val="0"/>
        </c:dLbls>
        <c:axId val="-845613952"/>
        <c:axId val="-845616272"/>
      </c:scatterChart>
      <c:catAx>
        <c:axId val="-843100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45618592"/>
        <c:crosses val="autoZero"/>
        <c:auto val="1"/>
        <c:lblAlgn val="ctr"/>
        <c:lblOffset val="100"/>
        <c:noMultiLvlLbl val="0"/>
      </c:catAx>
      <c:valAx>
        <c:axId val="-84561859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43100272"/>
        <c:crosses val="autoZero"/>
        <c:crossBetween val="between"/>
        <c:majorUnit val="30000"/>
        <c:minorUnit val="5000"/>
      </c:valAx>
      <c:valAx>
        <c:axId val="-845616272"/>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845613952"/>
        <c:crosses val="max"/>
        <c:crossBetween val="midCat"/>
      </c:valAx>
      <c:valAx>
        <c:axId val="-845613952"/>
        <c:scaling>
          <c:orientation val="minMax"/>
        </c:scaling>
        <c:delete val="1"/>
        <c:axPos val="t"/>
        <c:majorTickMark val="out"/>
        <c:minorTickMark val="none"/>
        <c:tickLblPos val="nextTo"/>
        <c:crossAx val="-845616272"/>
        <c:crosses val="max"/>
        <c:crossBetween val="midCat"/>
      </c:valAx>
      <c:spPr>
        <a:noFill/>
        <a:ln>
          <a:noFill/>
        </a:ln>
        <a:effectLst/>
      </c:spPr>
    </c:plotArea>
    <c:legend>
      <c:legendPos val="b"/>
      <c:layout>
        <c:manualLayout>
          <c:xMode val="edge"/>
          <c:yMode val="edge"/>
          <c:x val="0"/>
          <c:y val="0.94518403448644095"/>
          <c:w val="1"/>
          <c:h val="5.481601511289890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solidFill>
      <a:schemeClr val="bg1"/>
    </a:solidFill>
    <a:ln w="9525" cap="flat" cmpd="sng" algn="ctr">
      <a:noFill/>
      <a:round/>
    </a:ln>
    <a:effectLst/>
  </c:spPr>
  <c:txPr>
    <a:bodyPr/>
    <a:lstStyle/>
    <a:p>
      <a:pPr>
        <a:defRPr>
          <a:latin typeface="Verdana" panose="020B0604030504040204" pitchFamily="34" charset="0"/>
          <a:ea typeface="Verdana" panose="020B0604030504040204" pitchFamily="34" charset="0"/>
          <a:cs typeface="Verdana" panose="020B0604030504040204" pitchFamily="34"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F6AAA520-F2F5-4EDD-89FF-112F506DBD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Verdana" panose="020B0604030504040204" pitchFamily="34" charset="0"/>
            </a:endParaRPr>
          </a:p>
        </p:txBody>
      </p:sp>
      <p:sp>
        <p:nvSpPr>
          <p:cNvPr id="3" name="Datumsplatzhalter 2">
            <a:extLst>
              <a:ext uri="{FF2B5EF4-FFF2-40B4-BE49-F238E27FC236}">
                <a16:creationId xmlns:a16="http://schemas.microsoft.com/office/drawing/2014/main" id="{16D02F3C-8EFD-4B07-80ED-B2429D54C3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BD4C-6D77-4375-88B2-8F24E3740D1D}" type="datetimeFigureOut">
              <a:rPr lang="de-DE" smtClean="0">
                <a:latin typeface="Verdana" panose="020B0604030504040204" pitchFamily="34" charset="0"/>
              </a:rPr>
              <a:t>06.02.26</a:t>
            </a:fld>
            <a:endParaRPr lang="de-DE" dirty="0">
              <a:latin typeface="Verdana" panose="020B0604030504040204" pitchFamily="34" charset="0"/>
            </a:endParaRPr>
          </a:p>
        </p:txBody>
      </p:sp>
      <p:sp>
        <p:nvSpPr>
          <p:cNvPr id="4" name="Fußzeilenplatzhalter 3">
            <a:extLst>
              <a:ext uri="{FF2B5EF4-FFF2-40B4-BE49-F238E27FC236}">
                <a16:creationId xmlns:a16="http://schemas.microsoft.com/office/drawing/2014/main" id="{D51B987F-84C1-40E0-A9D7-A8F4901E46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Verdana" panose="020B0604030504040204" pitchFamily="34" charset="0"/>
            </a:endParaRPr>
          </a:p>
        </p:txBody>
      </p:sp>
      <p:sp>
        <p:nvSpPr>
          <p:cNvPr id="5" name="Foliennummernplatzhalter 4">
            <a:extLst>
              <a:ext uri="{FF2B5EF4-FFF2-40B4-BE49-F238E27FC236}">
                <a16:creationId xmlns:a16="http://schemas.microsoft.com/office/drawing/2014/main" id="{05432F72-438D-4B28-B0F3-2E4B8F6078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FC5FE3-128E-4546-A5A8-7038C4C3160C}" type="slidenum">
              <a:rPr lang="de-DE" smtClean="0">
                <a:latin typeface="Verdana" panose="020B0604030504040204" pitchFamily="34" charset="0"/>
              </a:rPr>
              <a:t>‹#›</a:t>
            </a:fld>
            <a:endParaRPr lang="de-DE" dirty="0">
              <a:latin typeface="Verdana" panose="020B0604030504040204" pitchFamily="34" charset="0"/>
            </a:endParaRPr>
          </a:p>
        </p:txBody>
      </p:sp>
    </p:spTree>
    <p:extLst>
      <p:ext uri="{BB962C8B-B14F-4D97-AF65-F5344CB8AC3E}">
        <p14:creationId xmlns:p14="http://schemas.microsoft.com/office/powerpoint/2010/main" val="1338465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Verdana" panose="020B060403050404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Verdana" panose="020B0604030504040204" pitchFamily="34" charset="0"/>
              </a:defRPr>
            </a:lvl1pPr>
          </a:lstStyle>
          <a:p>
            <a:fld id="{59AF585C-AB1D-41F5-8A22-EE236ED1EB54}" type="datetimeFigureOut">
              <a:rPr lang="de-DE" smtClean="0"/>
              <a:pPr/>
              <a:t>06.02.26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Verdana" panose="020B060403050404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Verdana" panose="020B0604030504040204" pitchFamily="34" charset="0"/>
              </a:defRPr>
            </a:lvl1pPr>
          </a:lstStyle>
          <a:p>
            <a:fld id="{F6DADB82-A706-4784-AE8E-3965AD040C7C}" type="slidenum">
              <a:rPr lang="de-DE" smtClean="0"/>
              <a:pPr/>
              <a:t>‹#›</a:t>
            </a:fld>
            <a:endParaRPr lang="de-DE" dirty="0"/>
          </a:p>
        </p:txBody>
      </p:sp>
    </p:spTree>
    <p:extLst>
      <p:ext uri="{BB962C8B-B14F-4D97-AF65-F5344CB8AC3E}">
        <p14:creationId xmlns:p14="http://schemas.microsoft.com/office/powerpoint/2010/main" val="86053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DADB82-A706-4784-AE8E-3965AD040C7C}" type="slidenum">
              <a:rPr lang="de-DE" smtClean="0"/>
              <a:pPr/>
              <a:t>3</a:t>
            </a:fld>
            <a:endParaRPr lang="de-DE" dirty="0"/>
          </a:p>
        </p:txBody>
      </p:sp>
    </p:spTree>
    <p:extLst>
      <p:ext uri="{BB962C8B-B14F-4D97-AF65-F5344CB8AC3E}">
        <p14:creationId xmlns:p14="http://schemas.microsoft.com/office/powerpoint/2010/main" val="1941132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DADB82-A706-4784-AE8E-3965AD040C7C}" type="slidenum">
              <a:rPr lang="de-DE" smtClean="0"/>
              <a:pPr/>
              <a:t>5</a:t>
            </a:fld>
            <a:endParaRPr lang="de-DE" dirty="0"/>
          </a:p>
        </p:txBody>
      </p:sp>
    </p:spTree>
    <p:extLst>
      <p:ext uri="{BB962C8B-B14F-4D97-AF65-F5344CB8AC3E}">
        <p14:creationId xmlns:p14="http://schemas.microsoft.com/office/powerpoint/2010/main" val="3344608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2AFC8-67E5-4BC8-26B0-D83CEB7EB9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26B7-EBF7-FD1A-6B38-B43D678AA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91AFB-211F-CC39-346A-8FEB0376A97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B3764A-44E2-1A06-A279-A6AF1085FE16}"/>
              </a:ext>
            </a:extLst>
          </p:cNvPr>
          <p:cNvSpPr>
            <a:spLocks noGrp="1"/>
          </p:cNvSpPr>
          <p:nvPr>
            <p:ph type="sldNum" sz="quarter" idx="5"/>
          </p:nvPr>
        </p:nvSpPr>
        <p:spPr/>
        <p:txBody>
          <a:bodyPr/>
          <a:lstStyle/>
          <a:p>
            <a:fld id="{F6DADB82-A706-4784-AE8E-3965AD040C7C}" type="slidenum">
              <a:rPr lang="de-DE" smtClean="0"/>
              <a:pPr/>
              <a:t>6</a:t>
            </a:fld>
            <a:endParaRPr lang="de-DE" dirty="0"/>
          </a:p>
        </p:txBody>
      </p:sp>
    </p:spTree>
    <p:extLst>
      <p:ext uri="{BB962C8B-B14F-4D97-AF65-F5344CB8AC3E}">
        <p14:creationId xmlns:p14="http://schemas.microsoft.com/office/powerpoint/2010/main" val="1577813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0" i="0" kern="1200" dirty="0">
                <a:solidFill>
                  <a:schemeClr val="tx1"/>
                </a:solidFill>
                <a:effectLst/>
                <a:latin typeface="Verdana" panose="020B0604030504040204" pitchFamily="34" charset="0"/>
                <a:ea typeface="+mn-ea"/>
                <a:cs typeface="+mn-cs"/>
              </a:rPr>
              <a:t>The model estimates that over the 2010–2015 period, the HIV testing modalities that accounted for the greatest numbers of HIV tests were: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general HIV testing (63.0%),</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testing in STI clinics (11.4%),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testing of OI patients (9.8%) and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antenatal testing (7.3%), </a:t>
            </a:r>
            <a:endParaRPr lang="en-ZA" sz="1800" b="0" i="0" kern="1200" dirty="0">
              <a:solidFill>
                <a:schemeClr val="tx1"/>
              </a:solidFill>
              <a:effectLst/>
              <a:latin typeface="Verdana" panose="020B0604030504040204" pitchFamily="34" charset="0"/>
              <a:ea typeface="+mn-ea"/>
              <a:cs typeface="+mn-cs"/>
            </a:endParaRPr>
          </a:p>
          <a:p>
            <a:pPr lvl="0"/>
            <a:r>
              <a:rPr lang="en-GB" sz="1200" b="0" i="0" kern="1200" dirty="0">
                <a:solidFill>
                  <a:schemeClr val="tx1"/>
                </a:solidFill>
                <a:effectLst/>
                <a:latin typeface="Verdana" panose="020B0604030504040204" pitchFamily="34" charset="0"/>
                <a:ea typeface="+mn-ea"/>
                <a:cs typeface="+mn-cs"/>
              </a:rPr>
              <a:t>while the testing modalities that accounted for the greatest numbers of new HIV diagnoses were: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general HIV testing (43.6%),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testing of OI patients (32.5%),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testing in STI clinics (8.1%), and </a:t>
            </a:r>
            <a:endParaRPr lang="en-ZA" sz="1800" b="0" i="0" kern="1200" dirty="0">
              <a:solidFill>
                <a:schemeClr val="tx1"/>
              </a:solidFill>
              <a:effectLst/>
              <a:latin typeface="Verdana" panose="020B0604030504040204" pitchFamily="34" charset="0"/>
              <a:ea typeface="+mn-ea"/>
              <a:cs typeface="+mn-cs"/>
            </a:endParaRPr>
          </a:p>
          <a:p>
            <a:pPr lvl="1"/>
            <a:r>
              <a:rPr lang="en-GB" sz="1200" b="0" i="0" kern="1200" dirty="0">
                <a:solidFill>
                  <a:schemeClr val="tx1"/>
                </a:solidFill>
                <a:effectLst/>
                <a:latin typeface="Verdana" panose="020B0604030504040204" pitchFamily="34" charset="0"/>
                <a:ea typeface="+mn-ea"/>
                <a:cs typeface="+mn-cs"/>
              </a:rPr>
              <a:t>testing partners of newly diagnosed individuals (7.4%)</a:t>
            </a:r>
            <a:endParaRPr lang="en-ZA" sz="1800" b="0" i="0" kern="1200" dirty="0">
              <a:solidFill>
                <a:schemeClr val="tx1"/>
              </a:solidFill>
              <a:effectLst/>
              <a:latin typeface="Verdana" panose="020B0604030504040204"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F6DADB82-A706-4784-AE8E-3965AD040C7C}" type="slidenum">
              <a:rPr lang="de-DE" smtClean="0"/>
              <a:pPr/>
              <a:t>11</a:t>
            </a:fld>
            <a:endParaRPr lang="de-DE" dirty="0"/>
          </a:p>
        </p:txBody>
      </p:sp>
    </p:spTree>
    <p:extLst>
      <p:ext uri="{BB962C8B-B14F-4D97-AF65-F5344CB8AC3E}">
        <p14:creationId xmlns:p14="http://schemas.microsoft.com/office/powerpoint/2010/main" val="1260550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bwMode="gray">
      <p:bgRef idx="1001">
        <a:schemeClr val="bg1"/>
      </p:bgRef>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9140E9AE-AB8C-45D2-8169-8A8F93E9393A}"/>
              </a:ext>
            </a:extLst>
          </p:cNvPr>
          <p:cNvSpPr>
            <a:spLocks noGrp="1"/>
          </p:cNvSpPr>
          <p:nvPr>
            <p:ph type="title"/>
          </p:nvPr>
        </p:nvSpPr>
        <p:spPr>
          <a:xfrm>
            <a:off x="3719512" y="1294944"/>
            <a:ext cx="8137526" cy="4762956"/>
          </a:xfrm>
        </p:spPr>
        <p:txBody>
          <a:bodyPr/>
          <a:lstStyle>
            <a:lvl1pPr>
              <a:lnSpc>
                <a:spcPct val="85000"/>
              </a:lnSpc>
              <a:defRPr sz="7500">
                <a:solidFill>
                  <a:schemeClr val="accent1"/>
                </a:solidFill>
              </a:defRPr>
            </a:lvl1pPr>
          </a:lstStyle>
          <a:p>
            <a:r>
              <a:rPr lang="en-GB"/>
              <a:t>Click to edit Master title style</a:t>
            </a:r>
            <a:endParaRPr lang="de-DE" dirty="0"/>
          </a:p>
        </p:txBody>
      </p:sp>
      <p:pic>
        <p:nvPicPr>
          <p:cNvPr id="34" name="Grafik 33">
            <a:extLst>
              <a:ext uri="{FF2B5EF4-FFF2-40B4-BE49-F238E27FC236}">
                <a16:creationId xmlns:a16="http://schemas.microsoft.com/office/drawing/2014/main" id="{0583FDD7-9A57-49D6-92B5-D5F33EBBFF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1963" y="454977"/>
            <a:ext cx="1233487" cy="450502"/>
          </a:xfrm>
          <a:prstGeom prst="rect">
            <a:avLst/>
          </a:prstGeom>
        </p:spPr>
      </p:pic>
      <p:sp>
        <p:nvSpPr>
          <p:cNvPr id="35" name="Textplatzhalter 34">
            <a:extLst>
              <a:ext uri="{FF2B5EF4-FFF2-40B4-BE49-F238E27FC236}">
                <a16:creationId xmlns:a16="http://schemas.microsoft.com/office/drawing/2014/main" id="{03A5B761-8BC0-42AF-81B9-7B9A73AAEDFA}"/>
              </a:ext>
            </a:extLst>
          </p:cNvPr>
          <p:cNvSpPr>
            <a:spLocks noGrp="1"/>
          </p:cNvSpPr>
          <p:nvPr>
            <p:ph type="body" sz="quarter" idx="10"/>
          </p:nvPr>
        </p:nvSpPr>
        <p:spPr>
          <a:xfrm>
            <a:off x="3719512" y="6248400"/>
            <a:ext cx="8137526" cy="396240"/>
          </a:xfrm>
        </p:spPr>
        <p:txBody>
          <a:bodyPr/>
          <a:lstStyle>
            <a:lvl1pPr marL="0" indent="0">
              <a:buNone/>
              <a:defRPr sz="1000"/>
            </a:lvl1pPr>
          </a:lstStyle>
          <a:p>
            <a:pPr lvl="0"/>
            <a:r>
              <a:rPr lang="en-GB"/>
              <a:t>Click to edit Master text styles</a:t>
            </a:r>
          </a:p>
        </p:txBody>
      </p:sp>
      <p:sp>
        <p:nvSpPr>
          <p:cNvPr id="37" name="Textfeld 36">
            <a:extLst>
              <a:ext uri="{FF2B5EF4-FFF2-40B4-BE49-F238E27FC236}">
                <a16:creationId xmlns:a16="http://schemas.microsoft.com/office/drawing/2014/main" id="{98BC6A7D-A966-48AF-8316-B852FFDEEF66}"/>
              </a:ext>
            </a:extLst>
          </p:cNvPr>
          <p:cNvSpPr txBox="1"/>
          <p:nvPr userDrawn="1"/>
        </p:nvSpPr>
        <p:spPr>
          <a:xfrm>
            <a:off x="3733801" y="444583"/>
            <a:ext cx="1471612" cy="184067"/>
          </a:xfrm>
          <a:prstGeom prst="rect">
            <a:avLst/>
          </a:prstGeom>
          <a:noFill/>
        </p:spPr>
        <p:txBody>
          <a:bodyPr wrap="square" lIns="0" tIns="0" rIns="0" bIns="0">
            <a:noAutofit/>
          </a:bodyPr>
          <a:lstStyle/>
          <a:p>
            <a:r>
              <a:rPr lang="de-DE" sz="750" b="0" i="0" dirty="0">
                <a:latin typeface="Verdana" panose="020B0604030504040204" pitchFamily="34" charset="0"/>
              </a:rPr>
              <a:t>International AIDS Society</a:t>
            </a:r>
          </a:p>
        </p:txBody>
      </p:sp>
      <p:sp>
        <p:nvSpPr>
          <p:cNvPr id="38" name="Textfeld 37">
            <a:extLst>
              <a:ext uri="{FF2B5EF4-FFF2-40B4-BE49-F238E27FC236}">
                <a16:creationId xmlns:a16="http://schemas.microsoft.com/office/drawing/2014/main" id="{855D9016-FECC-4E5D-ADF2-7843F8F8B2A1}"/>
              </a:ext>
            </a:extLst>
          </p:cNvPr>
          <p:cNvSpPr txBox="1"/>
          <p:nvPr userDrawn="1"/>
        </p:nvSpPr>
        <p:spPr>
          <a:xfrm>
            <a:off x="5360194" y="444583"/>
            <a:ext cx="1275556" cy="184067"/>
          </a:xfrm>
          <a:prstGeom prst="rect">
            <a:avLst/>
          </a:prstGeom>
          <a:noFill/>
        </p:spPr>
        <p:txBody>
          <a:bodyPr wrap="square" lIns="0" tIns="0" rIns="0" bIns="0">
            <a:noAutofit/>
          </a:bodyPr>
          <a:lstStyle/>
          <a:p>
            <a:r>
              <a:rPr lang="de-DE" sz="750" b="0" i="0" dirty="0">
                <a:latin typeface="Verdana" panose="020B0604030504040204" pitchFamily="34" charset="0"/>
              </a:rPr>
              <a:t>iasociety.org</a:t>
            </a:r>
          </a:p>
        </p:txBody>
      </p:sp>
    </p:spTree>
    <p:extLst>
      <p:ext uri="{BB962C8B-B14F-4D97-AF65-F5344CB8AC3E}">
        <p14:creationId xmlns:p14="http://schemas.microsoft.com/office/powerpoint/2010/main" val="156709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bg bwMode="gray">
      <p:bgRef idx="1001">
        <a:schemeClr val="bg1"/>
      </p:bgRef>
    </p:bg>
    <p:spTree>
      <p:nvGrpSpPr>
        <p:cNvPr id="1" name=""/>
        <p:cNvGrpSpPr/>
        <p:nvPr/>
      </p:nvGrpSpPr>
      <p:grpSpPr>
        <a:xfrm>
          <a:off x="0" y="0"/>
          <a:ext cx="0" cy="0"/>
          <a:chOff x="0" y="0"/>
          <a:chExt cx="0" cy="0"/>
        </a:xfrm>
      </p:grpSpPr>
      <p:pic>
        <p:nvPicPr>
          <p:cNvPr id="34" name="Grafik 33">
            <a:extLst>
              <a:ext uri="{FF2B5EF4-FFF2-40B4-BE49-F238E27FC236}">
                <a16:creationId xmlns:a16="http://schemas.microsoft.com/office/drawing/2014/main" id="{0583FDD7-9A57-49D6-92B5-D5F33EBBFF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1963" y="454977"/>
            <a:ext cx="1233487" cy="450502"/>
          </a:xfrm>
          <a:prstGeom prst="rect">
            <a:avLst/>
          </a:prstGeom>
        </p:spPr>
      </p:pic>
      <p:sp>
        <p:nvSpPr>
          <p:cNvPr id="37" name="Textfeld 36">
            <a:extLst>
              <a:ext uri="{FF2B5EF4-FFF2-40B4-BE49-F238E27FC236}">
                <a16:creationId xmlns:a16="http://schemas.microsoft.com/office/drawing/2014/main" id="{98BC6A7D-A966-48AF-8316-B852FFDEEF66}"/>
              </a:ext>
            </a:extLst>
          </p:cNvPr>
          <p:cNvSpPr txBox="1"/>
          <p:nvPr userDrawn="1"/>
        </p:nvSpPr>
        <p:spPr>
          <a:xfrm>
            <a:off x="3733801" y="444583"/>
            <a:ext cx="1471612" cy="184067"/>
          </a:xfrm>
          <a:prstGeom prst="rect">
            <a:avLst/>
          </a:prstGeom>
          <a:noFill/>
        </p:spPr>
        <p:txBody>
          <a:bodyPr wrap="square" lIns="0" tIns="0" rIns="0" bIns="0">
            <a:noAutofit/>
          </a:bodyPr>
          <a:lstStyle/>
          <a:p>
            <a:r>
              <a:rPr lang="de-DE" sz="750" b="0" i="0" dirty="0">
                <a:latin typeface="Verdana" panose="020B0604030504040204" pitchFamily="34" charset="0"/>
              </a:rPr>
              <a:t>International AIDS Society</a:t>
            </a:r>
          </a:p>
        </p:txBody>
      </p:sp>
      <p:sp>
        <p:nvSpPr>
          <p:cNvPr id="38" name="Textfeld 37">
            <a:extLst>
              <a:ext uri="{FF2B5EF4-FFF2-40B4-BE49-F238E27FC236}">
                <a16:creationId xmlns:a16="http://schemas.microsoft.com/office/drawing/2014/main" id="{855D9016-FECC-4E5D-ADF2-7843F8F8B2A1}"/>
              </a:ext>
            </a:extLst>
          </p:cNvPr>
          <p:cNvSpPr txBox="1"/>
          <p:nvPr userDrawn="1"/>
        </p:nvSpPr>
        <p:spPr>
          <a:xfrm>
            <a:off x="5360194" y="444583"/>
            <a:ext cx="1275556" cy="184067"/>
          </a:xfrm>
          <a:prstGeom prst="rect">
            <a:avLst/>
          </a:prstGeom>
          <a:noFill/>
        </p:spPr>
        <p:txBody>
          <a:bodyPr wrap="square" lIns="0" tIns="0" rIns="0" bIns="0">
            <a:noAutofit/>
          </a:bodyPr>
          <a:lstStyle/>
          <a:p>
            <a:r>
              <a:rPr lang="de-DE" sz="750" b="0" i="0" dirty="0">
                <a:latin typeface="Verdana" panose="020B0604030504040204" pitchFamily="34" charset="0"/>
              </a:rPr>
              <a:t>iasociety.org</a:t>
            </a:r>
          </a:p>
        </p:txBody>
      </p:sp>
      <p:sp>
        <p:nvSpPr>
          <p:cNvPr id="2" name="Titel 1">
            <a:extLst>
              <a:ext uri="{FF2B5EF4-FFF2-40B4-BE49-F238E27FC236}">
                <a16:creationId xmlns:a16="http://schemas.microsoft.com/office/drawing/2014/main" id="{933EC23C-51C9-47E8-9EC0-51E75A9906EB}"/>
              </a:ext>
            </a:extLst>
          </p:cNvPr>
          <p:cNvSpPr>
            <a:spLocks noGrp="1"/>
          </p:cNvSpPr>
          <p:nvPr>
            <p:ph type="title"/>
          </p:nvPr>
        </p:nvSpPr>
        <p:spPr>
          <a:xfrm>
            <a:off x="442913" y="1401624"/>
            <a:ext cx="6192838" cy="1151076"/>
          </a:xfrm>
        </p:spPr>
        <p:txBody>
          <a:bodyPr/>
          <a:lstStyle>
            <a:lvl1pPr>
              <a:defRPr>
                <a:solidFill>
                  <a:schemeClr val="accent1"/>
                </a:solidFill>
              </a:defRPr>
            </a:lvl1pPr>
          </a:lstStyle>
          <a:p>
            <a:r>
              <a:rPr lang="en-GB"/>
              <a:t>Click to edit Master title style</a:t>
            </a:r>
            <a:endParaRPr lang="de-DE" dirty="0"/>
          </a:p>
        </p:txBody>
      </p:sp>
      <p:sp>
        <p:nvSpPr>
          <p:cNvPr id="4" name="Textplatzhalter 3">
            <a:extLst>
              <a:ext uri="{FF2B5EF4-FFF2-40B4-BE49-F238E27FC236}">
                <a16:creationId xmlns:a16="http://schemas.microsoft.com/office/drawing/2014/main" id="{F79E4F12-16AF-4CA2-9394-804A19491551}"/>
              </a:ext>
            </a:extLst>
          </p:cNvPr>
          <p:cNvSpPr>
            <a:spLocks noGrp="1"/>
          </p:cNvSpPr>
          <p:nvPr>
            <p:ph type="body" sz="quarter" idx="11"/>
          </p:nvPr>
        </p:nvSpPr>
        <p:spPr>
          <a:xfrm>
            <a:off x="442912" y="2552700"/>
            <a:ext cx="6192837" cy="3505200"/>
          </a:xfrm>
        </p:spPr>
        <p:txBody>
          <a:bodyPr/>
          <a:lstStyle>
            <a:lvl1pPr marL="0" indent="0">
              <a:lnSpc>
                <a:spcPct val="90000"/>
              </a:lnSpc>
              <a:buNone/>
              <a:defRPr sz="4200"/>
            </a:lvl1pPr>
          </a:lstStyle>
          <a:p>
            <a:pPr lvl="0"/>
            <a:r>
              <a:rPr lang="en-GB"/>
              <a:t>Click to edit Master text styles</a:t>
            </a:r>
          </a:p>
        </p:txBody>
      </p:sp>
      <p:sp>
        <p:nvSpPr>
          <p:cNvPr id="11" name="Bildplatzhalter 7">
            <a:extLst>
              <a:ext uri="{FF2B5EF4-FFF2-40B4-BE49-F238E27FC236}">
                <a16:creationId xmlns:a16="http://schemas.microsoft.com/office/drawing/2014/main" id="{0222BDBD-0C76-472C-A496-F0F76AC3E687}"/>
              </a:ext>
            </a:extLst>
          </p:cNvPr>
          <p:cNvSpPr>
            <a:spLocks noGrp="1"/>
          </p:cNvSpPr>
          <p:nvPr>
            <p:ph type="pic" sz="quarter" idx="12"/>
          </p:nvPr>
        </p:nvSpPr>
        <p:spPr bwMode="gray">
          <a:xfrm>
            <a:off x="6996113" y="0"/>
            <a:ext cx="5195887" cy="6858000"/>
          </a:xfrm>
          <a:solidFill>
            <a:schemeClr val="bg1">
              <a:lumMod val="85000"/>
            </a:schemeClr>
          </a:solidFill>
        </p:spPr>
        <p:txBody>
          <a:bodyPr anchor="ctr"/>
          <a:lstStyle>
            <a:lvl1pPr algn="ctr">
              <a:buNone/>
              <a:defRPr sz="1400"/>
            </a:lvl1pPr>
          </a:lstStyle>
          <a:p>
            <a:r>
              <a:rPr lang="en-GB"/>
              <a:t>Click icon to add picture</a:t>
            </a:r>
            <a:endParaRPr lang="de-DE"/>
          </a:p>
        </p:txBody>
      </p:sp>
    </p:spTree>
    <p:extLst>
      <p:ext uri="{BB962C8B-B14F-4D97-AF65-F5344CB8AC3E}">
        <p14:creationId xmlns:p14="http://schemas.microsoft.com/office/powerpoint/2010/main" val="4272430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335850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und Bild">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de-DE"/>
              <a:t>Topic Lore Ipsum</a:t>
            </a:r>
          </a:p>
        </p:txBody>
      </p:sp>
      <p:sp>
        <p:nvSpPr>
          <p:cNvPr id="8" name="Bildplatzhalter 7">
            <a:extLst>
              <a:ext uri="{FF2B5EF4-FFF2-40B4-BE49-F238E27FC236}">
                <a16:creationId xmlns:a16="http://schemas.microsoft.com/office/drawing/2014/main" id="{F5E3B62B-CF09-471B-9761-31105E803B91}"/>
              </a:ext>
            </a:extLst>
          </p:cNvPr>
          <p:cNvSpPr>
            <a:spLocks noGrp="1"/>
          </p:cNvSpPr>
          <p:nvPr>
            <p:ph type="pic" sz="quarter" idx="12"/>
          </p:nvPr>
        </p:nvSpPr>
        <p:spPr bwMode="gray">
          <a:xfrm>
            <a:off x="6996113" y="0"/>
            <a:ext cx="5195887" cy="6858000"/>
          </a:xfrm>
          <a:solidFill>
            <a:schemeClr val="bg1">
              <a:lumMod val="85000"/>
            </a:schemeClr>
          </a:solidFill>
        </p:spPr>
        <p:txBody>
          <a:bodyPr anchor="ctr"/>
          <a:lstStyle>
            <a:lvl1pPr algn="ctr">
              <a:buNone/>
              <a:defRPr sz="1400"/>
            </a:lvl1pPr>
          </a:lstStyle>
          <a:p>
            <a:r>
              <a:rPr lang="en-GB"/>
              <a:t>Click icon to add picture</a:t>
            </a:r>
            <a:endParaRPr lang="de-DE"/>
          </a:p>
        </p:txBody>
      </p:sp>
    </p:spTree>
    <p:extLst>
      <p:ext uri="{BB962C8B-B14F-4D97-AF65-F5344CB8AC3E}">
        <p14:creationId xmlns:p14="http://schemas.microsoft.com/office/powerpoint/2010/main" val="276296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67EA35-F68A-454D-A1CC-5E137F915BE5}"/>
              </a:ext>
            </a:extLst>
          </p:cNvPr>
          <p:cNvSpPr>
            <a:spLocks noGrp="1"/>
          </p:cNvSpPr>
          <p:nvPr>
            <p:ph type="title"/>
          </p:nvPr>
        </p:nvSpPr>
        <p:spPr bwMode="gray"/>
        <p:txBody>
          <a:bodyPr/>
          <a:lstStyle/>
          <a:p>
            <a:r>
              <a:rPr lang="en-GB"/>
              <a:t>Click to edit Master title style</a:t>
            </a:r>
            <a:endParaRPr lang="de-DE"/>
          </a:p>
        </p:txBody>
      </p:sp>
      <p:sp>
        <p:nvSpPr>
          <p:cNvPr id="3" name="Datumsplatzhalter 2">
            <a:extLst>
              <a:ext uri="{FF2B5EF4-FFF2-40B4-BE49-F238E27FC236}">
                <a16:creationId xmlns:a16="http://schemas.microsoft.com/office/drawing/2014/main" id="{CEC0582F-CD7C-43A1-A31F-61C84AF5187C}"/>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4" name="Fußzeilenplatzhalter 3">
            <a:extLst>
              <a:ext uri="{FF2B5EF4-FFF2-40B4-BE49-F238E27FC236}">
                <a16:creationId xmlns:a16="http://schemas.microsoft.com/office/drawing/2014/main" id="{765BDC8B-AC16-40EC-9659-81A213A0A1B0}"/>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194863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CEC0582F-CD7C-43A1-A31F-61C84AF5187C}"/>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4" name="Fußzeilenplatzhalter 3">
            <a:extLst>
              <a:ext uri="{FF2B5EF4-FFF2-40B4-BE49-F238E27FC236}">
                <a16:creationId xmlns:a16="http://schemas.microsoft.com/office/drawing/2014/main" id="{765BDC8B-AC16-40EC-9659-81A213A0A1B0}"/>
              </a:ext>
            </a:extLst>
          </p:cNvPr>
          <p:cNvSpPr>
            <a:spLocks noGrp="1"/>
          </p:cNvSpPr>
          <p:nvPr>
            <p:ph type="ftr" sz="quarter" idx="11"/>
          </p:nvPr>
        </p:nvSpPr>
        <p:spPr bwMode="gray"/>
        <p:txBody>
          <a:bodyPr/>
          <a:lstStyle/>
          <a:p>
            <a:r>
              <a:rPr lang="de-DE"/>
              <a:t>Topic Lore Ipsum</a:t>
            </a:r>
          </a:p>
        </p:txBody>
      </p:sp>
      <p:sp>
        <p:nvSpPr>
          <p:cNvPr id="9" name="Textplatzhalter 8">
            <a:extLst>
              <a:ext uri="{FF2B5EF4-FFF2-40B4-BE49-F238E27FC236}">
                <a16:creationId xmlns:a16="http://schemas.microsoft.com/office/drawing/2014/main" id="{CA3000E4-2BD5-435D-AE69-C20EC0E3F2C1}"/>
              </a:ext>
            </a:extLst>
          </p:cNvPr>
          <p:cNvSpPr>
            <a:spLocks noGrp="1"/>
          </p:cNvSpPr>
          <p:nvPr>
            <p:ph type="body" sz="quarter" idx="12"/>
          </p:nvPr>
        </p:nvSpPr>
        <p:spPr bwMode="gray">
          <a:xfrm>
            <a:off x="3725862" y="1346515"/>
            <a:ext cx="8131175" cy="4711385"/>
          </a:xfrm>
        </p:spPr>
        <p:txBody>
          <a:bodyPr/>
          <a:lstStyle>
            <a:lvl1pPr marL="266700" indent="-266700">
              <a:lnSpc>
                <a:spcPct val="90000"/>
              </a:lnSpc>
              <a:buFont typeface="Ping LCG Light" pitchFamily="50" charset="0"/>
              <a:buChar char="»"/>
              <a:defRPr sz="4200">
                <a:solidFill>
                  <a:schemeClr val="accent1"/>
                </a:solidFill>
              </a:defRPr>
            </a:lvl1pPr>
            <a:lvl2pPr marL="182563" indent="0" algn="r">
              <a:lnSpc>
                <a:spcPct val="90000"/>
              </a:lnSpc>
              <a:buNone/>
              <a:defRPr sz="2000">
                <a:solidFill>
                  <a:schemeClr val="accent1"/>
                </a:solidFill>
              </a:defRPr>
            </a:lvl2pPr>
            <a:lvl3pPr>
              <a:lnSpc>
                <a:spcPct val="90000"/>
              </a:lnSpc>
              <a:defRPr sz="4200"/>
            </a:lvl3pPr>
            <a:lvl4pPr>
              <a:lnSpc>
                <a:spcPct val="90000"/>
              </a:lnSpc>
              <a:defRPr sz="4200"/>
            </a:lvl4pPr>
            <a:lvl5pPr>
              <a:lnSpc>
                <a:spcPct val="90000"/>
              </a:lnSpc>
              <a:defRPr sz="4200"/>
            </a:lvl5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688199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bg bwMode="gray">
      <p:bgRef idx="1001">
        <a:schemeClr val="bg1"/>
      </p:bgRef>
    </p:bg>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2CC7437-6059-43F9-AED7-852A052197E8}"/>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3" name="Fußzeilenplatzhalter 2">
            <a:extLst>
              <a:ext uri="{FF2B5EF4-FFF2-40B4-BE49-F238E27FC236}">
                <a16:creationId xmlns:a16="http://schemas.microsoft.com/office/drawing/2014/main" id="{EDC35EB0-B8D6-413D-890C-D0905B12D5B2}"/>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231144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097AD9D-CB55-4687-8CA2-BD97C7BC954E}"/>
              </a:ext>
            </a:extLst>
          </p:cNvPr>
          <p:cNvSpPr>
            <a:spLocks noGrp="1"/>
          </p:cNvSpPr>
          <p:nvPr>
            <p:ph type="title"/>
          </p:nvPr>
        </p:nvSpPr>
        <p:spPr bwMode="gray">
          <a:xfrm>
            <a:off x="442913" y="1401624"/>
            <a:ext cx="6192838" cy="1260000"/>
          </a:xfrm>
          <a:prstGeom prst="rect">
            <a:avLst/>
          </a:prstGeom>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2934E4A2-260E-40E9-AC47-DF4CBDE6A31B}"/>
              </a:ext>
            </a:extLst>
          </p:cNvPr>
          <p:cNvSpPr>
            <a:spLocks noGrp="1"/>
          </p:cNvSpPr>
          <p:nvPr>
            <p:ph type="body" idx="1"/>
          </p:nvPr>
        </p:nvSpPr>
        <p:spPr bwMode="gray">
          <a:xfrm>
            <a:off x="442913" y="2766059"/>
            <a:ext cx="6192837" cy="3291841"/>
          </a:xfrm>
          <a:prstGeom prst="rect">
            <a:avLst/>
          </a:prstGeom>
        </p:spPr>
        <p:txBody>
          <a:bodyPr vert="horz" lIns="0" tIns="0" rIns="0" bIns="0" rtlCol="0" anchor="t" anchorCtr="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C24889AC-79BD-4225-8067-CB3E052B3BBB}"/>
              </a:ext>
            </a:extLst>
          </p:cNvPr>
          <p:cNvSpPr>
            <a:spLocks noGrp="1"/>
          </p:cNvSpPr>
          <p:nvPr>
            <p:ph type="dt" sz="half" idx="2"/>
          </p:nvPr>
        </p:nvSpPr>
        <p:spPr bwMode="gray">
          <a:xfrm>
            <a:off x="442913" y="6276101"/>
            <a:ext cx="3130867" cy="244317"/>
          </a:xfrm>
          <a:prstGeom prst="rect">
            <a:avLst/>
          </a:prstGeom>
        </p:spPr>
        <p:txBody>
          <a:bodyPr vert="horz" lIns="0" tIns="0" rIns="0" bIns="0" rtlCol="0" anchor="t" anchorCtr="0">
            <a:noAutofit/>
          </a:bodyPr>
          <a:lstStyle>
            <a:lvl1pPr algn="l">
              <a:defRPr sz="1000">
                <a:solidFill>
                  <a:schemeClr val="tx1"/>
                </a:solidFill>
              </a:defRPr>
            </a:lvl1pPr>
          </a:lstStyle>
          <a:p>
            <a:r>
              <a:rPr lang="de-DE" dirty="0">
                <a:latin typeface="Verdana" panose="020B0604030504040204" pitchFamily="34" charset="0"/>
              </a:rPr>
              <a:t>Name </a:t>
            </a:r>
            <a:r>
              <a:rPr lang="de-DE" dirty="0" err="1">
                <a:latin typeface="Verdana" panose="020B0604030504040204" pitchFamily="34" charset="0"/>
              </a:rPr>
              <a:t>of</a:t>
            </a:r>
            <a:r>
              <a:rPr lang="de-DE" dirty="0">
                <a:latin typeface="Verdana" panose="020B0604030504040204" pitchFamily="34" charset="0"/>
              </a:rPr>
              <a:t> </a:t>
            </a:r>
            <a:r>
              <a:rPr lang="de-DE" dirty="0" err="1">
                <a:latin typeface="Verdana" panose="020B0604030504040204" pitchFamily="34" charset="0"/>
              </a:rPr>
              <a:t>the</a:t>
            </a:r>
            <a:r>
              <a:rPr lang="de-DE" dirty="0">
                <a:latin typeface="Verdana" panose="020B0604030504040204" pitchFamily="34" charset="0"/>
              </a:rPr>
              <a:t> Speaker</a:t>
            </a:r>
          </a:p>
        </p:txBody>
      </p:sp>
      <p:sp>
        <p:nvSpPr>
          <p:cNvPr id="5" name="Fußzeilenplatzhalter 4">
            <a:extLst>
              <a:ext uri="{FF2B5EF4-FFF2-40B4-BE49-F238E27FC236}">
                <a16:creationId xmlns:a16="http://schemas.microsoft.com/office/drawing/2014/main" id="{A94A541A-BF46-4134-A473-7ECADFE557E6}"/>
              </a:ext>
            </a:extLst>
          </p:cNvPr>
          <p:cNvSpPr>
            <a:spLocks noGrp="1"/>
          </p:cNvSpPr>
          <p:nvPr>
            <p:ph type="ftr" sz="quarter" idx="3"/>
          </p:nvPr>
        </p:nvSpPr>
        <p:spPr bwMode="gray">
          <a:xfrm>
            <a:off x="3725863" y="6276101"/>
            <a:ext cx="2909887" cy="244317"/>
          </a:xfrm>
          <a:prstGeom prst="rect">
            <a:avLst/>
          </a:prstGeom>
        </p:spPr>
        <p:txBody>
          <a:bodyPr vert="horz" wrap="none" lIns="0" tIns="0" rIns="0" bIns="0" rtlCol="0" anchor="t" anchorCtr="0">
            <a:noAutofit/>
          </a:bodyPr>
          <a:lstStyle>
            <a:lvl1pPr algn="l">
              <a:defRPr sz="1000" b="0" i="0">
                <a:solidFill>
                  <a:schemeClr val="tx1"/>
                </a:solidFill>
                <a:latin typeface="Verdana" panose="020B0604030504040204" pitchFamily="34" charset="0"/>
              </a:defRPr>
            </a:lvl1pPr>
          </a:lstStyle>
          <a:p>
            <a:r>
              <a:rPr lang="de-DE" dirty="0"/>
              <a:t>Topic Lore </a:t>
            </a:r>
            <a:r>
              <a:rPr lang="de-DE" dirty="0" err="1"/>
              <a:t>Ipsum</a:t>
            </a:r>
            <a:endParaRPr lang="de-DE" dirty="0"/>
          </a:p>
        </p:txBody>
      </p:sp>
      <p:pic>
        <p:nvPicPr>
          <p:cNvPr id="8" name="Grafik 7">
            <a:extLst>
              <a:ext uri="{FF2B5EF4-FFF2-40B4-BE49-F238E27FC236}">
                <a16:creationId xmlns:a16="http://schemas.microsoft.com/office/drawing/2014/main" id="{A833CDCE-25B5-4F69-9C0F-55D421676E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61963" y="459740"/>
            <a:ext cx="728662" cy="266127"/>
          </a:xfrm>
          <a:prstGeom prst="rect">
            <a:avLst/>
          </a:prstGeom>
        </p:spPr>
      </p:pic>
    </p:spTree>
    <p:extLst>
      <p:ext uri="{BB962C8B-B14F-4D97-AF65-F5344CB8AC3E}">
        <p14:creationId xmlns:p14="http://schemas.microsoft.com/office/powerpoint/2010/main" val="1664377623"/>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4" r:id="rId3"/>
    <p:sldLayoutId id="2147483650" r:id="rId4"/>
    <p:sldLayoutId id="2147483654" r:id="rId5"/>
    <p:sldLayoutId id="2147483662" r:id="rId6"/>
    <p:sldLayoutId id="2147483655" r:id="rId7"/>
  </p:sldLayoutIdLst>
  <p:hf sldNum="0" hdr="0"/>
  <p:txStyles>
    <p:titleStyle>
      <a:lvl1pPr algn="l" defTabSz="914400" rtl="0" eaLnBrk="1" latinLnBrk="0" hangingPunct="1">
        <a:lnSpc>
          <a:spcPct val="90000"/>
        </a:lnSpc>
        <a:spcBef>
          <a:spcPct val="0"/>
        </a:spcBef>
        <a:buNone/>
        <a:defRPr sz="4200" b="1" i="0" kern="1200">
          <a:solidFill>
            <a:schemeClr val="tx1"/>
          </a:solidFill>
          <a:latin typeface="Verdana" panose="020B0604030504040204" pitchFamily="34" charset="0"/>
          <a:ea typeface="+mj-ea"/>
          <a:cs typeface="+mj-cs"/>
        </a:defRPr>
      </a:lvl1pPr>
    </p:titleStyle>
    <p:bodyStyle>
      <a:lvl1pPr marL="220663" indent="-220663"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07" userDrawn="1">
          <p15:clr>
            <a:srgbClr val="F26B43"/>
          </p15:clr>
        </p15:guide>
        <p15:guide id="2" pos="279" userDrawn="1">
          <p15:clr>
            <a:srgbClr val="F26B43"/>
          </p15:clr>
        </p15:guide>
        <p15:guide id="3" pos="7469" userDrawn="1">
          <p15:clr>
            <a:srgbClr val="F26B43"/>
          </p15:clr>
        </p15:guide>
        <p15:guide id="4" pos="4180" userDrawn="1">
          <p15:clr>
            <a:srgbClr val="F26B43"/>
          </p15:clr>
        </p15:guide>
        <p15:guide id="5" orient="horz" pos="38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pubmed.ncbi.nlm.nih.gov/31477764/" TargetMode="Externa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pubmed.ncbi.nlm.nih.gov/31477764/"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pubmed.ncbi.nlm.nih.gov/31477764/"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hyperlink" Target="https://pubmed.ncbi.nlm.nih.gov/31477764/"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s://pubmed.ncbi.nlm.nih.gov/31477764/"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hyperlink" Target="https://pubmed.ncbi.nlm.nih.gov/31477764/" TargetMode="Externa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pubmed.ncbi.nlm.nih.gov/33667411/" TargetMode="External"/><Relationship Id="rId1" Type="http://schemas.openxmlformats.org/officeDocument/2006/relationships/slideLayout" Target="../slideLayouts/slideLayout4.xml"/><Relationship Id="rId4" Type="http://schemas.openxmlformats.org/officeDocument/2006/relationships/hyperlink" Target="https://www.devex.com/news/launch-of-1-2b-coalition-to-expand-hiv-services-for-men-93173"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pubmed.ncbi.nlm.nih.gov/33667411/" TargetMode="Externa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pubmed.ncbi.nlm.nih.gov/33667411/" TargetMode="External"/><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pubmed.ncbi.nlm.nih.gov/33667411/"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49F560-D0D1-4B76-8B86-EA3E033B96AE}"/>
              </a:ext>
            </a:extLst>
          </p:cNvPr>
          <p:cNvSpPr>
            <a:spLocks noGrp="1"/>
          </p:cNvSpPr>
          <p:nvPr>
            <p:ph type="title"/>
          </p:nvPr>
        </p:nvSpPr>
        <p:spPr>
          <a:xfrm>
            <a:off x="2157413" y="1294944"/>
            <a:ext cx="9699625" cy="4762956"/>
          </a:xfrm>
        </p:spPr>
        <p:txBody>
          <a:bodyPr/>
          <a:lstStyle/>
          <a:p>
            <a:r>
              <a:rPr lang="en-GB" dirty="0"/>
              <a:t>HIV Prioritization tool</a:t>
            </a:r>
            <a:br>
              <a:rPr lang="en-GB" dirty="0"/>
            </a:br>
            <a:r>
              <a:rPr lang="en-GB" sz="4800" b="0" dirty="0">
                <a:solidFill>
                  <a:schemeClr val="tx1"/>
                </a:solidFill>
              </a:rPr>
              <a:t>Version 1</a:t>
            </a:r>
            <a:br>
              <a:rPr lang="en-GB" dirty="0"/>
            </a:br>
            <a:endParaRPr lang="en-GB" dirty="0"/>
          </a:p>
        </p:txBody>
      </p:sp>
      <p:sp>
        <p:nvSpPr>
          <p:cNvPr id="3" name="Textplatzhalter 2">
            <a:extLst>
              <a:ext uri="{FF2B5EF4-FFF2-40B4-BE49-F238E27FC236}">
                <a16:creationId xmlns:a16="http://schemas.microsoft.com/office/drawing/2014/main" id="{B1D70F63-F5E4-490E-9A28-8139D161CABC}"/>
              </a:ext>
            </a:extLst>
          </p:cNvPr>
          <p:cNvSpPr>
            <a:spLocks noGrp="1"/>
          </p:cNvSpPr>
          <p:nvPr>
            <p:ph type="body" sz="quarter" idx="10"/>
          </p:nvPr>
        </p:nvSpPr>
        <p:spPr/>
        <p:txBody>
          <a:bodyPr/>
          <a:lstStyle/>
          <a:p>
            <a:r>
              <a:rPr lang="en-GB" dirty="0"/>
              <a:t>Anna Grimsrud</a:t>
            </a:r>
            <a:br>
              <a:rPr lang="en-GB" dirty="0"/>
            </a:br>
            <a:r>
              <a:rPr lang="en-GB" dirty="0"/>
              <a:t>8 April 2021</a:t>
            </a:r>
          </a:p>
        </p:txBody>
      </p:sp>
    </p:spTree>
    <p:extLst>
      <p:ext uri="{BB962C8B-B14F-4D97-AF65-F5344CB8AC3E}">
        <p14:creationId xmlns:p14="http://schemas.microsoft.com/office/powerpoint/2010/main" val="1019027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6EB762-B210-4CC4-9F39-572EC03B556D}"/>
              </a:ext>
            </a:extLst>
          </p:cNvPr>
          <p:cNvSpPr>
            <a:spLocks noGrp="1"/>
          </p:cNvSpPr>
          <p:nvPr>
            <p:ph type="title"/>
          </p:nvPr>
        </p:nvSpPr>
        <p:spPr/>
        <p:txBody>
          <a:bodyPr/>
          <a:lstStyle/>
          <a:p>
            <a:r>
              <a:rPr lang="en-GB" dirty="0">
                <a:solidFill>
                  <a:schemeClr val="accent1"/>
                </a:solidFill>
              </a:rPr>
              <a:t>Objective</a:t>
            </a:r>
          </a:p>
        </p:txBody>
      </p:sp>
      <p:sp>
        <p:nvSpPr>
          <p:cNvPr id="3" name="Inhaltsplatzhalter 2">
            <a:extLst>
              <a:ext uri="{FF2B5EF4-FFF2-40B4-BE49-F238E27FC236}">
                <a16:creationId xmlns:a16="http://schemas.microsoft.com/office/drawing/2014/main" id="{04DD0E3C-3675-44C6-AE22-972FDE27B6FE}"/>
              </a:ext>
            </a:extLst>
          </p:cNvPr>
          <p:cNvSpPr>
            <a:spLocks noGrp="1"/>
          </p:cNvSpPr>
          <p:nvPr>
            <p:ph idx="1"/>
          </p:nvPr>
        </p:nvSpPr>
        <p:spPr>
          <a:xfrm>
            <a:off x="442913" y="2766059"/>
            <a:ext cx="11029950" cy="2567941"/>
          </a:xfrm>
        </p:spPr>
        <p:txBody>
          <a:bodyPr/>
          <a:lstStyle/>
          <a:p>
            <a:pPr marL="0" indent="0">
              <a:buNone/>
            </a:pPr>
            <a:r>
              <a:rPr lang="en-GB" dirty="0"/>
              <a:t>To provide an interactive tool that can be used as a discussion aid to support decision makers in planning/prioritizing HIV services by comparing trade-offs in impact and budget under different coverage levels of HIV services across the care cascade </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689077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D669-9601-35DC-9CCC-0A36DD9B055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157EA78-41F6-5DDE-D298-774727701155}"/>
              </a:ext>
            </a:extLst>
          </p:cNvPr>
          <p:cNvSpPr>
            <a:spLocks noGrp="1"/>
          </p:cNvSpPr>
          <p:nvPr>
            <p:ph type="title"/>
          </p:nvPr>
        </p:nvSpPr>
        <p:spPr/>
        <p:txBody>
          <a:bodyPr/>
          <a:lstStyle/>
          <a:p>
            <a:r>
              <a:rPr lang="en-GB" dirty="0">
                <a:solidFill>
                  <a:schemeClr val="accent1"/>
                </a:solidFill>
              </a:rPr>
              <a:t>Approach</a:t>
            </a:r>
          </a:p>
        </p:txBody>
      </p:sp>
      <p:sp>
        <p:nvSpPr>
          <p:cNvPr id="3" name="Inhaltsplatzhalter 2">
            <a:extLst>
              <a:ext uri="{FF2B5EF4-FFF2-40B4-BE49-F238E27FC236}">
                <a16:creationId xmlns:a16="http://schemas.microsoft.com/office/drawing/2014/main" id="{786B0ECF-EB27-F0EA-A3A1-F19F1C60C491}"/>
              </a:ext>
            </a:extLst>
          </p:cNvPr>
          <p:cNvSpPr>
            <a:spLocks noGrp="1"/>
          </p:cNvSpPr>
          <p:nvPr>
            <p:ph idx="1"/>
          </p:nvPr>
        </p:nvSpPr>
        <p:spPr>
          <a:xfrm>
            <a:off x="442913" y="2320289"/>
            <a:ext cx="11414125" cy="4103371"/>
          </a:xfrm>
        </p:spPr>
        <p:txBody>
          <a:bodyPr/>
          <a:lstStyle/>
          <a:p>
            <a:pPr marL="0" indent="0">
              <a:buNone/>
            </a:pPr>
            <a:r>
              <a:rPr lang="en-GB" dirty="0"/>
              <a:t>Start with minimum viable product (MVP)</a:t>
            </a:r>
          </a:p>
          <a:p>
            <a:pPr lvl="1"/>
            <a:r>
              <a:rPr lang="en-GB" dirty="0"/>
              <a:t>Describe a set of initial core interventions across prevention, testing and treatment categories</a:t>
            </a:r>
          </a:p>
          <a:p>
            <a:pPr marL="220663" lvl="1" indent="0">
              <a:buNone/>
            </a:pPr>
            <a:endParaRPr lang="en-GB" dirty="0"/>
          </a:p>
          <a:p>
            <a:pPr lvl="1"/>
            <a:r>
              <a:rPr lang="en-GB" dirty="0"/>
              <a:t>For each, estimate cost as well as impact on six core outcomes : adult infections, infant infections, 1st 95, 2nd 95, 3</a:t>
            </a:r>
            <a:r>
              <a:rPr lang="en-GB" baseline="30000" dirty="0"/>
              <a:t>rd</a:t>
            </a:r>
            <a:r>
              <a:rPr lang="en-GB" dirty="0"/>
              <a:t> 95</a:t>
            </a:r>
          </a:p>
          <a:p>
            <a:pPr marL="220663" lvl="1" indent="0">
              <a:buNone/>
            </a:pPr>
            <a:endParaRPr lang="en-GB" dirty="0"/>
          </a:p>
          <a:p>
            <a:pPr lvl="1"/>
            <a:r>
              <a:rPr lang="en-GB" dirty="0"/>
              <a:t>Incorporate into platform which allows users to change coverage (or absolute number of people) impacted by interventions and visually explore effects (see slides which follow) </a:t>
            </a:r>
          </a:p>
          <a:p>
            <a:pPr lvl="1"/>
            <a:endParaRPr lang="en-GB" dirty="0"/>
          </a:p>
          <a:p>
            <a:pPr lvl="1"/>
            <a:r>
              <a:rPr lang="en-GB" dirty="0"/>
              <a:t>Incorporate feedback from users (throughout) and at a later stage potentially update intervention list</a:t>
            </a:r>
          </a:p>
          <a:p>
            <a:pPr lvl="1"/>
            <a:endParaRPr lang="en-GB" dirty="0"/>
          </a:p>
        </p:txBody>
      </p:sp>
    </p:spTree>
    <p:extLst>
      <p:ext uri="{BB962C8B-B14F-4D97-AF65-F5344CB8AC3E}">
        <p14:creationId xmlns:p14="http://schemas.microsoft.com/office/powerpoint/2010/main" val="2652198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A4820-99F7-DE07-42A6-F601E560B2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7466AF4-2784-0696-F964-8D235C66DF3D}"/>
              </a:ext>
            </a:extLst>
          </p:cNvPr>
          <p:cNvSpPr>
            <a:spLocks noGrp="1"/>
          </p:cNvSpPr>
          <p:nvPr>
            <p:ph type="title"/>
          </p:nvPr>
        </p:nvSpPr>
        <p:spPr>
          <a:xfrm>
            <a:off x="442913" y="1401624"/>
            <a:ext cx="11372850" cy="1260000"/>
          </a:xfrm>
        </p:spPr>
        <p:txBody>
          <a:bodyPr/>
          <a:lstStyle/>
          <a:p>
            <a:r>
              <a:rPr lang="en-GB" noProof="0" dirty="0">
                <a:solidFill>
                  <a:schemeClr val="accent1"/>
                </a:solidFill>
              </a:rPr>
              <a:t>What‘s Included: </a:t>
            </a:r>
            <a:r>
              <a:rPr lang="en-GB" noProof="0" dirty="0">
                <a:solidFill>
                  <a:srgbClr val="F88D9A"/>
                </a:solidFill>
              </a:rPr>
              <a:t>Prevention</a:t>
            </a:r>
          </a:p>
        </p:txBody>
      </p:sp>
      <p:graphicFrame>
        <p:nvGraphicFramePr>
          <p:cNvPr id="6" name="Table 5">
            <a:extLst>
              <a:ext uri="{FF2B5EF4-FFF2-40B4-BE49-F238E27FC236}">
                <a16:creationId xmlns:a16="http://schemas.microsoft.com/office/drawing/2014/main" id="{F880109A-133C-CBC5-35D3-2E42F8B90261}"/>
              </a:ext>
            </a:extLst>
          </p:cNvPr>
          <p:cNvGraphicFramePr>
            <a:graphicFrameLocks noGrp="1"/>
          </p:cNvGraphicFramePr>
          <p:nvPr>
            <p:extLst>
              <p:ext uri="{D42A27DB-BD31-4B8C-83A1-F6EECF244321}">
                <p14:modId xmlns:p14="http://schemas.microsoft.com/office/powerpoint/2010/main" val="3990749953"/>
              </p:ext>
            </p:extLst>
          </p:nvPr>
        </p:nvGraphicFramePr>
        <p:xfrm>
          <a:off x="894658" y="2524584"/>
          <a:ext cx="10226732" cy="2994058"/>
        </p:xfrm>
        <a:graphic>
          <a:graphicData uri="http://schemas.openxmlformats.org/drawingml/2006/table">
            <a:tbl>
              <a:tblPr>
                <a:tableStyleId>{616DA210-FB5B-4158-B5E0-FEB733F419BA}</a:tableStyleId>
              </a:tblPr>
              <a:tblGrid>
                <a:gridCol w="2637212">
                  <a:extLst>
                    <a:ext uri="{9D8B030D-6E8A-4147-A177-3AD203B41FA5}">
                      <a16:colId xmlns:a16="http://schemas.microsoft.com/office/drawing/2014/main" val="4120267808"/>
                    </a:ext>
                  </a:extLst>
                </a:gridCol>
                <a:gridCol w="1264920">
                  <a:extLst>
                    <a:ext uri="{9D8B030D-6E8A-4147-A177-3AD203B41FA5}">
                      <a16:colId xmlns:a16="http://schemas.microsoft.com/office/drawing/2014/main" val="1209723872"/>
                    </a:ext>
                  </a:extLst>
                </a:gridCol>
                <a:gridCol w="1264920">
                  <a:extLst>
                    <a:ext uri="{9D8B030D-6E8A-4147-A177-3AD203B41FA5}">
                      <a16:colId xmlns:a16="http://schemas.microsoft.com/office/drawing/2014/main" val="2743590385"/>
                    </a:ext>
                  </a:extLst>
                </a:gridCol>
                <a:gridCol w="1264920">
                  <a:extLst>
                    <a:ext uri="{9D8B030D-6E8A-4147-A177-3AD203B41FA5}">
                      <a16:colId xmlns:a16="http://schemas.microsoft.com/office/drawing/2014/main" val="4208286694"/>
                    </a:ext>
                  </a:extLst>
                </a:gridCol>
                <a:gridCol w="1264920">
                  <a:extLst>
                    <a:ext uri="{9D8B030D-6E8A-4147-A177-3AD203B41FA5}">
                      <a16:colId xmlns:a16="http://schemas.microsoft.com/office/drawing/2014/main" val="3849485650"/>
                    </a:ext>
                  </a:extLst>
                </a:gridCol>
                <a:gridCol w="1264920">
                  <a:extLst>
                    <a:ext uri="{9D8B030D-6E8A-4147-A177-3AD203B41FA5}">
                      <a16:colId xmlns:a16="http://schemas.microsoft.com/office/drawing/2014/main" val="65177762"/>
                    </a:ext>
                  </a:extLst>
                </a:gridCol>
                <a:gridCol w="1264920">
                  <a:extLst>
                    <a:ext uri="{9D8B030D-6E8A-4147-A177-3AD203B41FA5}">
                      <a16:colId xmlns:a16="http://schemas.microsoft.com/office/drawing/2014/main" val="3550359160"/>
                    </a:ext>
                  </a:extLst>
                </a:gridCol>
              </a:tblGrid>
              <a:tr h="326385">
                <a:tc>
                  <a:txBody>
                    <a:bodyPr/>
                    <a:lstStyle/>
                    <a:p>
                      <a:pPr algn="ctr" fontAlgn="b">
                        <a:buNone/>
                      </a:pP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gridSpan="6">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Outcome affected</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72059884"/>
                  </a:ext>
                </a:extLst>
              </a:tr>
              <a:tr h="647098">
                <a:tc>
                  <a:txBody>
                    <a:bodyPr/>
                    <a:lstStyle/>
                    <a:p>
                      <a:pPr algn="l" fontAlgn="b">
                        <a:buNone/>
                      </a:pPr>
                      <a:r>
                        <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intervention</a:t>
                      </a: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adult infections</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infant infections </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first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second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third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mortality</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chemeClr val="accent1">
                        <a:lumMod val="40000"/>
                        <a:lumOff val="60000"/>
                      </a:schemeClr>
                    </a:solidFill>
                  </a:tcPr>
                </a:tc>
                <a:extLst>
                  <a:ext uri="{0D108BD9-81ED-4DB2-BD59-A6C34878D82A}">
                    <a16:rowId xmlns:a16="http://schemas.microsoft.com/office/drawing/2014/main" val="2377431970"/>
                  </a:ext>
                </a:extLst>
              </a:tr>
              <a:tr h="326385">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Infant prophylaxis</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2337716733"/>
                  </a:ext>
                </a:extLst>
              </a:tr>
              <a:tr h="326385">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PEP</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330474901"/>
                  </a:ext>
                </a:extLst>
              </a:tr>
              <a:tr h="326385">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Condom availability</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2560179810"/>
                  </a:ext>
                </a:extLst>
              </a:tr>
              <a:tr h="326385">
                <a:tc>
                  <a:txBody>
                    <a:bodyPr/>
                    <a:lstStyle/>
                    <a:p>
                      <a:pPr algn="l" fontAlgn="b">
                        <a:buNone/>
                      </a:pPr>
                      <a:r>
                        <a:rPr lang="en-ZA" sz="1600" u="none" strike="noStrike" dirty="0" err="1">
                          <a:effectLst/>
                          <a:latin typeface="Verdana" panose="020B0604030504040204" pitchFamily="34" charset="0"/>
                          <a:ea typeface="Verdana" panose="020B0604030504040204" pitchFamily="34" charset="0"/>
                          <a:cs typeface="Verdana" panose="020B0604030504040204" pitchFamily="34" charset="0"/>
                        </a:rPr>
                        <a:t>PrEP</a:t>
                      </a: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 (oral)</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393452433"/>
                  </a:ext>
                </a:extLst>
              </a:tr>
              <a:tr h="326385">
                <a:tc>
                  <a:txBody>
                    <a:bodyPr/>
                    <a:lstStyle/>
                    <a:p>
                      <a:pPr algn="l" fontAlgn="b">
                        <a:buNone/>
                      </a:pPr>
                      <a:r>
                        <a:rPr lang="en-ZA" sz="1600" u="none" strike="noStrike" dirty="0" err="1">
                          <a:effectLst/>
                          <a:latin typeface="Verdana" panose="020B0604030504040204" pitchFamily="34" charset="0"/>
                          <a:ea typeface="Verdana" panose="020B0604030504040204" pitchFamily="34" charset="0"/>
                          <a:cs typeface="Verdana" panose="020B0604030504040204" pitchFamily="34" charset="0"/>
                        </a:rPr>
                        <a:t>PrEP</a:t>
                      </a: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 (</a:t>
                      </a:r>
                      <a:r>
                        <a:rPr lang="en-ZA" sz="1600" u="none" strike="noStrike" dirty="0" err="1">
                          <a:effectLst/>
                          <a:latin typeface="Verdana" panose="020B0604030504040204" pitchFamily="34" charset="0"/>
                          <a:ea typeface="Verdana" panose="020B0604030504040204" pitchFamily="34" charset="0"/>
                          <a:cs typeface="Verdana" panose="020B0604030504040204" pitchFamily="34" charset="0"/>
                        </a:rPr>
                        <a:t>Lenacapavir</a:t>
                      </a: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3082328327"/>
                  </a:ext>
                </a:extLst>
              </a:tr>
              <a:tr h="326385">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VMMC</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noFill/>
                  </a:tcPr>
                </a:tc>
                <a:extLst>
                  <a:ext uri="{0D108BD9-81ED-4DB2-BD59-A6C34878D82A}">
                    <a16:rowId xmlns:a16="http://schemas.microsoft.com/office/drawing/2014/main" val="213087910"/>
                  </a:ext>
                </a:extLst>
              </a:tr>
            </a:tbl>
          </a:graphicData>
        </a:graphic>
      </p:graphicFrame>
    </p:spTree>
    <p:extLst>
      <p:ext uri="{BB962C8B-B14F-4D97-AF65-F5344CB8AC3E}">
        <p14:creationId xmlns:p14="http://schemas.microsoft.com/office/powerpoint/2010/main" val="1582774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C42B9-0B7A-A5F1-5522-5B447F38849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1356E3F-A3A5-7BF8-230F-1440108EFAD4}"/>
              </a:ext>
            </a:extLst>
          </p:cNvPr>
          <p:cNvSpPr>
            <a:spLocks noGrp="1"/>
          </p:cNvSpPr>
          <p:nvPr>
            <p:ph type="title"/>
          </p:nvPr>
        </p:nvSpPr>
        <p:spPr>
          <a:xfrm>
            <a:off x="442913" y="1401624"/>
            <a:ext cx="11372850" cy="1260000"/>
          </a:xfrm>
        </p:spPr>
        <p:txBody>
          <a:bodyPr/>
          <a:lstStyle/>
          <a:p>
            <a:r>
              <a:rPr lang="en-GB" noProof="0" dirty="0">
                <a:solidFill>
                  <a:schemeClr val="accent1"/>
                </a:solidFill>
              </a:rPr>
              <a:t>What‘s Included: </a:t>
            </a:r>
            <a:r>
              <a:rPr lang="en-GB" noProof="0" dirty="0">
                <a:solidFill>
                  <a:srgbClr val="00B0F0"/>
                </a:solidFill>
              </a:rPr>
              <a:t>Testing</a:t>
            </a:r>
          </a:p>
        </p:txBody>
      </p:sp>
      <p:graphicFrame>
        <p:nvGraphicFramePr>
          <p:cNvPr id="6" name="Table 5">
            <a:extLst>
              <a:ext uri="{FF2B5EF4-FFF2-40B4-BE49-F238E27FC236}">
                <a16:creationId xmlns:a16="http://schemas.microsoft.com/office/drawing/2014/main" id="{2F611F5E-C8B2-5AA9-4D42-04C42B600A1E}"/>
              </a:ext>
            </a:extLst>
          </p:cNvPr>
          <p:cNvGraphicFramePr>
            <a:graphicFrameLocks noGrp="1"/>
          </p:cNvGraphicFramePr>
          <p:nvPr>
            <p:extLst>
              <p:ext uri="{D42A27DB-BD31-4B8C-83A1-F6EECF244321}">
                <p14:modId xmlns:p14="http://schemas.microsoft.com/office/powerpoint/2010/main" val="379309088"/>
              </p:ext>
            </p:extLst>
          </p:nvPr>
        </p:nvGraphicFramePr>
        <p:xfrm>
          <a:off x="525779" y="2388870"/>
          <a:ext cx="11289984" cy="3799062"/>
        </p:xfrm>
        <a:graphic>
          <a:graphicData uri="http://schemas.openxmlformats.org/drawingml/2006/table">
            <a:tbl>
              <a:tblPr>
                <a:tableStyleId>{616DA210-FB5B-4158-B5E0-FEB733F419BA}</a:tableStyleId>
              </a:tblPr>
              <a:tblGrid>
                <a:gridCol w="3531870">
                  <a:extLst>
                    <a:ext uri="{9D8B030D-6E8A-4147-A177-3AD203B41FA5}">
                      <a16:colId xmlns:a16="http://schemas.microsoft.com/office/drawing/2014/main" val="4120267808"/>
                    </a:ext>
                  </a:extLst>
                </a:gridCol>
                <a:gridCol w="1293019">
                  <a:extLst>
                    <a:ext uri="{9D8B030D-6E8A-4147-A177-3AD203B41FA5}">
                      <a16:colId xmlns:a16="http://schemas.microsoft.com/office/drawing/2014/main" val="1209723872"/>
                    </a:ext>
                  </a:extLst>
                </a:gridCol>
                <a:gridCol w="1293019">
                  <a:extLst>
                    <a:ext uri="{9D8B030D-6E8A-4147-A177-3AD203B41FA5}">
                      <a16:colId xmlns:a16="http://schemas.microsoft.com/office/drawing/2014/main" val="2743590385"/>
                    </a:ext>
                  </a:extLst>
                </a:gridCol>
                <a:gridCol w="1293019">
                  <a:extLst>
                    <a:ext uri="{9D8B030D-6E8A-4147-A177-3AD203B41FA5}">
                      <a16:colId xmlns:a16="http://schemas.microsoft.com/office/drawing/2014/main" val="4208286694"/>
                    </a:ext>
                  </a:extLst>
                </a:gridCol>
                <a:gridCol w="1293019">
                  <a:extLst>
                    <a:ext uri="{9D8B030D-6E8A-4147-A177-3AD203B41FA5}">
                      <a16:colId xmlns:a16="http://schemas.microsoft.com/office/drawing/2014/main" val="3849485650"/>
                    </a:ext>
                  </a:extLst>
                </a:gridCol>
                <a:gridCol w="1293019">
                  <a:extLst>
                    <a:ext uri="{9D8B030D-6E8A-4147-A177-3AD203B41FA5}">
                      <a16:colId xmlns:a16="http://schemas.microsoft.com/office/drawing/2014/main" val="65177762"/>
                    </a:ext>
                  </a:extLst>
                </a:gridCol>
                <a:gridCol w="1293019">
                  <a:extLst>
                    <a:ext uri="{9D8B030D-6E8A-4147-A177-3AD203B41FA5}">
                      <a16:colId xmlns:a16="http://schemas.microsoft.com/office/drawing/2014/main" val="3550359160"/>
                    </a:ext>
                  </a:extLst>
                </a:gridCol>
              </a:tblGrid>
              <a:tr h="265223">
                <a:tc>
                  <a:txBody>
                    <a:bodyPr/>
                    <a:lstStyle/>
                    <a:p>
                      <a:pPr algn="ctr" fontAlgn="b">
                        <a:buNone/>
                      </a:pP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gridSpan="6">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Outcome affected</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72059884"/>
                  </a:ext>
                </a:extLst>
              </a:tr>
              <a:tr h="458112">
                <a:tc>
                  <a:txBody>
                    <a:bodyPr/>
                    <a:lstStyle/>
                    <a:p>
                      <a:pPr algn="l" fontAlgn="b">
                        <a:buNone/>
                      </a:pPr>
                      <a:r>
                        <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intervention</a:t>
                      </a: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adult infections</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infant infections </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first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second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third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mortality</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extLst>
                  <a:ext uri="{0D108BD9-81ED-4DB2-BD59-A6C34878D82A}">
                    <a16:rowId xmlns:a16="http://schemas.microsoft.com/office/drawing/2014/main" val="237743197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facility-based (general)</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337716733"/>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facility-based (targeted)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30474901"/>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Network/Index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56017981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community-based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93452433"/>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for key populations &amp; STI services</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082328327"/>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HIVST (Facility-based)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1308791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HIVST (community-based)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923424381"/>
                  </a:ext>
                </a:extLst>
              </a:tr>
            </a:tbl>
          </a:graphicData>
        </a:graphic>
      </p:graphicFrame>
    </p:spTree>
    <p:extLst>
      <p:ext uri="{BB962C8B-B14F-4D97-AF65-F5344CB8AC3E}">
        <p14:creationId xmlns:p14="http://schemas.microsoft.com/office/powerpoint/2010/main" val="4008255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EE6FF-B434-58BC-5B1B-7575986E2A3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55D44D5-FB10-979E-0352-C495A93D8D94}"/>
              </a:ext>
            </a:extLst>
          </p:cNvPr>
          <p:cNvSpPr>
            <a:spLocks noGrp="1"/>
          </p:cNvSpPr>
          <p:nvPr>
            <p:ph type="title"/>
          </p:nvPr>
        </p:nvSpPr>
        <p:spPr>
          <a:xfrm>
            <a:off x="442913" y="1401624"/>
            <a:ext cx="11372850" cy="1260000"/>
          </a:xfrm>
        </p:spPr>
        <p:txBody>
          <a:bodyPr/>
          <a:lstStyle/>
          <a:p>
            <a:r>
              <a:rPr lang="en-GB" noProof="0" dirty="0">
                <a:solidFill>
                  <a:schemeClr val="accent1"/>
                </a:solidFill>
              </a:rPr>
              <a:t>What‘s Included: </a:t>
            </a:r>
            <a:r>
              <a:rPr lang="en-GB" noProof="0" dirty="0">
                <a:solidFill>
                  <a:srgbClr val="00B0F0"/>
                </a:solidFill>
              </a:rPr>
              <a:t>Testing</a:t>
            </a:r>
          </a:p>
        </p:txBody>
      </p:sp>
      <p:graphicFrame>
        <p:nvGraphicFramePr>
          <p:cNvPr id="6" name="Table 5">
            <a:extLst>
              <a:ext uri="{FF2B5EF4-FFF2-40B4-BE49-F238E27FC236}">
                <a16:creationId xmlns:a16="http://schemas.microsoft.com/office/drawing/2014/main" id="{CB56A088-B7AE-C8B2-53C4-F24DD45C6711}"/>
              </a:ext>
            </a:extLst>
          </p:cNvPr>
          <p:cNvGraphicFramePr>
            <a:graphicFrameLocks noGrp="1"/>
          </p:cNvGraphicFramePr>
          <p:nvPr/>
        </p:nvGraphicFramePr>
        <p:xfrm>
          <a:off x="525779" y="2388870"/>
          <a:ext cx="11289984" cy="3799062"/>
        </p:xfrm>
        <a:graphic>
          <a:graphicData uri="http://schemas.openxmlformats.org/drawingml/2006/table">
            <a:tbl>
              <a:tblPr>
                <a:tableStyleId>{616DA210-FB5B-4158-B5E0-FEB733F419BA}</a:tableStyleId>
              </a:tblPr>
              <a:tblGrid>
                <a:gridCol w="3531870">
                  <a:extLst>
                    <a:ext uri="{9D8B030D-6E8A-4147-A177-3AD203B41FA5}">
                      <a16:colId xmlns:a16="http://schemas.microsoft.com/office/drawing/2014/main" val="4120267808"/>
                    </a:ext>
                  </a:extLst>
                </a:gridCol>
                <a:gridCol w="1293019">
                  <a:extLst>
                    <a:ext uri="{9D8B030D-6E8A-4147-A177-3AD203B41FA5}">
                      <a16:colId xmlns:a16="http://schemas.microsoft.com/office/drawing/2014/main" val="1209723872"/>
                    </a:ext>
                  </a:extLst>
                </a:gridCol>
                <a:gridCol w="1293019">
                  <a:extLst>
                    <a:ext uri="{9D8B030D-6E8A-4147-A177-3AD203B41FA5}">
                      <a16:colId xmlns:a16="http://schemas.microsoft.com/office/drawing/2014/main" val="2743590385"/>
                    </a:ext>
                  </a:extLst>
                </a:gridCol>
                <a:gridCol w="1293019">
                  <a:extLst>
                    <a:ext uri="{9D8B030D-6E8A-4147-A177-3AD203B41FA5}">
                      <a16:colId xmlns:a16="http://schemas.microsoft.com/office/drawing/2014/main" val="4208286694"/>
                    </a:ext>
                  </a:extLst>
                </a:gridCol>
                <a:gridCol w="1293019">
                  <a:extLst>
                    <a:ext uri="{9D8B030D-6E8A-4147-A177-3AD203B41FA5}">
                      <a16:colId xmlns:a16="http://schemas.microsoft.com/office/drawing/2014/main" val="3849485650"/>
                    </a:ext>
                  </a:extLst>
                </a:gridCol>
                <a:gridCol w="1293019">
                  <a:extLst>
                    <a:ext uri="{9D8B030D-6E8A-4147-A177-3AD203B41FA5}">
                      <a16:colId xmlns:a16="http://schemas.microsoft.com/office/drawing/2014/main" val="65177762"/>
                    </a:ext>
                  </a:extLst>
                </a:gridCol>
                <a:gridCol w="1293019">
                  <a:extLst>
                    <a:ext uri="{9D8B030D-6E8A-4147-A177-3AD203B41FA5}">
                      <a16:colId xmlns:a16="http://schemas.microsoft.com/office/drawing/2014/main" val="3550359160"/>
                    </a:ext>
                  </a:extLst>
                </a:gridCol>
              </a:tblGrid>
              <a:tr h="265223">
                <a:tc>
                  <a:txBody>
                    <a:bodyPr/>
                    <a:lstStyle/>
                    <a:p>
                      <a:pPr algn="ctr" fontAlgn="b">
                        <a:buNone/>
                      </a:pP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gridSpan="6">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Outcome affected</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72059884"/>
                  </a:ext>
                </a:extLst>
              </a:tr>
              <a:tr h="458112">
                <a:tc>
                  <a:txBody>
                    <a:bodyPr/>
                    <a:lstStyle/>
                    <a:p>
                      <a:pPr algn="l" fontAlgn="b">
                        <a:buNone/>
                      </a:pPr>
                      <a:r>
                        <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intervention</a:t>
                      </a: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adult infections</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infant infections </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first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second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third 95</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tc>
                  <a:txBody>
                    <a:bodyPr/>
                    <a:lstStyle/>
                    <a:p>
                      <a:pPr algn="ctr" fontAlgn="b">
                        <a:buNone/>
                      </a:pPr>
                      <a:r>
                        <a:rPr lang="en-ZA" sz="1600" b="1" u="none" strike="noStrike" dirty="0">
                          <a:effectLst/>
                          <a:latin typeface="Verdana" panose="020B0604030504040204" pitchFamily="34" charset="0"/>
                          <a:ea typeface="Verdana" panose="020B0604030504040204" pitchFamily="34" charset="0"/>
                          <a:cs typeface="Verdana" panose="020B0604030504040204" pitchFamily="34" charset="0"/>
                        </a:rPr>
                        <a:t>mortality</a:t>
                      </a:r>
                      <a:endParaRPr lang="en-ZA" sz="1600"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b">
                    <a:solidFill>
                      <a:srgbClr val="3CB0F1"/>
                    </a:solidFill>
                  </a:tcPr>
                </a:tc>
                <a:extLst>
                  <a:ext uri="{0D108BD9-81ED-4DB2-BD59-A6C34878D82A}">
                    <a16:rowId xmlns:a16="http://schemas.microsoft.com/office/drawing/2014/main" val="237743197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facility-based (general)</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337716733"/>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facility-based (targeted)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30474901"/>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Network/Index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56017981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community-based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93452433"/>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Testing: for key populations &amp; STI services</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3082328327"/>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HIVST (Facility-based)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13087910"/>
                  </a:ext>
                </a:extLst>
              </a:tr>
              <a:tr h="398958">
                <a:tc>
                  <a:txBody>
                    <a:bodyPr/>
                    <a:lstStyle/>
                    <a:p>
                      <a:pPr algn="l"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HIVST (community-based)</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r>
                        <a:rPr lang="en-ZA" sz="1600" u="none" strike="noStrike" dirty="0">
                          <a:effectLst/>
                          <a:latin typeface="Verdana" panose="020B0604030504040204" pitchFamily="34" charset="0"/>
                          <a:ea typeface="Verdana" panose="020B0604030504040204" pitchFamily="34" charset="0"/>
                          <a:cs typeface="Verdana" panose="020B0604030504040204" pitchFamily="34" charset="0"/>
                        </a:rPr>
                        <a:t>X</a:t>
                      </a: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tc>
                  <a:txBody>
                    <a:bodyPr/>
                    <a:lstStyle/>
                    <a:p>
                      <a:pPr algn="ctr" fontAlgn="b">
                        <a:buNone/>
                      </a:pPr>
                      <a:endParaRPr lang="en-ZA" sz="16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3234" marR="3234" marT="3234" marB="0" anchor="b">
                    <a:noFill/>
                  </a:tcPr>
                </a:tc>
                <a:extLst>
                  <a:ext uri="{0D108BD9-81ED-4DB2-BD59-A6C34878D82A}">
                    <a16:rowId xmlns:a16="http://schemas.microsoft.com/office/drawing/2014/main" val="2923424381"/>
                  </a:ext>
                </a:extLst>
              </a:tr>
            </a:tbl>
          </a:graphicData>
        </a:graphic>
      </p:graphicFrame>
    </p:spTree>
    <p:extLst>
      <p:ext uri="{BB962C8B-B14F-4D97-AF65-F5344CB8AC3E}">
        <p14:creationId xmlns:p14="http://schemas.microsoft.com/office/powerpoint/2010/main" val="171447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35E18-BC3F-F6AE-B543-1308EF2175A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AD0F49-C424-9CD6-66BB-8900E66191CF}"/>
              </a:ext>
            </a:extLst>
          </p:cNvPr>
          <p:cNvSpPr>
            <a:spLocks noGrp="1"/>
          </p:cNvSpPr>
          <p:nvPr>
            <p:ph type="title"/>
          </p:nvPr>
        </p:nvSpPr>
        <p:spPr>
          <a:xfrm>
            <a:off x="442913" y="1401624"/>
            <a:ext cx="11372850" cy="1260000"/>
          </a:xfrm>
        </p:spPr>
        <p:txBody>
          <a:bodyPr/>
          <a:lstStyle/>
          <a:p>
            <a:r>
              <a:rPr lang="en-GB" noProof="0" dirty="0">
                <a:solidFill>
                  <a:schemeClr val="accent1"/>
                </a:solidFill>
              </a:rPr>
              <a:t>What‘s Included: Treatment</a:t>
            </a:r>
          </a:p>
        </p:txBody>
      </p:sp>
      <p:sp>
        <p:nvSpPr>
          <p:cNvPr id="3" name="Inhaltsplatzhalter 2">
            <a:extLst>
              <a:ext uri="{FF2B5EF4-FFF2-40B4-BE49-F238E27FC236}">
                <a16:creationId xmlns:a16="http://schemas.microsoft.com/office/drawing/2014/main" id="{DDB4610C-872B-B852-1C9F-9DAA811A4C48}"/>
              </a:ext>
            </a:extLst>
          </p:cNvPr>
          <p:cNvSpPr>
            <a:spLocks noGrp="1"/>
          </p:cNvSpPr>
          <p:nvPr>
            <p:ph idx="1"/>
          </p:nvPr>
        </p:nvSpPr>
        <p:spPr/>
        <p:txBody>
          <a:bodyPr/>
          <a:lstStyle/>
          <a:p>
            <a:pPr marL="457200" indent="-457200">
              <a:buAutoNum type="arabicPeriod"/>
            </a:pPr>
            <a:r>
              <a:rPr lang="en-GB" dirty="0"/>
              <a:t>Conversation with Jeff Eaton </a:t>
            </a:r>
          </a:p>
          <a:p>
            <a:pPr marL="457200" indent="-457200">
              <a:buAutoNum type="arabicPeriod"/>
            </a:pPr>
            <a:r>
              <a:rPr lang="en-GB" dirty="0"/>
              <a:t>Leigh Johnson 2019 paper</a:t>
            </a:r>
          </a:p>
          <a:p>
            <a:pPr marL="457200" indent="-457200">
              <a:buAutoNum type="arabicPeriod"/>
            </a:pPr>
            <a:r>
              <a:rPr lang="en-GB" dirty="0"/>
              <a:t>Giguere et al 2021 Lancet HIV paper</a:t>
            </a:r>
          </a:p>
          <a:p>
            <a:pPr marL="457200" indent="-457200">
              <a:buAutoNum type="arabicPeriod"/>
            </a:pPr>
            <a:r>
              <a:rPr lang="en-GB" dirty="0"/>
              <a:t>HTS-POS targets, Malawi</a:t>
            </a:r>
          </a:p>
          <a:p>
            <a:pPr marL="457200" indent="-457200">
              <a:buAutoNum type="arabicPeriod"/>
            </a:pPr>
            <a:r>
              <a:rPr lang="en-GB" dirty="0"/>
              <a:t>Reflection on discussion with Karen Jennings</a:t>
            </a:r>
          </a:p>
          <a:p>
            <a:pPr marL="457200" indent="-457200">
              <a:buAutoNum type="arabicPeriod"/>
            </a:pPr>
            <a:r>
              <a:rPr lang="en-GB" dirty="0"/>
              <a:t>PEPFAR data, Brian </a:t>
            </a:r>
            <a:r>
              <a:rPr lang="en-GB" dirty="0" err="1"/>
              <a:t>Honerman</a:t>
            </a:r>
            <a:endParaRPr lang="en-GB" dirty="0"/>
          </a:p>
          <a:p>
            <a:pPr marL="457200" indent="-457200">
              <a:buAutoNum type="arabicPeriod"/>
            </a:pPr>
            <a:r>
              <a:rPr lang="en-GB" dirty="0"/>
              <a:t>Chamie et al 2021 Lancet HIV paper</a:t>
            </a:r>
          </a:p>
          <a:p>
            <a:pPr marL="457200" indent="-457200">
              <a:buAutoNum type="arabicPeriod"/>
            </a:pPr>
            <a:r>
              <a:rPr lang="en-GB" dirty="0"/>
              <a:t>UNAIDS data on first and second 90s</a:t>
            </a:r>
          </a:p>
        </p:txBody>
      </p:sp>
    </p:spTree>
    <p:extLst>
      <p:ext uri="{BB962C8B-B14F-4D97-AF65-F5344CB8AC3E}">
        <p14:creationId xmlns:p14="http://schemas.microsoft.com/office/powerpoint/2010/main" val="102913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6C89-5FF0-42C3-C8A5-7FD0E294B25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5D16C2-689B-A2CB-2017-20F0570B2061}"/>
              </a:ext>
            </a:extLst>
          </p:cNvPr>
          <p:cNvSpPr>
            <a:spLocks noGrp="1"/>
          </p:cNvSpPr>
          <p:nvPr>
            <p:ph type="title"/>
          </p:nvPr>
        </p:nvSpPr>
        <p:spPr>
          <a:xfrm>
            <a:off x="442913" y="1401624"/>
            <a:ext cx="11372850" cy="1260000"/>
          </a:xfrm>
        </p:spPr>
        <p:txBody>
          <a:bodyPr/>
          <a:lstStyle/>
          <a:p>
            <a:r>
              <a:rPr lang="en-GB" noProof="0" dirty="0">
                <a:solidFill>
                  <a:schemeClr val="accent1"/>
                </a:solidFill>
              </a:rPr>
              <a:t>What‘s Included: Treatment</a:t>
            </a:r>
          </a:p>
        </p:txBody>
      </p:sp>
      <p:sp>
        <p:nvSpPr>
          <p:cNvPr id="3" name="Inhaltsplatzhalter 2">
            <a:extLst>
              <a:ext uri="{FF2B5EF4-FFF2-40B4-BE49-F238E27FC236}">
                <a16:creationId xmlns:a16="http://schemas.microsoft.com/office/drawing/2014/main" id="{B4AB7417-9F22-BD96-D82C-1F124CA59F31}"/>
              </a:ext>
            </a:extLst>
          </p:cNvPr>
          <p:cNvSpPr>
            <a:spLocks noGrp="1"/>
          </p:cNvSpPr>
          <p:nvPr>
            <p:ph idx="1"/>
          </p:nvPr>
        </p:nvSpPr>
        <p:spPr/>
        <p:txBody>
          <a:bodyPr/>
          <a:lstStyle/>
          <a:p>
            <a:pPr marL="457200" indent="-457200">
              <a:buAutoNum type="arabicPeriod"/>
            </a:pPr>
            <a:r>
              <a:rPr lang="en-GB" dirty="0"/>
              <a:t>Conversation with Jeff Eaton </a:t>
            </a:r>
          </a:p>
          <a:p>
            <a:pPr marL="457200" indent="-457200">
              <a:buAutoNum type="arabicPeriod"/>
            </a:pPr>
            <a:r>
              <a:rPr lang="en-GB" dirty="0"/>
              <a:t>Leigh Johnson 2019 paper</a:t>
            </a:r>
          </a:p>
          <a:p>
            <a:pPr marL="457200" indent="-457200">
              <a:buAutoNum type="arabicPeriod"/>
            </a:pPr>
            <a:r>
              <a:rPr lang="en-GB" dirty="0"/>
              <a:t>Giguere et al 2021 Lancet HIV paper</a:t>
            </a:r>
          </a:p>
          <a:p>
            <a:pPr marL="457200" indent="-457200">
              <a:buAutoNum type="arabicPeriod"/>
            </a:pPr>
            <a:r>
              <a:rPr lang="en-GB" dirty="0"/>
              <a:t>HTS-POS targets, Malawi</a:t>
            </a:r>
          </a:p>
          <a:p>
            <a:pPr marL="457200" indent="-457200">
              <a:buAutoNum type="arabicPeriod"/>
            </a:pPr>
            <a:r>
              <a:rPr lang="en-GB" dirty="0"/>
              <a:t>Reflection on discussion with Karen Jennings</a:t>
            </a:r>
          </a:p>
          <a:p>
            <a:pPr marL="457200" indent="-457200">
              <a:buAutoNum type="arabicPeriod"/>
            </a:pPr>
            <a:r>
              <a:rPr lang="en-GB" dirty="0"/>
              <a:t>PEPFAR data, Brian </a:t>
            </a:r>
            <a:r>
              <a:rPr lang="en-GB" dirty="0" err="1"/>
              <a:t>Honerman</a:t>
            </a:r>
            <a:endParaRPr lang="en-GB" dirty="0"/>
          </a:p>
          <a:p>
            <a:pPr marL="457200" indent="-457200">
              <a:buAutoNum type="arabicPeriod"/>
            </a:pPr>
            <a:r>
              <a:rPr lang="en-GB" dirty="0"/>
              <a:t>Chamie et al 2021 Lancet HIV paper</a:t>
            </a:r>
          </a:p>
          <a:p>
            <a:pPr marL="457200" indent="-457200">
              <a:buAutoNum type="arabicPeriod"/>
            </a:pPr>
            <a:r>
              <a:rPr lang="en-GB" dirty="0"/>
              <a:t>UNAIDS data on first and second 90s</a:t>
            </a:r>
          </a:p>
        </p:txBody>
      </p:sp>
    </p:spTree>
    <p:extLst>
      <p:ext uri="{BB962C8B-B14F-4D97-AF65-F5344CB8AC3E}">
        <p14:creationId xmlns:p14="http://schemas.microsoft.com/office/powerpoint/2010/main" val="1429465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6EB762-B210-4CC4-9F39-572EC03B556D}"/>
              </a:ext>
            </a:extLst>
          </p:cNvPr>
          <p:cNvSpPr>
            <a:spLocks noGrp="1"/>
          </p:cNvSpPr>
          <p:nvPr>
            <p:ph type="title"/>
          </p:nvPr>
        </p:nvSpPr>
        <p:spPr/>
        <p:txBody>
          <a:bodyPr/>
          <a:lstStyle/>
          <a:p>
            <a:r>
              <a:rPr lang="en-GB" dirty="0"/>
              <a:t>1. Jeff Eaton</a:t>
            </a:r>
          </a:p>
        </p:txBody>
      </p:sp>
      <p:sp>
        <p:nvSpPr>
          <p:cNvPr id="3" name="Inhaltsplatzhalter 2">
            <a:extLst>
              <a:ext uri="{FF2B5EF4-FFF2-40B4-BE49-F238E27FC236}">
                <a16:creationId xmlns:a16="http://schemas.microsoft.com/office/drawing/2014/main" id="{04DD0E3C-3675-44C6-AE22-972FDE27B6FE}"/>
              </a:ext>
            </a:extLst>
          </p:cNvPr>
          <p:cNvSpPr>
            <a:spLocks noGrp="1"/>
          </p:cNvSpPr>
          <p:nvPr>
            <p:ph idx="1"/>
          </p:nvPr>
        </p:nvSpPr>
        <p:spPr/>
        <p:txBody>
          <a:bodyPr/>
          <a:lstStyle/>
          <a:p>
            <a:pPr lvl="0"/>
            <a:r>
              <a:rPr lang="en-GB" sz="1800" dirty="0"/>
              <a:t>We’ve made progress on the “retesting” point – that those who have been previously diagnosed but are on not on treatment require HIV testing. Need to somehow attach a value to finding those who’ve been previously diagnosed.</a:t>
            </a:r>
          </a:p>
          <a:p>
            <a:pPr lvl="0"/>
            <a:endParaRPr lang="en-GB" sz="1800" dirty="0"/>
          </a:p>
          <a:p>
            <a:pPr lvl="0"/>
            <a:r>
              <a:rPr lang="en-GB" sz="1800" dirty="0"/>
              <a:t>Testing needs to be not about restricting access, but looking at who to invest in going and findings vs. testing those who present</a:t>
            </a:r>
          </a:p>
          <a:p>
            <a:pPr lvl="0"/>
            <a:endParaRPr lang="en-GB" sz="1800" dirty="0"/>
          </a:p>
          <a:p>
            <a:r>
              <a:rPr lang="en-GB" sz="1800" dirty="0"/>
              <a:t>Testing is cheap, testing those who don’t need it is expensive </a:t>
            </a:r>
          </a:p>
        </p:txBody>
      </p:sp>
    </p:spTree>
    <p:extLst>
      <p:ext uri="{BB962C8B-B14F-4D97-AF65-F5344CB8AC3E}">
        <p14:creationId xmlns:p14="http://schemas.microsoft.com/office/powerpoint/2010/main" val="1996988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6EB762-B210-4CC4-9F39-572EC03B556D}"/>
              </a:ext>
            </a:extLst>
          </p:cNvPr>
          <p:cNvSpPr>
            <a:spLocks noGrp="1"/>
          </p:cNvSpPr>
          <p:nvPr>
            <p:ph type="title"/>
          </p:nvPr>
        </p:nvSpPr>
        <p:spPr/>
        <p:txBody>
          <a:bodyPr/>
          <a:lstStyle/>
          <a:p>
            <a:r>
              <a:rPr lang="en-GB" dirty="0"/>
              <a:t>2. Leigh Johnson et al, 2019</a:t>
            </a:r>
          </a:p>
        </p:txBody>
      </p:sp>
      <p:sp>
        <p:nvSpPr>
          <p:cNvPr id="3" name="Inhaltsplatzhalter 2">
            <a:extLst>
              <a:ext uri="{FF2B5EF4-FFF2-40B4-BE49-F238E27FC236}">
                <a16:creationId xmlns:a16="http://schemas.microsoft.com/office/drawing/2014/main" id="{04DD0E3C-3675-44C6-AE22-972FDE27B6FE}"/>
              </a:ext>
            </a:extLst>
          </p:cNvPr>
          <p:cNvSpPr>
            <a:spLocks noGrp="1"/>
          </p:cNvSpPr>
          <p:nvPr>
            <p:ph idx="1"/>
          </p:nvPr>
        </p:nvSpPr>
        <p:spPr/>
        <p:txBody>
          <a:bodyPr/>
          <a:lstStyle/>
          <a:p>
            <a:pPr lvl="0"/>
            <a:r>
              <a:rPr lang="en-GB" dirty="0"/>
              <a:t>Compared the impact and cost-effectiveness of several potential new testing strategies in South Africa</a:t>
            </a:r>
          </a:p>
          <a:p>
            <a:pPr lvl="0"/>
            <a:endParaRPr lang="en-GB" sz="3200" dirty="0"/>
          </a:p>
          <a:p>
            <a:pPr lvl="1">
              <a:buFont typeface="Wingdings" pitchFamily="2" charset="2"/>
              <a:buChar char="§"/>
            </a:pPr>
            <a:r>
              <a:rPr lang="en-GB" dirty="0"/>
              <a:t>Home-based testing combined with self-testing would have the greatest impact</a:t>
            </a:r>
          </a:p>
          <a:p>
            <a:pPr lvl="1">
              <a:buFont typeface="Wingdings" pitchFamily="2" charset="2"/>
              <a:buChar char="§"/>
            </a:pPr>
            <a:endParaRPr lang="en-GB" sz="3200" dirty="0"/>
          </a:p>
          <a:p>
            <a:pPr lvl="1">
              <a:buFont typeface="Wingdings" pitchFamily="2" charset="2"/>
              <a:buChar char="§"/>
            </a:pPr>
            <a:r>
              <a:rPr lang="en-GB" dirty="0"/>
              <a:t>Testing in FSWs and assisted partner notification would be cost-saving</a:t>
            </a:r>
            <a:endParaRPr lang="en-GB" sz="3200" dirty="0"/>
          </a:p>
        </p:txBody>
      </p:sp>
      <p:sp>
        <p:nvSpPr>
          <p:cNvPr id="7" name="Bildplatzhalter 6">
            <a:extLst>
              <a:ext uri="{FF2B5EF4-FFF2-40B4-BE49-F238E27FC236}">
                <a16:creationId xmlns:a16="http://schemas.microsoft.com/office/drawing/2014/main" id="{4BAD8F13-B027-4BA8-A57B-CCC5C9759C27}"/>
              </a:ext>
            </a:extLst>
          </p:cNvPr>
          <p:cNvSpPr>
            <a:spLocks noGrp="1"/>
          </p:cNvSpPr>
          <p:nvPr>
            <p:ph type="pic" sz="quarter" idx="12"/>
          </p:nvPr>
        </p:nvSpPr>
        <p:spPr/>
        <p:txBody>
          <a:bodyPr/>
          <a:lstStyle/>
          <a:p>
            <a:endParaRPr lang="en-GB" dirty="0"/>
          </a:p>
        </p:txBody>
      </p:sp>
      <p:pic>
        <p:nvPicPr>
          <p:cNvPr id="6" name="Picture 5">
            <a:extLst>
              <a:ext uri="{FF2B5EF4-FFF2-40B4-BE49-F238E27FC236}">
                <a16:creationId xmlns:a16="http://schemas.microsoft.com/office/drawing/2014/main" id="{B5BE4494-9185-1A49-8862-8CF85BFF20E3}"/>
              </a:ext>
            </a:extLst>
          </p:cNvPr>
          <p:cNvPicPr>
            <a:picLocks noChangeAspect="1"/>
          </p:cNvPicPr>
          <p:nvPr/>
        </p:nvPicPr>
        <p:blipFill>
          <a:blip r:embed="rId2"/>
          <a:stretch>
            <a:fillRect/>
          </a:stretch>
        </p:blipFill>
        <p:spPr>
          <a:xfrm>
            <a:off x="6954982" y="0"/>
            <a:ext cx="5237018" cy="6858000"/>
          </a:xfrm>
          <a:prstGeom prst="rect">
            <a:avLst/>
          </a:prstGeom>
        </p:spPr>
      </p:pic>
      <p:sp>
        <p:nvSpPr>
          <p:cNvPr id="8" name="TextBox 7">
            <a:extLst>
              <a:ext uri="{FF2B5EF4-FFF2-40B4-BE49-F238E27FC236}">
                <a16:creationId xmlns:a16="http://schemas.microsoft.com/office/drawing/2014/main" id="{18494DE0-03C5-A143-A7AA-B18188B6A97B}"/>
              </a:ext>
            </a:extLst>
          </p:cNvPr>
          <p:cNvSpPr txBox="1"/>
          <p:nvPr/>
        </p:nvSpPr>
        <p:spPr>
          <a:xfrm>
            <a:off x="442913" y="6339840"/>
            <a:ext cx="4937760" cy="369332"/>
          </a:xfrm>
          <a:prstGeom prst="rect">
            <a:avLst/>
          </a:prstGeom>
          <a:noFill/>
        </p:spPr>
        <p:txBody>
          <a:bodyPr wrap="square" rtlCol="0">
            <a:spAutoFit/>
          </a:bodyPr>
          <a:lstStyle/>
          <a:p>
            <a:r>
              <a:rPr lang="en-GB" dirty="0">
                <a:hlinkClick r:id="rId3"/>
              </a:rPr>
              <a:t>https://pubmed.ncbi.nlm.nih.gov/31477764/</a:t>
            </a:r>
            <a:endParaRPr lang="en-GB" dirty="0"/>
          </a:p>
        </p:txBody>
      </p:sp>
    </p:spTree>
    <p:extLst>
      <p:ext uri="{BB962C8B-B14F-4D97-AF65-F5344CB8AC3E}">
        <p14:creationId xmlns:p14="http://schemas.microsoft.com/office/powerpoint/2010/main" val="3592092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DA7417D-B668-AE4D-AD87-58BDC80D26F4}"/>
              </a:ext>
            </a:extLst>
          </p:cNvPr>
          <p:cNvSpPr>
            <a:spLocks noGrp="1"/>
          </p:cNvSpPr>
          <p:nvPr>
            <p:ph type="body" sz="quarter" idx="12"/>
          </p:nvPr>
        </p:nvSpPr>
        <p:spPr/>
        <p:txBody>
          <a:bodyPr/>
          <a:lstStyle/>
          <a:p>
            <a:endParaRPr lang="en-GB" dirty="0"/>
          </a:p>
        </p:txBody>
      </p:sp>
      <p:graphicFrame>
        <p:nvGraphicFramePr>
          <p:cNvPr id="5" name="Chart 4">
            <a:extLst>
              <a:ext uri="{FF2B5EF4-FFF2-40B4-BE49-F238E27FC236}">
                <a16:creationId xmlns:a16="http://schemas.microsoft.com/office/drawing/2014/main" id="{0B66F6CF-46B2-B141-9C24-FCCCFE666044}"/>
              </a:ext>
            </a:extLst>
          </p:cNvPr>
          <p:cNvGraphicFramePr>
            <a:graphicFrameLocks/>
          </p:cNvGraphicFramePr>
          <p:nvPr>
            <p:extLst>
              <p:ext uri="{D42A27DB-BD31-4B8C-83A1-F6EECF244321}">
                <p14:modId xmlns:p14="http://schemas.microsoft.com/office/powerpoint/2010/main" val="3913057921"/>
              </p:ext>
            </p:extLst>
          </p:nvPr>
        </p:nvGraphicFramePr>
        <p:xfrm>
          <a:off x="3725862" y="1346515"/>
          <a:ext cx="8374698" cy="471138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EA6B60C4-8644-A146-AE06-3E19DD6B7F04}"/>
              </a:ext>
            </a:extLst>
          </p:cNvPr>
          <p:cNvSpPr txBox="1"/>
          <p:nvPr/>
        </p:nvSpPr>
        <p:spPr>
          <a:xfrm>
            <a:off x="442913" y="6339840"/>
            <a:ext cx="4937760" cy="246221"/>
          </a:xfrm>
          <a:prstGeom prst="rect">
            <a:avLst/>
          </a:prstGeom>
          <a:noFill/>
        </p:spPr>
        <p:txBody>
          <a:bodyPr wrap="square" rtlCol="0">
            <a:spAutoFit/>
          </a:bodyPr>
          <a:lstStyle/>
          <a:p>
            <a:r>
              <a:rPr lang="en-GB" sz="1000" dirty="0">
                <a:hlinkClick r:id="rId4"/>
              </a:rPr>
              <a:t>https://pubmed.ncbi.nlm.nih.gov/31477764/</a:t>
            </a:r>
            <a:endParaRPr lang="en-GB" sz="1000" dirty="0"/>
          </a:p>
        </p:txBody>
      </p:sp>
    </p:spTree>
    <p:extLst>
      <p:ext uri="{BB962C8B-B14F-4D97-AF65-F5344CB8AC3E}">
        <p14:creationId xmlns:p14="http://schemas.microsoft.com/office/powerpoint/2010/main" val="4250927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BD102B95-CCD9-48DC-BFEC-5EC705374F69}"/>
              </a:ext>
            </a:extLst>
          </p:cNvPr>
          <p:cNvSpPr>
            <a:spLocks noGrp="1"/>
          </p:cNvSpPr>
          <p:nvPr>
            <p:ph type="body" sz="quarter" idx="12"/>
          </p:nvPr>
        </p:nvSpPr>
        <p:spPr/>
        <p:txBody>
          <a:bodyPr/>
          <a:lstStyle/>
          <a:p>
            <a:pPr lvl="0"/>
            <a:r>
              <a:rPr lang="en-GB" sz="2400" dirty="0"/>
              <a:t>As noted recently by De Cock and colleagues, there is a clear tension between pursuing the HIV testing strategies that are most efficient and the strategies that have the greatest impact10 strategies such as assisted partner notification, testing in FSWs and MSM, and secondary distribution of self-testing to partners of pregnant women were highly cost-effective (possibly even cost-saving) but had only a very modest impact on population-level HIV incidence and mortality. In contrast, home-based HIV testing was predicted to have the most substantial impact on HIV incidence and mortality, but at the expense of relatively low yields and cost-effectiveness. “</a:t>
            </a:r>
          </a:p>
          <a:p>
            <a:pPr lvl="1"/>
            <a:endParaRPr lang="en-GB" dirty="0"/>
          </a:p>
        </p:txBody>
      </p:sp>
      <p:sp>
        <p:nvSpPr>
          <p:cNvPr id="5" name="TextBox 4">
            <a:extLst>
              <a:ext uri="{FF2B5EF4-FFF2-40B4-BE49-F238E27FC236}">
                <a16:creationId xmlns:a16="http://schemas.microsoft.com/office/drawing/2014/main" id="{854D9642-8018-924B-949D-F05591141915}"/>
              </a:ext>
            </a:extLst>
          </p:cNvPr>
          <p:cNvSpPr txBox="1"/>
          <p:nvPr/>
        </p:nvSpPr>
        <p:spPr>
          <a:xfrm>
            <a:off x="442913" y="6339840"/>
            <a:ext cx="4937760" cy="246221"/>
          </a:xfrm>
          <a:prstGeom prst="rect">
            <a:avLst/>
          </a:prstGeom>
          <a:noFill/>
        </p:spPr>
        <p:txBody>
          <a:bodyPr wrap="square" rtlCol="0">
            <a:spAutoFit/>
          </a:bodyPr>
          <a:lstStyle/>
          <a:p>
            <a:r>
              <a:rPr lang="en-GB" sz="1000" dirty="0">
                <a:hlinkClick r:id="rId2"/>
              </a:rPr>
              <a:t>https://pubmed.ncbi.nlm.nih.gov/31477764/</a:t>
            </a:r>
            <a:endParaRPr lang="en-GB" sz="1000" dirty="0"/>
          </a:p>
        </p:txBody>
      </p:sp>
    </p:spTree>
    <p:extLst>
      <p:ext uri="{BB962C8B-B14F-4D97-AF65-F5344CB8AC3E}">
        <p14:creationId xmlns:p14="http://schemas.microsoft.com/office/powerpoint/2010/main" val="3940327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BD102B95-CCD9-48DC-BFEC-5EC705374F69}"/>
              </a:ext>
            </a:extLst>
          </p:cNvPr>
          <p:cNvSpPr>
            <a:spLocks noGrp="1"/>
          </p:cNvSpPr>
          <p:nvPr>
            <p:ph type="body" sz="quarter" idx="12"/>
          </p:nvPr>
        </p:nvSpPr>
        <p:spPr/>
        <p:txBody>
          <a:bodyPr/>
          <a:lstStyle/>
          <a:p>
            <a:r>
              <a:rPr lang="en-GB" sz="2400" dirty="0"/>
              <a:t>Although South Africa is already close to the 90% diagnosis target in adults, South Africa is unlikely to achieve the 95% target by 2030 in the absence of major changes to HIV testing programmes, and strategies such as home-based testing may be crucial to achieving this. The challenges that South Africa faces in reaching the 95% target are to some extent a reflection of the challenges that the country faces in reducing HIV incidence, as the fraction diagnosed can only be increased substantially if the annual number of new diagnoses exceeds the annual number of new infections.</a:t>
            </a:r>
          </a:p>
          <a:p>
            <a:pPr lvl="1"/>
            <a:endParaRPr lang="en-GB" sz="2400" dirty="0"/>
          </a:p>
        </p:txBody>
      </p:sp>
      <p:sp>
        <p:nvSpPr>
          <p:cNvPr id="5" name="TextBox 4">
            <a:extLst>
              <a:ext uri="{FF2B5EF4-FFF2-40B4-BE49-F238E27FC236}">
                <a16:creationId xmlns:a16="http://schemas.microsoft.com/office/drawing/2014/main" id="{854D9642-8018-924B-949D-F05591141915}"/>
              </a:ext>
            </a:extLst>
          </p:cNvPr>
          <p:cNvSpPr txBox="1"/>
          <p:nvPr/>
        </p:nvSpPr>
        <p:spPr>
          <a:xfrm>
            <a:off x="442913" y="6339840"/>
            <a:ext cx="4937760" cy="246221"/>
          </a:xfrm>
          <a:prstGeom prst="rect">
            <a:avLst/>
          </a:prstGeom>
          <a:noFill/>
        </p:spPr>
        <p:txBody>
          <a:bodyPr wrap="square" rtlCol="0">
            <a:spAutoFit/>
          </a:bodyPr>
          <a:lstStyle/>
          <a:p>
            <a:r>
              <a:rPr lang="en-GB" sz="1000" dirty="0">
                <a:hlinkClick r:id="rId2"/>
              </a:rPr>
              <a:t>https://pubmed.ncbi.nlm.nih.gov/31477764/</a:t>
            </a:r>
            <a:endParaRPr lang="en-GB" sz="1000" dirty="0"/>
          </a:p>
        </p:txBody>
      </p:sp>
    </p:spTree>
    <p:extLst>
      <p:ext uri="{BB962C8B-B14F-4D97-AF65-F5344CB8AC3E}">
        <p14:creationId xmlns:p14="http://schemas.microsoft.com/office/powerpoint/2010/main" val="4012309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BD102B95-CCD9-48DC-BFEC-5EC705374F69}"/>
              </a:ext>
            </a:extLst>
          </p:cNvPr>
          <p:cNvSpPr>
            <a:spLocks noGrp="1"/>
          </p:cNvSpPr>
          <p:nvPr>
            <p:ph type="body" sz="quarter" idx="12"/>
          </p:nvPr>
        </p:nvSpPr>
        <p:spPr/>
        <p:txBody>
          <a:bodyPr/>
          <a:lstStyle/>
          <a:p>
            <a:r>
              <a:rPr lang="en-GB" sz="3000" dirty="0"/>
              <a:t>much of the modelled benefit of testing arises from retesting previously-diagnosed individuals who have either never linked to HIV care or dropped out of care. Although such retesting of previously-diagnosed individuals is often considered a ‘waste’ of scare testing resources, it may be important in facilitating linkage to care and (re)initiation of ART.”</a:t>
            </a:r>
          </a:p>
        </p:txBody>
      </p:sp>
      <p:sp>
        <p:nvSpPr>
          <p:cNvPr id="5" name="TextBox 4">
            <a:extLst>
              <a:ext uri="{FF2B5EF4-FFF2-40B4-BE49-F238E27FC236}">
                <a16:creationId xmlns:a16="http://schemas.microsoft.com/office/drawing/2014/main" id="{854D9642-8018-924B-949D-F05591141915}"/>
              </a:ext>
            </a:extLst>
          </p:cNvPr>
          <p:cNvSpPr txBox="1"/>
          <p:nvPr/>
        </p:nvSpPr>
        <p:spPr>
          <a:xfrm>
            <a:off x="442913" y="6339840"/>
            <a:ext cx="4937760" cy="246221"/>
          </a:xfrm>
          <a:prstGeom prst="rect">
            <a:avLst/>
          </a:prstGeom>
          <a:noFill/>
        </p:spPr>
        <p:txBody>
          <a:bodyPr wrap="square" rtlCol="0">
            <a:spAutoFit/>
          </a:bodyPr>
          <a:lstStyle/>
          <a:p>
            <a:r>
              <a:rPr lang="en-GB" sz="1000" dirty="0">
                <a:hlinkClick r:id="rId2"/>
              </a:rPr>
              <a:t>https://pubmed.ncbi.nlm.nih.gov/31477764/</a:t>
            </a:r>
            <a:endParaRPr lang="en-GB" sz="1000" dirty="0"/>
          </a:p>
        </p:txBody>
      </p:sp>
    </p:spTree>
    <p:extLst>
      <p:ext uri="{BB962C8B-B14F-4D97-AF65-F5344CB8AC3E}">
        <p14:creationId xmlns:p14="http://schemas.microsoft.com/office/powerpoint/2010/main" val="2514332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BD102B95-CCD9-48DC-BFEC-5EC705374F69}"/>
              </a:ext>
            </a:extLst>
          </p:cNvPr>
          <p:cNvSpPr>
            <a:spLocks noGrp="1"/>
          </p:cNvSpPr>
          <p:nvPr>
            <p:ph type="body" sz="quarter" idx="12"/>
          </p:nvPr>
        </p:nvSpPr>
        <p:spPr/>
        <p:txBody>
          <a:bodyPr/>
          <a:lstStyle/>
          <a:p>
            <a:pPr lvl="0"/>
            <a:r>
              <a:rPr lang="en-GB" sz="3000" dirty="0"/>
              <a:t>Our sensitivity analyses suggest that the cost per life year saved reduces significantly as the relative rate of testing in previously-diagnosed untreated individuals increases, and thus it is important to consider repeat diagnoses as well as new diagnoses.</a:t>
            </a:r>
          </a:p>
        </p:txBody>
      </p:sp>
      <p:sp>
        <p:nvSpPr>
          <p:cNvPr id="5" name="TextBox 4">
            <a:extLst>
              <a:ext uri="{FF2B5EF4-FFF2-40B4-BE49-F238E27FC236}">
                <a16:creationId xmlns:a16="http://schemas.microsoft.com/office/drawing/2014/main" id="{854D9642-8018-924B-949D-F05591141915}"/>
              </a:ext>
            </a:extLst>
          </p:cNvPr>
          <p:cNvSpPr txBox="1"/>
          <p:nvPr/>
        </p:nvSpPr>
        <p:spPr>
          <a:xfrm>
            <a:off x="442913" y="6339840"/>
            <a:ext cx="4937760" cy="246221"/>
          </a:xfrm>
          <a:prstGeom prst="rect">
            <a:avLst/>
          </a:prstGeom>
          <a:noFill/>
        </p:spPr>
        <p:txBody>
          <a:bodyPr wrap="square" rtlCol="0">
            <a:spAutoFit/>
          </a:bodyPr>
          <a:lstStyle/>
          <a:p>
            <a:r>
              <a:rPr lang="en-GB" sz="1000" dirty="0">
                <a:hlinkClick r:id="rId2"/>
              </a:rPr>
              <a:t>https://pubmed.ncbi.nlm.nih.gov/31477764/</a:t>
            </a:r>
            <a:endParaRPr lang="en-GB" sz="1000" dirty="0"/>
          </a:p>
        </p:txBody>
      </p:sp>
    </p:spTree>
    <p:extLst>
      <p:ext uri="{BB962C8B-B14F-4D97-AF65-F5344CB8AC3E}">
        <p14:creationId xmlns:p14="http://schemas.microsoft.com/office/powerpoint/2010/main" val="231447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6EB762-B210-4CC4-9F39-572EC03B556D}"/>
              </a:ext>
            </a:extLst>
          </p:cNvPr>
          <p:cNvSpPr>
            <a:spLocks noGrp="1"/>
          </p:cNvSpPr>
          <p:nvPr>
            <p:ph type="title"/>
          </p:nvPr>
        </p:nvSpPr>
        <p:spPr/>
        <p:txBody>
          <a:bodyPr/>
          <a:lstStyle/>
          <a:p>
            <a:r>
              <a:rPr lang="en-GB" dirty="0"/>
              <a:t>3. </a:t>
            </a:r>
            <a:r>
              <a:rPr lang="en-GB" dirty="0" err="1"/>
              <a:t>Giguère</a:t>
            </a:r>
            <a:r>
              <a:rPr lang="en-GB" dirty="0"/>
              <a:t> et al, 2021 </a:t>
            </a:r>
          </a:p>
        </p:txBody>
      </p:sp>
      <p:sp>
        <p:nvSpPr>
          <p:cNvPr id="3" name="Inhaltsplatzhalter 2">
            <a:extLst>
              <a:ext uri="{FF2B5EF4-FFF2-40B4-BE49-F238E27FC236}">
                <a16:creationId xmlns:a16="http://schemas.microsoft.com/office/drawing/2014/main" id="{04DD0E3C-3675-44C6-AE22-972FDE27B6FE}"/>
              </a:ext>
            </a:extLst>
          </p:cNvPr>
          <p:cNvSpPr>
            <a:spLocks noGrp="1"/>
          </p:cNvSpPr>
          <p:nvPr>
            <p:ph idx="1"/>
          </p:nvPr>
        </p:nvSpPr>
        <p:spPr/>
        <p:txBody>
          <a:bodyPr/>
          <a:lstStyle/>
          <a:p>
            <a:pPr lvl="0"/>
            <a:r>
              <a:rPr lang="en-GB" dirty="0"/>
              <a:t>Modelled first 90 data for 40 countries in sub-Saharan Africa between 2000-2019 (and projected 2020)</a:t>
            </a:r>
          </a:p>
          <a:p>
            <a:pPr lvl="0"/>
            <a:r>
              <a:rPr lang="en-GB" dirty="0"/>
              <a:t>Across sub-Saharan Africa, increase in knowledge of status from 5.7% (2000) to 84% (2020)</a:t>
            </a:r>
          </a:p>
          <a:p>
            <a:pPr lvl="1"/>
            <a:r>
              <a:rPr lang="en-GB" dirty="0"/>
              <a:t>Lower among men than women, younger (15-24 years of age) compared to older, </a:t>
            </a:r>
            <a:r>
              <a:rPr lang="en-GB" b="1" dirty="0"/>
              <a:t>largest gap in terms of absolute numbers was among men aged 35-49 years</a:t>
            </a:r>
            <a:endParaRPr lang="en-GB" dirty="0"/>
          </a:p>
          <a:p>
            <a:pPr lvl="0"/>
            <a:endParaRPr lang="en-GB" sz="3200" dirty="0"/>
          </a:p>
        </p:txBody>
      </p:sp>
      <p:sp>
        <p:nvSpPr>
          <p:cNvPr id="7" name="Bildplatzhalter 6">
            <a:extLst>
              <a:ext uri="{FF2B5EF4-FFF2-40B4-BE49-F238E27FC236}">
                <a16:creationId xmlns:a16="http://schemas.microsoft.com/office/drawing/2014/main" id="{4BAD8F13-B027-4BA8-A57B-CCC5C9759C27}"/>
              </a:ext>
            </a:extLst>
          </p:cNvPr>
          <p:cNvSpPr>
            <a:spLocks noGrp="1"/>
          </p:cNvSpPr>
          <p:nvPr>
            <p:ph type="pic" sz="quarter" idx="12"/>
          </p:nvPr>
        </p:nvSpPr>
        <p:spPr/>
        <p:txBody>
          <a:bodyPr/>
          <a:lstStyle/>
          <a:p>
            <a:endParaRPr lang="en-GB" dirty="0"/>
          </a:p>
        </p:txBody>
      </p:sp>
      <p:sp>
        <p:nvSpPr>
          <p:cNvPr id="8" name="TextBox 7">
            <a:extLst>
              <a:ext uri="{FF2B5EF4-FFF2-40B4-BE49-F238E27FC236}">
                <a16:creationId xmlns:a16="http://schemas.microsoft.com/office/drawing/2014/main" id="{18494DE0-03C5-A143-A7AA-B18188B6A97B}"/>
              </a:ext>
            </a:extLst>
          </p:cNvPr>
          <p:cNvSpPr txBox="1"/>
          <p:nvPr/>
        </p:nvSpPr>
        <p:spPr>
          <a:xfrm>
            <a:off x="442913" y="6339840"/>
            <a:ext cx="4937760" cy="369332"/>
          </a:xfrm>
          <a:prstGeom prst="rect">
            <a:avLst/>
          </a:prstGeom>
          <a:noFill/>
        </p:spPr>
        <p:txBody>
          <a:bodyPr wrap="square" rtlCol="0">
            <a:spAutoFit/>
          </a:bodyPr>
          <a:lstStyle/>
          <a:p>
            <a:r>
              <a:rPr lang="en-GB" dirty="0">
                <a:hlinkClick r:id="rId2"/>
              </a:rPr>
              <a:t>https://pubmed.ncbi.nlm.nih.gov/33667411/</a:t>
            </a:r>
            <a:endParaRPr lang="en-GB" dirty="0"/>
          </a:p>
        </p:txBody>
      </p:sp>
      <p:pic>
        <p:nvPicPr>
          <p:cNvPr id="4" name="Picture 3">
            <a:extLst>
              <a:ext uri="{FF2B5EF4-FFF2-40B4-BE49-F238E27FC236}">
                <a16:creationId xmlns:a16="http://schemas.microsoft.com/office/drawing/2014/main" id="{CC095464-C7F6-8A40-963E-8207170FF6D0}"/>
              </a:ext>
            </a:extLst>
          </p:cNvPr>
          <p:cNvPicPr>
            <a:picLocks noChangeAspect="1"/>
          </p:cNvPicPr>
          <p:nvPr/>
        </p:nvPicPr>
        <p:blipFill>
          <a:blip r:embed="rId3"/>
          <a:stretch>
            <a:fillRect/>
          </a:stretch>
        </p:blipFill>
        <p:spPr>
          <a:xfrm>
            <a:off x="6996112" y="-1"/>
            <a:ext cx="5195887" cy="7018527"/>
          </a:xfrm>
          <a:prstGeom prst="rect">
            <a:avLst/>
          </a:prstGeom>
        </p:spPr>
      </p:pic>
      <p:sp>
        <p:nvSpPr>
          <p:cNvPr id="5" name="TextBox 4">
            <a:extLst>
              <a:ext uri="{FF2B5EF4-FFF2-40B4-BE49-F238E27FC236}">
                <a16:creationId xmlns:a16="http://schemas.microsoft.com/office/drawing/2014/main" id="{9F17FF71-8607-6F4E-A4F7-2F55F687982A}"/>
              </a:ext>
            </a:extLst>
          </p:cNvPr>
          <p:cNvSpPr txBox="1"/>
          <p:nvPr/>
        </p:nvSpPr>
        <p:spPr>
          <a:xfrm rot="20243192">
            <a:off x="6355080" y="4238328"/>
            <a:ext cx="4846319" cy="923330"/>
          </a:xfrm>
          <a:prstGeom prst="rect">
            <a:avLst/>
          </a:prstGeom>
          <a:solidFill>
            <a:schemeClr val="accent1"/>
          </a:solidFill>
        </p:spPr>
        <p:txBody>
          <a:bodyPr wrap="square" rtlCol="0">
            <a:spAutoFit/>
          </a:bodyPr>
          <a:lstStyle/>
          <a:p>
            <a:r>
              <a:rPr lang="en-GB" dirty="0">
                <a:solidFill>
                  <a:schemeClr val="bg1"/>
                </a:solidFill>
              </a:rPr>
              <a:t>SIDEBAR:</a:t>
            </a:r>
            <a:br>
              <a:rPr lang="en-GB" dirty="0">
                <a:solidFill>
                  <a:schemeClr val="bg1"/>
                </a:solidFill>
              </a:rPr>
            </a:br>
            <a:r>
              <a:rPr lang="en-GB" i="1" dirty="0" err="1">
                <a:solidFill>
                  <a:schemeClr val="bg1"/>
                </a:solidFill>
              </a:rPr>
              <a:t>MenStar</a:t>
            </a:r>
            <a:r>
              <a:rPr lang="en-GB" i="1" dirty="0">
                <a:solidFill>
                  <a:schemeClr val="bg1"/>
                </a:solidFill>
              </a:rPr>
              <a:t> focus is on men “</a:t>
            </a:r>
            <a:r>
              <a:rPr lang="en-GB" i="1" u="sng" dirty="0">
                <a:solidFill>
                  <a:schemeClr val="bg1"/>
                </a:solidFill>
                <a:hlinkClick r:id="rId4">
                  <a:extLst>
                    <a:ext uri="{A12FA001-AC4F-418D-AE19-62706E023703}">
                      <ahyp:hlinkClr xmlns:ahyp="http://schemas.microsoft.com/office/drawing/2018/hyperlinkcolor" val="tx"/>
                    </a:ext>
                  </a:extLst>
                </a:hlinkClick>
              </a:rPr>
              <a:t>especially those aged between 24-35</a:t>
            </a:r>
            <a:r>
              <a:rPr lang="en-GB" i="1" dirty="0">
                <a:solidFill>
                  <a:schemeClr val="bg1"/>
                </a:solidFill>
              </a:rPr>
              <a:t>”</a:t>
            </a:r>
            <a:endParaRPr lang="en-GB" dirty="0">
              <a:solidFill>
                <a:schemeClr val="bg1"/>
              </a:solidFill>
            </a:endParaRPr>
          </a:p>
        </p:txBody>
      </p:sp>
    </p:spTree>
    <p:extLst>
      <p:ext uri="{BB962C8B-B14F-4D97-AF65-F5344CB8AC3E}">
        <p14:creationId xmlns:p14="http://schemas.microsoft.com/office/powerpoint/2010/main" val="322092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6472349-6F39-3841-B641-F2AD66543062}"/>
              </a:ext>
            </a:extLst>
          </p:cNvPr>
          <p:cNvSpPr>
            <a:spLocks noGrp="1"/>
          </p:cNvSpPr>
          <p:nvPr>
            <p:ph type="title"/>
          </p:nvPr>
        </p:nvSpPr>
        <p:spPr/>
        <p:txBody>
          <a:bodyPr/>
          <a:lstStyle/>
          <a:p>
            <a:r>
              <a:rPr lang="en-GB" dirty="0"/>
              <a:t>Projected disparities</a:t>
            </a:r>
          </a:p>
        </p:txBody>
      </p:sp>
      <p:sp>
        <p:nvSpPr>
          <p:cNvPr id="8" name="Content Placeholder 7">
            <a:extLst>
              <a:ext uri="{FF2B5EF4-FFF2-40B4-BE49-F238E27FC236}">
                <a16:creationId xmlns:a16="http://schemas.microsoft.com/office/drawing/2014/main" id="{D0FDAD8D-2EE9-F044-8276-94E3B2627B44}"/>
              </a:ext>
            </a:extLst>
          </p:cNvPr>
          <p:cNvSpPr>
            <a:spLocks noGrp="1"/>
          </p:cNvSpPr>
          <p:nvPr>
            <p:ph idx="1"/>
          </p:nvPr>
        </p:nvSpPr>
        <p:spPr/>
        <p:txBody>
          <a:bodyPr/>
          <a:lstStyle/>
          <a:p>
            <a:endParaRPr lang="en-GB" dirty="0"/>
          </a:p>
        </p:txBody>
      </p:sp>
      <p:pic>
        <p:nvPicPr>
          <p:cNvPr id="9" name="Picture 8">
            <a:extLst>
              <a:ext uri="{FF2B5EF4-FFF2-40B4-BE49-F238E27FC236}">
                <a16:creationId xmlns:a16="http://schemas.microsoft.com/office/drawing/2014/main" id="{8AFE4630-C70A-F44D-83CB-C9EB85AA7270}"/>
              </a:ext>
            </a:extLst>
          </p:cNvPr>
          <p:cNvPicPr/>
          <p:nvPr/>
        </p:nvPicPr>
        <p:blipFill>
          <a:blip r:embed="rId2"/>
          <a:stretch>
            <a:fillRect/>
          </a:stretch>
        </p:blipFill>
        <p:spPr>
          <a:xfrm>
            <a:off x="365125" y="2722584"/>
            <a:ext cx="6270625" cy="3291840"/>
          </a:xfrm>
          <a:prstGeom prst="rect">
            <a:avLst/>
          </a:prstGeom>
        </p:spPr>
      </p:pic>
      <p:sp>
        <p:nvSpPr>
          <p:cNvPr id="10" name="TextBox 9">
            <a:extLst>
              <a:ext uri="{FF2B5EF4-FFF2-40B4-BE49-F238E27FC236}">
                <a16:creationId xmlns:a16="http://schemas.microsoft.com/office/drawing/2014/main" id="{557C114A-5162-FE4A-A58D-4750A6481A81}"/>
              </a:ext>
            </a:extLst>
          </p:cNvPr>
          <p:cNvSpPr txBox="1"/>
          <p:nvPr/>
        </p:nvSpPr>
        <p:spPr>
          <a:xfrm>
            <a:off x="7437120" y="948690"/>
            <a:ext cx="3840480" cy="5909310"/>
          </a:xfrm>
          <a:prstGeom prst="rect">
            <a:avLst/>
          </a:prstGeom>
          <a:noFill/>
        </p:spPr>
        <p:txBody>
          <a:bodyPr wrap="square" rtlCol="0">
            <a:spAutoFit/>
          </a:bodyPr>
          <a:lstStyle/>
          <a:p>
            <a:pPr marL="285750" indent="-285750">
              <a:buFont typeface="Arial" panose="020B0604020202020204" pitchFamily="34" charset="0"/>
              <a:buChar char="•"/>
            </a:pPr>
            <a:r>
              <a:rPr lang="en-GB" dirty="0"/>
              <a:t>While knowledge of status increased dramatically in all four sub-Saharan African regions, knowledge of status was consistently lower in western and central Africa than in eastern and southern Africa </a:t>
            </a:r>
          </a:p>
          <a:p>
            <a:endParaRPr lang="en-GB" dirty="0"/>
          </a:p>
          <a:p>
            <a:pPr marL="285750" indent="-285750">
              <a:buFont typeface="Arial" panose="020B0604020202020204" pitchFamily="34" charset="0"/>
              <a:buChar char="•"/>
            </a:pPr>
            <a:r>
              <a:rPr lang="en-GB" dirty="0"/>
              <a:t>Across sub-Saharan Africa in 2020, men had lower knowledge of status (77%) than women (87%), and 15-24 year olds were least likely to know their status (65%).</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Only six countries projected to achieve 90% target in men by 2020, and none among 15-24 year olds.</a:t>
            </a:r>
          </a:p>
          <a:p>
            <a:pPr marL="285750" indent="-285750">
              <a:buFont typeface="Arial" panose="020B0604020202020204" pitchFamily="34" charset="0"/>
              <a:buChar char="•"/>
            </a:pPr>
            <a:endParaRPr lang="en-GB" dirty="0"/>
          </a:p>
        </p:txBody>
      </p:sp>
      <p:sp>
        <p:nvSpPr>
          <p:cNvPr id="11" name="Rectangle 10">
            <a:extLst>
              <a:ext uri="{FF2B5EF4-FFF2-40B4-BE49-F238E27FC236}">
                <a16:creationId xmlns:a16="http://schemas.microsoft.com/office/drawing/2014/main" id="{D4F36C82-E0B6-D14C-B6E4-6562FBA12EA5}"/>
              </a:ext>
            </a:extLst>
          </p:cNvPr>
          <p:cNvSpPr/>
          <p:nvPr/>
        </p:nvSpPr>
        <p:spPr>
          <a:xfrm>
            <a:off x="365125" y="6368534"/>
            <a:ext cx="2768707" cy="246221"/>
          </a:xfrm>
          <a:prstGeom prst="rect">
            <a:avLst/>
          </a:prstGeom>
        </p:spPr>
        <p:txBody>
          <a:bodyPr wrap="none">
            <a:spAutoFit/>
          </a:bodyPr>
          <a:lstStyle/>
          <a:p>
            <a:r>
              <a:rPr lang="en-GB" sz="1000" dirty="0">
                <a:hlinkClick r:id="rId3"/>
              </a:rPr>
              <a:t>https://pubmed.ncbi.nlm.nih.gov/33667411/</a:t>
            </a:r>
            <a:endParaRPr lang="en-GB" sz="1000" dirty="0"/>
          </a:p>
        </p:txBody>
      </p:sp>
    </p:spTree>
    <p:extLst>
      <p:ext uri="{BB962C8B-B14F-4D97-AF65-F5344CB8AC3E}">
        <p14:creationId xmlns:p14="http://schemas.microsoft.com/office/powerpoint/2010/main" val="486943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95B639-899D-CC48-94CE-CDE44B04899A}"/>
              </a:ext>
            </a:extLst>
          </p:cNvPr>
          <p:cNvSpPr>
            <a:spLocks noGrp="1"/>
          </p:cNvSpPr>
          <p:nvPr>
            <p:ph type="body" sz="quarter" idx="12"/>
          </p:nvPr>
        </p:nvSpPr>
        <p:spPr>
          <a:xfrm>
            <a:off x="5410200" y="1346515"/>
            <a:ext cx="6446837" cy="4711385"/>
          </a:xfrm>
        </p:spPr>
        <p:txBody>
          <a:bodyPr/>
          <a:lstStyle/>
          <a:p>
            <a:r>
              <a:rPr lang="en-GB" dirty="0"/>
              <a:t>The largest group of undiagnosed people living with HIV in sub-Saharan Africa were men aged 35–49 years, with 701 000 left undiagnosed</a:t>
            </a:r>
          </a:p>
          <a:p>
            <a:endParaRPr lang="en-GB" b="1" dirty="0"/>
          </a:p>
        </p:txBody>
      </p:sp>
      <p:pic>
        <p:nvPicPr>
          <p:cNvPr id="7" name="Picture 6">
            <a:extLst>
              <a:ext uri="{FF2B5EF4-FFF2-40B4-BE49-F238E27FC236}">
                <a16:creationId xmlns:a16="http://schemas.microsoft.com/office/drawing/2014/main" id="{81A72046-10BA-7140-B448-F89F27BFD02F}"/>
              </a:ext>
            </a:extLst>
          </p:cNvPr>
          <p:cNvPicPr/>
          <p:nvPr/>
        </p:nvPicPr>
        <p:blipFill>
          <a:blip r:embed="rId2">
            <a:extLst>
              <a:ext uri="{28A0092B-C50C-407E-A947-70E740481C1C}">
                <a14:useLocalDpi xmlns:a14="http://schemas.microsoft.com/office/drawing/2010/main" val="0"/>
              </a:ext>
            </a:extLst>
          </a:blip>
          <a:stretch>
            <a:fillRect/>
          </a:stretch>
        </p:blipFill>
        <p:spPr>
          <a:xfrm>
            <a:off x="395922" y="1270314"/>
            <a:ext cx="4800917" cy="4459925"/>
          </a:xfrm>
          <a:prstGeom prst="rect">
            <a:avLst/>
          </a:prstGeom>
        </p:spPr>
      </p:pic>
      <p:sp>
        <p:nvSpPr>
          <p:cNvPr id="8" name="Rectangle 7">
            <a:extLst>
              <a:ext uri="{FF2B5EF4-FFF2-40B4-BE49-F238E27FC236}">
                <a16:creationId xmlns:a16="http://schemas.microsoft.com/office/drawing/2014/main" id="{01018C88-3CDC-164A-AEC3-6E4F0DE2D55E}"/>
              </a:ext>
            </a:extLst>
          </p:cNvPr>
          <p:cNvSpPr/>
          <p:nvPr/>
        </p:nvSpPr>
        <p:spPr>
          <a:xfrm>
            <a:off x="395922" y="6307574"/>
            <a:ext cx="2768707" cy="246221"/>
          </a:xfrm>
          <a:prstGeom prst="rect">
            <a:avLst/>
          </a:prstGeom>
        </p:spPr>
        <p:txBody>
          <a:bodyPr wrap="none">
            <a:spAutoFit/>
          </a:bodyPr>
          <a:lstStyle/>
          <a:p>
            <a:r>
              <a:rPr lang="en-GB" sz="1000" dirty="0">
                <a:hlinkClick r:id="rId3"/>
              </a:rPr>
              <a:t>https://pubmed.ncbi.nlm.nih.gov/33667411/</a:t>
            </a:r>
            <a:endParaRPr lang="en-GB" sz="1000" dirty="0"/>
          </a:p>
        </p:txBody>
      </p:sp>
    </p:spTree>
    <p:extLst>
      <p:ext uri="{BB962C8B-B14F-4D97-AF65-F5344CB8AC3E}">
        <p14:creationId xmlns:p14="http://schemas.microsoft.com/office/powerpoint/2010/main" val="153153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ular Callout 3">
            <a:extLst>
              <a:ext uri="{FF2B5EF4-FFF2-40B4-BE49-F238E27FC236}">
                <a16:creationId xmlns:a16="http://schemas.microsoft.com/office/drawing/2014/main" id="{D78D7DD4-68D5-3946-96FC-BEAEBA091152}"/>
              </a:ext>
            </a:extLst>
          </p:cNvPr>
          <p:cNvSpPr/>
          <p:nvPr/>
        </p:nvSpPr>
        <p:spPr>
          <a:xfrm>
            <a:off x="320040" y="1386840"/>
            <a:ext cx="5775960" cy="3063240"/>
          </a:xfrm>
          <a:prstGeom prst="wedgeRect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Project 58% of people living with HIV undergoing HIV testing in 2020 will have been previously diagnosed. </a:t>
            </a:r>
            <a:r>
              <a:rPr lang="en-GB" sz="2400" dirty="0"/>
              <a:t>Further research is needed to assess the potential benefits of retesting for re-engaging people living with HIV in care.</a:t>
            </a:r>
          </a:p>
        </p:txBody>
      </p:sp>
      <p:sp>
        <p:nvSpPr>
          <p:cNvPr id="5" name="Rectangular Callout 4">
            <a:extLst>
              <a:ext uri="{FF2B5EF4-FFF2-40B4-BE49-F238E27FC236}">
                <a16:creationId xmlns:a16="http://schemas.microsoft.com/office/drawing/2014/main" id="{4E12ED34-A9FF-A74E-81FC-5AC99A5871B1}"/>
              </a:ext>
            </a:extLst>
          </p:cNvPr>
          <p:cNvSpPr/>
          <p:nvPr/>
        </p:nvSpPr>
        <p:spPr>
          <a:xfrm>
            <a:off x="6248400" y="2918460"/>
            <a:ext cx="5775960" cy="3063240"/>
          </a:xfrm>
          <a:prstGeom prst="wedgeRectCallout">
            <a:avLst>
              <a:gd name="adj1" fmla="val -20833"/>
              <a:gd name="adj2" fmla="val -67848"/>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2400" dirty="0">
                <a:solidFill>
                  <a:schemeClr val="accent1"/>
                </a:solidFill>
              </a:rPr>
              <a:t>In conclusion - reaching the first 95 will require a better understanding of retesting patterns and a focus on addressing disparities among older men and young people in knowledge of status </a:t>
            </a:r>
          </a:p>
        </p:txBody>
      </p:sp>
      <p:sp>
        <p:nvSpPr>
          <p:cNvPr id="6" name="Rectangle 5">
            <a:extLst>
              <a:ext uri="{FF2B5EF4-FFF2-40B4-BE49-F238E27FC236}">
                <a16:creationId xmlns:a16="http://schemas.microsoft.com/office/drawing/2014/main" id="{44F93702-3A8C-E14D-AD3C-A9CB493DF81D}"/>
              </a:ext>
            </a:extLst>
          </p:cNvPr>
          <p:cNvSpPr/>
          <p:nvPr/>
        </p:nvSpPr>
        <p:spPr>
          <a:xfrm>
            <a:off x="395922" y="6307574"/>
            <a:ext cx="2768707" cy="246221"/>
          </a:xfrm>
          <a:prstGeom prst="rect">
            <a:avLst/>
          </a:prstGeom>
        </p:spPr>
        <p:txBody>
          <a:bodyPr wrap="none">
            <a:spAutoFit/>
          </a:bodyPr>
          <a:lstStyle/>
          <a:p>
            <a:r>
              <a:rPr lang="en-GB" sz="1000" dirty="0">
                <a:hlinkClick r:id="rId2"/>
              </a:rPr>
              <a:t>https://pubmed.ncbi.nlm.nih.gov/33667411/</a:t>
            </a:r>
            <a:endParaRPr lang="en-GB" sz="1000" dirty="0"/>
          </a:p>
        </p:txBody>
      </p:sp>
    </p:spTree>
    <p:extLst>
      <p:ext uri="{BB962C8B-B14F-4D97-AF65-F5344CB8AC3E}">
        <p14:creationId xmlns:p14="http://schemas.microsoft.com/office/powerpoint/2010/main" val="339561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5F3B58-7A35-F947-A3D4-CE8740FDD719}"/>
              </a:ext>
            </a:extLst>
          </p:cNvPr>
          <p:cNvSpPr>
            <a:spLocks noGrp="1"/>
          </p:cNvSpPr>
          <p:nvPr>
            <p:ph type="title"/>
          </p:nvPr>
        </p:nvSpPr>
        <p:spPr/>
        <p:txBody>
          <a:bodyPr/>
          <a:lstStyle/>
          <a:p>
            <a:r>
              <a:rPr lang="en-GB" dirty="0"/>
              <a:t>4. HTS_POS targets, Malawi</a:t>
            </a:r>
          </a:p>
        </p:txBody>
      </p:sp>
      <p:graphicFrame>
        <p:nvGraphicFramePr>
          <p:cNvPr id="5" name="Content Placeholder 3">
            <a:extLst>
              <a:ext uri="{FF2B5EF4-FFF2-40B4-BE49-F238E27FC236}">
                <a16:creationId xmlns:a16="http://schemas.microsoft.com/office/drawing/2014/main" id="{8C5F32B3-45D1-6E4A-9C6C-E81237C6839A}"/>
              </a:ext>
            </a:extLst>
          </p:cNvPr>
          <p:cNvGraphicFramePr>
            <a:graphicFrameLocks/>
          </p:cNvGraphicFramePr>
          <p:nvPr>
            <p:extLst>
              <p:ext uri="{D42A27DB-BD31-4B8C-83A1-F6EECF244321}">
                <p14:modId xmlns:p14="http://schemas.microsoft.com/office/powerpoint/2010/main" val="3275940032"/>
              </p:ext>
            </p:extLst>
          </p:nvPr>
        </p:nvGraphicFramePr>
        <p:xfrm>
          <a:off x="3413760" y="2812340"/>
          <a:ext cx="8229600" cy="404566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69052D9-5F21-294F-BA65-33E347503D93}"/>
              </a:ext>
            </a:extLst>
          </p:cNvPr>
          <p:cNvSpPr txBox="1"/>
          <p:nvPr/>
        </p:nvSpPr>
        <p:spPr>
          <a:xfrm>
            <a:off x="5269720" y="2292292"/>
            <a:ext cx="5657360" cy="369332"/>
          </a:xfrm>
          <a:prstGeom prst="rect">
            <a:avLst/>
          </a:prstGeom>
          <a:solidFill>
            <a:schemeClr val="bg1"/>
          </a:solidFill>
          <a:ln>
            <a:solidFill>
              <a:schemeClr val="accent1"/>
            </a:solidFill>
          </a:ln>
        </p:spPr>
        <p:txBody>
          <a:bodyPr wrap="square" rtlCol="0">
            <a:spAutoFit/>
          </a:bodyPr>
          <a:lstStyle/>
          <a:p>
            <a:pPr algn="ctr"/>
            <a:r>
              <a:rPr lang="en-GB" dirty="0">
                <a:solidFill>
                  <a:schemeClr val="accent1"/>
                </a:solidFill>
                <a:latin typeface="Verdana" panose="020B0604030504040204" pitchFamily="34" charset="0"/>
                <a:ea typeface="Verdana" panose="020B0604030504040204" pitchFamily="34" charset="0"/>
                <a:cs typeface="Verdana" panose="020B0604030504040204" pitchFamily="34" charset="0"/>
              </a:rPr>
              <a:t>Striking difference between men and women</a:t>
            </a:r>
          </a:p>
        </p:txBody>
      </p:sp>
    </p:spTree>
    <p:extLst>
      <p:ext uri="{BB962C8B-B14F-4D97-AF65-F5344CB8AC3E}">
        <p14:creationId xmlns:p14="http://schemas.microsoft.com/office/powerpoint/2010/main" val="135227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5F3B58-7A35-F947-A3D4-CE8740FDD719}"/>
              </a:ext>
            </a:extLst>
          </p:cNvPr>
          <p:cNvSpPr>
            <a:spLocks noGrp="1"/>
          </p:cNvSpPr>
          <p:nvPr>
            <p:ph type="title"/>
          </p:nvPr>
        </p:nvSpPr>
        <p:spPr>
          <a:xfrm>
            <a:off x="442913" y="1401624"/>
            <a:ext cx="3991927" cy="1260000"/>
          </a:xfrm>
        </p:spPr>
        <p:txBody>
          <a:bodyPr/>
          <a:lstStyle/>
          <a:p>
            <a:r>
              <a:rPr lang="en-GB" sz="3600" dirty="0"/>
              <a:t>High yield among men 35-49 years across all Partners in Hope districts</a:t>
            </a:r>
          </a:p>
        </p:txBody>
      </p:sp>
      <p:graphicFrame>
        <p:nvGraphicFramePr>
          <p:cNvPr id="7" name="Content Placeholder 3">
            <a:extLst>
              <a:ext uri="{FF2B5EF4-FFF2-40B4-BE49-F238E27FC236}">
                <a16:creationId xmlns:a16="http://schemas.microsoft.com/office/drawing/2014/main" id="{A884A33D-859A-E74C-936B-55AD02FCCE24}"/>
              </a:ext>
            </a:extLst>
          </p:cNvPr>
          <p:cNvGraphicFramePr>
            <a:graphicFrameLocks/>
          </p:cNvGraphicFramePr>
          <p:nvPr>
            <p:extLst>
              <p:ext uri="{D42A27DB-BD31-4B8C-83A1-F6EECF244321}">
                <p14:modId xmlns:p14="http://schemas.microsoft.com/office/powerpoint/2010/main" val="1284669162"/>
              </p:ext>
            </p:extLst>
          </p:nvPr>
        </p:nvGraphicFramePr>
        <p:xfrm>
          <a:off x="3962400" y="1401624"/>
          <a:ext cx="7786687" cy="502965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1338853F-29A6-1240-83A6-33056D162D86}"/>
              </a:ext>
            </a:extLst>
          </p:cNvPr>
          <p:cNvSpPr txBox="1"/>
          <p:nvPr/>
        </p:nvSpPr>
        <p:spPr>
          <a:xfrm>
            <a:off x="7386484" y="385961"/>
            <a:ext cx="3672408" cy="1015663"/>
          </a:xfrm>
          <a:prstGeom prst="rect">
            <a:avLst/>
          </a:prstGeom>
          <a:solidFill>
            <a:schemeClr val="bg1"/>
          </a:solidFill>
          <a:ln>
            <a:solidFill>
              <a:srgbClr val="818386"/>
            </a:solidFill>
          </a:ln>
        </p:spPr>
        <p:txBody>
          <a:bodyPr wrap="square" rtlCol="0">
            <a:spAutoFit/>
          </a:bodyPr>
          <a:lstStyle/>
          <a:p>
            <a:pPr marL="171450" indent="-171450">
              <a:buFont typeface="Arial" panose="020B0604020202020204" pitchFamily="34" charset="0"/>
              <a:buChar char="•"/>
            </a:pPr>
            <a:r>
              <a:rPr lang="en-GB" sz="1200" dirty="0">
                <a:latin typeface="Verdana" panose="020B0604030504040204" pitchFamily="34" charset="0"/>
                <a:ea typeface="Verdana" panose="020B0604030504040204" pitchFamily="34" charset="0"/>
                <a:cs typeface="Verdana" panose="020B0604030504040204" pitchFamily="34" charset="0"/>
              </a:rPr>
              <a:t>Volume of men reached is the main challenge to target achievement in most age groups, not low yield</a:t>
            </a:r>
          </a:p>
          <a:p>
            <a:pPr marL="171450" indent="-171450">
              <a:buFont typeface="Arial" panose="020B0604020202020204" pitchFamily="34" charset="0"/>
              <a:buChar char="•"/>
            </a:pPr>
            <a:r>
              <a:rPr lang="en-GB" sz="1200" dirty="0">
                <a:latin typeface="Verdana" panose="020B0604030504040204" pitchFamily="34" charset="0"/>
                <a:ea typeface="Verdana" panose="020B0604030504040204" pitchFamily="34" charset="0"/>
                <a:cs typeface="Verdana" panose="020B0604030504040204" pitchFamily="34" charset="0"/>
              </a:rPr>
              <a:t>However, highest targets are among men 25-34 where the yield is lower</a:t>
            </a:r>
          </a:p>
        </p:txBody>
      </p:sp>
    </p:spTree>
    <p:extLst>
      <p:ext uri="{BB962C8B-B14F-4D97-AF65-F5344CB8AC3E}">
        <p14:creationId xmlns:p14="http://schemas.microsoft.com/office/powerpoint/2010/main" val="399347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72EA1-B13B-0B4D-9883-B09B7F1AF30E}"/>
              </a:ext>
            </a:extLst>
          </p:cNvPr>
          <p:cNvSpPr>
            <a:spLocks noGrp="1"/>
          </p:cNvSpPr>
          <p:nvPr>
            <p:ph type="title"/>
          </p:nvPr>
        </p:nvSpPr>
        <p:spPr/>
        <p:txBody>
          <a:bodyPr/>
          <a:lstStyle/>
          <a:p>
            <a:r>
              <a:rPr lang="en-GB" dirty="0"/>
              <a:t>5. Reflection from Karen Jennings</a:t>
            </a:r>
          </a:p>
        </p:txBody>
      </p:sp>
      <p:sp>
        <p:nvSpPr>
          <p:cNvPr id="3" name="Content Placeholder 2">
            <a:extLst>
              <a:ext uri="{FF2B5EF4-FFF2-40B4-BE49-F238E27FC236}">
                <a16:creationId xmlns:a16="http://schemas.microsoft.com/office/drawing/2014/main" id="{7DD8EBBF-EFA4-8F42-A1CC-D3163CD85C5F}"/>
              </a:ext>
            </a:extLst>
          </p:cNvPr>
          <p:cNvSpPr>
            <a:spLocks noGrp="1"/>
          </p:cNvSpPr>
          <p:nvPr>
            <p:ph idx="1"/>
          </p:nvPr>
        </p:nvSpPr>
        <p:spPr/>
        <p:txBody>
          <a:bodyPr/>
          <a:lstStyle/>
          <a:p>
            <a:endParaRPr lang="en-GB" dirty="0"/>
          </a:p>
        </p:txBody>
      </p:sp>
      <p:sp>
        <p:nvSpPr>
          <p:cNvPr id="4" name="Date Placeholder 3">
            <a:extLst>
              <a:ext uri="{FF2B5EF4-FFF2-40B4-BE49-F238E27FC236}">
                <a16:creationId xmlns:a16="http://schemas.microsoft.com/office/drawing/2014/main" id="{7E30E6B7-DA5F-3241-83AF-D7D6DFD64EB9}"/>
              </a:ext>
            </a:extLst>
          </p:cNvPr>
          <p:cNvSpPr>
            <a:spLocks noGrp="1"/>
          </p:cNvSpPr>
          <p:nvPr>
            <p:ph type="dt" sz="half" idx="10"/>
          </p:nvPr>
        </p:nvSpPr>
        <p:spPr/>
        <p:txBody>
          <a:bodyPr/>
          <a:lstStyle/>
          <a:p>
            <a:r>
              <a:rPr lang="en-GB" dirty="0"/>
              <a:t>Name of the Speaker</a:t>
            </a:r>
          </a:p>
        </p:txBody>
      </p:sp>
      <p:sp>
        <p:nvSpPr>
          <p:cNvPr id="5" name="Footer Placeholder 4">
            <a:extLst>
              <a:ext uri="{FF2B5EF4-FFF2-40B4-BE49-F238E27FC236}">
                <a16:creationId xmlns:a16="http://schemas.microsoft.com/office/drawing/2014/main" id="{F799292E-CE1E-CB4F-9C26-385707A210B6}"/>
              </a:ext>
            </a:extLst>
          </p:cNvPr>
          <p:cNvSpPr>
            <a:spLocks noGrp="1"/>
          </p:cNvSpPr>
          <p:nvPr>
            <p:ph type="ftr" sz="quarter" idx="11"/>
          </p:nvPr>
        </p:nvSpPr>
        <p:spPr/>
        <p:txBody>
          <a:bodyPr/>
          <a:lstStyle/>
          <a:p>
            <a:r>
              <a:rPr lang="en-GB" dirty="0"/>
              <a:t>Topic Lore Ipsum</a:t>
            </a:r>
          </a:p>
        </p:txBody>
      </p:sp>
    </p:spTree>
    <p:extLst>
      <p:ext uri="{BB962C8B-B14F-4D97-AF65-F5344CB8AC3E}">
        <p14:creationId xmlns:p14="http://schemas.microsoft.com/office/powerpoint/2010/main" val="1190152761"/>
      </p:ext>
    </p:extLst>
  </p:cSld>
  <p:clrMapOvr>
    <a:masterClrMapping/>
  </p:clrMapOvr>
</p:sld>
</file>

<file path=ppt/theme/theme1.xml><?xml version="1.0" encoding="utf-8"?>
<a:theme xmlns:a="http://schemas.openxmlformats.org/drawingml/2006/main" name="International AIDS Society">
  <a:themeElements>
    <a:clrScheme name="Benutzerdefiniert 114">
      <a:dk1>
        <a:sysClr val="windowText" lastClr="000000"/>
      </a:dk1>
      <a:lt1>
        <a:sysClr val="window" lastClr="FFFFFF"/>
      </a:lt1>
      <a:dk2>
        <a:srgbClr val="7F7F7F"/>
      </a:dk2>
      <a:lt2>
        <a:srgbClr val="D8D8D8"/>
      </a:lt2>
      <a:accent1>
        <a:srgbClr val="E0001B"/>
      </a:accent1>
      <a:accent2>
        <a:srgbClr val="C8F04B"/>
      </a:accent2>
      <a:accent3>
        <a:srgbClr val="472482"/>
      </a:accent3>
      <a:accent4>
        <a:srgbClr val="8CCDCD"/>
      </a:accent4>
      <a:accent5>
        <a:srgbClr val="B4BEA5"/>
      </a:accent5>
      <a:accent6>
        <a:srgbClr val="7F7F7F"/>
      </a:accent6>
      <a:hlink>
        <a:srgbClr val="000000"/>
      </a:hlink>
      <a:folHlink>
        <a:srgbClr val="000000"/>
      </a:folHlink>
    </a:clrScheme>
    <a:fontScheme name="Benutzerdefiniert 237">
      <a:majorFont>
        <a:latin typeface="IAS Ribbon Sans Bold"/>
        <a:ea typeface=""/>
        <a:cs typeface=""/>
      </a:majorFont>
      <a:minorFont>
        <a:latin typeface="IAS Ribbo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äsentation1" id="{0BEA0C59-6BE6-574B-8DF0-843D19A6691B}" vid="{DFA08CD2-990E-E443-A274-9D06C7DA0EA4}"/>
    </a:ext>
  </a:extLst>
</a:theme>
</file>

<file path=ppt/theme/theme2.xml><?xml version="1.0" encoding="utf-8"?>
<a:theme xmlns:a="http://schemas.openxmlformats.org/drawingml/2006/main" name="Office">
  <a:themeElements>
    <a:clrScheme name="Benutzerdefiniert 114">
      <a:dk1>
        <a:sysClr val="windowText" lastClr="000000"/>
      </a:dk1>
      <a:lt1>
        <a:sysClr val="window" lastClr="FFFFFF"/>
      </a:lt1>
      <a:dk2>
        <a:srgbClr val="7F7F7F"/>
      </a:dk2>
      <a:lt2>
        <a:srgbClr val="D8D8D8"/>
      </a:lt2>
      <a:accent1>
        <a:srgbClr val="E0001B"/>
      </a:accent1>
      <a:accent2>
        <a:srgbClr val="C8F04B"/>
      </a:accent2>
      <a:accent3>
        <a:srgbClr val="472482"/>
      </a:accent3>
      <a:accent4>
        <a:srgbClr val="8CCDCD"/>
      </a:accent4>
      <a:accent5>
        <a:srgbClr val="B4BEA5"/>
      </a:accent5>
      <a:accent6>
        <a:srgbClr val="7F7F7F"/>
      </a:accent6>
      <a:hlink>
        <a:srgbClr val="000000"/>
      </a:hlink>
      <a:folHlink>
        <a:srgbClr val="000000"/>
      </a:folHlink>
    </a:clrScheme>
    <a:fontScheme name="Benutzerdefiniert 183">
      <a:majorFont>
        <a:latin typeface="Ping LCG Medium"/>
        <a:ea typeface=""/>
        <a:cs typeface=""/>
      </a:majorFont>
      <a:minorFont>
        <a:latin typeface="Ping LCG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114">
      <a:dk1>
        <a:sysClr val="windowText" lastClr="000000"/>
      </a:dk1>
      <a:lt1>
        <a:sysClr val="window" lastClr="FFFFFF"/>
      </a:lt1>
      <a:dk2>
        <a:srgbClr val="7F7F7F"/>
      </a:dk2>
      <a:lt2>
        <a:srgbClr val="D8D8D8"/>
      </a:lt2>
      <a:accent1>
        <a:srgbClr val="E0001B"/>
      </a:accent1>
      <a:accent2>
        <a:srgbClr val="C8F04B"/>
      </a:accent2>
      <a:accent3>
        <a:srgbClr val="472482"/>
      </a:accent3>
      <a:accent4>
        <a:srgbClr val="8CCDCD"/>
      </a:accent4>
      <a:accent5>
        <a:srgbClr val="B4BEA5"/>
      </a:accent5>
      <a:accent6>
        <a:srgbClr val="7F7F7F"/>
      </a:accent6>
      <a:hlink>
        <a:srgbClr val="000000"/>
      </a:hlink>
      <a:folHlink>
        <a:srgbClr val="000000"/>
      </a:folHlink>
    </a:clrScheme>
    <a:fontScheme name="Benutzerdefiniert 183">
      <a:majorFont>
        <a:latin typeface="Ping LCG Medium"/>
        <a:ea typeface=""/>
        <a:cs typeface=""/>
      </a:majorFont>
      <a:minorFont>
        <a:latin typeface="Ping LCG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4EDCEEC58F924B8688429696C030D2" ma:contentTypeVersion="18" ma:contentTypeDescription="Create a new document." ma:contentTypeScope="" ma:versionID="c313b5a2d9d0a5fb5c195b7077a8f658">
  <xsd:schema xmlns:xsd="http://www.w3.org/2001/XMLSchema" xmlns:xs="http://www.w3.org/2001/XMLSchema" xmlns:p="http://schemas.microsoft.com/office/2006/metadata/properties" xmlns:ns2="e236f8d0-c4c0-4f47-ae05-f87aea30adc7" xmlns:ns3="73ce610f-b889-47d4-8ab5-c38f623799c9" targetNamespace="http://schemas.microsoft.com/office/2006/metadata/properties" ma:root="true" ma:fieldsID="1798fda60419dc9fe449ed5f00b07b3d" ns2:_="" ns3:_="">
    <xsd:import namespace="e236f8d0-c4c0-4f47-ae05-f87aea30adc7"/>
    <xsd:import namespace="73ce610f-b889-47d4-8ab5-c38f623799c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6f8d0-c4c0-4f47-ae05-f87aea30a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8752f36-f899-4024-97aa-312620fde4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ce610f-b889-47d4-8ab5-c38f623799c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c0bfebf-baa6-4c8c-8536-352a9d7474a2}" ma:internalName="TaxCatchAll" ma:showField="CatchAllData" ma:web="73ce610f-b889-47d4-8ab5-c38f623799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3ce610f-b889-47d4-8ab5-c38f623799c9" xsi:nil="true"/>
    <lcf76f155ced4ddcb4097134ff3c332f xmlns="e236f8d0-c4c0-4f47-ae05-f87aea30adc7">
      <Terms xmlns="http://schemas.microsoft.com/office/infopath/2007/PartnerControls"/>
    </lcf76f155ced4ddcb4097134ff3c332f>
    <SharedWithUsers xmlns="73ce610f-b889-47d4-8ab5-c38f623799c9">
      <UserInfo>
        <DisplayName/>
        <AccountId xsi:nil="true"/>
        <AccountType/>
      </UserInfo>
    </SharedWithUsers>
  </documentManagement>
</p:properties>
</file>

<file path=customXml/itemProps1.xml><?xml version="1.0" encoding="utf-8"?>
<ds:datastoreItem xmlns:ds="http://schemas.openxmlformats.org/officeDocument/2006/customXml" ds:itemID="{03C84C5C-3675-41D8-B929-41E44EDB4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6f8d0-c4c0-4f47-ae05-f87aea30adc7"/>
    <ds:schemaRef ds:uri="73ce610f-b889-47d4-8ab5-c38f62379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18B9A9-589C-4AB1-A77F-C0696A20FDEA}">
  <ds:schemaRefs>
    <ds:schemaRef ds:uri="http://schemas.microsoft.com/sharepoint/v3/contenttype/forms"/>
  </ds:schemaRefs>
</ds:datastoreItem>
</file>

<file path=customXml/itemProps3.xml><?xml version="1.0" encoding="utf-8"?>
<ds:datastoreItem xmlns:ds="http://schemas.openxmlformats.org/officeDocument/2006/customXml" ds:itemID="{2A06F776-15E1-4608-A05B-E8CEEC2417C7}">
  <ds:schemaRefs>
    <ds:schemaRef ds:uri="http://purl.org/dc/dcmitype/"/>
    <ds:schemaRef ds:uri="http://schemas.openxmlformats.org/package/2006/metadata/core-properties"/>
    <ds:schemaRef ds:uri="http://purl.org/dc/elements/1.1/"/>
    <ds:schemaRef ds:uri="http://schemas.microsoft.com/office/2006/documentManagement/types"/>
    <ds:schemaRef ds:uri="http://purl.org/dc/terms/"/>
    <ds:schemaRef ds:uri="d9430eef-9f8d-443d-897b-9afda802e8b4"/>
    <ds:schemaRef ds:uri="http://schemas.microsoft.com/office/2006/metadata/properties"/>
    <ds:schemaRef ds:uri="http://www.w3.org/XML/1998/namespace"/>
    <ds:schemaRef ds:uri="http://schemas.microsoft.com/office/infopath/2007/PartnerControls"/>
    <ds:schemaRef ds:uri="250929fa-9806-4449-af20-7947085fa170"/>
    <ds:schemaRef ds:uri="73ce610f-b889-47d4-8ab5-c38f623799c9"/>
    <ds:schemaRef ds:uri="e236f8d0-c4c0-4f47-ae05-f87aea30adc7"/>
  </ds:schemaRefs>
</ds:datastoreItem>
</file>

<file path=docProps/app.xml><?xml version="1.0" encoding="utf-8"?>
<Properties xmlns="http://schemas.openxmlformats.org/officeDocument/2006/extended-properties" xmlns:vt="http://schemas.openxmlformats.org/officeDocument/2006/docPropsVTypes">
  <Template>International AIDS Society</Template>
  <TotalTime>106</TotalTime>
  <Words>1479</Words>
  <Application>Microsoft Macintosh PowerPoint</Application>
  <PresentationFormat>Widescreen</PresentationFormat>
  <Paragraphs>190</Paragraphs>
  <Slides>22</Slides>
  <Notes>4</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Ping LCG Light</vt:lpstr>
      <vt:lpstr>Verdana</vt:lpstr>
      <vt:lpstr>Wingdings</vt:lpstr>
      <vt:lpstr>International AIDS Society</vt:lpstr>
      <vt:lpstr>HIV Prioritization tool Version 1 </vt:lpstr>
      <vt:lpstr>Objective</vt:lpstr>
      <vt:lpstr>Approach</vt:lpstr>
      <vt:lpstr>What‘s Included: Prevention</vt:lpstr>
      <vt:lpstr>What‘s Included: Testing</vt:lpstr>
      <vt:lpstr>What‘s Included: Testing</vt:lpstr>
      <vt:lpstr>What‘s Included: Treatment</vt:lpstr>
      <vt:lpstr>What‘s Included: Treatment</vt:lpstr>
      <vt:lpstr>1. Jeff Eaton</vt:lpstr>
      <vt:lpstr>2. Leigh Johnson et al, 2019</vt:lpstr>
      <vt:lpstr>PowerPoint Presentation</vt:lpstr>
      <vt:lpstr>PowerPoint Presentation</vt:lpstr>
      <vt:lpstr>PowerPoint Presentation</vt:lpstr>
      <vt:lpstr>PowerPoint Presentation</vt:lpstr>
      <vt:lpstr>PowerPoint Presentation</vt:lpstr>
      <vt:lpstr>3. Giguère et al, 2021 </vt:lpstr>
      <vt:lpstr>Projected disparities</vt:lpstr>
      <vt:lpstr>PowerPoint Presentation</vt:lpstr>
      <vt:lpstr>PowerPoint Presentation</vt:lpstr>
      <vt:lpstr>4. HTS_POS targets, Malawi</vt:lpstr>
      <vt:lpstr>High yield among men 35-49 years across all Partners in Hope districts</vt:lpstr>
      <vt:lpstr>5. Reflection from Karen Jennings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short headline Lorem ipsum  sit dolor</dc:title>
  <dc:creator>Anna Grimsrud</dc:creator>
  <cp:lastModifiedBy>Alex de Nooy</cp:lastModifiedBy>
  <cp:revision>4</cp:revision>
  <dcterms:created xsi:type="dcterms:W3CDTF">2021-04-08T11:26:53Z</dcterms:created>
  <dcterms:modified xsi:type="dcterms:W3CDTF">2026-02-06T13:05:48Z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0x010100814EDCEEC58F924B8688429696C030D2</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