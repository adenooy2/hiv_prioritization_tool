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theme/themeOverride1.xml" ContentType="application/vnd.openxmlformats-officedocument.themeOverrid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theme/themeOverride2.xml" ContentType="application/vnd.openxmlformats-officedocument.themeOverr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25"/>
  </p:notesMasterIdLst>
  <p:handoutMasterIdLst>
    <p:handoutMasterId r:id="rId26"/>
  </p:handoutMasterIdLst>
  <p:sldIdLst>
    <p:sldId id="287" r:id="rId5"/>
    <p:sldId id="285" r:id="rId6"/>
    <p:sldId id="300" r:id="rId7"/>
    <p:sldId id="301" r:id="rId8"/>
    <p:sldId id="302" r:id="rId9"/>
    <p:sldId id="303" r:id="rId10"/>
    <p:sldId id="284" r:id="rId11"/>
    <p:sldId id="286" r:id="rId12"/>
    <p:sldId id="289" r:id="rId13"/>
    <p:sldId id="275" r:id="rId14"/>
    <p:sldId id="290" r:id="rId15"/>
    <p:sldId id="291" r:id="rId16"/>
    <p:sldId id="292" r:id="rId17"/>
    <p:sldId id="293" r:id="rId18"/>
    <p:sldId id="294" r:id="rId19"/>
    <p:sldId id="295" r:id="rId20"/>
    <p:sldId id="296" r:id="rId21"/>
    <p:sldId id="297" r:id="rId22"/>
    <p:sldId id="298" r:id="rId23"/>
    <p:sldId id="299" r:id="rId24"/>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9FD3FEF4-AEAF-917A-C660-C5359E089327}" name="Alex de Nooy" initials="Ad" userId="2ae90f5cbd0fd171"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0084" autoAdjust="0"/>
    <p:restoredTop sz="82884"/>
  </p:normalViewPr>
  <p:slideViewPr>
    <p:cSldViewPr snapToGrid="0" showGuides="1">
      <p:cViewPr varScale="1">
        <p:scale>
          <a:sx n="75" d="100"/>
          <a:sy n="75" d="100"/>
        </p:scale>
        <p:origin x="504" y="472"/>
      </p:cViewPr>
      <p:guideLst/>
    </p:cSldViewPr>
  </p:slideViewPr>
  <p:notesTextViewPr>
    <p:cViewPr>
      <p:scale>
        <a:sx n="1" d="1"/>
        <a:sy n="1" d="1"/>
      </p:scale>
      <p:origin x="0" y="0"/>
    </p:cViewPr>
  </p:notesTextViewPr>
  <p:sorterViewPr>
    <p:cViewPr>
      <p:scale>
        <a:sx n="100" d="100"/>
        <a:sy n="100" d="100"/>
      </p:scale>
      <p:origin x="0" y="0"/>
    </p:cViewPr>
  </p:sorterViewPr>
  <p:notesViewPr>
    <p:cSldViewPr snapToGrid="0" showGuides="1">
      <p:cViewPr varScale="1">
        <p:scale>
          <a:sx n="121" d="100"/>
          <a:sy n="121" d="100"/>
        </p:scale>
        <p:origin x="4158" y="114"/>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handoutMaster" Target="handoutMasters/handoutMaster1.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notesMaster" Target="notesMasters/notesMaster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viewProps" Target="viewProps.xml"/><Relationship Id="rId10" Type="http://schemas.openxmlformats.org/officeDocument/2006/relationships/slide" Target="slides/slide6.xml"/><Relationship Id="rId19" Type="http://schemas.openxmlformats.org/officeDocument/2006/relationships/slide" Target="slides/slide15.xml"/><Relationship Id="rId31" Type="http://schemas.microsoft.com/office/2018/10/relationships/authors" Target="author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presProps" Target="presProps.xml"/><Relationship Id="rId30"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3" Type="http://schemas.openxmlformats.org/officeDocument/2006/relationships/oleObject" Target="Book2" TargetMode="External"/><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themeOverride" Target="../theme/themeOverride1.xml"/><Relationship Id="rId2" Type="http://schemas.microsoft.com/office/2011/relationships/chartColorStyle" Target="colors2.xml"/><Relationship Id="rId1" Type="http://schemas.microsoft.com/office/2011/relationships/chartStyle" Target="style2.xml"/><Relationship Id="rId4" Type="http://schemas.openxmlformats.org/officeDocument/2006/relationships/oleObject" Target="NULL" TargetMode="External"/></Relationships>
</file>

<file path=ppt/charts/_rels/chart3.xml.rels><?xml version="1.0" encoding="UTF-8" standalone="yes"?>
<Relationships xmlns="http://schemas.openxmlformats.org/package/2006/relationships"><Relationship Id="rId3" Type="http://schemas.openxmlformats.org/officeDocument/2006/relationships/themeOverride" Target="../theme/themeOverride2.xml"/><Relationship Id="rId2" Type="http://schemas.microsoft.com/office/2011/relationships/chartColorStyle" Target="colors3.xml"/><Relationship Id="rId1" Type="http://schemas.microsoft.com/office/2011/relationships/chartStyle" Target="style3.xml"/><Relationship Id="rId4" Type="http://schemas.openxmlformats.org/officeDocument/2006/relationships/oleObject" Target="NULL" TargetMode="Externa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GB" sz="2000" b="1" dirty="0">
                <a:latin typeface="+mj-lt"/>
              </a:rPr>
              <a:t>Modelled</a:t>
            </a:r>
            <a:r>
              <a:rPr lang="en-GB" sz="2000" b="1" baseline="0" dirty="0">
                <a:latin typeface="+mj-lt"/>
              </a:rPr>
              <a:t> testing data, 2010-2015</a:t>
            </a:r>
          </a:p>
          <a:p>
            <a:pPr>
              <a:defRPr/>
            </a:pPr>
            <a:r>
              <a:rPr lang="en-GB" sz="2000" b="1" baseline="0" dirty="0">
                <a:latin typeface="+mj-lt"/>
              </a:rPr>
              <a:t>% of tests, % of new HIV diagnoses</a:t>
            </a:r>
            <a:endParaRPr lang="en-GB" sz="2000" b="1" dirty="0">
              <a:latin typeface="+mj-lt"/>
            </a:endParaRP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bar"/>
        <c:grouping val="clustered"/>
        <c:varyColors val="0"/>
        <c:ser>
          <c:idx val="0"/>
          <c:order val="0"/>
          <c:tx>
            <c:strRef>
              <c:f>Sheet1!$B$13</c:f>
              <c:strCache>
                <c:ptCount val="1"/>
                <c:pt idx="0">
                  <c:v>% of HIV tests</c:v>
                </c:pt>
              </c:strCache>
            </c:strRef>
          </c:tx>
          <c:spPr>
            <a:solidFill>
              <a:schemeClr val="accent3"/>
            </a:solidFill>
            <a:ln>
              <a:noFill/>
            </a:ln>
            <a:effectLst/>
          </c:spPr>
          <c:invertIfNegative val="0"/>
          <c:cat>
            <c:strRef>
              <c:f>Sheet1!$A$14:$A$18</c:f>
              <c:strCache>
                <c:ptCount val="5"/>
                <c:pt idx="0">
                  <c:v>General HIV testing</c:v>
                </c:pt>
                <c:pt idx="1">
                  <c:v>Testing in STI clinics</c:v>
                </c:pt>
                <c:pt idx="2">
                  <c:v>Testing of OI patients</c:v>
                </c:pt>
                <c:pt idx="3">
                  <c:v>Testing of partners of newly diagnosed individuals</c:v>
                </c:pt>
                <c:pt idx="4">
                  <c:v>Antenatal testing</c:v>
                </c:pt>
              </c:strCache>
            </c:strRef>
          </c:cat>
          <c:val>
            <c:numRef>
              <c:f>Sheet1!$B$14:$B$18</c:f>
              <c:numCache>
                <c:formatCode>0%</c:formatCode>
                <c:ptCount val="5"/>
                <c:pt idx="0">
                  <c:v>0.63</c:v>
                </c:pt>
                <c:pt idx="1">
                  <c:v>0.114</c:v>
                </c:pt>
                <c:pt idx="2">
                  <c:v>9.8000000000000004E-2</c:v>
                </c:pt>
                <c:pt idx="4">
                  <c:v>7.1999999999999995E-2</c:v>
                </c:pt>
              </c:numCache>
            </c:numRef>
          </c:val>
          <c:extLst>
            <c:ext xmlns:c16="http://schemas.microsoft.com/office/drawing/2014/chart" uri="{C3380CC4-5D6E-409C-BE32-E72D297353CC}">
              <c16:uniqueId val="{00000000-5AB0-3C47-9C73-25BE74B78C01}"/>
            </c:ext>
          </c:extLst>
        </c:ser>
        <c:ser>
          <c:idx val="1"/>
          <c:order val="1"/>
          <c:tx>
            <c:strRef>
              <c:f>Sheet1!$C$13</c:f>
              <c:strCache>
                <c:ptCount val="1"/>
                <c:pt idx="0">
                  <c:v>% of new HIV diagnoses</c:v>
                </c:pt>
              </c:strCache>
            </c:strRef>
          </c:tx>
          <c:spPr>
            <a:solidFill>
              <a:schemeClr val="accent2"/>
            </a:solidFill>
            <a:ln>
              <a:noFill/>
            </a:ln>
            <a:effectLst/>
          </c:spPr>
          <c:invertIfNegative val="0"/>
          <c:cat>
            <c:strRef>
              <c:f>Sheet1!$A$14:$A$18</c:f>
              <c:strCache>
                <c:ptCount val="5"/>
                <c:pt idx="0">
                  <c:v>General HIV testing</c:v>
                </c:pt>
                <c:pt idx="1">
                  <c:v>Testing in STI clinics</c:v>
                </c:pt>
                <c:pt idx="2">
                  <c:v>Testing of OI patients</c:v>
                </c:pt>
                <c:pt idx="3">
                  <c:v>Testing of partners of newly diagnosed individuals</c:v>
                </c:pt>
                <c:pt idx="4">
                  <c:v>Antenatal testing</c:v>
                </c:pt>
              </c:strCache>
            </c:strRef>
          </c:cat>
          <c:val>
            <c:numRef>
              <c:f>Sheet1!$C$14:$C$18</c:f>
              <c:numCache>
                <c:formatCode>0%</c:formatCode>
                <c:ptCount val="5"/>
                <c:pt idx="0">
                  <c:v>0.436</c:v>
                </c:pt>
                <c:pt idx="1">
                  <c:v>8.1000000000000003E-2</c:v>
                </c:pt>
                <c:pt idx="2">
                  <c:v>0.32500000000000001</c:v>
                </c:pt>
                <c:pt idx="3">
                  <c:v>7.3999999999999996E-2</c:v>
                </c:pt>
              </c:numCache>
            </c:numRef>
          </c:val>
          <c:extLst>
            <c:ext xmlns:c16="http://schemas.microsoft.com/office/drawing/2014/chart" uri="{C3380CC4-5D6E-409C-BE32-E72D297353CC}">
              <c16:uniqueId val="{00000001-5AB0-3C47-9C73-25BE74B78C01}"/>
            </c:ext>
          </c:extLst>
        </c:ser>
        <c:dLbls>
          <c:showLegendKey val="0"/>
          <c:showVal val="0"/>
          <c:showCatName val="0"/>
          <c:showSerName val="0"/>
          <c:showPercent val="0"/>
          <c:showBubbleSize val="0"/>
        </c:dLbls>
        <c:gapWidth val="182"/>
        <c:axId val="1794480784"/>
        <c:axId val="1789849200"/>
      </c:barChart>
      <c:catAx>
        <c:axId val="1794480784"/>
        <c:scaling>
          <c:orientation val="minMax"/>
        </c:scaling>
        <c:delete val="0"/>
        <c:axPos val="l"/>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endParaRPr lang="en-US"/>
          </a:p>
        </c:txPr>
        <c:crossAx val="1789849200"/>
        <c:crosses val="autoZero"/>
        <c:auto val="1"/>
        <c:lblAlgn val="ctr"/>
        <c:lblOffset val="100"/>
        <c:noMultiLvlLbl val="0"/>
      </c:catAx>
      <c:valAx>
        <c:axId val="1789849200"/>
        <c:scaling>
          <c:orientation val="minMax"/>
        </c:scaling>
        <c:delete val="0"/>
        <c:axPos val="b"/>
        <c:majorGridlines>
          <c:spPr>
            <a:ln w="9525" cap="flat" cmpd="sng" algn="ctr">
              <a:solidFill>
                <a:schemeClr val="tx1">
                  <a:lumMod val="15000"/>
                  <a:lumOff val="85000"/>
                </a:schemeClr>
              </a:solidFill>
              <a:round/>
            </a:ln>
            <a:effectLst/>
          </c:spPr>
        </c:majorGridlines>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794480784"/>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chart>
  <c:spPr>
    <a:solidFill>
      <a:schemeClr val="bg1"/>
    </a:solidFill>
    <a:ln>
      <a:noFill/>
    </a:ln>
    <a:effectLst/>
  </c:spPr>
  <c:txPr>
    <a:bodyPr/>
    <a:lstStyle/>
    <a:p>
      <a:pPr>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manualLayout>
          <c:layoutTarget val="inner"/>
          <c:xMode val="edge"/>
          <c:yMode val="edge"/>
          <c:x val="4.3701443569553799E-2"/>
          <c:y val="8.0203211080964801E-2"/>
          <c:w val="0.90999294619422599"/>
          <c:h val="0.72610742575624698"/>
        </c:manualLayout>
      </c:layout>
      <c:barChart>
        <c:barDir val="col"/>
        <c:grouping val="clustered"/>
        <c:varyColors val="0"/>
        <c:ser>
          <c:idx val="0"/>
          <c:order val="0"/>
          <c:tx>
            <c:strRef>
              <c:f>'Pivots and Graphs'!$A$3636</c:f>
              <c:strCache>
                <c:ptCount val="1"/>
                <c:pt idx="0">
                  <c:v>HTS_TST_POS Target</c:v>
                </c:pt>
              </c:strCache>
            </c:strRef>
          </c:tx>
          <c:spPr>
            <a:noFill/>
            <a:ln w="57150">
              <a:solidFill>
                <a:srgbClr val="E0001B"/>
              </a:solidFill>
              <a:prstDash val="dash"/>
            </a:ln>
            <a:effectLst/>
          </c:spPr>
          <c:invertIfNegative val="0"/>
          <c:cat>
            <c:multiLvlStrRef>
              <c:f>'Pivots and Graphs'!$B$3634:$W$3635</c:f>
              <c:multiLvlStrCache>
                <c:ptCount val="22"/>
                <c:lvl>
                  <c:pt idx="0">
                    <c:v>&lt;1</c:v>
                  </c:pt>
                  <c:pt idx="1">
                    <c:v>1-9</c:v>
                  </c:pt>
                  <c:pt idx="2">
                    <c:v>10-14</c:v>
                  </c:pt>
                  <c:pt idx="3">
                    <c:v>15-19</c:v>
                  </c:pt>
                  <c:pt idx="4">
                    <c:v>20-24</c:v>
                  </c:pt>
                  <c:pt idx="5">
                    <c:v>25-29</c:v>
                  </c:pt>
                  <c:pt idx="6">
                    <c:v>30-34</c:v>
                  </c:pt>
                  <c:pt idx="7">
                    <c:v>35-39</c:v>
                  </c:pt>
                  <c:pt idx="8">
                    <c:v>40-44</c:v>
                  </c:pt>
                  <c:pt idx="9">
                    <c:v>45-49</c:v>
                  </c:pt>
                  <c:pt idx="10">
                    <c:v>50+</c:v>
                  </c:pt>
                  <c:pt idx="11">
                    <c:v>&lt;1</c:v>
                  </c:pt>
                  <c:pt idx="12">
                    <c:v>1-9</c:v>
                  </c:pt>
                  <c:pt idx="13">
                    <c:v>10-14</c:v>
                  </c:pt>
                  <c:pt idx="14">
                    <c:v>15-19</c:v>
                  </c:pt>
                  <c:pt idx="15">
                    <c:v>20-24</c:v>
                  </c:pt>
                  <c:pt idx="16">
                    <c:v>25-29</c:v>
                  </c:pt>
                  <c:pt idx="17">
                    <c:v>30-34</c:v>
                  </c:pt>
                  <c:pt idx="18">
                    <c:v>35-39</c:v>
                  </c:pt>
                  <c:pt idx="19">
                    <c:v>40-44</c:v>
                  </c:pt>
                  <c:pt idx="20">
                    <c:v>45-49</c:v>
                  </c:pt>
                  <c:pt idx="21">
                    <c:v>50+</c:v>
                  </c:pt>
                </c:lvl>
                <c:lvl>
                  <c:pt idx="0">
                    <c:v>Male</c:v>
                  </c:pt>
                  <c:pt idx="11">
                    <c:v>Female</c:v>
                  </c:pt>
                </c:lvl>
              </c:multiLvlStrCache>
            </c:multiLvlStrRef>
          </c:cat>
          <c:val>
            <c:numRef>
              <c:f>'Pivots and Graphs'!$B$3636:$W$3636</c:f>
              <c:numCache>
                <c:formatCode>General</c:formatCode>
                <c:ptCount val="22"/>
                <c:pt idx="0">
                  <c:v>0</c:v>
                </c:pt>
                <c:pt idx="1">
                  <c:v>441</c:v>
                </c:pt>
                <c:pt idx="2">
                  <c:v>242</c:v>
                </c:pt>
                <c:pt idx="3">
                  <c:v>653</c:v>
                </c:pt>
                <c:pt idx="4">
                  <c:v>1033</c:v>
                </c:pt>
                <c:pt idx="5">
                  <c:v>1730</c:v>
                </c:pt>
                <c:pt idx="6">
                  <c:v>2848</c:v>
                </c:pt>
                <c:pt idx="7">
                  <c:v>1463</c:v>
                </c:pt>
                <c:pt idx="8">
                  <c:v>1437</c:v>
                </c:pt>
                <c:pt idx="9">
                  <c:v>1382</c:v>
                </c:pt>
                <c:pt idx="10">
                  <c:v>1829</c:v>
                </c:pt>
                <c:pt idx="11">
                  <c:v>0</c:v>
                </c:pt>
                <c:pt idx="12">
                  <c:v>390</c:v>
                </c:pt>
                <c:pt idx="13">
                  <c:v>351</c:v>
                </c:pt>
                <c:pt idx="14">
                  <c:v>807</c:v>
                </c:pt>
                <c:pt idx="15">
                  <c:v>1332</c:v>
                </c:pt>
                <c:pt idx="16">
                  <c:v>913</c:v>
                </c:pt>
                <c:pt idx="17">
                  <c:v>1117</c:v>
                </c:pt>
                <c:pt idx="18">
                  <c:v>720</c:v>
                </c:pt>
                <c:pt idx="19">
                  <c:v>702</c:v>
                </c:pt>
                <c:pt idx="20">
                  <c:v>520</c:v>
                </c:pt>
                <c:pt idx="21">
                  <c:v>1160</c:v>
                </c:pt>
              </c:numCache>
            </c:numRef>
          </c:val>
          <c:extLst>
            <c:ext xmlns:c16="http://schemas.microsoft.com/office/drawing/2014/chart" uri="{C3380CC4-5D6E-409C-BE32-E72D297353CC}">
              <c16:uniqueId val="{00000000-5582-DA4F-B126-7C614DE508E5}"/>
            </c:ext>
          </c:extLst>
        </c:ser>
        <c:ser>
          <c:idx val="1"/>
          <c:order val="1"/>
          <c:tx>
            <c:strRef>
              <c:f>'Pivots and Graphs'!$A$3637</c:f>
              <c:strCache>
                <c:ptCount val="1"/>
                <c:pt idx="0">
                  <c:v>Achievement</c:v>
                </c:pt>
              </c:strCache>
            </c:strRef>
          </c:tx>
          <c:spPr>
            <a:solidFill>
              <a:srgbClr val="8CCDCD"/>
            </a:solidFill>
            <a:ln>
              <a:noFill/>
            </a:ln>
            <a:effectLst/>
          </c:spPr>
          <c:invertIfNegative val="0"/>
          <c:cat>
            <c:multiLvlStrRef>
              <c:f>'Pivots and Graphs'!$B$3634:$W$3635</c:f>
              <c:multiLvlStrCache>
                <c:ptCount val="22"/>
                <c:lvl>
                  <c:pt idx="0">
                    <c:v>&lt;1</c:v>
                  </c:pt>
                  <c:pt idx="1">
                    <c:v>1-9</c:v>
                  </c:pt>
                  <c:pt idx="2">
                    <c:v>10-14</c:v>
                  </c:pt>
                  <c:pt idx="3">
                    <c:v>15-19</c:v>
                  </c:pt>
                  <c:pt idx="4">
                    <c:v>20-24</c:v>
                  </c:pt>
                  <c:pt idx="5">
                    <c:v>25-29</c:v>
                  </c:pt>
                  <c:pt idx="6">
                    <c:v>30-34</c:v>
                  </c:pt>
                  <c:pt idx="7">
                    <c:v>35-39</c:v>
                  </c:pt>
                  <c:pt idx="8">
                    <c:v>40-44</c:v>
                  </c:pt>
                  <c:pt idx="9">
                    <c:v>45-49</c:v>
                  </c:pt>
                  <c:pt idx="10">
                    <c:v>50+</c:v>
                  </c:pt>
                  <c:pt idx="11">
                    <c:v>&lt;1</c:v>
                  </c:pt>
                  <c:pt idx="12">
                    <c:v>1-9</c:v>
                  </c:pt>
                  <c:pt idx="13">
                    <c:v>10-14</c:v>
                  </c:pt>
                  <c:pt idx="14">
                    <c:v>15-19</c:v>
                  </c:pt>
                  <c:pt idx="15">
                    <c:v>20-24</c:v>
                  </c:pt>
                  <c:pt idx="16">
                    <c:v>25-29</c:v>
                  </c:pt>
                  <c:pt idx="17">
                    <c:v>30-34</c:v>
                  </c:pt>
                  <c:pt idx="18">
                    <c:v>35-39</c:v>
                  </c:pt>
                  <c:pt idx="19">
                    <c:v>40-44</c:v>
                  </c:pt>
                  <c:pt idx="20">
                    <c:v>45-49</c:v>
                  </c:pt>
                  <c:pt idx="21">
                    <c:v>50+</c:v>
                  </c:pt>
                </c:lvl>
                <c:lvl>
                  <c:pt idx="0">
                    <c:v>Male</c:v>
                  </c:pt>
                  <c:pt idx="11">
                    <c:v>Female</c:v>
                  </c:pt>
                </c:lvl>
              </c:multiLvlStrCache>
            </c:multiLvlStrRef>
          </c:cat>
          <c:val>
            <c:numRef>
              <c:f>'Pivots and Graphs'!$B$3637:$W$3637</c:f>
              <c:numCache>
                <c:formatCode>General</c:formatCode>
                <c:ptCount val="22"/>
                <c:pt idx="0">
                  <c:v>9</c:v>
                </c:pt>
                <c:pt idx="1">
                  <c:v>217</c:v>
                </c:pt>
                <c:pt idx="2">
                  <c:v>73</c:v>
                </c:pt>
                <c:pt idx="3">
                  <c:v>84</c:v>
                </c:pt>
                <c:pt idx="4">
                  <c:v>429</c:v>
                </c:pt>
                <c:pt idx="5">
                  <c:v>670</c:v>
                </c:pt>
                <c:pt idx="6">
                  <c:v>827</c:v>
                </c:pt>
                <c:pt idx="7">
                  <c:v>925</c:v>
                </c:pt>
                <c:pt idx="8">
                  <c:v>755</c:v>
                </c:pt>
                <c:pt idx="9">
                  <c:v>484</c:v>
                </c:pt>
                <c:pt idx="10">
                  <c:v>607</c:v>
                </c:pt>
                <c:pt idx="11">
                  <c:v>6</c:v>
                </c:pt>
                <c:pt idx="12">
                  <c:v>249</c:v>
                </c:pt>
                <c:pt idx="13">
                  <c:v>109</c:v>
                </c:pt>
                <c:pt idx="14">
                  <c:v>631</c:v>
                </c:pt>
                <c:pt idx="15">
                  <c:v>1810</c:v>
                </c:pt>
                <c:pt idx="16">
                  <c:v>1715</c:v>
                </c:pt>
                <c:pt idx="17">
                  <c:v>1295</c:v>
                </c:pt>
                <c:pt idx="18">
                  <c:v>1082</c:v>
                </c:pt>
                <c:pt idx="19">
                  <c:v>573</c:v>
                </c:pt>
                <c:pt idx="20">
                  <c:v>332</c:v>
                </c:pt>
                <c:pt idx="21">
                  <c:v>442</c:v>
                </c:pt>
              </c:numCache>
            </c:numRef>
          </c:val>
          <c:extLst>
            <c:ext xmlns:c16="http://schemas.microsoft.com/office/drawing/2014/chart" uri="{C3380CC4-5D6E-409C-BE32-E72D297353CC}">
              <c16:uniqueId val="{00000001-5582-DA4F-B126-7C614DE508E5}"/>
            </c:ext>
          </c:extLst>
        </c:ser>
        <c:dLbls>
          <c:showLegendKey val="0"/>
          <c:showVal val="0"/>
          <c:showCatName val="0"/>
          <c:showSerName val="0"/>
          <c:showPercent val="0"/>
          <c:showBubbleSize val="0"/>
        </c:dLbls>
        <c:gapWidth val="50"/>
        <c:overlap val="100"/>
        <c:axId val="-859786656"/>
        <c:axId val="-857274016"/>
      </c:barChart>
      <c:scatterChart>
        <c:scatterStyle val="lineMarker"/>
        <c:varyColors val="0"/>
        <c:ser>
          <c:idx val="2"/>
          <c:order val="2"/>
          <c:tx>
            <c:strRef>
              <c:f>'Pivots and Graphs'!$A$3638</c:f>
              <c:strCache>
                <c:ptCount val="1"/>
                <c:pt idx="0">
                  <c:v>% Achievement</c:v>
                </c:pt>
              </c:strCache>
            </c:strRef>
          </c:tx>
          <c:spPr>
            <a:ln w="25400" cap="rnd">
              <a:noFill/>
              <a:round/>
            </a:ln>
            <a:effectLst/>
          </c:spPr>
          <c:marker>
            <c:symbol val="dash"/>
            <c:size val="16"/>
            <c:spPr>
              <a:solidFill>
                <a:schemeClr val="bg1">
                  <a:lumMod val="75000"/>
                </a:schemeClr>
              </a:solidFill>
              <a:ln w="19050">
                <a:solidFill>
                  <a:sysClr val="window" lastClr="FFFFFF">
                    <a:lumMod val="50000"/>
                  </a:sysClr>
                </a:solidFill>
              </a:ln>
              <a:effectLst/>
            </c:spPr>
          </c:marker>
          <c:dPt>
            <c:idx val="0"/>
            <c:marker>
              <c:symbol val="dash"/>
              <c:size val="16"/>
              <c:spPr>
                <a:noFill/>
                <a:ln w="19050">
                  <a:noFill/>
                </a:ln>
                <a:effectLst/>
              </c:spPr>
            </c:marker>
            <c:bubble3D val="0"/>
            <c:spPr>
              <a:ln w="25400" cap="rnd">
                <a:noFill/>
                <a:round/>
              </a:ln>
              <a:effectLst/>
            </c:spPr>
            <c:extLst>
              <c:ext xmlns:c16="http://schemas.microsoft.com/office/drawing/2014/chart" uri="{C3380CC4-5D6E-409C-BE32-E72D297353CC}">
                <c16:uniqueId val="{00000003-5582-DA4F-B126-7C614DE508E5}"/>
              </c:ext>
            </c:extLst>
          </c:dPt>
          <c:dPt>
            <c:idx val="11"/>
            <c:marker>
              <c:symbol val="dash"/>
              <c:size val="16"/>
              <c:spPr>
                <a:noFill/>
                <a:ln w="19050">
                  <a:noFill/>
                </a:ln>
                <a:effectLst/>
              </c:spPr>
            </c:marker>
            <c:bubble3D val="0"/>
            <c:spPr>
              <a:ln w="25400" cap="rnd">
                <a:noFill/>
                <a:round/>
              </a:ln>
              <a:effectLst/>
            </c:spPr>
            <c:extLst>
              <c:ext xmlns:c16="http://schemas.microsoft.com/office/drawing/2014/chart" uri="{C3380CC4-5D6E-409C-BE32-E72D297353CC}">
                <c16:uniqueId val="{00000005-5582-DA4F-B126-7C614DE508E5}"/>
              </c:ext>
            </c:extLst>
          </c:dPt>
          <c:dLbls>
            <c:dLbl>
              <c:idx val="0"/>
              <c:delete val="1"/>
              <c:extLst>
                <c:ext xmlns:c15="http://schemas.microsoft.com/office/drawing/2012/chart" uri="{CE6537A1-D6FC-4f65-9D91-7224C49458BB}"/>
                <c:ext xmlns:c16="http://schemas.microsoft.com/office/drawing/2014/chart" uri="{C3380CC4-5D6E-409C-BE32-E72D297353CC}">
                  <c16:uniqueId val="{00000003-5582-DA4F-B126-7C614DE508E5}"/>
                </c:ext>
              </c:extLst>
            </c:dLbl>
            <c:dLbl>
              <c:idx val="11"/>
              <c:delete val="1"/>
              <c:extLst>
                <c:ext xmlns:c15="http://schemas.microsoft.com/office/drawing/2012/chart" uri="{CE6537A1-D6FC-4f65-9D91-7224C49458BB}"/>
                <c:ext xmlns:c16="http://schemas.microsoft.com/office/drawing/2014/chart" uri="{C3380CC4-5D6E-409C-BE32-E72D297353CC}">
                  <c16:uniqueId val="{00000005-5582-DA4F-B126-7C614DE508E5}"/>
                </c:ext>
              </c:extLst>
            </c:dLbl>
            <c:spPr>
              <a:solidFill>
                <a:srgbClr val="E7E6E6"/>
              </a:solidFill>
              <a:ln>
                <a:noFill/>
              </a:ln>
              <a:effectLst/>
            </c:spPr>
            <c:txPr>
              <a:bodyPr rot="0" spcFirstLastPara="1" vertOverflow="ellipsis" vert="horz" wrap="square" anchor="ctr" anchorCtr="1"/>
              <a:lstStyle/>
              <a:p>
                <a:pPr>
                  <a:defRPr sz="900" b="0" i="0" u="none" strike="noStrike" kern="1200" baseline="0">
                    <a:solidFill>
                      <a:schemeClr val="tx1">
                        <a:lumMod val="75000"/>
                        <a:lumOff val="25000"/>
                      </a:schemeClr>
                    </a:solidFill>
                    <a:latin typeface="Verdana" panose="020B0604030504040204" pitchFamily="34" charset="0"/>
                    <a:ea typeface="Verdana" panose="020B0604030504040204" pitchFamily="34" charset="0"/>
                    <a:cs typeface="Verdana" panose="020B0604030504040204" pitchFamily="34" charset="0"/>
                  </a:defRPr>
                </a:pPr>
                <a:endParaRPr lang="en-US"/>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xVal>
            <c:multiLvlStrRef>
              <c:f>'Pivots and Graphs'!$B$3634:$W$3635</c:f>
              <c:multiLvlStrCache>
                <c:ptCount val="22"/>
                <c:lvl>
                  <c:pt idx="0">
                    <c:v>&lt;1</c:v>
                  </c:pt>
                  <c:pt idx="1">
                    <c:v>1-9</c:v>
                  </c:pt>
                  <c:pt idx="2">
                    <c:v>10-14</c:v>
                  </c:pt>
                  <c:pt idx="3">
                    <c:v>15-19</c:v>
                  </c:pt>
                  <c:pt idx="4">
                    <c:v>20-24</c:v>
                  </c:pt>
                  <c:pt idx="5">
                    <c:v>25-29</c:v>
                  </c:pt>
                  <c:pt idx="6">
                    <c:v>30-34</c:v>
                  </c:pt>
                  <c:pt idx="7">
                    <c:v>35-39</c:v>
                  </c:pt>
                  <c:pt idx="8">
                    <c:v>40-44</c:v>
                  </c:pt>
                  <c:pt idx="9">
                    <c:v>45-49</c:v>
                  </c:pt>
                  <c:pt idx="10">
                    <c:v>50+</c:v>
                  </c:pt>
                  <c:pt idx="11">
                    <c:v>&lt;1</c:v>
                  </c:pt>
                  <c:pt idx="12">
                    <c:v>1-9</c:v>
                  </c:pt>
                  <c:pt idx="13">
                    <c:v>10-14</c:v>
                  </c:pt>
                  <c:pt idx="14">
                    <c:v>15-19</c:v>
                  </c:pt>
                  <c:pt idx="15">
                    <c:v>20-24</c:v>
                  </c:pt>
                  <c:pt idx="16">
                    <c:v>25-29</c:v>
                  </c:pt>
                  <c:pt idx="17">
                    <c:v>30-34</c:v>
                  </c:pt>
                  <c:pt idx="18">
                    <c:v>35-39</c:v>
                  </c:pt>
                  <c:pt idx="19">
                    <c:v>40-44</c:v>
                  </c:pt>
                  <c:pt idx="20">
                    <c:v>45-49</c:v>
                  </c:pt>
                  <c:pt idx="21">
                    <c:v>50+</c:v>
                  </c:pt>
                </c:lvl>
                <c:lvl>
                  <c:pt idx="0">
                    <c:v>Male</c:v>
                  </c:pt>
                  <c:pt idx="11">
                    <c:v>Female</c:v>
                  </c:pt>
                </c:lvl>
              </c:multiLvlStrCache>
            </c:multiLvlStrRef>
          </c:xVal>
          <c:yVal>
            <c:numRef>
              <c:f>'Pivots and Graphs'!$B$3638:$W$3638</c:f>
              <c:numCache>
                <c:formatCode>0%</c:formatCode>
                <c:ptCount val="22"/>
                <c:pt idx="0">
                  <c:v>0</c:v>
                </c:pt>
                <c:pt idx="1">
                  <c:v>0.49206349206349198</c:v>
                </c:pt>
                <c:pt idx="2">
                  <c:v>0.30165289256198302</c:v>
                </c:pt>
                <c:pt idx="3">
                  <c:v>0.128637059724349</c:v>
                </c:pt>
                <c:pt idx="4">
                  <c:v>0.415295256534366</c:v>
                </c:pt>
                <c:pt idx="5">
                  <c:v>0.38728323699422001</c:v>
                </c:pt>
                <c:pt idx="6">
                  <c:v>0.29037921348314599</c:v>
                </c:pt>
                <c:pt idx="7">
                  <c:v>0.63226247436773697</c:v>
                </c:pt>
                <c:pt idx="8">
                  <c:v>0.52540013917884498</c:v>
                </c:pt>
                <c:pt idx="9">
                  <c:v>0.350217076700434</c:v>
                </c:pt>
                <c:pt idx="10">
                  <c:v>0.33187534171678501</c:v>
                </c:pt>
                <c:pt idx="11">
                  <c:v>0</c:v>
                </c:pt>
                <c:pt idx="12">
                  <c:v>0.63846153846153797</c:v>
                </c:pt>
                <c:pt idx="13">
                  <c:v>0.31054131054131001</c:v>
                </c:pt>
                <c:pt idx="14">
                  <c:v>0.78190830235439901</c:v>
                </c:pt>
                <c:pt idx="15">
                  <c:v>1.3588588588588599</c:v>
                </c:pt>
                <c:pt idx="16">
                  <c:v>1.8784227820372399</c:v>
                </c:pt>
                <c:pt idx="17">
                  <c:v>1.1593554162936439</c:v>
                </c:pt>
                <c:pt idx="18">
                  <c:v>1.502777777777778</c:v>
                </c:pt>
                <c:pt idx="19">
                  <c:v>0.816239316239316</c:v>
                </c:pt>
                <c:pt idx="20">
                  <c:v>0.63846153846153797</c:v>
                </c:pt>
                <c:pt idx="21">
                  <c:v>0.38103448275862101</c:v>
                </c:pt>
              </c:numCache>
            </c:numRef>
          </c:yVal>
          <c:smooth val="0"/>
          <c:extLst>
            <c:ext xmlns:c16="http://schemas.microsoft.com/office/drawing/2014/chart" uri="{C3380CC4-5D6E-409C-BE32-E72D297353CC}">
              <c16:uniqueId val="{00000006-5582-DA4F-B126-7C614DE508E5}"/>
            </c:ext>
          </c:extLst>
        </c:ser>
        <c:dLbls>
          <c:showLegendKey val="0"/>
          <c:showVal val="0"/>
          <c:showCatName val="0"/>
          <c:showSerName val="0"/>
          <c:showPercent val="0"/>
          <c:showBubbleSize val="0"/>
        </c:dLbls>
        <c:axId val="-858846224"/>
        <c:axId val="-858848544"/>
      </c:scatterChart>
      <c:catAx>
        <c:axId val="-859786656"/>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Verdana" panose="020B0604030504040204" pitchFamily="34" charset="0"/>
                <a:ea typeface="Verdana" panose="020B0604030504040204" pitchFamily="34" charset="0"/>
                <a:cs typeface="Verdana" panose="020B0604030504040204" pitchFamily="34" charset="0"/>
              </a:defRPr>
            </a:pPr>
            <a:endParaRPr lang="en-US"/>
          </a:p>
        </c:txPr>
        <c:crossAx val="-857274016"/>
        <c:crosses val="autoZero"/>
        <c:auto val="1"/>
        <c:lblAlgn val="ctr"/>
        <c:lblOffset val="100"/>
        <c:noMultiLvlLbl val="0"/>
      </c:catAx>
      <c:valAx>
        <c:axId val="-857274016"/>
        <c:scaling>
          <c:orientation val="minMax"/>
        </c:scaling>
        <c:delete val="0"/>
        <c:axPos val="l"/>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Verdana" panose="020B0604030504040204" pitchFamily="34" charset="0"/>
                <a:ea typeface="Verdana" panose="020B0604030504040204" pitchFamily="34" charset="0"/>
                <a:cs typeface="Verdana" panose="020B0604030504040204" pitchFamily="34" charset="0"/>
              </a:defRPr>
            </a:pPr>
            <a:endParaRPr lang="en-US"/>
          </a:p>
        </c:txPr>
        <c:crossAx val="-859786656"/>
        <c:crosses val="autoZero"/>
        <c:crossBetween val="between"/>
      </c:valAx>
      <c:valAx>
        <c:axId val="-858848544"/>
        <c:scaling>
          <c:orientation val="minMax"/>
        </c:scaling>
        <c:delete val="0"/>
        <c:axPos val="r"/>
        <c:numFmt formatCode="0%" sourceLinked="1"/>
        <c:majorTickMark val="out"/>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Verdana" panose="020B0604030504040204" pitchFamily="34" charset="0"/>
                <a:ea typeface="Verdana" panose="020B0604030504040204" pitchFamily="34" charset="0"/>
                <a:cs typeface="Verdana" panose="020B0604030504040204" pitchFamily="34" charset="0"/>
              </a:defRPr>
            </a:pPr>
            <a:endParaRPr lang="en-US"/>
          </a:p>
        </c:txPr>
        <c:crossAx val="-858846224"/>
        <c:crosses val="max"/>
        <c:crossBetween val="midCat"/>
      </c:valAx>
      <c:valAx>
        <c:axId val="-858846224"/>
        <c:scaling>
          <c:orientation val="minMax"/>
        </c:scaling>
        <c:delete val="1"/>
        <c:axPos val="t"/>
        <c:majorTickMark val="out"/>
        <c:minorTickMark val="none"/>
        <c:tickLblPos val="nextTo"/>
        <c:crossAx val="-858848544"/>
        <c:crosses val="max"/>
        <c:crossBetween val="midCat"/>
      </c:valAx>
      <c:spPr>
        <a:noFill/>
        <a:ln>
          <a:noFill/>
        </a:ln>
        <a:effectLst/>
      </c:spPr>
    </c:plotArea>
    <c:legend>
      <c:legendPos val="b"/>
      <c:legendEntry>
        <c:idx val="0"/>
        <c:txPr>
          <a:bodyPr rot="0" spcFirstLastPara="1" vertOverflow="ellipsis" vert="horz" wrap="square" anchor="ctr" anchorCtr="1"/>
          <a:lstStyle/>
          <a:p>
            <a:pPr>
              <a:defRPr sz="900" b="0" i="0" u="none" strike="noStrike" kern="1200" baseline="0">
                <a:solidFill>
                  <a:schemeClr val="tx1">
                    <a:lumMod val="65000"/>
                    <a:lumOff val="35000"/>
                  </a:schemeClr>
                </a:solidFill>
                <a:latin typeface="Verdana" panose="020B0604030504040204" pitchFamily="34" charset="0"/>
                <a:ea typeface="Verdana" panose="020B0604030504040204" pitchFamily="34" charset="0"/>
                <a:cs typeface="Verdana" panose="020B0604030504040204" pitchFamily="34" charset="0"/>
              </a:defRPr>
            </a:pPr>
            <a:endParaRPr lang="en-US"/>
          </a:p>
        </c:txPr>
      </c:legendEntry>
      <c:legendEntry>
        <c:idx val="1"/>
        <c:txPr>
          <a:bodyPr rot="0" spcFirstLastPara="1" vertOverflow="ellipsis" vert="horz" wrap="square" anchor="ctr" anchorCtr="1"/>
          <a:lstStyle/>
          <a:p>
            <a:pPr>
              <a:defRPr sz="900" b="0" i="0" u="none" strike="noStrike" kern="1200" baseline="0">
                <a:solidFill>
                  <a:schemeClr val="tx1">
                    <a:lumMod val="65000"/>
                    <a:lumOff val="35000"/>
                  </a:schemeClr>
                </a:solidFill>
                <a:latin typeface="Verdana" panose="020B0604030504040204" pitchFamily="34" charset="0"/>
                <a:ea typeface="Verdana" panose="020B0604030504040204" pitchFamily="34" charset="0"/>
                <a:cs typeface="Verdana" panose="020B0604030504040204" pitchFamily="34" charset="0"/>
              </a:defRPr>
            </a:pPr>
            <a:endParaRPr lang="en-US"/>
          </a:p>
        </c:txPr>
      </c:legendEntry>
      <c:legendEntry>
        <c:idx val="2"/>
        <c:txPr>
          <a:bodyPr rot="0" spcFirstLastPara="1" vertOverflow="ellipsis" vert="horz" wrap="square" anchor="ctr" anchorCtr="1"/>
          <a:lstStyle/>
          <a:p>
            <a:pPr>
              <a:defRPr sz="900" b="0" i="0" u="none" strike="noStrike" kern="1200" baseline="0">
                <a:solidFill>
                  <a:schemeClr val="tx1">
                    <a:lumMod val="65000"/>
                    <a:lumOff val="35000"/>
                  </a:schemeClr>
                </a:solidFill>
                <a:latin typeface="Verdana" panose="020B0604030504040204" pitchFamily="34" charset="0"/>
                <a:ea typeface="Verdana" panose="020B0604030504040204" pitchFamily="34" charset="0"/>
                <a:cs typeface="Verdana" panose="020B0604030504040204" pitchFamily="34" charset="0"/>
              </a:defRPr>
            </a:pPr>
            <a:endParaRPr lang="en-US"/>
          </a:p>
        </c:txPr>
      </c:legendEntry>
      <c:layout>
        <c:manualLayout>
          <c:xMode val="edge"/>
          <c:yMode val="edge"/>
          <c:x val="6.5715988626421695E-2"/>
          <c:y val="4.5917130152004798E-2"/>
          <c:w val="0.52412344160104996"/>
          <c:h val="8.7427189764942403E-2"/>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Verdana" panose="020B0604030504040204" pitchFamily="34" charset="0"/>
              <a:ea typeface="Verdana" panose="020B0604030504040204" pitchFamily="34" charset="0"/>
              <a:cs typeface="Verdana" panose="020B0604030504040204" pitchFamily="34" charset="0"/>
            </a:defRPr>
          </a:pPr>
          <a:endParaRPr lang="en-US"/>
        </a:p>
      </c:txPr>
    </c:legend>
    <c:plotVisOnly val="1"/>
    <c:dispBlanksAs val="gap"/>
    <c:showDLblsOverMax val="0"/>
  </c:chart>
  <c:spPr>
    <a:noFill/>
    <a:ln>
      <a:noFill/>
    </a:ln>
    <a:effectLst/>
  </c:spPr>
  <c:txPr>
    <a:bodyPr/>
    <a:lstStyle/>
    <a:p>
      <a:pPr>
        <a:defRPr>
          <a:latin typeface="Verdana" panose="020B0604030504040204" pitchFamily="34" charset="0"/>
          <a:ea typeface="Verdana" panose="020B0604030504040204" pitchFamily="34" charset="0"/>
          <a:cs typeface="Verdana" panose="020B0604030504040204" pitchFamily="34" charset="0"/>
        </a:defRPr>
      </a:pPr>
      <a:endParaRPr lang="en-US"/>
    </a:p>
  </c:txPr>
  <c:externalData r:id="rId4">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barChart>
        <c:barDir val="col"/>
        <c:grouping val="stacked"/>
        <c:varyColors val="0"/>
        <c:ser>
          <c:idx val="0"/>
          <c:order val="0"/>
          <c:tx>
            <c:strRef>
              <c:f>'Pivots and Graphs'!$A$3261</c:f>
              <c:strCache>
                <c:ptCount val="1"/>
                <c:pt idx="0">
                  <c:v>M HTS_TST_NEG</c:v>
                </c:pt>
              </c:strCache>
            </c:strRef>
          </c:tx>
          <c:spPr>
            <a:solidFill>
              <a:srgbClr val="7F7F7F"/>
            </a:solidFill>
            <a:ln>
              <a:noFill/>
            </a:ln>
            <a:effectLst/>
          </c:spPr>
          <c:invertIfNegative val="0"/>
          <c:cat>
            <c:multiLvlStrRef>
              <c:f>'Pivots and Graphs'!$B$3259:$S$3260</c:f>
              <c:multiLvlStrCache>
                <c:ptCount val="18"/>
                <c:lvl>
                  <c:pt idx="0">
                    <c:v>10-14</c:v>
                  </c:pt>
                  <c:pt idx="1">
                    <c:v>15-19</c:v>
                  </c:pt>
                  <c:pt idx="2">
                    <c:v>20-24</c:v>
                  </c:pt>
                  <c:pt idx="3">
                    <c:v>25-29</c:v>
                  </c:pt>
                  <c:pt idx="4">
                    <c:v>30-34</c:v>
                  </c:pt>
                  <c:pt idx="5">
                    <c:v>35-39</c:v>
                  </c:pt>
                  <c:pt idx="6">
                    <c:v>40-44</c:v>
                  </c:pt>
                  <c:pt idx="7">
                    <c:v>45-49</c:v>
                  </c:pt>
                  <c:pt idx="8">
                    <c:v>50+</c:v>
                  </c:pt>
                  <c:pt idx="9">
                    <c:v>10-14</c:v>
                  </c:pt>
                  <c:pt idx="10">
                    <c:v>15-19</c:v>
                  </c:pt>
                  <c:pt idx="11">
                    <c:v>20-24</c:v>
                  </c:pt>
                  <c:pt idx="12">
                    <c:v>25-29</c:v>
                  </c:pt>
                  <c:pt idx="13">
                    <c:v>30-34</c:v>
                  </c:pt>
                  <c:pt idx="14">
                    <c:v>35-39</c:v>
                  </c:pt>
                  <c:pt idx="15">
                    <c:v>40-44</c:v>
                  </c:pt>
                  <c:pt idx="16">
                    <c:v>45-49</c:v>
                  </c:pt>
                  <c:pt idx="17">
                    <c:v>50+</c:v>
                  </c:pt>
                </c:lvl>
                <c:lvl>
                  <c:pt idx="0">
                    <c:v>Male</c:v>
                  </c:pt>
                  <c:pt idx="9">
                    <c:v>Female</c:v>
                  </c:pt>
                </c:lvl>
              </c:multiLvlStrCache>
            </c:multiLvlStrRef>
          </c:cat>
          <c:val>
            <c:numRef>
              <c:f>'Pivots and Graphs'!$B$3261:$S$3261</c:f>
              <c:numCache>
                <c:formatCode>General</c:formatCode>
                <c:ptCount val="18"/>
                <c:pt idx="0">
                  <c:v>4287</c:v>
                </c:pt>
                <c:pt idx="1">
                  <c:v>16650</c:v>
                </c:pt>
                <c:pt idx="2">
                  <c:v>40463</c:v>
                </c:pt>
                <c:pt idx="3">
                  <c:v>31630</c:v>
                </c:pt>
                <c:pt idx="4">
                  <c:v>21864</c:v>
                </c:pt>
                <c:pt idx="5">
                  <c:v>17431</c:v>
                </c:pt>
                <c:pt idx="6">
                  <c:v>11907</c:v>
                </c:pt>
                <c:pt idx="7">
                  <c:v>8047</c:v>
                </c:pt>
                <c:pt idx="8">
                  <c:v>14680</c:v>
                </c:pt>
              </c:numCache>
            </c:numRef>
          </c:val>
          <c:extLst>
            <c:ext xmlns:c16="http://schemas.microsoft.com/office/drawing/2014/chart" uri="{C3380CC4-5D6E-409C-BE32-E72D297353CC}">
              <c16:uniqueId val="{00000000-EBF5-7D40-A67C-47F615FBBB9F}"/>
            </c:ext>
          </c:extLst>
        </c:ser>
        <c:ser>
          <c:idx val="1"/>
          <c:order val="1"/>
          <c:tx>
            <c:strRef>
              <c:f>'Pivots and Graphs'!$A$3262</c:f>
              <c:strCache>
                <c:ptCount val="1"/>
                <c:pt idx="0">
                  <c:v>M HTS_TST_POS</c:v>
                </c:pt>
              </c:strCache>
            </c:strRef>
          </c:tx>
          <c:spPr>
            <a:solidFill>
              <a:srgbClr val="E0001B"/>
            </a:solidFill>
            <a:ln>
              <a:noFill/>
            </a:ln>
            <a:effectLst/>
          </c:spPr>
          <c:invertIfNegative val="0"/>
          <c:cat>
            <c:multiLvlStrRef>
              <c:f>'Pivots and Graphs'!$B$3259:$S$3260</c:f>
              <c:multiLvlStrCache>
                <c:ptCount val="18"/>
                <c:lvl>
                  <c:pt idx="0">
                    <c:v>10-14</c:v>
                  </c:pt>
                  <c:pt idx="1">
                    <c:v>15-19</c:v>
                  </c:pt>
                  <c:pt idx="2">
                    <c:v>20-24</c:v>
                  </c:pt>
                  <c:pt idx="3">
                    <c:v>25-29</c:v>
                  </c:pt>
                  <c:pt idx="4">
                    <c:v>30-34</c:v>
                  </c:pt>
                  <c:pt idx="5">
                    <c:v>35-39</c:v>
                  </c:pt>
                  <c:pt idx="6">
                    <c:v>40-44</c:v>
                  </c:pt>
                  <c:pt idx="7">
                    <c:v>45-49</c:v>
                  </c:pt>
                  <c:pt idx="8">
                    <c:v>50+</c:v>
                  </c:pt>
                  <c:pt idx="9">
                    <c:v>10-14</c:v>
                  </c:pt>
                  <c:pt idx="10">
                    <c:v>15-19</c:v>
                  </c:pt>
                  <c:pt idx="11">
                    <c:v>20-24</c:v>
                  </c:pt>
                  <c:pt idx="12">
                    <c:v>25-29</c:v>
                  </c:pt>
                  <c:pt idx="13">
                    <c:v>30-34</c:v>
                  </c:pt>
                  <c:pt idx="14">
                    <c:v>35-39</c:v>
                  </c:pt>
                  <c:pt idx="15">
                    <c:v>40-44</c:v>
                  </c:pt>
                  <c:pt idx="16">
                    <c:v>45-49</c:v>
                  </c:pt>
                  <c:pt idx="17">
                    <c:v>50+</c:v>
                  </c:pt>
                </c:lvl>
                <c:lvl>
                  <c:pt idx="0">
                    <c:v>Male</c:v>
                  </c:pt>
                  <c:pt idx="9">
                    <c:v>Female</c:v>
                  </c:pt>
                </c:lvl>
              </c:multiLvlStrCache>
            </c:multiLvlStrRef>
          </c:cat>
          <c:val>
            <c:numRef>
              <c:f>'Pivots and Graphs'!$B$3262:$S$3262</c:f>
              <c:numCache>
                <c:formatCode>General</c:formatCode>
                <c:ptCount val="18"/>
                <c:pt idx="0">
                  <c:v>80</c:v>
                </c:pt>
                <c:pt idx="1">
                  <c:v>92</c:v>
                </c:pt>
                <c:pt idx="2">
                  <c:v>470</c:v>
                </c:pt>
                <c:pt idx="3">
                  <c:v>738</c:v>
                </c:pt>
                <c:pt idx="4">
                  <c:v>898</c:v>
                </c:pt>
                <c:pt idx="5">
                  <c:v>1020</c:v>
                </c:pt>
                <c:pt idx="6">
                  <c:v>820</c:v>
                </c:pt>
                <c:pt idx="7">
                  <c:v>531</c:v>
                </c:pt>
                <c:pt idx="8">
                  <c:v>658</c:v>
                </c:pt>
              </c:numCache>
            </c:numRef>
          </c:val>
          <c:extLst>
            <c:ext xmlns:c16="http://schemas.microsoft.com/office/drawing/2014/chart" uri="{C3380CC4-5D6E-409C-BE32-E72D297353CC}">
              <c16:uniqueId val="{00000001-EBF5-7D40-A67C-47F615FBBB9F}"/>
            </c:ext>
          </c:extLst>
        </c:ser>
        <c:ser>
          <c:idx val="3"/>
          <c:order val="3"/>
          <c:tx>
            <c:strRef>
              <c:f>'Pivots and Graphs'!$A$3264</c:f>
              <c:strCache>
                <c:ptCount val="1"/>
                <c:pt idx="0">
                  <c:v>F HTS_TST_NEG</c:v>
                </c:pt>
              </c:strCache>
            </c:strRef>
          </c:tx>
          <c:spPr>
            <a:solidFill>
              <a:srgbClr val="8CCDCD"/>
            </a:solidFill>
            <a:ln>
              <a:noFill/>
            </a:ln>
            <a:effectLst/>
          </c:spPr>
          <c:invertIfNegative val="0"/>
          <c:cat>
            <c:multiLvlStrRef>
              <c:f>'Pivots and Graphs'!$B$3259:$S$3260</c:f>
              <c:multiLvlStrCache>
                <c:ptCount val="18"/>
                <c:lvl>
                  <c:pt idx="0">
                    <c:v>10-14</c:v>
                  </c:pt>
                  <c:pt idx="1">
                    <c:v>15-19</c:v>
                  </c:pt>
                  <c:pt idx="2">
                    <c:v>20-24</c:v>
                  </c:pt>
                  <c:pt idx="3">
                    <c:v>25-29</c:v>
                  </c:pt>
                  <c:pt idx="4">
                    <c:v>30-34</c:v>
                  </c:pt>
                  <c:pt idx="5">
                    <c:v>35-39</c:v>
                  </c:pt>
                  <c:pt idx="6">
                    <c:v>40-44</c:v>
                  </c:pt>
                  <c:pt idx="7">
                    <c:v>45-49</c:v>
                  </c:pt>
                  <c:pt idx="8">
                    <c:v>50+</c:v>
                  </c:pt>
                  <c:pt idx="9">
                    <c:v>10-14</c:v>
                  </c:pt>
                  <c:pt idx="10">
                    <c:v>15-19</c:v>
                  </c:pt>
                  <c:pt idx="11">
                    <c:v>20-24</c:v>
                  </c:pt>
                  <c:pt idx="12">
                    <c:v>25-29</c:v>
                  </c:pt>
                  <c:pt idx="13">
                    <c:v>30-34</c:v>
                  </c:pt>
                  <c:pt idx="14">
                    <c:v>35-39</c:v>
                  </c:pt>
                  <c:pt idx="15">
                    <c:v>40-44</c:v>
                  </c:pt>
                  <c:pt idx="16">
                    <c:v>45-49</c:v>
                  </c:pt>
                  <c:pt idx="17">
                    <c:v>50+</c:v>
                  </c:pt>
                </c:lvl>
                <c:lvl>
                  <c:pt idx="0">
                    <c:v>Male</c:v>
                  </c:pt>
                  <c:pt idx="9">
                    <c:v>Female</c:v>
                  </c:pt>
                </c:lvl>
              </c:multiLvlStrCache>
            </c:multiLvlStrRef>
          </c:cat>
          <c:val>
            <c:numRef>
              <c:f>'Pivots and Graphs'!$B$3264:$S$3264</c:f>
              <c:numCache>
                <c:formatCode>General</c:formatCode>
                <c:ptCount val="18"/>
                <c:pt idx="9">
                  <c:v>7697</c:v>
                </c:pt>
                <c:pt idx="10">
                  <c:v>82401</c:v>
                </c:pt>
                <c:pt idx="11">
                  <c:v>121189</c:v>
                </c:pt>
                <c:pt idx="12">
                  <c:v>80235</c:v>
                </c:pt>
                <c:pt idx="13">
                  <c:v>51114</c:v>
                </c:pt>
                <c:pt idx="14">
                  <c:v>36552</c:v>
                </c:pt>
                <c:pt idx="15">
                  <c:v>16388</c:v>
                </c:pt>
                <c:pt idx="16">
                  <c:v>9045</c:v>
                </c:pt>
                <c:pt idx="17">
                  <c:v>14954</c:v>
                </c:pt>
              </c:numCache>
            </c:numRef>
          </c:val>
          <c:extLst>
            <c:ext xmlns:c16="http://schemas.microsoft.com/office/drawing/2014/chart" uri="{C3380CC4-5D6E-409C-BE32-E72D297353CC}">
              <c16:uniqueId val="{00000002-EBF5-7D40-A67C-47F615FBBB9F}"/>
            </c:ext>
          </c:extLst>
        </c:ser>
        <c:ser>
          <c:idx val="4"/>
          <c:order val="4"/>
          <c:tx>
            <c:strRef>
              <c:f>'Pivots and Graphs'!$A$3265</c:f>
              <c:strCache>
                <c:ptCount val="1"/>
                <c:pt idx="0">
                  <c:v>F HTS_TST_POS</c:v>
                </c:pt>
              </c:strCache>
            </c:strRef>
          </c:tx>
          <c:spPr>
            <a:solidFill>
              <a:srgbClr val="472482"/>
            </a:solidFill>
            <a:ln>
              <a:noFill/>
            </a:ln>
            <a:effectLst/>
          </c:spPr>
          <c:invertIfNegative val="0"/>
          <c:cat>
            <c:multiLvlStrRef>
              <c:f>'Pivots and Graphs'!$B$3259:$S$3260</c:f>
              <c:multiLvlStrCache>
                <c:ptCount val="18"/>
                <c:lvl>
                  <c:pt idx="0">
                    <c:v>10-14</c:v>
                  </c:pt>
                  <c:pt idx="1">
                    <c:v>15-19</c:v>
                  </c:pt>
                  <c:pt idx="2">
                    <c:v>20-24</c:v>
                  </c:pt>
                  <c:pt idx="3">
                    <c:v>25-29</c:v>
                  </c:pt>
                  <c:pt idx="4">
                    <c:v>30-34</c:v>
                  </c:pt>
                  <c:pt idx="5">
                    <c:v>35-39</c:v>
                  </c:pt>
                  <c:pt idx="6">
                    <c:v>40-44</c:v>
                  </c:pt>
                  <c:pt idx="7">
                    <c:v>45-49</c:v>
                  </c:pt>
                  <c:pt idx="8">
                    <c:v>50+</c:v>
                  </c:pt>
                  <c:pt idx="9">
                    <c:v>10-14</c:v>
                  </c:pt>
                  <c:pt idx="10">
                    <c:v>15-19</c:v>
                  </c:pt>
                  <c:pt idx="11">
                    <c:v>20-24</c:v>
                  </c:pt>
                  <c:pt idx="12">
                    <c:v>25-29</c:v>
                  </c:pt>
                  <c:pt idx="13">
                    <c:v>30-34</c:v>
                  </c:pt>
                  <c:pt idx="14">
                    <c:v>35-39</c:v>
                  </c:pt>
                  <c:pt idx="15">
                    <c:v>40-44</c:v>
                  </c:pt>
                  <c:pt idx="16">
                    <c:v>45-49</c:v>
                  </c:pt>
                  <c:pt idx="17">
                    <c:v>50+</c:v>
                  </c:pt>
                </c:lvl>
                <c:lvl>
                  <c:pt idx="0">
                    <c:v>Male</c:v>
                  </c:pt>
                  <c:pt idx="9">
                    <c:v>Female</c:v>
                  </c:pt>
                </c:lvl>
              </c:multiLvlStrCache>
            </c:multiLvlStrRef>
          </c:cat>
          <c:val>
            <c:numRef>
              <c:f>'Pivots and Graphs'!$B$3265:$S$3265</c:f>
              <c:numCache>
                <c:formatCode>General</c:formatCode>
                <c:ptCount val="18"/>
                <c:pt idx="9">
                  <c:v>119</c:v>
                </c:pt>
                <c:pt idx="10">
                  <c:v>669</c:v>
                </c:pt>
                <c:pt idx="11">
                  <c:v>1977</c:v>
                </c:pt>
                <c:pt idx="12">
                  <c:v>1866</c:v>
                </c:pt>
                <c:pt idx="13">
                  <c:v>1409</c:v>
                </c:pt>
                <c:pt idx="14">
                  <c:v>1166</c:v>
                </c:pt>
                <c:pt idx="15">
                  <c:v>630</c:v>
                </c:pt>
                <c:pt idx="16">
                  <c:v>363</c:v>
                </c:pt>
                <c:pt idx="17">
                  <c:v>479</c:v>
                </c:pt>
              </c:numCache>
            </c:numRef>
          </c:val>
          <c:extLst>
            <c:ext xmlns:c16="http://schemas.microsoft.com/office/drawing/2014/chart" uri="{C3380CC4-5D6E-409C-BE32-E72D297353CC}">
              <c16:uniqueId val="{00000003-EBF5-7D40-A67C-47F615FBBB9F}"/>
            </c:ext>
          </c:extLst>
        </c:ser>
        <c:dLbls>
          <c:showLegendKey val="0"/>
          <c:showVal val="0"/>
          <c:showCatName val="0"/>
          <c:showSerName val="0"/>
          <c:showPercent val="0"/>
          <c:showBubbleSize val="0"/>
        </c:dLbls>
        <c:gapWidth val="29"/>
        <c:overlap val="100"/>
        <c:axId val="-843100272"/>
        <c:axId val="-845618592"/>
      </c:barChart>
      <c:scatterChart>
        <c:scatterStyle val="lineMarker"/>
        <c:varyColors val="0"/>
        <c:ser>
          <c:idx val="2"/>
          <c:order val="2"/>
          <c:tx>
            <c:strRef>
              <c:f>'Pivots and Graphs'!$A$3263</c:f>
              <c:strCache>
                <c:ptCount val="1"/>
                <c:pt idx="0">
                  <c:v>Yield</c:v>
                </c:pt>
              </c:strCache>
            </c:strRef>
          </c:tx>
          <c:spPr>
            <a:ln w="25400" cap="rnd">
              <a:noFill/>
              <a:round/>
            </a:ln>
            <a:effectLst/>
          </c:spPr>
          <c:marker>
            <c:symbol val="circle"/>
            <c:size val="7"/>
            <c:spPr>
              <a:solidFill>
                <a:schemeClr val="bg1">
                  <a:lumMod val="50000"/>
                </a:schemeClr>
              </a:solidFill>
              <a:ln w="19050">
                <a:solidFill>
                  <a:schemeClr val="bg1">
                    <a:lumMod val="65000"/>
                  </a:schemeClr>
                </a:solidFill>
              </a:ln>
              <a:effectLst/>
            </c:spPr>
          </c:marker>
          <c:dLbls>
            <c:spPr>
              <a:solidFill>
                <a:sysClr val="window" lastClr="FFFFFF">
                  <a:lumMod val="95000"/>
                </a:sysClr>
              </a:solidFill>
              <a:ln>
                <a:noFill/>
              </a:ln>
              <a:effectLst/>
            </c:spPr>
            <c:txPr>
              <a:bodyPr rot="0" spcFirstLastPara="1" vertOverflow="ellipsis" vert="horz" wrap="square" anchor="ctr" anchorCtr="1"/>
              <a:lstStyle/>
              <a:p>
                <a:pPr>
                  <a:defRPr sz="900" b="0" i="0" u="none" strike="noStrike" kern="1200" baseline="0">
                    <a:solidFill>
                      <a:schemeClr val="tx1">
                        <a:lumMod val="75000"/>
                        <a:lumOff val="25000"/>
                      </a:schemeClr>
                    </a:solidFill>
                    <a:latin typeface="Verdana" panose="020B0604030504040204" pitchFamily="34" charset="0"/>
                    <a:ea typeface="Verdana" panose="020B0604030504040204" pitchFamily="34" charset="0"/>
                    <a:cs typeface="Verdana" panose="020B0604030504040204" pitchFamily="34" charset="0"/>
                  </a:defRPr>
                </a:pPr>
                <a:endParaRPr lang="en-US"/>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xVal>
            <c:multiLvlStrRef>
              <c:f>'Pivots and Graphs'!$B$3259:$S$3260</c:f>
              <c:multiLvlStrCache>
                <c:ptCount val="18"/>
                <c:lvl>
                  <c:pt idx="0">
                    <c:v>10-14</c:v>
                  </c:pt>
                  <c:pt idx="1">
                    <c:v>15-19</c:v>
                  </c:pt>
                  <c:pt idx="2">
                    <c:v>20-24</c:v>
                  </c:pt>
                  <c:pt idx="3">
                    <c:v>25-29</c:v>
                  </c:pt>
                  <c:pt idx="4">
                    <c:v>30-34</c:v>
                  </c:pt>
                  <c:pt idx="5">
                    <c:v>35-39</c:v>
                  </c:pt>
                  <c:pt idx="6">
                    <c:v>40-44</c:v>
                  </c:pt>
                  <c:pt idx="7">
                    <c:v>45-49</c:v>
                  </c:pt>
                  <c:pt idx="8">
                    <c:v>50+</c:v>
                  </c:pt>
                  <c:pt idx="9">
                    <c:v>10-14</c:v>
                  </c:pt>
                  <c:pt idx="10">
                    <c:v>15-19</c:v>
                  </c:pt>
                  <c:pt idx="11">
                    <c:v>20-24</c:v>
                  </c:pt>
                  <c:pt idx="12">
                    <c:v>25-29</c:v>
                  </c:pt>
                  <c:pt idx="13">
                    <c:v>30-34</c:v>
                  </c:pt>
                  <c:pt idx="14">
                    <c:v>35-39</c:v>
                  </c:pt>
                  <c:pt idx="15">
                    <c:v>40-44</c:v>
                  </c:pt>
                  <c:pt idx="16">
                    <c:v>45-49</c:v>
                  </c:pt>
                  <c:pt idx="17">
                    <c:v>50+</c:v>
                  </c:pt>
                </c:lvl>
                <c:lvl>
                  <c:pt idx="0">
                    <c:v>Male</c:v>
                  </c:pt>
                  <c:pt idx="9">
                    <c:v>Female</c:v>
                  </c:pt>
                </c:lvl>
              </c:multiLvlStrCache>
            </c:multiLvlStrRef>
          </c:xVal>
          <c:yVal>
            <c:numRef>
              <c:f>'Pivots and Graphs'!$B$3263:$S$3263</c:f>
              <c:numCache>
                <c:formatCode>0.0%</c:formatCode>
                <c:ptCount val="18"/>
                <c:pt idx="0">
                  <c:v>1.8319212273872201E-2</c:v>
                </c:pt>
                <c:pt idx="1">
                  <c:v>5.4951618683550399E-3</c:v>
                </c:pt>
                <c:pt idx="2">
                  <c:v>1.1482178193633501E-2</c:v>
                </c:pt>
                <c:pt idx="3">
                  <c:v>2.28002965892239E-2</c:v>
                </c:pt>
                <c:pt idx="4">
                  <c:v>3.9451717775239398E-2</c:v>
                </c:pt>
                <c:pt idx="5">
                  <c:v>5.5281556555200298E-2</c:v>
                </c:pt>
                <c:pt idx="6">
                  <c:v>6.4429952070401503E-2</c:v>
                </c:pt>
                <c:pt idx="7">
                  <c:v>6.1902541384938198E-2</c:v>
                </c:pt>
                <c:pt idx="8">
                  <c:v>4.2899986960490299E-2</c:v>
                </c:pt>
                <c:pt idx="9">
                  <c:v>1.5225179119754399E-2</c:v>
                </c:pt>
                <c:pt idx="10">
                  <c:v>8.0534488985193192E-3</c:v>
                </c:pt>
                <c:pt idx="11">
                  <c:v>1.60515077212867E-2</c:v>
                </c:pt>
                <c:pt idx="12">
                  <c:v>2.27281031899733E-2</c:v>
                </c:pt>
                <c:pt idx="13">
                  <c:v>2.6826342745083099E-2</c:v>
                </c:pt>
                <c:pt idx="14">
                  <c:v>3.0913622143273801E-2</c:v>
                </c:pt>
                <c:pt idx="15">
                  <c:v>3.70196262780585E-2</c:v>
                </c:pt>
                <c:pt idx="16">
                  <c:v>3.8584183673469399E-2</c:v>
                </c:pt>
                <c:pt idx="17">
                  <c:v>3.1037387416574899E-2</c:v>
                </c:pt>
              </c:numCache>
            </c:numRef>
          </c:yVal>
          <c:smooth val="0"/>
          <c:extLst>
            <c:ext xmlns:c16="http://schemas.microsoft.com/office/drawing/2014/chart" uri="{C3380CC4-5D6E-409C-BE32-E72D297353CC}">
              <c16:uniqueId val="{00000004-EBF5-7D40-A67C-47F615FBBB9F}"/>
            </c:ext>
          </c:extLst>
        </c:ser>
        <c:dLbls>
          <c:showLegendKey val="0"/>
          <c:showVal val="0"/>
          <c:showCatName val="0"/>
          <c:showSerName val="0"/>
          <c:showPercent val="0"/>
          <c:showBubbleSize val="0"/>
        </c:dLbls>
        <c:axId val="-845613952"/>
        <c:axId val="-845616272"/>
      </c:scatterChart>
      <c:catAx>
        <c:axId val="-84310027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Verdana" panose="020B0604030504040204" pitchFamily="34" charset="0"/>
                <a:ea typeface="Verdana" panose="020B0604030504040204" pitchFamily="34" charset="0"/>
                <a:cs typeface="Verdana" panose="020B0604030504040204" pitchFamily="34" charset="0"/>
              </a:defRPr>
            </a:pPr>
            <a:endParaRPr lang="en-US"/>
          </a:p>
        </c:txPr>
        <c:crossAx val="-845618592"/>
        <c:crosses val="autoZero"/>
        <c:auto val="1"/>
        <c:lblAlgn val="ctr"/>
        <c:lblOffset val="100"/>
        <c:noMultiLvlLbl val="0"/>
      </c:catAx>
      <c:valAx>
        <c:axId val="-845618592"/>
        <c:scaling>
          <c:orientation val="minMax"/>
        </c:scaling>
        <c:delete val="0"/>
        <c:axPos val="l"/>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Verdana" panose="020B0604030504040204" pitchFamily="34" charset="0"/>
                <a:ea typeface="Verdana" panose="020B0604030504040204" pitchFamily="34" charset="0"/>
                <a:cs typeface="Verdana" panose="020B0604030504040204" pitchFamily="34" charset="0"/>
              </a:defRPr>
            </a:pPr>
            <a:endParaRPr lang="en-US"/>
          </a:p>
        </c:txPr>
        <c:crossAx val="-843100272"/>
        <c:crosses val="autoZero"/>
        <c:crossBetween val="between"/>
        <c:majorUnit val="30000"/>
        <c:minorUnit val="5000"/>
      </c:valAx>
      <c:valAx>
        <c:axId val="-845616272"/>
        <c:scaling>
          <c:orientation val="minMax"/>
        </c:scaling>
        <c:delete val="0"/>
        <c:axPos val="r"/>
        <c:numFmt formatCode="0%" sourceLinked="0"/>
        <c:majorTickMark val="out"/>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Verdana" panose="020B0604030504040204" pitchFamily="34" charset="0"/>
                <a:ea typeface="Verdana" panose="020B0604030504040204" pitchFamily="34" charset="0"/>
                <a:cs typeface="Verdana" panose="020B0604030504040204" pitchFamily="34" charset="0"/>
              </a:defRPr>
            </a:pPr>
            <a:endParaRPr lang="en-US"/>
          </a:p>
        </c:txPr>
        <c:crossAx val="-845613952"/>
        <c:crosses val="max"/>
        <c:crossBetween val="midCat"/>
      </c:valAx>
      <c:valAx>
        <c:axId val="-845613952"/>
        <c:scaling>
          <c:orientation val="minMax"/>
        </c:scaling>
        <c:delete val="1"/>
        <c:axPos val="t"/>
        <c:majorTickMark val="out"/>
        <c:minorTickMark val="none"/>
        <c:tickLblPos val="nextTo"/>
        <c:crossAx val="-845616272"/>
        <c:crosses val="max"/>
        <c:crossBetween val="midCat"/>
      </c:valAx>
      <c:spPr>
        <a:noFill/>
        <a:ln>
          <a:noFill/>
        </a:ln>
        <a:effectLst/>
      </c:spPr>
    </c:plotArea>
    <c:legend>
      <c:legendPos val="b"/>
      <c:layout>
        <c:manualLayout>
          <c:xMode val="edge"/>
          <c:yMode val="edge"/>
          <c:x val="0"/>
          <c:y val="0.94518403448644095"/>
          <c:w val="1"/>
          <c:h val="5.4816015112898901E-2"/>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Verdana" panose="020B0604030504040204" pitchFamily="34" charset="0"/>
              <a:ea typeface="Verdana" panose="020B0604030504040204" pitchFamily="34" charset="0"/>
              <a:cs typeface="Verdana" panose="020B0604030504040204" pitchFamily="34" charset="0"/>
            </a:defRPr>
          </a:pPr>
          <a:endParaRPr lang="en-US"/>
        </a:p>
      </c:txPr>
    </c:legend>
    <c:plotVisOnly val="1"/>
    <c:dispBlanksAs val="gap"/>
    <c:showDLblsOverMax val="0"/>
  </c:chart>
  <c:spPr>
    <a:solidFill>
      <a:schemeClr val="bg1"/>
    </a:solidFill>
    <a:ln w="9525" cap="flat" cmpd="sng" algn="ctr">
      <a:noFill/>
      <a:round/>
    </a:ln>
    <a:effectLst/>
  </c:spPr>
  <c:txPr>
    <a:bodyPr/>
    <a:lstStyle/>
    <a:p>
      <a:pPr>
        <a:defRPr>
          <a:latin typeface="Verdana" panose="020B0604030504040204" pitchFamily="34" charset="0"/>
          <a:ea typeface="Verdana" panose="020B0604030504040204" pitchFamily="34" charset="0"/>
          <a:cs typeface="Verdana" panose="020B0604030504040204" pitchFamily="34" charset="0"/>
        </a:defRPr>
      </a:pPr>
      <a:endParaRPr lang="en-US"/>
    </a:p>
  </c:txPr>
  <c:externalData r:id="rId4">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16">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a:extLst>
              <a:ext uri="{FF2B5EF4-FFF2-40B4-BE49-F238E27FC236}">
                <a16:creationId xmlns:a16="http://schemas.microsoft.com/office/drawing/2014/main" id="{F6AAA520-F2F5-4EDD-89FF-112F506DBD8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dirty="0">
              <a:latin typeface="Verdana" panose="020B0604030504040204" pitchFamily="34" charset="0"/>
            </a:endParaRPr>
          </a:p>
        </p:txBody>
      </p:sp>
      <p:sp>
        <p:nvSpPr>
          <p:cNvPr id="3" name="Datumsplatzhalter 2">
            <a:extLst>
              <a:ext uri="{FF2B5EF4-FFF2-40B4-BE49-F238E27FC236}">
                <a16:creationId xmlns:a16="http://schemas.microsoft.com/office/drawing/2014/main" id="{16D02F3C-8EFD-4B07-80ED-B2429D54C343}"/>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4662BD4C-6D77-4375-88B2-8F24E3740D1D}" type="datetimeFigureOut">
              <a:rPr lang="de-DE" smtClean="0">
                <a:latin typeface="Verdana" panose="020B0604030504040204" pitchFamily="34" charset="0"/>
              </a:rPr>
              <a:t>03.02.26</a:t>
            </a:fld>
            <a:endParaRPr lang="de-DE" dirty="0">
              <a:latin typeface="Verdana" panose="020B0604030504040204" pitchFamily="34" charset="0"/>
            </a:endParaRPr>
          </a:p>
        </p:txBody>
      </p:sp>
      <p:sp>
        <p:nvSpPr>
          <p:cNvPr id="4" name="Fußzeilenplatzhalter 3">
            <a:extLst>
              <a:ext uri="{FF2B5EF4-FFF2-40B4-BE49-F238E27FC236}">
                <a16:creationId xmlns:a16="http://schemas.microsoft.com/office/drawing/2014/main" id="{D51B987F-84C1-40E0-A9D7-A8F4901E4677}"/>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dirty="0">
              <a:latin typeface="Verdana" panose="020B0604030504040204" pitchFamily="34" charset="0"/>
            </a:endParaRPr>
          </a:p>
        </p:txBody>
      </p:sp>
      <p:sp>
        <p:nvSpPr>
          <p:cNvPr id="5" name="Foliennummernplatzhalter 4">
            <a:extLst>
              <a:ext uri="{FF2B5EF4-FFF2-40B4-BE49-F238E27FC236}">
                <a16:creationId xmlns:a16="http://schemas.microsoft.com/office/drawing/2014/main" id="{05432F72-438D-4B28-B0F3-2E4B8F6078C5}"/>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1DFC5FE3-128E-4546-A5A8-7038C4C3160C}" type="slidenum">
              <a:rPr lang="de-DE" smtClean="0">
                <a:latin typeface="Verdana" panose="020B0604030504040204" pitchFamily="34" charset="0"/>
              </a:rPr>
              <a:t>‹#›</a:t>
            </a:fld>
            <a:endParaRPr lang="de-DE" dirty="0">
              <a:latin typeface="Verdana" panose="020B0604030504040204" pitchFamily="34" charset="0"/>
            </a:endParaRPr>
          </a:p>
        </p:txBody>
      </p:sp>
    </p:spTree>
    <p:extLst>
      <p:ext uri="{BB962C8B-B14F-4D97-AF65-F5344CB8AC3E}">
        <p14:creationId xmlns:p14="http://schemas.microsoft.com/office/powerpoint/2010/main" val="133846559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b="0" i="0">
                <a:latin typeface="Verdana" panose="020B0604030504040204" pitchFamily="34" charset="0"/>
              </a:defRPr>
            </a:lvl1pPr>
          </a:lstStyle>
          <a:p>
            <a:endParaRPr lang="de-DE" dirty="0"/>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b="0" i="0">
                <a:latin typeface="Verdana" panose="020B0604030504040204" pitchFamily="34" charset="0"/>
              </a:defRPr>
            </a:lvl1pPr>
          </a:lstStyle>
          <a:p>
            <a:fld id="{59AF585C-AB1D-41F5-8A22-EE236ED1EB54}" type="datetimeFigureOut">
              <a:rPr lang="de-DE" smtClean="0"/>
              <a:pPr/>
              <a:t>03.02.26</a:t>
            </a:fld>
            <a:endParaRPr lang="de-DE" dirty="0"/>
          </a:p>
        </p:txBody>
      </p:sp>
      <p:sp>
        <p:nvSpPr>
          <p:cNvPr id="4" name="Folienbildplatzhalt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de-DE" dirty="0"/>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b="0" i="0">
                <a:latin typeface="Verdana" panose="020B0604030504040204" pitchFamily="34" charset="0"/>
              </a:defRPr>
            </a:lvl1pPr>
          </a:lstStyle>
          <a:p>
            <a:endParaRPr lang="de-DE" dirty="0"/>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b="0" i="0">
                <a:latin typeface="Verdana" panose="020B0604030504040204" pitchFamily="34" charset="0"/>
              </a:defRPr>
            </a:lvl1pPr>
          </a:lstStyle>
          <a:p>
            <a:fld id="{F6DADB82-A706-4784-AE8E-3965AD040C7C}" type="slidenum">
              <a:rPr lang="de-DE" smtClean="0"/>
              <a:pPr/>
              <a:t>‹#›</a:t>
            </a:fld>
            <a:endParaRPr lang="de-DE" dirty="0"/>
          </a:p>
        </p:txBody>
      </p:sp>
    </p:spTree>
    <p:extLst>
      <p:ext uri="{BB962C8B-B14F-4D97-AF65-F5344CB8AC3E}">
        <p14:creationId xmlns:p14="http://schemas.microsoft.com/office/powerpoint/2010/main" val="860537091"/>
      </p:ext>
    </p:extLst>
  </p:cSld>
  <p:clrMap bg1="lt1" tx1="dk1" bg2="lt2" tx2="dk2" accent1="accent1" accent2="accent2" accent3="accent3" accent4="accent4" accent5="accent5" accent6="accent6" hlink="hlink" folHlink="folHlink"/>
  <p:notesStyle>
    <a:lvl1pPr marL="0" algn="l" defTabSz="914400" rtl="0" eaLnBrk="1" latinLnBrk="0" hangingPunct="1">
      <a:defRPr sz="1200" b="0" i="0" kern="1200">
        <a:solidFill>
          <a:schemeClr val="tx1"/>
        </a:solidFill>
        <a:latin typeface="Verdana" panose="020B0604030504040204" pitchFamily="34" charset="0"/>
        <a:ea typeface="+mn-ea"/>
        <a:cs typeface="+mn-cs"/>
      </a:defRPr>
    </a:lvl1pPr>
    <a:lvl2pPr marL="457200" algn="l" defTabSz="914400" rtl="0" eaLnBrk="1" latinLnBrk="0" hangingPunct="1">
      <a:defRPr sz="1200" b="0" i="0" kern="1200">
        <a:solidFill>
          <a:schemeClr val="tx1"/>
        </a:solidFill>
        <a:latin typeface="Verdana" panose="020B0604030504040204" pitchFamily="34" charset="0"/>
        <a:ea typeface="+mn-ea"/>
        <a:cs typeface="+mn-cs"/>
      </a:defRPr>
    </a:lvl2pPr>
    <a:lvl3pPr marL="914400" algn="l" defTabSz="914400" rtl="0" eaLnBrk="1" latinLnBrk="0" hangingPunct="1">
      <a:defRPr sz="1200" b="0" i="0" kern="1200">
        <a:solidFill>
          <a:schemeClr val="tx1"/>
        </a:solidFill>
        <a:latin typeface="Verdana" panose="020B0604030504040204" pitchFamily="34" charset="0"/>
        <a:ea typeface="+mn-ea"/>
        <a:cs typeface="+mn-cs"/>
      </a:defRPr>
    </a:lvl3pPr>
    <a:lvl4pPr marL="1371600" algn="l" defTabSz="914400" rtl="0" eaLnBrk="1" latinLnBrk="0" hangingPunct="1">
      <a:defRPr sz="1200" b="0" i="0" kern="1200">
        <a:solidFill>
          <a:schemeClr val="tx1"/>
        </a:solidFill>
        <a:latin typeface="Verdana" panose="020B0604030504040204" pitchFamily="34" charset="0"/>
        <a:ea typeface="+mn-ea"/>
        <a:cs typeface="+mn-cs"/>
      </a:defRPr>
    </a:lvl4pPr>
    <a:lvl5pPr marL="1828800" algn="l" defTabSz="914400" rtl="0" eaLnBrk="1" latinLnBrk="0" hangingPunct="1">
      <a:defRPr sz="1200" b="0" i="0" kern="1200">
        <a:solidFill>
          <a:schemeClr val="tx1"/>
        </a:solidFill>
        <a:latin typeface="Verdana" panose="020B0604030504040204"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lang="en-GB" sz="1200" b="0" i="0" kern="1200" dirty="0">
                <a:solidFill>
                  <a:schemeClr val="tx1"/>
                </a:solidFill>
                <a:effectLst/>
                <a:latin typeface="Verdana" panose="020B0604030504040204" pitchFamily="34" charset="0"/>
                <a:ea typeface="+mn-ea"/>
                <a:cs typeface="+mn-cs"/>
              </a:rPr>
              <a:t>The model estimates that over the 2010–2015 period, the HIV testing modalities that accounted for the greatest numbers of HIV tests were: </a:t>
            </a:r>
            <a:endParaRPr lang="en-ZA" sz="1800" b="0" i="0" kern="1200" dirty="0">
              <a:solidFill>
                <a:schemeClr val="tx1"/>
              </a:solidFill>
              <a:effectLst/>
              <a:latin typeface="Verdana" panose="020B0604030504040204" pitchFamily="34" charset="0"/>
              <a:ea typeface="+mn-ea"/>
              <a:cs typeface="+mn-cs"/>
            </a:endParaRPr>
          </a:p>
          <a:p>
            <a:pPr lvl="1"/>
            <a:r>
              <a:rPr lang="en-GB" sz="1200" b="0" i="0" kern="1200" dirty="0">
                <a:solidFill>
                  <a:schemeClr val="tx1"/>
                </a:solidFill>
                <a:effectLst/>
                <a:latin typeface="Verdana" panose="020B0604030504040204" pitchFamily="34" charset="0"/>
                <a:ea typeface="+mn-ea"/>
                <a:cs typeface="+mn-cs"/>
              </a:rPr>
              <a:t>general HIV testing (63.0%),</a:t>
            </a:r>
            <a:endParaRPr lang="en-ZA" sz="1800" b="0" i="0" kern="1200" dirty="0">
              <a:solidFill>
                <a:schemeClr val="tx1"/>
              </a:solidFill>
              <a:effectLst/>
              <a:latin typeface="Verdana" panose="020B0604030504040204" pitchFamily="34" charset="0"/>
              <a:ea typeface="+mn-ea"/>
              <a:cs typeface="+mn-cs"/>
            </a:endParaRPr>
          </a:p>
          <a:p>
            <a:pPr lvl="1"/>
            <a:r>
              <a:rPr lang="en-GB" sz="1200" b="0" i="0" kern="1200" dirty="0">
                <a:solidFill>
                  <a:schemeClr val="tx1"/>
                </a:solidFill>
                <a:effectLst/>
                <a:latin typeface="Verdana" panose="020B0604030504040204" pitchFamily="34" charset="0"/>
                <a:ea typeface="+mn-ea"/>
                <a:cs typeface="+mn-cs"/>
              </a:rPr>
              <a:t>testing in STI clinics (11.4%), </a:t>
            </a:r>
            <a:endParaRPr lang="en-ZA" sz="1800" b="0" i="0" kern="1200" dirty="0">
              <a:solidFill>
                <a:schemeClr val="tx1"/>
              </a:solidFill>
              <a:effectLst/>
              <a:latin typeface="Verdana" panose="020B0604030504040204" pitchFamily="34" charset="0"/>
              <a:ea typeface="+mn-ea"/>
              <a:cs typeface="+mn-cs"/>
            </a:endParaRPr>
          </a:p>
          <a:p>
            <a:pPr lvl="1"/>
            <a:r>
              <a:rPr lang="en-GB" sz="1200" b="0" i="0" kern="1200" dirty="0">
                <a:solidFill>
                  <a:schemeClr val="tx1"/>
                </a:solidFill>
                <a:effectLst/>
                <a:latin typeface="Verdana" panose="020B0604030504040204" pitchFamily="34" charset="0"/>
                <a:ea typeface="+mn-ea"/>
                <a:cs typeface="+mn-cs"/>
              </a:rPr>
              <a:t>testing of OI patients (9.8%) and </a:t>
            </a:r>
            <a:endParaRPr lang="en-ZA" sz="1800" b="0" i="0" kern="1200" dirty="0">
              <a:solidFill>
                <a:schemeClr val="tx1"/>
              </a:solidFill>
              <a:effectLst/>
              <a:latin typeface="Verdana" panose="020B0604030504040204" pitchFamily="34" charset="0"/>
              <a:ea typeface="+mn-ea"/>
              <a:cs typeface="+mn-cs"/>
            </a:endParaRPr>
          </a:p>
          <a:p>
            <a:pPr lvl="1"/>
            <a:r>
              <a:rPr lang="en-GB" sz="1200" b="0" i="0" kern="1200" dirty="0">
                <a:solidFill>
                  <a:schemeClr val="tx1"/>
                </a:solidFill>
                <a:effectLst/>
                <a:latin typeface="Verdana" panose="020B0604030504040204" pitchFamily="34" charset="0"/>
                <a:ea typeface="+mn-ea"/>
                <a:cs typeface="+mn-cs"/>
              </a:rPr>
              <a:t>antenatal testing (7.3%), </a:t>
            </a:r>
            <a:endParaRPr lang="en-ZA" sz="1800" b="0" i="0" kern="1200" dirty="0">
              <a:solidFill>
                <a:schemeClr val="tx1"/>
              </a:solidFill>
              <a:effectLst/>
              <a:latin typeface="Verdana" panose="020B0604030504040204" pitchFamily="34" charset="0"/>
              <a:ea typeface="+mn-ea"/>
              <a:cs typeface="+mn-cs"/>
            </a:endParaRPr>
          </a:p>
          <a:p>
            <a:pPr lvl="0"/>
            <a:r>
              <a:rPr lang="en-GB" sz="1200" b="0" i="0" kern="1200" dirty="0">
                <a:solidFill>
                  <a:schemeClr val="tx1"/>
                </a:solidFill>
                <a:effectLst/>
                <a:latin typeface="Verdana" panose="020B0604030504040204" pitchFamily="34" charset="0"/>
                <a:ea typeface="+mn-ea"/>
                <a:cs typeface="+mn-cs"/>
              </a:rPr>
              <a:t>while the testing modalities that accounted for the greatest numbers of new HIV diagnoses were: </a:t>
            </a:r>
            <a:endParaRPr lang="en-ZA" sz="1800" b="0" i="0" kern="1200" dirty="0">
              <a:solidFill>
                <a:schemeClr val="tx1"/>
              </a:solidFill>
              <a:effectLst/>
              <a:latin typeface="Verdana" panose="020B0604030504040204" pitchFamily="34" charset="0"/>
              <a:ea typeface="+mn-ea"/>
              <a:cs typeface="+mn-cs"/>
            </a:endParaRPr>
          </a:p>
          <a:p>
            <a:pPr lvl="1"/>
            <a:r>
              <a:rPr lang="en-GB" sz="1200" b="0" i="0" kern="1200" dirty="0">
                <a:solidFill>
                  <a:schemeClr val="tx1"/>
                </a:solidFill>
                <a:effectLst/>
                <a:latin typeface="Verdana" panose="020B0604030504040204" pitchFamily="34" charset="0"/>
                <a:ea typeface="+mn-ea"/>
                <a:cs typeface="+mn-cs"/>
              </a:rPr>
              <a:t>general HIV testing (43.6%), </a:t>
            </a:r>
            <a:endParaRPr lang="en-ZA" sz="1800" b="0" i="0" kern="1200" dirty="0">
              <a:solidFill>
                <a:schemeClr val="tx1"/>
              </a:solidFill>
              <a:effectLst/>
              <a:latin typeface="Verdana" panose="020B0604030504040204" pitchFamily="34" charset="0"/>
              <a:ea typeface="+mn-ea"/>
              <a:cs typeface="+mn-cs"/>
            </a:endParaRPr>
          </a:p>
          <a:p>
            <a:pPr lvl="1"/>
            <a:r>
              <a:rPr lang="en-GB" sz="1200" b="0" i="0" kern="1200" dirty="0">
                <a:solidFill>
                  <a:schemeClr val="tx1"/>
                </a:solidFill>
                <a:effectLst/>
                <a:latin typeface="Verdana" panose="020B0604030504040204" pitchFamily="34" charset="0"/>
                <a:ea typeface="+mn-ea"/>
                <a:cs typeface="+mn-cs"/>
              </a:rPr>
              <a:t>testing of OI patients (32.5%), </a:t>
            </a:r>
            <a:endParaRPr lang="en-ZA" sz="1800" b="0" i="0" kern="1200" dirty="0">
              <a:solidFill>
                <a:schemeClr val="tx1"/>
              </a:solidFill>
              <a:effectLst/>
              <a:latin typeface="Verdana" panose="020B0604030504040204" pitchFamily="34" charset="0"/>
              <a:ea typeface="+mn-ea"/>
              <a:cs typeface="+mn-cs"/>
            </a:endParaRPr>
          </a:p>
          <a:p>
            <a:pPr lvl="1"/>
            <a:r>
              <a:rPr lang="en-GB" sz="1200" b="0" i="0" kern="1200" dirty="0">
                <a:solidFill>
                  <a:schemeClr val="tx1"/>
                </a:solidFill>
                <a:effectLst/>
                <a:latin typeface="Verdana" panose="020B0604030504040204" pitchFamily="34" charset="0"/>
                <a:ea typeface="+mn-ea"/>
                <a:cs typeface="+mn-cs"/>
              </a:rPr>
              <a:t>testing in STI clinics (8.1%), and </a:t>
            </a:r>
            <a:endParaRPr lang="en-ZA" sz="1800" b="0" i="0" kern="1200" dirty="0">
              <a:solidFill>
                <a:schemeClr val="tx1"/>
              </a:solidFill>
              <a:effectLst/>
              <a:latin typeface="Verdana" panose="020B0604030504040204" pitchFamily="34" charset="0"/>
              <a:ea typeface="+mn-ea"/>
              <a:cs typeface="+mn-cs"/>
            </a:endParaRPr>
          </a:p>
          <a:p>
            <a:pPr lvl="1"/>
            <a:r>
              <a:rPr lang="en-GB" sz="1200" b="0" i="0" kern="1200" dirty="0">
                <a:solidFill>
                  <a:schemeClr val="tx1"/>
                </a:solidFill>
                <a:effectLst/>
                <a:latin typeface="Verdana" panose="020B0604030504040204" pitchFamily="34" charset="0"/>
                <a:ea typeface="+mn-ea"/>
                <a:cs typeface="+mn-cs"/>
              </a:rPr>
              <a:t>testing partners of newly diagnosed individuals (7.4%)</a:t>
            </a:r>
            <a:endParaRPr lang="en-ZA" sz="1800" b="0" i="0" kern="1200" dirty="0">
              <a:solidFill>
                <a:schemeClr val="tx1"/>
              </a:solidFill>
              <a:effectLst/>
              <a:latin typeface="Verdana" panose="020B0604030504040204" pitchFamily="34" charset="0"/>
              <a:ea typeface="+mn-ea"/>
              <a:cs typeface="+mn-cs"/>
            </a:endParaRPr>
          </a:p>
          <a:p>
            <a:endParaRPr lang="en-US" dirty="0"/>
          </a:p>
        </p:txBody>
      </p:sp>
      <p:sp>
        <p:nvSpPr>
          <p:cNvPr id="4" name="Slide Number Placeholder 3"/>
          <p:cNvSpPr>
            <a:spLocks noGrp="1"/>
          </p:cNvSpPr>
          <p:nvPr>
            <p:ph type="sldNum" sz="quarter" idx="5"/>
          </p:nvPr>
        </p:nvSpPr>
        <p:spPr/>
        <p:txBody>
          <a:bodyPr/>
          <a:lstStyle/>
          <a:p>
            <a:fld id="{F6DADB82-A706-4784-AE8E-3965AD040C7C}" type="slidenum">
              <a:rPr lang="de-DE" smtClean="0"/>
              <a:pPr/>
              <a:t>9</a:t>
            </a:fld>
            <a:endParaRPr lang="de-DE" dirty="0"/>
          </a:p>
        </p:txBody>
      </p:sp>
    </p:spTree>
    <p:extLst>
      <p:ext uri="{BB962C8B-B14F-4D97-AF65-F5344CB8AC3E}">
        <p14:creationId xmlns:p14="http://schemas.microsoft.com/office/powerpoint/2010/main" val="1260550800"/>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elfolie">
    <p:bg bwMode="gray">
      <p:bgRef idx="1001">
        <a:schemeClr val="bg1"/>
      </p:bgRef>
    </p:bg>
    <p:spTree>
      <p:nvGrpSpPr>
        <p:cNvPr id="1" name=""/>
        <p:cNvGrpSpPr/>
        <p:nvPr/>
      </p:nvGrpSpPr>
      <p:grpSpPr>
        <a:xfrm>
          <a:off x="0" y="0"/>
          <a:ext cx="0" cy="0"/>
          <a:chOff x="0" y="0"/>
          <a:chExt cx="0" cy="0"/>
        </a:xfrm>
      </p:grpSpPr>
      <p:sp>
        <p:nvSpPr>
          <p:cNvPr id="9" name="Titel 8">
            <a:extLst>
              <a:ext uri="{FF2B5EF4-FFF2-40B4-BE49-F238E27FC236}">
                <a16:creationId xmlns:a16="http://schemas.microsoft.com/office/drawing/2014/main" id="{9140E9AE-AB8C-45D2-8169-8A8F93E9393A}"/>
              </a:ext>
            </a:extLst>
          </p:cNvPr>
          <p:cNvSpPr>
            <a:spLocks noGrp="1"/>
          </p:cNvSpPr>
          <p:nvPr>
            <p:ph type="title"/>
          </p:nvPr>
        </p:nvSpPr>
        <p:spPr>
          <a:xfrm>
            <a:off x="3719512" y="1294944"/>
            <a:ext cx="8137526" cy="4762956"/>
          </a:xfrm>
        </p:spPr>
        <p:txBody>
          <a:bodyPr/>
          <a:lstStyle>
            <a:lvl1pPr>
              <a:lnSpc>
                <a:spcPct val="85000"/>
              </a:lnSpc>
              <a:defRPr sz="7500">
                <a:solidFill>
                  <a:schemeClr val="accent1"/>
                </a:solidFill>
              </a:defRPr>
            </a:lvl1pPr>
          </a:lstStyle>
          <a:p>
            <a:r>
              <a:rPr lang="en-GB"/>
              <a:t>Click to edit Master title style</a:t>
            </a:r>
            <a:endParaRPr lang="de-DE" dirty="0"/>
          </a:p>
        </p:txBody>
      </p:sp>
      <p:pic>
        <p:nvPicPr>
          <p:cNvPr id="34" name="Grafik 33">
            <a:extLst>
              <a:ext uri="{FF2B5EF4-FFF2-40B4-BE49-F238E27FC236}">
                <a16:creationId xmlns:a16="http://schemas.microsoft.com/office/drawing/2014/main" id="{0583FDD7-9A57-49D6-92B5-D5F33EBBFFD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461963" y="454977"/>
            <a:ext cx="1233487" cy="450502"/>
          </a:xfrm>
          <a:prstGeom prst="rect">
            <a:avLst/>
          </a:prstGeom>
        </p:spPr>
      </p:pic>
      <p:sp>
        <p:nvSpPr>
          <p:cNvPr id="35" name="Textplatzhalter 34">
            <a:extLst>
              <a:ext uri="{FF2B5EF4-FFF2-40B4-BE49-F238E27FC236}">
                <a16:creationId xmlns:a16="http://schemas.microsoft.com/office/drawing/2014/main" id="{03A5B761-8BC0-42AF-81B9-7B9A73AAEDFA}"/>
              </a:ext>
            </a:extLst>
          </p:cNvPr>
          <p:cNvSpPr>
            <a:spLocks noGrp="1"/>
          </p:cNvSpPr>
          <p:nvPr>
            <p:ph type="body" sz="quarter" idx="10"/>
          </p:nvPr>
        </p:nvSpPr>
        <p:spPr>
          <a:xfrm>
            <a:off x="3719512" y="6248400"/>
            <a:ext cx="8137526" cy="396240"/>
          </a:xfrm>
        </p:spPr>
        <p:txBody>
          <a:bodyPr/>
          <a:lstStyle>
            <a:lvl1pPr marL="0" indent="0">
              <a:buNone/>
              <a:defRPr sz="1000"/>
            </a:lvl1pPr>
          </a:lstStyle>
          <a:p>
            <a:pPr lvl="0"/>
            <a:r>
              <a:rPr lang="en-GB"/>
              <a:t>Click to edit Master text styles</a:t>
            </a:r>
          </a:p>
        </p:txBody>
      </p:sp>
      <p:sp>
        <p:nvSpPr>
          <p:cNvPr id="37" name="Textfeld 36">
            <a:extLst>
              <a:ext uri="{FF2B5EF4-FFF2-40B4-BE49-F238E27FC236}">
                <a16:creationId xmlns:a16="http://schemas.microsoft.com/office/drawing/2014/main" id="{98BC6A7D-A966-48AF-8316-B852FFDEEF66}"/>
              </a:ext>
            </a:extLst>
          </p:cNvPr>
          <p:cNvSpPr txBox="1"/>
          <p:nvPr userDrawn="1"/>
        </p:nvSpPr>
        <p:spPr>
          <a:xfrm>
            <a:off x="3733801" y="444583"/>
            <a:ext cx="1471612" cy="184067"/>
          </a:xfrm>
          <a:prstGeom prst="rect">
            <a:avLst/>
          </a:prstGeom>
          <a:noFill/>
        </p:spPr>
        <p:txBody>
          <a:bodyPr wrap="square" lIns="0" tIns="0" rIns="0" bIns="0">
            <a:noAutofit/>
          </a:bodyPr>
          <a:lstStyle/>
          <a:p>
            <a:r>
              <a:rPr lang="de-DE" sz="750" b="0" i="0" dirty="0">
                <a:latin typeface="Verdana" panose="020B0604030504040204" pitchFamily="34" charset="0"/>
              </a:rPr>
              <a:t>International AIDS Society</a:t>
            </a:r>
          </a:p>
        </p:txBody>
      </p:sp>
      <p:sp>
        <p:nvSpPr>
          <p:cNvPr id="38" name="Textfeld 37">
            <a:extLst>
              <a:ext uri="{FF2B5EF4-FFF2-40B4-BE49-F238E27FC236}">
                <a16:creationId xmlns:a16="http://schemas.microsoft.com/office/drawing/2014/main" id="{855D9016-FECC-4E5D-ADF2-7843F8F8B2A1}"/>
              </a:ext>
            </a:extLst>
          </p:cNvPr>
          <p:cNvSpPr txBox="1"/>
          <p:nvPr userDrawn="1"/>
        </p:nvSpPr>
        <p:spPr>
          <a:xfrm>
            <a:off x="5360194" y="444583"/>
            <a:ext cx="1275556" cy="184067"/>
          </a:xfrm>
          <a:prstGeom prst="rect">
            <a:avLst/>
          </a:prstGeom>
          <a:noFill/>
        </p:spPr>
        <p:txBody>
          <a:bodyPr wrap="square" lIns="0" tIns="0" rIns="0" bIns="0">
            <a:noAutofit/>
          </a:bodyPr>
          <a:lstStyle/>
          <a:p>
            <a:r>
              <a:rPr lang="de-DE" sz="750" b="0" i="0" dirty="0">
                <a:latin typeface="Verdana" panose="020B0604030504040204" pitchFamily="34" charset="0"/>
              </a:rPr>
              <a:t>iasociety.org</a:t>
            </a:r>
          </a:p>
        </p:txBody>
      </p:sp>
    </p:spTree>
    <p:extLst>
      <p:ext uri="{BB962C8B-B14F-4D97-AF65-F5344CB8AC3E}">
        <p14:creationId xmlns:p14="http://schemas.microsoft.com/office/powerpoint/2010/main" val="156709211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elfolie mit Bild">
    <p:bg bwMode="gray">
      <p:bgRef idx="1001">
        <a:schemeClr val="bg1"/>
      </p:bgRef>
    </p:bg>
    <p:spTree>
      <p:nvGrpSpPr>
        <p:cNvPr id="1" name=""/>
        <p:cNvGrpSpPr/>
        <p:nvPr/>
      </p:nvGrpSpPr>
      <p:grpSpPr>
        <a:xfrm>
          <a:off x="0" y="0"/>
          <a:ext cx="0" cy="0"/>
          <a:chOff x="0" y="0"/>
          <a:chExt cx="0" cy="0"/>
        </a:xfrm>
      </p:grpSpPr>
      <p:pic>
        <p:nvPicPr>
          <p:cNvPr id="34" name="Grafik 33">
            <a:extLst>
              <a:ext uri="{FF2B5EF4-FFF2-40B4-BE49-F238E27FC236}">
                <a16:creationId xmlns:a16="http://schemas.microsoft.com/office/drawing/2014/main" id="{0583FDD7-9A57-49D6-92B5-D5F33EBBFFD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461963" y="454977"/>
            <a:ext cx="1233487" cy="450502"/>
          </a:xfrm>
          <a:prstGeom prst="rect">
            <a:avLst/>
          </a:prstGeom>
        </p:spPr>
      </p:pic>
      <p:sp>
        <p:nvSpPr>
          <p:cNvPr id="37" name="Textfeld 36">
            <a:extLst>
              <a:ext uri="{FF2B5EF4-FFF2-40B4-BE49-F238E27FC236}">
                <a16:creationId xmlns:a16="http://schemas.microsoft.com/office/drawing/2014/main" id="{98BC6A7D-A966-48AF-8316-B852FFDEEF66}"/>
              </a:ext>
            </a:extLst>
          </p:cNvPr>
          <p:cNvSpPr txBox="1"/>
          <p:nvPr userDrawn="1"/>
        </p:nvSpPr>
        <p:spPr>
          <a:xfrm>
            <a:off x="3733801" y="444583"/>
            <a:ext cx="1471612" cy="184067"/>
          </a:xfrm>
          <a:prstGeom prst="rect">
            <a:avLst/>
          </a:prstGeom>
          <a:noFill/>
        </p:spPr>
        <p:txBody>
          <a:bodyPr wrap="square" lIns="0" tIns="0" rIns="0" bIns="0">
            <a:noAutofit/>
          </a:bodyPr>
          <a:lstStyle/>
          <a:p>
            <a:r>
              <a:rPr lang="de-DE" sz="750" b="0" i="0" dirty="0">
                <a:latin typeface="Verdana" panose="020B0604030504040204" pitchFamily="34" charset="0"/>
              </a:rPr>
              <a:t>International AIDS Society</a:t>
            </a:r>
          </a:p>
        </p:txBody>
      </p:sp>
      <p:sp>
        <p:nvSpPr>
          <p:cNvPr id="38" name="Textfeld 37">
            <a:extLst>
              <a:ext uri="{FF2B5EF4-FFF2-40B4-BE49-F238E27FC236}">
                <a16:creationId xmlns:a16="http://schemas.microsoft.com/office/drawing/2014/main" id="{855D9016-FECC-4E5D-ADF2-7843F8F8B2A1}"/>
              </a:ext>
            </a:extLst>
          </p:cNvPr>
          <p:cNvSpPr txBox="1"/>
          <p:nvPr userDrawn="1"/>
        </p:nvSpPr>
        <p:spPr>
          <a:xfrm>
            <a:off x="5360194" y="444583"/>
            <a:ext cx="1275556" cy="184067"/>
          </a:xfrm>
          <a:prstGeom prst="rect">
            <a:avLst/>
          </a:prstGeom>
          <a:noFill/>
        </p:spPr>
        <p:txBody>
          <a:bodyPr wrap="square" lIns="0" tIns="0" rIns="0" bIns="0">
            <a:noAutofit/>
          </a:bodyPr>
          <a:lstStyle/>
          <a:p>
            <a:r>
              <a:rPr lang="de-DE" sz="750" b="0" i="0" dirty="0">
                <a:latin typeface="Verdana" panose="020B0604030504040204" pitchFamily="34" charset="0"/>
              </a:rPr>
              <a:t>iasociety.org</a:t>
            </a:r>
          </a:p>
        </p:txBody>
      </p:sp>
      <p:sp>
        <p:nvSpPr>
          <p:cNvPr id="2" name="Titel 1">
            <a:extLst>
              <a:ext uri="{FF2B5EF4-FFF2-40B4-BE49-F238E27FC236}">
                <a16:creationId xmlns:a16="http://schemas.microsoft.com/office/drawing/2014/main" id="{933EC23C-51C9-47E8-9EC0-51E75A9906EB}"/>
              </a:ext>
            </a:extLst>
          </p:cNvPr>
          <p:cNvSpPr>
            <a:spLocks noGrp="1"/>
          </p:cNvSpPr>
          <p:nvPr>
            <p:ph type="title"/>
          </p:nvPr>
        </p:nvSpPr>
        <p:spPr>
          <a:xfrm>
            <a:off x="442913" y="1401624"/>
            <a:ext cx="6192838" cy="1151076"/>
          </a:xfrm>
        </p:spPr>
        <p:txBody>
          <a:bodyPr/>
          <a:lstStyle>
            <a:lvl1pPr>
              <a:defRPr>
                <a:solidFill>
                  <a:schemeClr val="accent1"/>
                </a:solidFill>
              </a:defRPr>
            </a:lvl1pPr>
          </a:lstStyle>
          <a:p>
            <a:r>
              <a:rPr lang="en-GB"/>
              <a:t>Click to edit Master title style</a:t>
            </a:r>
            <a:endParaRPr lang="de-DE" dirty="0"/>
          </a:p>
        </p:txBody>
      </p:sp>
      <p:sp>
        <p:nvSpPr>
          <p:cNvPr id="4" name="Textplatzhalter 3">
            <a:extLst>
              <a:ext uri="{FF2B5EF4-FFF2-40B4-BE49-F238E27FC236}">
                <a16:creationId xmlns:a16="http://schemas.microsoft.com/office/drawing/2014/main" id="{F79E4F12-16AF-4CA2-9394-804A19491551}"/>
              </a:ext>
            </a:extLst>
          </p:cNvPr>
          <p:cNvSpPr>
            <a:spLocks noGrp="1"/>
          </p:cNvSpPr>
          <p:nvPr>
            <p:ph type="body" sz="quarter" idx="11"/>
          </p:nvPr>
        </p:nvSpPr>
        <p:spPr>
          <a:xfrm>
            <a:off x="442912" y="2552700"/>
            <a:ext cx="6192837" cy="3505200"/>
          </a:xfrm>
        </p:spPr>
        <p:txBody>
          <a:bodyPr/>
          <a:lstStyle>
            <a:lvl1pPr marL="0" indent="0">
              <a:lnSpc>
                <a:spcPct val="90000"/>
              </a:lnSpc>
              <a:buNone/>
              <a:defRPr sz="4200"/>
            </a:lvl1pPr>
          </a:lstStyle>
          <a:p>
            <a:pPr lvl="0"/>
            <a:r>
              <a:rPr lang="en-GB"/>
              <a:t>Click to edit Master text styles</a:t>
            </a:r>
          </a:p>
        </p:txBody>
      </p:sp>
      <p:sp>
        <p:nvSpPr>
          <p:cNvPr id="11" name="Bildplatzhalter 7">
            <a:extLst>
              <a:ext uri="{FF2B5EF4-FFF2-40B4-BE49-F238E27FC236}">
                <a16:creationId xmlns:a16="http://schemas.microsoft.com/office/drawing/2014/main" id="{0222BDBD-0C76-472C-A496-F0F76AC3E687}"/>
              </a:ext>
            </a:extLst>
          </p:cNvPr>
          <p:cNvSpPr>
            <a:spLocks noGrp="1"/>
          </p:cNvSpPr>
          <p:nvPr>
            <p:ph type="pic" sz="quarter" idx="12"/>
          </p:nvPr>
        </p:nvSpPr>
        <p:spPr bwMode="gray">
          <a:xfrm>
            <a:off x="6996113" y="0"/>
            <a:ext cx="5195887" cy="6858000"/>
          </a:xfrm>
          <a:solidFill>
            <a:schemeClr val="bg1">
              <a:lumMod val="85000"/>
            </a:schemeClr>
          </a:solidFill>
        </p:spPr>
        <p:txBody>
          <a:bodyPr anchor="ctr"/>
          <a:lstStyle>
            <a:lvl1pPr algn="ctr">
              <a:buNone/>
              <a:defRPr sz="1400"/>
            </a:lvl1pPr>
          </a:lstStyle>
          <a:p>
            <a:r>
              <a:rPr lang="en-GB"/>
              <a:t>Click icon to add picture</a:t>
            </a:r>
            <a:endParaRPr lang="de-DE"/>
          </a:p>
        </p:txBody>
      </p:sp>
    </p:spTree>
    <p:extLst>
      <p:ext uri="{BB962C8B-B14F-4D97-AF65-F5344CB8AC3E}">
        <p14:creationId xmlns:p14="http://schemas.microsoft.com/office/powerpoint/2010/main" val="427243061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el und Inhalt">
    <p:bg bwMode="gray">
      <p:bgRef idx="1001">
        <a:schemeClr val="bg1"/>
      </p:bgRef>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D9F3A56-2912-4F6C-B763-FA01B5A3DBD6}"/>
              </a:ext>
            </a:extLst>
          </p:cNvPr>
          <p:cNvSpPr>
            <a:spLocks noGrp="1"/>
          </p:cNvSpPr>
          <p:nvPr>
            <p:ph type="title"/>
          </p:nvPr>
        </p:nvSpPr>
        <p:spPr bwMode="gray"/>
        <p:txBody>
          <a:bodyPr/>
          <a:lstStyle/>
          <a:p>
            <a:r>
              <a:rPr lang="en-GB"/>
              <a:t>Click to edit Master title style</a:t>
            </a:r>
            <a:endParaRPr lang="de-DE" dirty="0"/>
          </a:p>
        </p:txBody>
      </p:sp>
      <p:sp>
        <p:nvSpPr>
          <p:cNvPr id="3" name="Inhaltsplatzhalter 2">
            <a:extLst>
              <a:ext uri="{FF2B5EF4-FFF2-40B4-BE49-F238E27FC236}">
                <a16:creationId xmlns:a16="http://schemas.microsoft.com/office/drawing/2014/main" id="{A978F880-622A-4AD4-AD12-DB8ACC4A855D}"/>
              </a:ext>
            </a:extLst>
          </p:cNvPr>
          <p:cNvSpPr>
            <a:spLocks noGrp="1"/>
          </p:cNvSpPr>
          <p:nvPr>
            <p:ph idx="1"/>
          </p:nvPr>
        </p:nvSpPr>
        <p:spPr bwMode="gray"/>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de-DE" dirty="0"/>
          </a:p>
        </p:txBody>
      </p:sp>
      <p:sp>
        <p:nvSpPr>
          <p:cNvPr id="4" name="Datumsplatzhalter 3">
            <a:extLst>
              <a:ext uri="{FF2B5EF4-FFF2-40B4-BE49-F238E27FC236}">
                <a16:creationId xmlns:a16="http://schemas.microsoft.com/office/drawing/2014/main" id="{C42E4203-C6EB-4A6B-B123-7F7ECE103EA1}"/>
              </a:ext>
            </a:extLst>
          </p:cNvPr>
          <p:cNvSpPr>
            <a:spLocks noGrp="1"/>
          </p:cNvSpPr>
          <p:nvPr>
            <p:ph type="dt" sz="half" idx="10"/>
          </p:nvPr>
        </p:nvSpPr>
        <p:spPr bwMode="gray"/>
        <p:txBody>
          <a:bodyPr/>
          <a:lstStyle>
            <a:lvl1pPr>
              <a:defRPr b="0" i="0">
                <a:latin typeface="Verdana" panose="020B0604030504040204" pitchFamily="34" charset="0"/>
              </a:defRPr>
            </a:lvl1pPr>
          </a:lstStyle>
          <a:p>
            <a:r>
              <a:rPr lang="de-DE" dirty="0"/>
              <a:t>Name </a:t>
            </a:r>
            <a:r>
              <a:rPr lang="de-DE" dirty="0" err="1"/>
              <a:t>of</a:t>
            </a:r>
            <a:r>
              <a:rPr lang="de-DE" dirty="0"/>
              <a:t> </a:t>
            </a:r>
            <a:r>
              <a:rPr lang="de-DE" dirty="0" err="1"/>
              <a:t>the</a:t>
            </a:r>
            <a:r>
              <a:rPr lang="de-DE" dirty="0"/>
              <a:t> Speaker</a:t>
            </a:r>
          </a:p>
        </p:txBody>
      </p:sp>
      <p:sp>
        <p:nvSpPr>
          <p:cNvPr id="5" name="Fußzeilenplatzhalter 4">
            <a:extLst>
              <a:ext uri="{FF2B5EF4-FFF2-40B4-BE49-F238E27FC236}">
                <a16:creationId xmlns:a16="http://schemas.microsoft.com/office/drawing/2014/main" id="{F5ACFDB4-E040-4C21-85D2-79A7480946FD}"/>
              </a:ext>
            </a:extLst>
          </p:cNvPr>
          <p:cNvSpPr>
            <a:spLocks noGrp="1"/>
          </p:cNvSpPr>
          <p:nvPr>
            <p:ph type="ftr" sz="quarter" idx="11"/>
          </p:nvPr>
        </p:nvSpPr>
        <p:spPr bwMode="gray"/>
        <p:txBody>
          <a:bodyPr/>
          <a:lstStyle/>
          <a:p>
            <a:r>
              <a:rPr lang="de-DE"/>
              <a:t>Topic Lore Ipsum</a:t>
            </a:r>
          </a:p>
        </p:txBody>
      </p:sp>
    </p:spTree>
    <p:extLst>
      <p:ext uri="{BB962C8B-B14F-4D97-AF65-F5344CB8AC3E}">
        <p14:creationId xmlns:p14="http://schemas.microsoft.com/office/powerpoint/2010/main" val="335850573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ext und Bild">
    <p:bg bwMode="gray">
      <p:bgRef idx="1001">
        <a:schemeClr val="bg1"/>
      </p:bgRef>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D9F3A56-2912-4F6C-B763-FA01B5A3DBD6}"/>
              </a:ext>
            </a:extLst>
          </p:cNvPr>
          <p:cNvSpPr>
            <a:spLocks noGrp="1"/>
          </p:cNvSpPr>
          <p:nvPr>
            <p:ph type="title"/>
          </p:nvPr>
        </p:nvSpPr>
        <p:spPr bwMode="gray"/>
        <p:txBody>
          <a:bodyPr/>
          <a:lstStyle/>
          <a:p>
            <a:r>
              <a:rPr lang="en-GB"/>
              <a:t>Click to edit Master title style</a:t>
            </a:r>
            <a:endParaRPr lang="de-DE" dirty="0"/>
          </a:p>
        </p:txBody>
      </p:sp>
      <p:sp>
        <p:nvSpPr>
          <p:cNvPr id="3" name="Inhaltsplatzhalter 2">
            <a:extLst>
              <a:ext uri="{FF2B5EF4-FFF2-40B4-BE49-F238E27FC236}">
                <a16:creationId xmlns:a16="http://schemas.microsoft.com/office/drawing/2014/main" id="{A978F880-622A-4AD4-AD12-DB8ACC4A855D}"/>
              </a:ext>
            </a:extLst>
          </p:cNvPr>
          <p:cNvSpPr>
            <a:spLocks noGrp="1"/>
          </p:cNvSpPr>
          <p:nvPr>
            <p:ph idx="1"/>
          </p:nvPr>
        </p:nvSpPr>
        <p:spPr bwMode="gray"/>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de-DE" dirty="0"/>
          </a:p>
        </p:txBody>
      </p:sp>
      <p:sp>
        <p:nvSpPr>
          <p:cNvPr id="4" name="Datumsplatzhalter 3">
            <a:extLst>
              <a:ext uri="{FF2B5EF4-FFF2-40B4-BE49-F238E27FC236}">
                <a16:creationId xmlns:a16="http://schemas.microsoft.com/office/drawing/2014/main" id="{C42E4203-C6EB-4A6B-B123-7F7ECE103EA1}"/>
              </a:ext>
            </a:extLst>
          </p:cNvPr>
          <p:cNvSpPr>
            <a:spLocks noGrp="1"/>
          </p:cNvSpPr>
          <p:nvPr>
            <p:ph type="dt" sz="half" idx="10"/>
          </p:nvPr>
        </p:nvSpPr>
        <p:spPr bwMode="gray"/>
        <p:txBody>
          <a:bodyPr/>
          <a:lstStyle>
            <a:lvl1pPr>
              <a:defRPr b="0" i="0">
                <a:latin typeface="Verdana" panose="020B0604030504040204" pitchFamily="34" charset="0"/>
              </a:defRPr>
            </a:lvl1pPr>
          </a:lstStyle>
          <a:p>
            <a:r>
              <a:rPr lang="de-DE" dirty="0"/>
              <a:t>Name </a:t>
            </a:r>
            <a:r>
              <a:rPr lang="de-DE" dirty="0" err="1"/>
              <a:t>of</a:t>
            </a:r>
            <a:r>
              <a:rPr lang="de-DE" dirty="0"/>
              <a:t> </a:t>
            </a:r>
            <a:r>
              <a:rPr lang="de-DE" dirty="0" err="1"/>
              <a:t>the</a:t>
            </a:r>
            <a:r>
              <a:rPr lang="de-DE" dirty="0"/>
              <a:t> Speaker</a:t>
            </a:r>
          </a:p>
        </p:txBody>
      </p:sp>
      <p:sp>
        <p:nvSpPr>
          <p:cNvPr id="5" name="Fußzeilenplatzhalter 4">
            <a:extLst>
              <a:ext uri="{FF2B5EF4-FFF2-40B4-BE49-F238E27FC236}">
                <a16:creationId xmlns:a16="http://schemas.microsoft.com/office/drawing/2014/main" id="{F5ACFDB4-E040-4C21-85D2-79A7480946FD}"/>
              </a:ext>
            </a:extLst>
          </p:cNvPr>
          <p:cNvSpPr>
            <a:spLocks noGrp="1"/>
          </p:cNvSpPr>
          <p:nvPr>
            <p:ph type="ftr" sz="quarter" idx="11"/>
          </p:nvPr>
        </p:nvSpPr>
        <p:spPr bwMode="gray"/>
        <p:txBody>
          <a:bodyPr/>
          <a:lstStyle/>
          <a:p>
            <a:r>
              <a:rPr lang="de-DE"/>
              <a:t>Topic Lore Ipsum</a:t>
            </a:r>
          </a:p>
        </p:txBody>
      </p:sp>
      <p:sp>
        <p:nvSpPr>
          <p:cNvPr id="8" name="Bildplatzhalter 7">
            <a:extLst>
              <a:ext uri="{FF2B5EF4-FFF2-40B4-BE49-F238E27FC236}">
                <a16:creationId xmlns:a16="http://schemas.microsoft.com/office/drawing/2014/main" id="{F5E3B62B-CF09-471B-9761-31105E803B91}"/>
              </a:ext>
            </a:extLst>
          </p:cNvPr>
          <p:cNvSpPr>
            <a:spLocks noGrp="1"/>
          </p:cNvSpPr>
          <p:nvPr>
            <p:ph type="pic" sz="quarter" idx="12"/>
          </p:nvPr>
        </p:nvSpPr>
        <p:spPr bwMode="gray">
          <a:xfrm>
            <a:off x="6996113" y="0"/>
            <a:ext cx="5195887" cy="6858000"/>
          </a:xfrm>
          <a:solidFill>
            <a:schemeClr val="bg1">
              <a:lumMod val="85000"/>
            </a:schemeClr>
          </a:solidFill>
        </p:spPr>
        <p:txBody>
          <a:bodyPr anchor="ctr"/>
          <a:lstStyle>
            <a:lvl1pPr algn="ctr">
              <a:buNone/>
              <a:defRPr sz="1400"/>
            </a:lvl1pPr>
          </a:lstStyle>
          <a:p>
            <a:r>
              <a:rPr lang="en-GB"/>
              <a:t>Click icon to add picture</a:t>
            </a:r>
            <a:endParaRPr lang="de-DE"/>
          </a:p>
        </p:txBody>
      </p:sp>
    </p:spTree>
    <p:extLst>
      <p:ext uri="{BB962C8B-B14F-4D97-AF65-F5344CB8AC3E}">
        <p14:creationId xmlns:p14="http://schemas.microsoft.com/office/powerpoint/2010/main" val="27629660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Nur Titel">
    <p:bg bwMode="gray">
      <p:bgRef idx="1001">
        <a:schemeClr val="bg1"/>
      </p:bgRef>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D67EA35-F68A-454D-A1CC-5E137F915BE5}"/>
              </a:ext>
            </a:extLst>
          </p:cNvPr>
          <p:cNvSpPr>
            <a:spLocks noGrp="1"/>
          </p:cNvSpPr>
          <p:nvPr>
            <p:ph type="title"/>
          </p:nvPr>
        </p:nvSpPr>
        <p:spPr bwMode="gray"/>
        <p:txBody>
          <a:bodyPr/>
          <a:lstStyle/>
          <a:p>
            <a:r>
              <a:rPr lang="en-GB"/>
              <a:t>Click to edit Master title style</a:t>
            </a:r>
            <a:endParaRPr lang="de-DE"/>
          </a:p>
        </p:txBody>
      </p:sp>
      <p:sp>
        <p:nvSpPr>
          <p:cNvPr id="3" name="Datumsplatzhalter 2">
            <a:extLst>
              <a:ext uri="{FF2B5EF4-FFF2-40B4-BE49-F238E27FC236}">
                <a16:creationId xmlns:a16="http://schemas.microsoft.com/office/drawing/2014/main" id="{CEC0582F-CD7C-43A1-A31F-61C84AF5187C}"/>
              </a:ext>
            </a:extLst>
          </p:cNvPr>
          <p:cNvSpPr>
            <a:spLocks noGrp="1"/>
          </p:cNvSpPr>
          <p:nvPr>
            <p:ph type="dt" sz="half" idx="10"/>
          </p:nvPr>
        </p:nvSpPr>
        <p:spPr bwMode="gray"/>
        <p:txBody>
          <a:bodyPr/>
          <a:lstStyle>
            <a:lvl1pPr>
              <a:defRPr b="0" i="0">
                <a:latin typeface="Verdana" panose="020B0604030504040204" pitchFamily="34" charset="0"/>
              </a:defRPr>
            </a:lvl1pPr>
          </a:lstStyle>
          <a:p>
            <a:r>
              <a:rPr lang="de-DE" dirty="0"/>
              <a:t>Name </a:t>
            </a:r>
            <a:r>
              <a:rPr lang="de-DE" dirty="0" err="1"/>
              <a:t>of</a:t>
            </a:r>
            <a:r>
              <a:rPr lang="de-DE" dirty="0"/>
              <a:t> </a:t>
            </a:r>
            <a:r>
              <a:rPr lang="de-DE" dirty="0" err="1"/>
              <a:t>the</a:t>
            </a:r>
            <a:r>
              <a:rPr lang="de-DE" dirty="0"/>
              <a:t> Speaker</a:t>
            </a:r>
          </a:p>
        </p:txBody>
      </p:sp>
      <p:sp>
        <p:nvSpPr>
          <p:cNvPr id="4" name="Fußzeilenplatzhalter 3">
            <a:extLst>
              <a:ext uri="{FF2B5EF4-FFF2-40B4-BE49-F238E27FC236}">
                <a16:creationId xmlns:a16="http://schemas.microsoft.com/office/drawing/2014/main" id="{765BDC8B-AC16-40EC-9659-81A213A0A1B0}"/>
              </a:ext>
            </a:extLst>
          </p:cNvPr>
          <p:cNvSpPr>
            <a:spLocks noGrp="1"/>
          </p:cNvSpPr>
          <p:nvPr>
            <p:ph type="ftr" sz="quarter" idx="11"/>
          </p:nvPr>
        </p:nvSpPr>
        <p:spPr bwMode="gray"/>
        <p:txBody>
          <a:bodyPr/>
          <a:lstStyle/>
          <a:p>
            <a:r>
              <a:rPr lang="de-DE"/>
              <a:t>Topic Lore Ipsum</a:t>
            </a:r>
          </a:p>
        </p:txBody>
      </p:sp>
    </p:spTree>
    <p:extLst>
      <p:ext uri="{BB962C8B-B14F-4D97-AF65-F5344CB8AC3E}">
        <p14:creationId xmlns:p14="http://schemas.microsoft.com/office/powerpoint/2010/main" val="194863457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aption">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CEC0582F-CD7C-43A1-A31F-61C84AF5187C}"/>
              </a:ext>
            </a:extLst>
          </p:cNvPr>
          <p:cNvSpPr>
            <a:spLocks noGrp="1"/>
          </p:cNvSpPr>
          <p:nvPr>
            <p:ph type="dt" sz="half" idx="10"/>
          </p:nvPr>
        </p:nvSpPr>
        <p:spPr bwMode="gray"/>
        <p:txBody>
          <a:bodyPr/>
          <a:lstStyle>
            <a:lvl1pPr>
              <a:defRPr b="0" i="0">
                <a:latin typeface="Verdana" panose="020B0604030504040204" pitchFamily="34" charset="0"/>
              </a:defRPr>
            </a:lvl1pPr>
          </a:lstStyle>
          <a:p>
            <a:r>
              <a:rPr lang="de-DE" dirty="0"/>
              <a:t>Name </a:t>
            </a:r>
            <a:r>
              <a:rPr lang="de-DE" dirty="0" err="1"/>
              <a:t>of</a:t>
            </a:r>
            <a:r>
              <a:rPr lang="de-DE" dirty="0"/>
              <a:t> </a:t>
            </a:r>
            <a:r>
              <a:rPr lang="de-DE" dirty="0" err="1"/>
              <a:t>the</a:t>
            </a:r>
            <a:r>
              <a:rPr lang="de-DE" dirty="0"/>
              <a:t> Speaker</a:t>
            </a:r>
          </a:p>
        </p:txBody>
      </p:sp>
      <p:sp>
        <p:nvSpPr>
          <p:cNvPr id="4" name="Fußzeilenplatzhalter 3">
            <a:extLst>
              <a:ext uri="{FF2B5EF4-FFF2-40B4-BE49-F238E27FC236}">
                <a16:creationId xmlns:a16="http://schemas.microsoft.com/office/drawing/2014/main" id="{765BDC8B-AC16-40EC-9659-81A213A0A1B0}"/>
              </a:ext>
            </a:extLst>
          </p:cNvPr>
          <p:cNvSpPr>
            <a:spLocks noGrp="1"/>
          </p:cNvSpPr>
          <p:nvPr>
            <p:ph type="ftr" sz="quarter" idx="11"/>
          </p:nvPr>
        </p:nvSpPr>
        <p:spPr bwMode="gray"/>
        <p:txBody>
          <a:bodyPr/>
          <a:lstStyle/>
          <a:p>
            <a:r>
              <a:rPr lang="de-DE"/>
              <a:t>Topic Lore Ipsum</a:t>
            </a:r>
          </a:p>
        </p:txBody>
      </p:sp>
      <p:sp>
        <p:nvSpPr>
          <p:cNvPr id="9" name="Textplatzhalter 8">
            <a:extLst>
              <a:ext uri="{FF2B5EF4-FFF2-40B4-BE49-F238E27FC236}">
                <a16:creationId xmlns:a16="http://schemas.microsoft.com/office/drawing/2014/main" id="{CA3000E4-2BD5-435D-AE69-C20EC0E3F2C1}"/>
              </a:ext>
            </a:extLst>
          </p:cNvPr>
          <p:cNvSpPr>
            <a:spLocks noGrp="1"/>
          </p:cNvSpPr>
          <p:nvPr>
            <p:ph type="body" sz="quarter" idx="12"/>
          </p:nvPr>
        </p:nvSpPr>
        <p:spPr bwMode="gray">
          <a:xfrm>
            <a:off x="3725862" y="1346515"/>
            <a:ext cx="8131175" cy="4711385"/>
          </a:xfrm>
        </p:spPr>
        <p:txBody>
          <a:bodyPr/>
          <a:lstStyle>
            <a:lvl1pPr marL="266700" indent="-266700">
              <a:lnSpc>
                <a:spcPct val="90000"/>
              </a:lnSpc>
              <a:buFont typeface="Ping LCG Light" pitchFamily="50" charset="0"/>
              <a:buChar char="»"/>
              <a:defRPr sz="4200">
                <a:solidFill>
                  <a:schemeClr val="accent1"/>
                </a:solidFill>
              </a:defRPr>
            </a:lvl1pPr>
            <a:lvl2pPr marL="182563" indent="0" algn="r">
              <a:lnSpc>
                <a:spcPct val="90000"/>
              </a:lnSpc>
              <a:buNone/>
              <a:defRPr sz="2000">
                <a:solidFill>
                  <a:schemeClr val="accent1"/>
                </a:solidFill>
              </a:defRPr>
            </a:lvl2pPr>
            <a:lvl3pPr>
              <a:lnSpc>
                <a:spcPct val="90000"/>
              </a:lnSpc>
              <a:defRPr sz="4200"/>
            </a:lvl3pPr>
            <a:lvl4pPr>
              <a:lnSpc>
                <a:spcPct val="90000"/>
              </a:lnSpc>
              <a:defRPr sz="4200"/>
            </a:lvl4pPr>
            <a:lvl5pPr>
              <a:lnSpc>
                <a:spcPct val="90000"/>
              </a:lnSpc>
              <a:defRPr sz="4200"/>
            </a:lvl5pPr>
          </a:lstStyle>
          <a:p>
            <a:pPr lvl="0"/>
            <a:r>
              <a:rPr lang="en-GB"/>
              <a:t>Click to edit Master text styles</a:t>
            </a:r>
          </a:p>
          <a:p>
            <a:pPr lvl="1"/>
            <a:r>
              <a:rPr lang="en-GB"/>
              <a:t>Second level</a:t>
            </a:r>
          </a:p>
        </p:txBody>
      </p:sp>
    </p:spTree>
    <p:extLst>
      <p:ext uri="{BB962C8B-B14F-4D97-AF65-F5344CB8AC3E}">
        <p14:creationId xmlns:p14="http://schemas.microsoft.com/office/powerpoint/2010/main" val="368819948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bg bwMode="gray">
      <p:bgRef idx="1001">
        <a:schemeClr val="bg1"/>
      </p:bgRef>
    </p:bg>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id="{82CC7437-6059-43F9-AED7-852A052197E8}"/>
              </a:ext>
            </a:extLst>
          </p:cNvPr>
          <p:cNvSpPr>
            <a:spLocks noGrp="1"/>
          </p:cNvSpPr>
          <p:nvPr>
            <p:ph type="dt" sz="half" idx="10"/>
          </p:nvPr>
        </p:nvSpPr>
        <p:spPr bwMode="gray"/>
        <p:txBody>
          <a:bodyPr/>
          <a:lstStyle>
            <a:lvl1pPr>
              <a:defRPr b="0" i="0">
                <a:latin typeface="Verdana" panose="020B0604030504040204" pitchFamily="34" charset="0"/>
              </a:defRPr>
            </a:lvl1pPr>
          </a:lstStyle>
          <a:p>
            <a:r>
              <a:rPr lang="de-DE" dirty="0"/>
              <a:t>Name </a:t>
            </a:r>
            <a:r>
              <a:rPr lang="de-DE" dirty="0" err="1"/>
              <a:t>of</a:t>
            </a:r>
            <a:r>
              <a:rPr lang="de-DE" dirty="0"/>
              <a:t> </a:t>
            </a:r>
            <a:r>
              <a:rPr lang="de-DE" dirty="0" err="1"/>
              <a:t>the</a:t>
            </a:r>
            <a:r>
              <a:rPr lang="de-DE" dirty="0"/>
              <a:t> Speaker</a:t>
            </a:r>
          </a:p>
        </p:txBody>
      </p:sp>
      <p:sp>
        <p:nvSpPr>
          <p:cNvPr id="3" name="Fußzeilenplatzhalter 2">
            <a:extLst>
              <a:ext uri="{FF2B5EF4-FFF2-40B4-BE49-F238E27FC236}">
                <a16:creationId xmlns:a16="http://schemas.microsoft.com/office/drawing/2014/main" id="{EDC35EB0-B8D6-413D-890C-D0905B12D5B2}"/>
              </a:ext>
            </a:extLst>
          </p:cNvPr>
          <p:cNvSpPr>
            <a:spLocks noGrp="1"/>
          </p:cNvSpPr>
          <p:nvPr>
            <p:ph type="ftr" sz="quarter" idx="11"/>
          </p:nvPr>
        </p:nvSpPr>
        <p:spPr bwMode="gray"/>
        <p:txBody>
          <a:bodyPr/>
          <a:lstStyle/>
          <a:p>
            <a:r>
              <a:rPr lang="de-DE"/>
              <a:t>Topic Lore Ipsum</a:t>
            </a:r>
          </a:p>
        </p:txBody>
      </p:sp>
    </p:spTree>
    <p:extLst>
      <p:ext uri="{BB962C8B-B14F-4D97-AF65-F5344CB8AC3E}">
        <p14:creationId xmlns:p14="http://schemas.microsoft.com/office/powerpoint/2010/main" val="231144843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image" Target="../media/image1.emf"/></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2" name="Titelplatzhalter 1">
            <a:extLst>
              <a:ext uri="{FF2B5EF4-FFF2-40B4-BE49-F238E27FC236}">
                <a16:creationId xmlns:a16="http://schemas.microsoft.com/office/drawing/2014/main" id="{B097AD9D-CB55-4687-8CA2-BD97C7BC954E}"/>
              </a:ext>
            </a:extLst>
          </p:cNvPr>
          <p:cNvSpPr>
            <a:spLocks noGrp="1"/>
          </p:cNvSpPr>
          <p:nvPr>
            <p:ph type="title"/>
          </p:nvPr>
        </p:nvSpPr>
        <p:spPr bwMode="gray">
          <a:xfrm>
            <a:off x="442913" y="1401624"/>
            <a:ext cx="6192838" cy="1260000"/>
          </a:xfrm>
          <a:prstGeom prst="rect">
            <a:avLst/>
          </a:prstGeom>
        </p:spPr>
        <p:txBody>
          <a:bodyPr vert="horz" lIns="0" tIns="0" rIns="0" bIns="0" rtlCol="0" anchor="t" anchorCtr="0">
            <a:noAutofit/>
          </a:bodyPr>
          <a:lstStyle/>
          <a:p>
            <a:r>
              <a:rPr lang="de-DE" dirty="0"/>
              <a:t>Mastertitelformat bearbeiten</a:t>
            </a:r>
          </a:p>
        </p:txBody>
      </p:sp>
      <p:sp>
        <p:nvSpPr>
          <p:cNvPr id="3" name="Textplatzhalter 2">
            <a:extLst>
              <a:ext uri="{FF2B5EF4-FFF2-40B4-BE49-F238E27FC236}">
                <a16:creationId xmlns:a16="http://schemas.microsoft.com/office/drawing/2014/main" id="{2934E4A2-260E-40E9-AC47-DF4CBDE6A31B}"/>
              </a:ext>
            </a:extLst>
          </p:cNvPr>
          <p:cNvSpPr>
            <a:spLocks noGrp="1"/>
          </p:cNvSpPr>
          <p:nvPr>
            <p:ph type="body" idx="1"/>
          </p:nvPr>
        </p:nvSpPr>
        <p:spPr bwMode="gray">
          <a:xfrm>
            <a:off x="442913" y="2766059"/>
            <a:ext cx="6192837" cy="3291841"/>
          </a:xfrm>
          <a:prstGeom prst="rect">
            <a:avLst/>
          </a:prstGeom>
        </p:spPr>
        <p:txBody>
          <a:bodyPr vert="horz" lIns="0" tIns="0" rIns="0" bIns="0" rtlCol="0" anchor="t" anchorCtr="0">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4" name="Datumsplatzhalter 3">
            <a:extLst>
              <a:ext uri="{FF2B5EF4-FFF2-40B4-BE49-F238E27FC236}">
                <a16:creationId xmlns:a16="http://schemas.microsoft.com/office/drawing/2014/main" id="{C24889AC-79BD-4225-8067-CB3E052B3BBB}"/>
              </a:ext>
            </a:extLst>
          </p:cNvPr>
          <p:cNvSpPr>
            <a:spLocks noGrp="1"/>
          </p:cNvSpPr>
          <p:nvPr>
            <p:ph type="dt" sz="half" idx="2"/>
          </p:nvPr>
        </p:nvSpPr>
        <p:spPr bwMode="gray">
          <a:xfrm>
            <a:off x="442913" y="6276101"/>
            <a:ext cx="3130867" cy="244317"/>
          </a:xfrm>
          <a:prstGeom prst="rect">
            <a:avLst/>
          </a:prstGeom>
        </p:spPr>
        <p:txBody>
          <a:bodyPr vert="horz" lIns="0" tIns="0" rIns="0" bIns="0" rtlCol="0" anchor="t" anchorCtr="0">
            <a:noAutofit/>
          </a:bodyPr>
          <a:lstStyle>
            <a:lvl1pPr algn="l">
              <a:defRPr sz="1000">
                <a:solidFill>
                  <a:schemeClr val="tx1"/>
                </a:solidFill>
              </a:defRPr>
            </a:lvl1pPr>
          </a:lstStyle>
          <a:p>
            <a:r>
              <a:rPr lang="de-DE" dirty="0">
                <a:latin typeface="Verdana" panose="020B0604030504040204" pitchFamily="34" charset="0"/>
              </a:rPr>
              <a:t>Name </a:t>
            </a:r>
            <a:r>
              <a:rPr lang="de-DE" dirty="0" err="1">
                <a:latin typeface="Verdana" panose="020B0604030504040204" pitchFamily="34" charset="0"/>
              </a:rPr>
              <a:t>of</a:t>
            </a:r>
            <a:r>
              <a:rPr lang="de-DE" dirty="0">
                <a:latin typeface="Verdana" panose="020B0604030504040204" pitchFamily="34" charset="0"/>
              </a:rPr>
              <a:t> </a:t>
            </a:r>
            <a:r>
              <a:rPr lang="de-DE" dirty="0" err="1">
                <a:latin typeface="Verdana" panose="020B0604030504040204" pitchFamily="34" charset="0"/>
              </a:rPr>
              <a:t>the</a:t>
            </a:r>
            <a:r>
              <a:rPr lang="de-DE" dirty="0">
                <a:latin typeface="Verdana" panose="020B0604030504040204" pitchFamily="34" charset="0"/>
              </a:rPr>
              <a:t> Speaker</a:t>
            </a:r>
          </a:p>
        </p:txBody>
      </p:sp>
      <p:sp>
        <p:nvSpPr>
          <p:cNvPr id="5" name="Fußzeilenplatzhalter 4">
            <a:extLst>
              <a:ext uri="{FF2B5EF4-FFF2-40B4-BE49-F238E27FC236}">
                <a16:creationId xmlns:a16="http://schemas.microsoft.com/office/drawing/2014/main" id="{A94A541A-BF46-4134-A473-7ECADFE557E6}"/>
              </a:ext>
            </a:extLst>
          </p:cNvPr>
          <p:cNvSpPr>
            <a:spLocks noGrp="1"/>
          </p:cNvSpPr>
          <p:nvPr>
            <p:ph type="ftr" sz="quarter" idx="3"/>
          </p:nvPr>
        </p:nvSpPr>
        <p:spPr bwMode="gray">
          <a:xfrm>
            <a:off x="3725863" y="6276101"/>
            <a:ext cx="2909887" cy="244317"/>
          </a:xfrm>
          <a:prstGeom prst="rect">
            <a:avLst/>
          </a:prstGeom>
        </p:spPr>
        <p:txBody>
          <a:bodyPr vert="horz" wrap="none" lIns="0" tIns="0" rIns="0" bIns="0" rtlCol="0" anchor="t" anchorCtr="0">
            <a:noAutofit/>
          </a:bodyPr>
          <a:lstStyle>
            <a:lvl1pPr algn="l">
              <a:defRPr sz="1000" b="0" i="0">
                <a:solidFill>
                  <a:schemeClr val="tx1"/>
                </a:solidFill>
                <a:latin typeface="Verdana" panose="020B0604030504040204" pitchFamily="34" charset="0"/>
              </a:defRPr>
            </a:lvl1pPr>
          </a:lstStyle>
          <a:p>
            <a:r>
              <a:rPr lang="de-DE" dirty="0"/>
              <a:t>Topic Lore </a:t>
            </a:r>
            <a:r>
              <a:rPr lang="de-DE" dirty="0" err="1"/>
              <a:t>Ipsum</a:t>
            </a:r>
            <a:endParaRPr lang="de-DE" dirty="0"/>
          </a:p>
        </p:txBody>
      </p:sp>
      <p:pic>
        <p:nvPicPr>
          <p:cNvPr id="8" name="Grafik 7">
            <a:extLst>
              <a:ext uri="{FF2B5EF4-FFF2-40B4-BE49-F238E27FC236}">
                <a16:creationId xmlns:a16="http://schemas.microsoft.com/office/drawing/2014/main" id="{A833CDCE-25B5-4F69-9C0F-55D421676E24}"/>
              </a:ext>
            </a:extLst>
          </p:cNvPr>
          <p:cNvPicPr>
            <a:picLocks noChangeAspect="1"/>
          </p:cNvPicPr>
          <p:nvPr userDrawn="1"/>
        </p:nvPicPr>
        <p:blipFill>
          <a:blip r:embed="rId9">
            <a:extLst>
              <a:ext uri="{28A0092B-C50C-407E-A947-70E740481C1C}">
                <a14:useLocalDpi xmlns:a14="http://schemas.microsoft.com/office/drawing/2010/main" val="0"/>
              </a:ext>
            </a:extLst>
          </a:blip>
          <a:stretch>
            <a:fillRect/>
          </a:stretch>
        </p:blipFill>
        <p:spPr>
          <a:xfrm>
            <a:off x="461963" y="459740"/>
            <a:ext cx="728662" cy="266127"/>
          </a:xfrm>
          <a:prstGeom prst="rect">
            <a:avLst/>
          </a:prstGeom>
        </p:spPr>
      </p:pic>
    </p:spTree>
    <p:extLst>
      <p:ext uri="{BB962C8B-B14F-4D97-AF65-F5344CB8AC3E}">
        <p14:creationId xmlns:p14="http://schemas.microsoft.com/office/powerpoint/2010/main" val="1664377623"/>
      </p:ext>
    </p:extLst>
  </p:cSld>
  <p:clrMap bg1="lt1" tx1="dk1" bg2="lt2" tx2="dk2" accent1="accent1" accent2="accent2" accent3="accent3" accent4="accent4" accent5="accent5" accent6="accent6" hlink="hlink" folHlink="folHlink"/>
  <p:sldLayoutIdLst>
    <p:sldLayoutId id="2147483649" r:id="rId1"/>
    <p:sldLayoutId id="2147483665" r:id="rId2"/>
    <p:sldLayoutId id="2147483664" r:id="rId3"/>
    <p:sldLayoutId id="2147483650" r:id="rId4"/>
    <p:sldLayoutId id="2147483654" r:id="rId5"/>
    <p:sldLayoutId id="2147483662" r:id="rId6"/>
    <p:sldLayoutId id="2147483655" r:id="rId7"/>
  </p:sldLayoutIdLst>
  <p:hf sldNum="0" hdr="0"/>
  <p:txStyles>
    <p:titleStyle>
      <a:lvl1pPr algn="l" defTabSz="914400" rtl="0" eaLnBrk="1" latinLnBrk="0" hangingPunct="1">
        <a:lnSpc>
          <a:spcPct val="90000"/>
        </a:lnSpc>
        <a:spcBef>
          <a:spcPct val="0"/>
        </a:spcBef>
        <a:buNone/>
        <a:defRPr sz="4200" b="1" i="0" kern="1200">
          <a:solidFill>
            <a:schemeClr val="tx1"/>
          </a:solidFill>
          <a:latin typeface="Verdana" panose="020B0604030504040204" pitchFamily="34" charset="0"/>
          <a:ea typeface="+mj-ea"/>
          <a:cs typeface="+mj-cs"/>
        </a:defRPr>
      </a:lvl1pPr>
    </p:titleStyle>
    <p:bodyStyle>
      <a:lvl1pPr marL="220663" indent="-220663" algn="l" defTabSz="914400" rtl="0" eaLnBrk="1" latinLnBrk="0" hangingPunct="1">
        <a:lnSpc>
          <a:spcPct val="100000"/>
        </a:lnSpc>
        <a:spcBef>
          <a:spcPts val="0"/>
        </a:spcBef>
        <a:buFont typeface="Arial" panose="020B0604020202020204" pitchFamily="34" charset="0"/>
        <a:buChar char="○"/>
        <a:defRPr sz="2000" b="0" i="0" kern="1200">
          <a:solidFill>
            <a:schemeClr val="tx1"/>
          </a:solidFill>
          <a:latin typeface="Verdana" panose="020B0604030504040204" pitchFamily="34" charset="0"/>
          <a:ea typeface="+mn-ea"/>
          <a:cs typeface="+mn-cs"/>
        </a:defRPr>
      </a:lvl1pPr>
      <a:lvl2pPr marL="449263" indent="-228600" algn="l" defTabSz="914400" rtl="0" eaLnBrk="1" latinLnBrk="0" hangingPunct="1">
        <a:lnSpc>
          <a:spcPct val="100000"/>
        </a:lnSpc>
        <a:spcBef>
          <a:spcPts val="0"/>
        </a:spcBef>
        <a:buFont typeface="Arial" panose="020B0604020202020204" pitchFamily="34" charset="0"/>
        <a:buChar char="○"/>
        <a:defRPr sz="2000" b="0" i="0" kern="1200">
          <a:solidFill>
            <a:schemeClr val="tx1"/>
          </a:solidFill>
          <a:latin typeface="Verdana" panose="020B0604030504040204" pitchFamily="34" charset="0"/>
          <a:ea typeface="+mn-ea"/>
          <a:cs typeface="+mn-cs"/>
        </a:defRPr>
      </a:lvl2pPr>
      <a:lvl3pPr marL="655638" indent="-212725" algn="l" defTabSz="914400" rtl="0" eaLnBrk="1" latinLnBrk="0" hangingPunct="1">
        <a:lnSpc>
          <a:spcPct val="100000"/>
        </a:lnSpc>
        <a:spcBef>
          <a:spcPts val="0"/>
        </a:spcBef>
        <a:buFont typeface="Arial" panose="020B0604020202020204" pitchFamily="34" charset="0"/>
        <a:buChar char="○"/>
        <a:defRPr sz="2000" b="0" i="0" kern="1200">
          <a:solidFill>
            <a:schemeClr val="tx1"/>
          </a:solidFill>
          <a:latin typeface="Verdana" panose="020B0604030504040204" pitchFamily="34" charset="0"/>
          <a:ea typeface="+mn-ea"/>
          <a:cs typeface="+mn-cs"/>
        </a:defRPr>
      </a:lvl3pPr>
      <a:lvl4pPr marL="898525" indent="-234950" algn="l" defTabSz="914400" rtl="0" eaLnBrk="1" latinLnBrk="0" hangingPunct="1">
        <a:lnSpc>
          <a:spcPct val="100000"/>
        </a:lnSpc>
        <a:spcBef>
          <a:spcPts val="0"/>
        </a:spcBef>
        <a:buFont typeface="Arial" panose="020B0604020202020204" pitchFamily="34" charset="0"/>
        <a:buChar char="○"/>
        <a:defRPr sz="2000" b="0" i="0" kern="1200">
          <a:solidFill>
            <a:schemeClr val="tx1"/>
          </a:solidFill>
          <a:latin typeface="Verdana" panose="020B0604030504040204" pitchFamily="34" charset="0"/>
          <a:ea typeface="+mn-ea"/>
          <a:cs typeface="+mn-cs"/>
        </a:defRPr>
      </a:lvl4pPr>
      <a:lvl5pPr marL="1127125" indent="-234950" algn="l" defTabSz="914400" rtl="0" eaLnBrk="1" latinLnBrk="0" hangingPunct="1">
        <a:lnSpc>
          <a:spcPct val="100000"/>
        </a:lnSpc>
        <a:spcBef>
          <a:spcPts val="0"/>
        </a:spcBef>
        <a:buFont typeface="Arial" panose="020B0604020202020204" pitchFamily="34" charset="0"/>
        <a:buChar char="○"/>
        <a:defRPr sz="2000" b="0" i="0" kern="1200">
          <a:solidFill>
            <a:schemeClr val="tx1"/>
          </a:solidFill>
          <a:latin typeface="Verdana" panose="020B060403050404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4407" userDrawn="1">
          <p15:clr>
            <a:srgbClr val="F26B43"/>
          </p15:clr>
        </p15:guide>
        <p15:guide id="2" pos="279" userDrawn="1">
          <p15:clr>
            <a:srgbClr val="F26B43"/>
          </p15:clr>
        </p15:guide>
        <p15:guide id="3" pos="7469" userDrawn="1">
          <p15:clr>
            <a:srgbClr val="F26B43"/>
          </p15:clr>
        </p15:guide>
        <p15:guide id="4" pos="4180" userDrawn="1">
          <p15:clr>
            <a:srgbClr val="F26B43"/>
          </p15:clr>
        </p15:guide>
        <p15:guide id="5" orient="horz" pos="3816"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hyperlink" Target="https://pubmed.ncbi.nlm.nih.gov/31477764/" TargetMode="External"/><Relationship Id="rId2" Type="http://schemas.openxmlformats.org/officeDocument/2006/relationships/image" Target="../media/image2.png"/><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xml"/><Relationship Id="rId1" Type="http://schemas.openxmlformats.org/officeDocument/2006/relationships/slideLayout" Target="../slideLayouts/slideLayout6.xml"/><Relationship Id="rId4" Type="http://schemas.openxmlformats.org/officeDocument/2006/relationships/hyperlink" Target="https://pubmed.ncbi.nlm.nih.gov/31477764/" TargetMode="External"/></Relationships>
</file>

<file path=ppt/slides/_rels/slide10.xml.rels><?xml version="1.0" encoding="UTF-8" standalone="yes"?>
<Relationships xmlns="http://schemas.openxmlformats.org/package/2006/relationships"><Relationship Id="rId2" Type="http://schemas.openxmlformats.org/officeDocument/2006/relationships/hyperlink" Target="https://pubmed.ncbi.nlm.nih.gov/31477764/" TargetMode="Externa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2" Type="http://schemas.openxmlformats.org/officeDocument/2006/relationships/hyperlink" Target="https://pubmed.ncbi.nlm.nih.gov/31477764/" TargetMode="Externa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2" Type="http://schemas.openxmlformats.org/officeDocument/2006/relationships/hyperlink" Target="https://pubmed.ncbi.nlm.nih.gov/31477764/" TargetMode="Externa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2" Type="http://schemas.openxmlformats.org/officeDocument/2006/relationships/hyperlink" Target="https://pubmed.ncbi.nlm.nih.gov/31477764/" TargetMode="Externa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hyperlink" Target="https://pubmed.ncbi.nlm.nih.gov/33667411/" TargetMode="External"/><Relationship Id="rId1" Type="http://schemas.openxmlformats.org/officeDocument/2006/relationships/slideLayout" Target="../slideLayouts/slideLayout4.xml"/><Relationship Id="rId4" Type="http://schemas.openxmlformats.org/officeDocument/2006/relationships/hyperlink" Target="https://www.devex.com/news/launch-of-1-2b-coalition-to-expand-hiv-services-for-men-93173" TargetMode="External"/></Relationships>
</file>

<file path=ppt/slides/_rels/slide15.xml.rels><?xml version="1.0" encoding="UTF-8" standalone="yes"?>
<Relationships xmlns="http://schemas.openxmlformats.org/package/2006/relationships"><Relationship Id="rId3" Type="http://schemas.openxmlformats.org/officeDocument/2006/relationships/hyperlink" Target="https://pubmed.ncbi.nlm.nih.gov/33667411/" TargetMode="External"/><Relationship Id="rId2" Type="http://schemas.openxmlformats.org/officeDocument/2006/relationships/image" Target="../media/image4.png"/><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3" Type="http://schemas.openxmlformats.org/officeDocument/2006/relationships/hyperlink" Target="https://pubmed.ncbi.nlm.nih.gov/33667411/" TargetMode="External"/><Relationship Id="rId2" Type="http://schemas.openxmlformats.org/officeDocument/2006/relationships/image" Target="../media/image5.png"/><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2" Type="http://schemas.openxmlformats.org/officeDocument/2006/relationships/hyperlink" Target="https://pubmed.ncbi.nlm.nih.gov/33667411/" TargetMode="Externa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chart" Target="../charts/chart2.xml"/><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2" Type="http://schemas.openxmlformats.org/officeDocument/2006/relationships/chart" Target="../charts/chart3.xml"/><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A49F560-D0D1-4B76-8B86-EA3E033B96AE}"/>
              </a:ext>
            </a:extLst>
          </p:cNvPr>
          <p:cNvSpPr>
            <a:spLocks noGrp="1"/>
          </p:cNvSpPr>
          <p:nvPr>
            <p:ph type="title"/>
          </p:nvPr>
        </p:nvSpPr>
        <p:spPr>
          <a:xfrm>
            <a:off x="2157413" y="1294944"/>
            <a:ext cx="9699625" cy="4762956"/>
          </a:xfrm>
        </p:spPr>
        <p:txBody>
          <a:bodyPr/>
          <a:lstStyle/>
          <a:p>
            <a:r>
              <a:rPr lang="en-GB" dirty="0"/>
              <a:t>HIV Prioritization tool</a:t>
            </a:r>
            <a:br>
              <a:rPr lang="en-GB" dirty="0"/>
            </a:br>
            <a:r>
              <a:rPr lang="en-GB" sz="4800" b="0" dirty="0">
                <a:solidFill>
                  <a:schemeClr val="tx1"/>
                </a:solidFill>
              </a:rPr>
              <a:t>Version 1</a:t>
            </a:r>
            <a:br>
              <a:rPr lang="en-GB" dirty="0"/>
            </a:br>
            <a:endParaRPr lang="en-GB" dirty="0"/>
          </a:p>
        </p:txBody>
      </p:sp>
      <p:sp>
        <p:nvSpPr>
          <p:cNvPr id="3" name="Textplatzhalter 2">
            <a:extLst>
              <a:ext uri="{FF2B5EF4-FFF2-40B4-BE49-F238E27FC236}">
                <a16:creationId xmlns:a16="http://schemas.microsoft.com/office/drawing/2014/main" id="{B1D70F63-F5E4-490E-9A28-8139D161CABC}"/>
              </a:ext>
            </a:extLst>
          </p:cNvPr>
          <p:cNvSpPr>
            <a:spLocks noGrp="1"/>
          </p:cNvSpPr>
          <p:nvPr>
            <p:ph type="body" sz="quarter" idx="10"/>
          </p:nvPr>
        </p:nvSpPr>
        <p:spPr/>
        <p:txBody>
          <a:bodyPr/>
          <a:lstStyle/>
          <a:p>
            <a:r>
              <a:rPr lang="en-GB" dirty="0"/>
              <a:t>Anna Grimsrud</a:t>
            </a:r>
            <a:br>
              <a:rPr lang="en-GB" dirty="0"/>
            </a:br>
            <a:r>
              <a:rPr lang="en-GB" dirty="0"/>
              <a:t>8 April 2021</a:t>
            </a:r>
          </a:p>
        </p:txBody>
      </p:sp>
    </p:spTree>
    <p:extLst>
      <p:ext uri="{BB962C8B-B14F-4D97-AF65-F5344CB8AC3E}">
        <p14:creationId xmlns:p14="http://schemas.microsoft.com/office/powerpoint/2010/main" val="101902721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46EB762-B210-4CC4-9F39-572EC03B556D}"/>
              </a:ext>
            </a:extLst>
          </p:cNvPr>
          <p:cNvSpPr>
            <a:spLocks noGrp="1"/>
          </p:cNvSpPr>
          <p:nvPr>
            <p:ph type="title"/>
          </p:nvPr>
        </p:nvSpPr>
        <p:spPr/>
        <p:txBody>
          <a:bodyPr/>
          <a:lstStyle/>
          <a:p>
            <a:r>
              <a:rPr lang="en-GB" dirty="0">
                <a:solidFill>
                  <a:schemeClr val="accent1"/>
                </a:solidFill>
              </a:rPr>
              <a:t>Objective</a:t>
            </a:r>
          </a:p>
        </p:txBody>
      </p:sp>
      <p:sp>
        <p:nvSpPr>
          <p:cNvPr id="3" name="Inhaltsplatzhalter 2">
            <a:extLst>
              <a:ext uri="{FF2B5EF4-FFF2-40B4-BE49-F238E27FC236}">
                <a16:creationId xmlns:a16="http://schemas.microsoft.com/office/drawing/2014/main" id="{04DD0E3C-3675-44C6-AE22-972FDE27B6FE}"/>
              </a:ext>
            </a:extLst>
          </p:cNvPr>
          <p:cNvSpPr>
            <a:spLocks noGrp="1"/>
          </p:cNvSpPr>
          <p:nvPr>
            <p:ph idx="1"/>
          </p:nvPr>
        </p:nvSpPr>
        <p:spPr>
          <a:xfrm>
            <a:off x="442913" y="2766059"/>
            <a:ext cx="11029950" cy="2567941"/>
          </a:xfrm>
        </p:spPr>
        <p:txBody>
          <a:bodyPr/>
          <a:lstStyle/>
          <a:p>
            <a:pPr marL="0" indent="0">
              <a:buNone/>
            </a:pPr>
            <a:r>
              <a:rPr lang="en-GB" dirty="0"/>
              <a:t>To provide an interactive tool that can be used to support decision makers in planning/prioritizing HIV services </a:t>
            </a:r>
            <a:r>
              <a:rPr lang="en-GB"/>
              <a:t>by comparing trade-offs </a:t>
            </a:r>
            <a:r>
              <a:rPr lang="en-GB" dirty="0"/>
              <a:t>in impact </a:t>
            </a:r>
            <a:r>
              <a:rPr lang="en-GB"/>
              <a:t>and budget </a:t>
            </a:r>
            <a:endParaRPr lang="en-GB" dirty="0"/>
          </a:p>
          <a:p>
            <a:pPr marL="0" indent="0">
              <a:buNone/>
            </a:pPr>
            <a:endParaRPr lang="en-GB" dirty="0"/>
          </a:p>
          <a:p>
            <a:pPr marL="0" indent="0">
              <a:buNone/>
            </a:pPr>
            <a:endParaRPr lang="en-GB" dirty="0"/>
          </a:p>
        </p:txBody>
      </p:sp>
    </p:spTree>
    <p:extLst>
      <p:ext uri="{BB962C8B-B14F-4D97-AF65-F5344CB8AC3E}">
        <p14:creationId xmlns:p14="http://schemas.microsoft.com/office/powerpoint/2010/main" val="168907788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4BD669-9601-35DC-9CCC-0A36DD9B055F}"/>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5157EA78-41F6-5DDE-D298-774727701155}"/>
              </a:ext>
            </a:extLst>
          </p:cNvPr>
          <p:cNvSpPr>
            <a:spLocks noGrp="1"/>
          </p:cNvSpPr>
          <p:nvPr>
            <p:ph type="title"/>
          </p:nvPr>
        </p:nvSpPr>
        <p:spPr/>
        <p:txBody>
          <a:bodyPr/>
          <a:lstStyle/>
          <a:p>
            <a:r>
              <a:rPr lang="en-GB" dirty="0">
                <a:solidFill>
                  <a:schemeClr val="accent1"/>
                </a:solidFill>
              </a:rPr>
              <a:t>Approach</a:t>
            </a:r>
          </a:p>
        </p:txBody>
      </p:sp>
      <p:sp>
        <p:nvSpPr>
          <p:cNvPr id="3" name="Inhaltsplatzhalter 2">
            <a:extLst>
              <a:ext uri="{FF2B5EF4-FFF2-40B4-BE49-F238E27FC236}">
                <a16:creationId xmlns:a16="http://schemas.microsoft.com/office/drawing/2014/main" id="{786B0ECF-EB27-F0EA-A3A1-F19F1C60C491}"/>
              </a:ext>
            </a:extLst>
          </p:cNvPr>
          <p:cNvSpPr>
            <a:spLocks noGrp="1"/>
          </p:cNvSpPr>
          <p:nvPr>
            <p:ph idx="1"/>
          </p:nvPr>
        </p:nvSpPr>
        <p:spPr/>
        <p:txBody>
          <a:bodyPr/>
          <a:lstStyle/>
          <a:p>
            <a:pPr marL="457200" indent="-457200">
              <a:buAutoNum type="arabicPeriod"/>
            </a:pPr>
            <a:r>
              <a:rPr lang="en-GB" dirty="0"/>
              <a:t>Conversation with Jeff Eaton </a:t>
            </a:r>
          </a:p>
          <a:p>
            <a:pPr marL="457200" indent="-457200">
              <a:buAutoNum type="arabicPeriod"/>
            </a:pPr>
            <a:r>
              <a:rPr lang="en-GB" dirty="0"/>
              <a:t>Leigh Johnson 2019 paper</a:t>
            </a:r>
          </a:p>
          <a:p>
            <a:pPr marL="457200" indent="-457200">
              <a:buAutoNum type="arabicPeriod"/>
            </a:pPr>
            <a:r>
              <a:rPr lang="en-GB" dirty="0"/>
              <a:t>Giguere et al 2021 Lancet HIV paper</a:t>
            </a:r>
          </a:p>
          <a:p>
            <a:pPr marL="457200" indent="-457200">
              <a:buAutoNum type="arabicPeriod"/>
            </a:pPr>
            <a:r>
              <a:rPr lang="en-GB" dirty="0"/>
              <a:t>HTS-POS targets, Malawi</a:t>
            </a:r>
          </a:p>
          <a:p>
            <a:pPr marL="457200" indent="-457200">
              <a:buAutoNum type="arabicPeriod"/>
            </a:pPr>
            <a:r>
              <a:rPr lang="en-GB" dirty="0"/>
              <a:t>Reflection on discussion with Karen Jennings</a:t>
            </a:r>
          </a:p>
          <a:p>
            <a:pPr marL="457200" indent="-457200">
              <a:buAutoNum type="arabicPeriod"/>
            </a:pPr>
            <a:r>
              <a:rPr lang="en-GB" dirty="0"/>
              <a:t>PEPFAR data, Brian </a:t>
            </a:r>
            <a:r>
              <a:rPr lang="en-GB" dirty="0" err="1"/>
              <a:t>Honerman</a:t>
            </a:r>
            <a:endParaRPr lang="en-GB" dirty="0"/>
          </a:p>
          <a:p>
            <a:pPr marL="457200" indent="-457200">
              <a:buAutoNum type="arabicPeriod"/>
            </a:pPr>
            <a:r>
              <a:rPr lang="en-GB" dirty="0"/>
              <a:t>Chamie et al 2021 Lancet HIV paper</a:t>
            </a:r>
          </a:p>
          <a:p>
            <a:pPr marL="457200" indent="-457200">
              <a:buAutoNum type="arabicPeriod"/>
            </a:pPr>
            <a:r>
              <a:rPr lang="en-GB" dirty="0"/>
              <a:t>UNAIDS data on first and second 90s</a:t>
            </a:r>
          </a:p>
        </p:txBody>
      </p:sp>
    </p:spTree>
    <p:extLst>
      <p:ext uri="{BB962C8B-B14F-4D97-AF65-F5344CB8AC3E}">
        <p14:creationId xmlns:p14="http://schemas.microsoft.com/office/powerpoint/2010/main" val="265219858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FA4820-99F7-DE07-42A6-F601E560B2FD}"/>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07466AF4-2784-0696-F964-8D235C66DF3D}"/>
              </a:ext>
            </a:extLst>
          </p:cNvPr>
          <p:cNvSpPr>
            <a:spLocks noGrp="1"/>
          </p:cNvSpPr>
          <p:nvPr>
            <p:ph type="title"/>
          </p:nvPr>
        </p:nvSpPr>
        <p:spPr>
          <a:xfrm>
            <a:off x="442913" y="1401624"/>
            <a:ext cx="11372850" cy="1260000"/>
          </a:xfrm>
        </p:spPr>
        <p:txBody>
          <a:bodyPr/>
          <a:lstStyle/>
          <a:p>
            <a:r>
              <a:rPr lang="en-GB" noProof="0" dirty="0">
                <a:solidFill>
                  <a:schemeClr val="accent1"/>
                </a:solidFill>
              </a:rPr>
              <a:t>What‘s Included: Prevention</a:t>
            </a:r>
          </a:p>
        </p:txBody>
      </p:sp>
      <p:sp>
        <p:nvSpPr>
          <p:cNvPr id="3" name="Inhaltsplatzhalter 2">
            <a:extLst>
              <a:ext uri="{FF2B5EF4-FFF2-40B4-BE49-F238E27FC236}">
                <a16:creationId xmlns:a16="http://schemas.microsoft.com/office/drawing/2014/main" id="{B9950C3B-9FDE-9620-8662-C47749065F6F}"/>
              </a:ext>
            </a:extLst>
          </p:cNvPr>
          <p:cNvSpPr>
            <a:spLocks noGrp="1"/>
          </p:cNvSpPr>
          <p:nvPr>
            <p:ph idx="1"/>
          </p:nvPr>
        </p:nvSpPr>
        <p:spPr/>
        <p:txBody>
          <a:bodyPr/>
          <a:lstStyle/>
          <a:p>
            <a:pPr marL="457200" indent="-457200">
              <a:buAutoNum type="arabicPeriod"/>
            </a:pPr>
            <a:r>
              <a:rPr lang="en-GB" dirty="0"/>
              <a:t>Conversation with Jeff Eaton </a:t>
            </a:r>
          </a:p>
          <a:p>
            <a:pPr marL="457200" indent="-457200">
              <a:buAutoNum type="arabicPeriod"/>
            </a:pPr>
            <a:r>
              <a:rPr lang="en-GB" dirty="0"/>
              <a:t>Leigh Johnson 2019 paper</a:t>
            </a:r>
          </a:p>
          <a:p>
            <a:pPr marL="457200" indent="-457200">
              <a:buAutoNum type="arabicPeriod"/>
            </a:pPr>
            <a:r>
              <a:rPr lang="en-GB" dirty="0"/>
              <a:t>Giguere et al 2021 Lancet HIV paper</a:t>
            </a:r>
          </a:p>
          <a:p>
            <a:pPr marL="457200" indent="-457200">
              <a:buAutoNum type="arabicPeriod"/>
            </a:pPr>
            <a:r>
              <a:rPr lang="en-GB" dirty="0"/>
              <a:t>HTS-POS targets, Malawi</a:t>
            </a:r>
          </a:p>
          <a:p>
            <a:pPr marL="457200" indent="-457200">
              <a:buAutoNum type="arabicPeriod"/>
            </a:pPr>
            <a:r>
              <a:rPr lang="en-GB" dirty="0"/>
              <a:t>Reflection on discussion with Karen Jennings</a:t>
            </a:r>
          </a:p>
          <a:p>
            <a:pPr marL="457200" indent="-457200">
              <a:buAutoNum type="arabicPeriod"/>
            </a:pPr>
            <a:r>
              <a:rPr lang="en-GB" dirty="0"/>
              <a:t>PEPFAR data, Brian </a:t>
            </a:r>
            <a:r>
              <a:rPr lang="en-GB" dirty="0" err="1"/>
              <a:t>Honerman</a:t>
            </a:r>
            <a:endParaRPr lang="en-GB" dirty="0"/>
          </a:p>
          <a:p>
            <a:pPr marL="457200" indent="-457200">
              <a:buAutoNum type="arabicPeriod"/>
            </a:pPr>
            <a:r>
              <a:rPr lang="en-GB" dirty="0"/>
              <a:t>Chamie et al 2021 Lancet HIV paper</a:t>
            </a:r>
          </a:p>
          <a:p>
            <a:pPr marL="457200" indent="-457200">
              <a:buAutoNum type="arabicPeriod"/>
            </a:pPr>
            <a:r>
              <a:rPr lang="en-GB" dirty="0"/>
              <a:t>UNAIDS data on first and second 90s</a:t>
            </a:r>
          </a:p>
        </p:txBody>
      </p:sp>
    </p:spTree>
    <p:extLst>
      <p:ext uri="{BB962C8B-B14F-4D97-AF65-F5344CB8AC3E}">
        <p14:creationId xmlns:p14="http://schemas.microsoft.com/office/powerpoint/2010/main" val="158277433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735E18-BC3F-F6AE-B543-1308EF2175A5}"/>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A7AD0F49-C424-9CD6-66BB-8900E66191CF}"/>
              </a:ext>
            </a:extLst>
          </p:cNvPr>
          <p:cNvSpPr>
            <a:spLocks noGrp="1"/>
          </p:cNvSpPr>
          <p:nvPr>
            <p:ph type="title"/>
          </p:nvPr>
        </p:nvSpPr>
        <p:spPr>
          <a:xfrm>
            <a:off x="442913" y="1401624"/>
            <a:ext cx="11372850" cy="1260000"/>
          </a:xfrm>
        </p:spPr>
        <p:txBody>
          <a:bodyPr/>
          <a:lstStyle/>
          <a:p>
            <a:r>
              <a:rPr lang="en-GB" noProof="0" dirty="0">
                <a:solidFill>
                  <a:schemeClr val="accent1"/>
                </a:solidFill>
              </a:rPr>
              <a:t>What‘s Included: Testing</a:t>
            </a:r>
          </a:p>
        </p:txBody>
      </p:sp>
      <p:sp>
        <p:nvSpPr>
          <p:cNvPr id="3" name="Inhaltsplatzhalter 2">
            <a:extLst>
              <a:ext uri="{FF2B5EF4-FFF2-40B4-BE49-F238E27FC236}">
                <a16:creationId xmlns:a16="http://schemas.microsoft.com/office/drawing/2014/main" id="{DDB4610C-872B-B852-1C9F-9DAA811A4C48}"/>
              </a:ext>
            </a:extLst>
          </p:cNvPr>
          <p:cNvSpPr>
            <a:spLocks noGrp="1"/>
          </p:cNvSpPr>
          <p:nvPr>
            <p:ph idx="1"/>
          </p:nvPr>
        </p:nvSpPr>
        <p:spPr/>
        <p:txBody>
          <a:bodyPr/>
          <a:lstStyle/>
          <a:p>
            <a:pPr marL="457200" indent="-457200">
              <a:buAutoNum type="arabicPeriod"/>
            </a:pPr>
            <a:r>
              <a:rPr lang="en-GB" dirty="0"/>
              <a:t>Conversation with Jeff Eaton </a:t>
            </a:r>
          </a:p>
          <a:p>
            <a:pPr marL="457200" indent="-457200">
              <a:buAutoNum type="arabicPeriod"/>
            </a:pPr>
            <a:r>
              <a:rPr lang="en-GB" dirty="0"/>
              <a:t>Leigh Johnson 2019 paper</a:t>
            </a:r>
          </a:p>
          <a:p>
            <a:pPr marL="457200" indent="-457200">
              <a:buAutoNum type="arabicPeriod"/>
            </a:pPr>
            <a:r>
              <a:rPr lang="en-GB" dirty="0"/>
              <a:t>Giguere et al 2021 Lancet HIV paper</a:t>
            </a:r>
          </a:p>
          <a:p>
            <a:pPr marL="457200" indent="-457200">
              <a:buAutoNum type="arabicPeriod"/>
            </a:pPr>
            <a:r>
              <a:rPr lang="en-GB" dirty="0"/>
              <a:t>HTS-POS targets, Malawi</a:t>
            </a:r>
          </a:p>
          <a:p>
            <a:pPr marL="457200" indent="-457200">
              <a:buAutoNum type="arabicPeriod"/>
            </a:pPr>
            <a:r>
              <a:rPr lang="en-GB" dirty="0"/>
              <a:t>Reflection on discussion with Karen Jennings</a:t>
            </a:r>
          </a:p>
          <a:p>
            <a:pPr marL="457200" indent="-457200">
              <a:buAutoNum type="arabicPeriod"/>
            </a:pPr>
            <a:r>
              <a:rPr lang="en-GB" dirty="0"/>
              <a:t>PEPFAR data, Brian </a:t>
            </a:r>
            <a:r>
              <a:rPr lang="en-GB" dirty="0" err="1"/>
              <a:t>Honerman</a:t>
            </a:r>
            <a:endParaRPr lang="en-GB" dirty="0"/>
          </a:p>
          <a:p>
            <a:pPr marL="457200" indent="-457200">
              <a:buAutoNum type="arabicPeriod"/>
            </a:pPr>
            <a:r>
              <a:rPr lang="en-GB" dirty="0"/>
              <a:t>Chamie et al 2021 Lancet HIV paper</a:t>
            </a:r>
          </a:p>
          <a:p>
            <a:pPr marL="457200" indent="-457200">
              <a:buAutoNum type="arabicPeriod"/>
            </a:pPr>
            <a:r>
              <a:rPr lang="en-GB" dirty="0"/>
              <a:t>UNAIDS data on first and second 90s</a:t>
            </a:r>
          </a:p>
        </p:txBody>
      </p:sp>
    </p:spTree>
    <p:extLst>
      <p:ext uri="{BB962C8B-B14F-4D97-AF65-F5344CB8AC3E}">
        <p14:creationId xmlns:p14="http://schemas.microsoft.com/office/powerpoint/2010/main" val="102913145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7A6C89-5FF0-42C3-C8A5-7FD0E294B25B}"/>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D15D16C2-689B-A2CB-2017-20F0570B2061}"/>
              </a:ext>
            </a:extLst>
          </p:cNvPr>
          <p:cNvSpPr>
            <a:spLocks noGrp="1"/>
          </p:cNvSpPr>
          <p:nvPr>
            <p:ph type="title"/>
          </p:nvPr>
        </p:nvSpPr>
        <p:spPr>
          <a:xfrm>
            <a:off x="442913" y="1401624"/>
            <a:ext cx="11372850" cy="1260000"/>
          </a:xfrm>
        </p:spPr>
        <p:txBody>
          <a:bodyPr/>
          <a:lstStyle/>
          <a:p>
            <a:r>
              <a:rPr lang="en-GB" noProof="0" dirty="0">
                <a:solidFill>
                  <a:schemeClr val="accent1"/>
                </a:solidFill>
              </a:rPr>
              <a:t>What‘s Included: Treatment</a:t>
            </a:r>
          </a:p>
        </p:txBody>
      </p:sp>
      <p:sp>
        <p:nvSpPr>
          <p:cNvPr id="3" name="Inhaltsplatzhalter 2">
            <a:extLst>
              <a:ext uri="{FF2B5EF4-FFF2-40B4-BE49-F238E27FC236}">
                <a16:creationId xmlns:a16="http://schemas.microsoft.com/office/drawing/2014/main" id="{B4AB7417-9F22-BD96-D82C-1F124CA59F31}"/>
              </a:ext>
            </a:extLst>
          </p:cNvPr>
          <p:cNvSpPr>
            <a:spLocks noGrp="1"/>
          </p:cNvSpPr>
          <p:nvPr>
            <p:ph idx="1"/>
          </p:nvPr>
        </p:nvSpPr>
        <p:spPr/>
        <p:txBody>
          <a:bodyPr/>
          <a:lstStyle/>
          <a:p>
            <a:pPr marL="457200" indent="-457200">
              <a:buAutoNum type="arabicPeriod"/>
            </a:pPr>
            <a:r>
              <a:rPr lang="en-GB" dirty="0"/>
              <a:t>Conversation with Jeff Eaton </a:t>
            </a:r>
          </a:p>
          <a:p>
            <a:pPr marL="457200" indent="-457200">
              <a:buAutoNum type="arabicPeriod"/>
            </a:pPr>
            <a:r>
              <a:rPr lang="en-GB" dirty="0"/>
              <a:t>Leigh Johnson 2019 paper</a:t>
            </a:r>
          </a:p>
          <a:p>
            <a:pPr marL="457200" indent="-457200">
              <a:buAutoNum type="arabicPeriod"/>
            </a:pPr>
            <a:r>
              <a:rPr lang="en-GB" dirty="0"/>
              <a:t>Giguere et al 2021 Lancet HIV paper</a:t>
            </a:r>
          </a:p>
          <a:p>
            <a:pPr marL="457200" indent="-457200">
              <a:buAutoNum type="arabicPeriod"/>
            </a:pPr>
            <a:r>
              <a:rPr lang="en-GB" dirty="0"/>
              <a:t>HTS-POS targets, Malawi</a:t>
            </a:r>
          </a:p>
          <a:p>
            <a:pPr marL="457200" indent="-457200">
              <a:buAutoNum type="arabicPeriod"/>
            </a:pPr>
            <a:r>
              <a:rPr lang="en-GB" dirty="0"/>
              <a:t>Reflection on discussion with Karen Jennings</a:t>
            </a:r>
          </a:p>
          <a:p>
            <a:pPr marL="457200" indent="-457200">
              <a:buAutoNum type="arabicPeriod"/>
            </a:pPr>
            <a:r>
              <a:rPr lang="en-GB" dirty="0"/>
              <a:t>PEPFAR data, Brian </a:t>
            </a:r>
            <a:r>
              <a:rPr lang="en-GB" dirty="0" err="1"/>
              <a:t>Honerman</a:t>
            </a:r>
            <a:endParaRPr lang="en-GB" dirty="0"/>
          </a:p>
          <a:p>
            <a:pPr marL="457200" indent="-457200">
              <a:buAutoNum type="arabicPeriod"/>
            </a:pPr>
            <a:r>
              <a:rPr lang="en-GB" dirty="0"/>
              <a:t>Chamie et al 2021 Lancet HIV paper</a:t>
            </a:r>
          </a:p>
          <a:p>
            <a:pPr marL="457200" indent="-457200">
              <a:buAutoNum type="arabicPeriod"/>
            </a:pPr>
            <a:r>
              <a:rPr lang="en-GB" dirty="0"/>
              <a:t>UNAIDS data on first and second 90s</a:t>
            </a:r>
          </a:p>
        </p:txBody>
      </p:sp>
    </p:spTree>
    <p:extLst>
      <p:ext uri="{BB962C8B-B14F-4D97-AF65-F5344CB8AC3E}">
        <p14:creationId xmlns:p14="http://schemas.microsoft.com/office/powerpoint/2010/main" val="142946571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46EB762-B210-4CC4-9F39-572EC03B556D}"/>
              </a:ext>
            </a:extLst>
          </p:cNvPr>
          <p:cNvSpPr>
            <a:spLocks noGrp="1"/>
          </p:cNvSpPr>
          <p:nvPr>
            <p:ph type="title"/>
          </p:nvPr>
        </p:nvSpPr>
        <p:spPr/>
        <p:txBody>
          <a:bodyPr/>
          <a:lstStyle/>
          <a:p>
            <a:r>
              <a:rPr lang="en-GB" dirty="0"/>
              <a:t>1. Jeff Eaton</a:t>
            </a:r>
          </a:p>
        </p:txBody>
      </p:sp>
      <p:sp>
        <p:nvSpPr>
          <p:cNvPr id="3" name="Inhaltsplatzhalter 2">
            <a:extLst>
              <a:ext uri="{FF2B5EF4-FFF2-40B4-BE49-F238E27FC236}">
                <a16:creationId xmlns:a16="http://schemas.microsoft.com/office/drawing/2014/main" id="{04DD0E3C-3675-44C6-AE22-972FDE27B6FE}"/>
              </a:ext>
            </a:extLst>
          </p:cNvPr>
          <p:cNvSpPr>
            <a:spLocks noGrp="1"/>
          </p:cNvSpPr>
          <p:nvPr>
            <p:ph idx="1"/>
          </p:nvPr>
        </p:nvSpPr>
        <p:spPr/>
        <p:txBody>
          <a:bodyPr/>
          <a:lstStyle/>
          <a:p>
            <a:pPr lvl="0"/>
            <a:r>
              <a:rPr lang="en-GB" sz="1800" dirty="0"/>
              <a:t>We’ve made progress on the “retesting” point – that those who have been previously diagnosed but are on not on treatment require HIV testing. Need to somehow attach a value to finding those who’ve been previously diagnosed.</a:t>
            </a:r>
          </a:p>
          <a:p>
            <a:pPr lvl="0"/>
            <a:endParaRPr lang="en-GB" sz="1800" dirty="0"/>
          </a:p>
          <a:p>
            <a:pPr lvl="0"/>
            <a:r>
              <a:rPr lang="en-GB" sz="1800" dirty="0"/>
              <a:t>Testing needs to be not about restricting access, but looking at who to invest in going and findings vs. testing those who present</a:t>
            </a:r>
          </a:p>
          <a:p>
            <a:pPr lvl="0"/>
            <a:endParaRPr lang="en-GB" sz="1800" dirty="0"/>
          </a:p>
          <a:p>
            <a:r>
              <a:rPr lang="en-GB" sz="1800" dirty="0"/>
              <a:t>Testing is cheap, testing those who don’t need it is expensive </a:t>
            </a:r>
          </a:p>
        </p:txBody>
      </p:sp>
    </p:spTree>
    <p:extLst>
      <p:ext uri="{BB962C8B-B14F-4D97-AF65-F5344CB8AC3E}">
        <p14:creationId xmlns:p14="http://schemas.microsoft.com/office/powerpoint/2010/main" val="199698864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46EB762-B210-4CC4-9F39-572EC03B556D}"/>
              </a:ext>
            </a:extLst>
          </p:cNvPr>
          <p:cNvSpPr>
            <a:spLocks noGrp="1"/>
          </p:cNvSpPr>
          <p:nvPr>
            <p:ph type="title"/>
          </p:nvPr>
        </p:nvSpPr>
        <p:spPr/>
        <p:txBody>
          <a:bodyPr/>
          <a:lstStyle/>
          <a:p>
            <a:r>
              <a:rPr lang="en-GB" dirty="0"/>
              <a:t>2. Leigh Johnson et al, 2019</a:t>
            </a:r>
          </a:p>
        </p:txBody>
      </p:sp>
      <p:sp>
        <p:nvSpPr>
          <p:cNvPr id="3" name="Inhaltsplatzhalter 2">
            <a:extLst>
              <a:ext uri="{FF2B5EF4-FFF2-40B4-BE49-F238E27FC236}">
                <a16:creationId xmlns:a16="http://schemas.microsoft.com/office/drawing/2014/main" id="{04DD0E3C-3675-44C6-AE22-972FDE27B6FE}"/>
              </a:ext>
            </a:extLst>
          </p:cNvPr>
          <p:cNvSpPr>
            <a:spLocks noGrp="1"/>
          </p:cNvSpPr>
          <p:nvPr>
            <p:ph idx="1"/>
          </p:nvPr>
        </p:nvSpPr>
        <p:spPr/>
        <p:txBody>
          <a:bodyPr/>
          <a:lstStyle/>
          <a:p>
            <a:pPr lvl="0"/>
            <a:r>
              <a:rPr lang="en-GB" dirty="0"/>
              <a:t>Compared the impact and cost-effectiveness of several potential new testing strategies in South Africa</a:t>
            </a:r>
          </a:p>
          <a:p>
            <a:pPr lvl="0"/>
            <a:endParaRPr lang="en-GB" sz="3200" dirty="0"/>
          </a:p>
          <a:p>
            <a:pPr lvl="1">
              <a:buFont typeface="Wingdings" pitchFamily="2" charset="2"/>
              <a:buChar char="§"/>
            </a:pPr>
            <a:r>
              <a:rPr lang="en-GB" dirty="0"/>
              <a:t>Home-based testing combined with self-testing would have the greatest impact</a:t>
            </a:r>
          </a:p>
          <a:p>
            <a:pPr lvl="1">
              <a:buFont typeface="Wingdings" pitchFamily="2" charset="2"/>
              <a:buChar char="§"/>
            </a:pPr>
            <a:endParaRPr lang="en-GB" sz="3200" dirty="0"/>
          </a:p>
          <a:p>
            <a:pPr lvl="1">
              <a:buFont typeface="Wingdings" pitchFamily="2" charset="2"/>
              <a:buChar char="§"/>
            </a:pPr>
            <a:r>
              <a:rPr lang="en-GB" dirty="0"/>
              <a:t>Testing in FSWs and assisted partner notification would be cost-saving</a:t>
            </a:r>
            <a:endParaRPr lang="en-GB" sz="3200" dirty="0"/>
          </a:p>
        </p:txBody>
      </p:sp>
      <p:sp>
        <p:nvSpPr>
          <p:cNvPr id="7" name="Bildplatzhalter 6">
            <a:extLst>
              <a:ext uri="{FF2B5EF4-FFF2-40B4-BE49-F238E27FC236}">
                <a16:creationId xmlns:a16="http://schemas.microsoft.com/office/drawing/2014/main" id="{4BAD8F13-B027-4BA8-A57B-CCC5C9759C27}"/>
              </a:ext>
            </a:extLst>
          </p:cNvPr>
          <p:cNvSpPr>
            <a:spLocks noGrp="1"/>
          </p:cNvSpPr>
          <p:nvPr>
            <p:ph type="pic" sz="quarter" idx="12"/>
          </p:nvPr>
        </p:nvSpPr>
        <p:spPr/>
        <p:txBody>
          <a:bodyPr/>
          <a:lstStyle/>
          <a:p>
            <a:endParaRPr lang="en-GB" dirty="0"/>
          </a:p>
        </p:txBody>
      </p:sp>
      <p:pic>
        <p:nvPicPr>
          <p:cNvPr id="6" name="Picture 5">
            <a:extLst>
              <a:ext uri="{FF2B5EF4-FFF2-40B4-BE49-F238E27FC236}">
                <a16:creationId xmlns:a16="http://schemas.microsoft.com/office/drawing/2014/main" id="{B5BE4494-9185-1A49-8862-8CF85BFF20E3}"/>
              </a:ext>
            </a:extLst>
          </p:cNvPr>
          <p:cNvPicPr>
            <a:picLocks noChangeAspect="1"/>
          </p:cNvPicPr>
          <p:nvPr/>
        </p:nvPicPr>
        <p:blipFill>
          <a:blip r:embed="rId2"/>
          <a:stretch>
            <a:fillRect/>
          </a:stretch>
        </p:blipFill>
        <p:spPr>
          <a:xfrm>
            <a:off x="6954982" y="0"/>
            <a:ext cx="5237018" cy="6858000"/>
          </a:xfrm>
          <a:prstGeom prst="rect">
            <a:avLst/>
          </a:prstGeom>
        </p:spPr>
      </p:pic>
      <p:sp>
        <p:nvSpPr>
          <p:cNvPr id="8" name="TextBox 7">
            <a:extLst>
              <a:ext uri="{FF2B5EF4-FFF2-40B4-BE49-F238E27FC236}">
                <a16:creationId xmlns:a16="http://schemas.microsoft.com/office/drawing/2014/main" id="{18494DE0-03C5-A143-A7AA-B18188B6A97B}"/>
              </a:ext>
            </a:extLst>
          </p:cNvPr>
          <p:cNvSpPr txBox="1"/>
          <p:nvPr/>
        </p:nvSpPr>
        <p:spPr>
          <a:xfrm>
            <a:off x="442913" y="6339840"/>
            <a:ext cx="4937760" cy="369332"/>
          </a:xfrm>
          <a:prstGeom prst="rect">
            <a:avLst/>
          </a:prstGeom>
          <a:noFill/>
        </p:spPr>
        <p:txBody>
          <a:bodyPr wrap="square" rtlCol="0">
            <a:spAutoFit/>
          </a:bodyPr>
          <a:lstStyle/>
          <a:p>
            <a:r>
              <a:rPr lang="en-GB" dirty="0">
                <a:hlinkClick r:id="rId3"/>
              </a:rPr>
              <a:t>https://pubmed.ncbi.nlm.nih.gov/31477764/</a:t>
            </a:r>
            <a:endParaRPr lang="en-GB" dirty="0"/>
          </a:p>
        </p:txBody>
      </p:sp>
    </p:spTree>
    <p:extLst>
      <p:ext uri="{BB962C8B-B14F-4D97-AF65-F5344CB8AC3E}">
        <p14:creationId xmlns:p14="http://schemas.microsoft.com/office/powerpoint/2010/main" val="359209244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DDA7417D-B668-AE4D-AD87-58BDC80D26F4}"/>
              </a:ext>
            </a:extLst>
          </p:cNvPr>
          <p:cNvSpPr>
            <a:spLocks noGrp="1"/>
          </p:cNvSpPr>
          <p:nvPr>
            <p:ph type="body" sz="quarter" idx="12"/>
          </p:nvPr>
        </p:nvSpPr>
        <p:spPr/>
        <p:txBody>
          <a:bodyPr/>
          <a:lstStyle/>
          <a:p>
            <a:endParaRPr lang="en-GB" dirty="0"/>
          </a:p>
        </p:txBody>
      </p:sp>
      <p:graphicFrame>
        <p:nvGraphicFramePr>
          <p:cNvPr id="5" name="Chart 4">
            <a:extLst>
              <a:ext uri="{FF2B5EF4-FFF2-40B4-BE49-F238E27FC236}">
                <a16:creationId xmlns:a16="http://schemas.microsoft.com/office/drawing/2014/main" id="{0B66F6CF-46B2-B141-9C24-FCCCFE666044}"/>
              </a:ext>
            </a:extLst>
          </p:cNvPr>
          <p:cNvGraphicFramePr>
            <a:graphicFrameLocks/>
          </p:cNvGraphicFramePr>
          <p:nvPr>
            <p:extLst>
              <p:ext uri="{D42A27DB-BD31-4B8C-83A1-F6EECF244321}">
                <p14:modId xmlns:p14="http://schemas.microsoft.com/office/powerpoint/2010/main" val="3913057921"/>
              </p:ext>
            </p:extLst>
          </p:nvPr>
        </p:nvGraphicFramePr>
        <p:xfrm>
          <a:off x="3725862" y="1346515"/>
          <a:ext cx="8374698" cy="4711385"/>
        </p:xfrm>
        <a:graphic>
          <a:graphicData uri="http://schemas.openxmlformats.org/drawingml/2006/chart">
            <c:chart xmlns:c="http://schemas.openxmlformats.org/drawingml/2006/chart" xmlns:r="http://schemas.openxmlformats.org/officeDocument/2006/relationships" r:id="rId3"/>
          </a:graphicData>
        </a:graphic>
      </p:graphicFrame>
      <p:sp>
        <p:nvSpPr>
          <p:cNvPr id="6" name="TextBox 5">
            <a:extLst>
              <a:ext uri="{FF2B5EF4-FFF2-40B4-BE49-F238E27FC236}">
                <a16:creationId xmlns:a16="http://schemas.microsoft.com/office/drawing/2014/main" id="{EA6B60C4-8644-A146-AE06-3E19DD6B7F04}"/>
              </a:ext>
            </a:extLst>
          </p:cNvPr>
          <p:cNvSpPr txBox="1"/>
          <p:nvPr/>
        </p:nvSpPr>
        <p:spPr>
          <a:xfrm>
            <a:off x="442913" y="6339840"/>
            <a:ext cx="4937760" cy="246221"/>
          </a:xfrm>
          <a:prstGeom prst="rect">
            <a:avLst/>
          </a:prstGeom>
          <a:noFill/>
        </p:spPr>
        <p:txBody>
          <a:bodyPr wrap="square" rtlCol="0">
            <a:spAutoFit/>
          </a:bodyPr>
          <a:lstStyle/>
          <a:p>
            <a:r>
              <a:rPr lang="en-GB" sz="1000" dirty="0">
                <a:hlinkClick r:id="rId4"/>
              </a:rPr>
              <a:t>https://pubmed.ncbi.nlm.nih.gov/31477764/</a:t>
            </a:r>
            <a:endParaRPr lang="en-GB" sz="1000" dirty="0"/>
          </a:p>
        </p:txBody>
      </p:sp>
    </p:spTree>
    <p:extLst>
      <p:ext uri="{BB962C8B-B14F-4D97-AF65-F5344CB8AC3E}">
        <p14:creationId xmlns:p14="http://schemas.microsoft.com/office/powerpoint/2010/main" val="425092721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extplatzhalter 3">
            <a:extLst>
              <a:ext uri="{FF2B5EF4-FFF2-40B4-BE49-F238E27FC236}">
                <a16:creationId xmlns:a16="http://schemas.microsoft.com/office/drawing/2014/main" id="{BD102B95-CCD9-48DC-BFEC-5EC705374F69}"/>
              </a:ext>
            </a:extLst>
          </p:cNvPr>
          <p:cNvSpPr>
            <a:spLocks noGrp="1"/>
          </p:cNvSpPr>
          <p:nvPr>
            <p:ph type="body" sz="quarter" idx="12"/>
          </p:nvPr>
        </p:nvSpPr>
        <p:spPr/>
        <p:txBody>
          <a:bodyPr/>
          <a:lstStyle/>
          <a:p>
            <a:pPr lvl="0"/>
            <a:r>
              <a:rPr lang="en-GB" sz="2400" dirty="0"/>
              <a:t>As noted recently by De Cock and colleagues, there is a clear tension between pursuing the HIV testing strategies that are most efficient and the strategies that have the greatest impact10 strategies such as assisted partner notification, testing in FSWs and MSM, and secondary distribution of self-testing to partners of pregnant women were highly cost-effective (possibly even cost-saving) but had only a very modest impact on population-level HIV incidence and mortality. In contrast, home-based HIV testing was predicted to have the most substantial impact on HIV incidence and mortality, but at the expense of relatively low yields and cost-effectiveness. “</a:t>
            </a:r>
          </a:p>
          <a:p>
            <a:pPr lvl="1"/>
            <a:endParaRPr lang="en-GB" dirty="0"/>
          </a:p>
        </p:txBody>
      </p:sp>
      <p:sp>
        <p:nvSpPr>
          <p:cNvPr id="5" name="TextBox 4">
            <a:extLst>
              <a:ext uri="{FF2B5EF4-FFF2-40B4-BE49-F238E27FC236}">
                <a16:creationId xmlns:a16="http://schemas.microsoft.com/office/drawing/2014/main" id="{854D9642-8018-924B-949D-F05591141915}"/>
              </a:ext>
            </a:extLst>
          </p:cNvPr>
          <p:cNvSpPr txBox="1"/>
          <p:nvPr/>
        </p:nvSpPr>
        <p:spPr>
          <a:xfrm>
            <a:off x="442913" y="6339840"/>
            <a:ext cx="4937760" cy="246221"/>
          </a:xfrm>
          <a:prstGeom prst="rect">
            <a:avLst/>
          </a:prstGeom>
          <a:noFill/>
        </p:spPr>
        <p:txBody>
          <a:bodyPr wrap="square" rtlCol="0">
            <a:spAutoFit/>
          </a:bodyPr>
          <a:lstStyle/>
          <a:p>
            <a:r>
              <a:rPr lang="en-GB" sz="1000" dirty="0">
                <a:hlinkClick r:id="rId2"/>
              </a:rPr>
              <a:t>https://pubmed.ncbi.nlm.nih.gov/31477764/</a:t>
            </a:r>
            <a:endParaRPr lang="en-GB" sz="1000" dirty="0"/>
          </a:p>
        </p:txBody>
      </p:sp>
    </p:spTree>
    <p:extLst>
      <p:ext uri="{BB962C8B-B14F-4D97-AF65-F5344CB8AC3E}">
        <p14:creationId xmlns:p14="http://schemas.microsoft.com/office/powerpoint/2010/main" val="394032746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extplatzhalter 3">
            <a:extLst>
              <a:ext uri="{FF2B5EF4-FFF2-40B4-BE49-F238E27FC236}">
                <a16:creationId xmlns:a16="http://schemas.microsoft.com/office/drawing/2014/main" id="{BD102B95-CCD9-48DC-BFEC-5EC705374F69}"/>
              </a:ext>
            </a:extLst>
          </p:cNvPr>
          <p:cNvSpPr>
            <a:spLocks noGrp="1"/>
          </p:cNvSpPr>
          <p:nvPr>
            <p:ph type="body" sz="quarter" idx="12"/>
          </p:nvPr>
        </p:nvSpPr>
        <p:spPr/>
        <p:txBody>
          <a:bodyPr/>
          <a:lstStyle/>
          <a:p>
            <a:r>
              <a:rPr lang="en-GB" sz="2400" dirty="0"/>
              <a:t>Although South Africa is already close to the 90% diagnosis target in adults, South Africa is unlikely to achieve the 95% target by 2030 in the absence of major changes to HIV testing programmes, and strategies such as home-based testing may be crucial to achieving this. The challenges that South Africa faces in reaching the 95% target are to some extent a reflection of the challenges that the country faces in reducing HIV incidence, as the fraction diagnosed can only be increased substantially if the annual number of new diagnoses exceeds the annual number of new infections.</a:t>
            </a:r>
          </a:p>
          <a:p>
            <a:pPr lvl="1"/>
            <a:endParaRPr lang="en-GB" sz="2400" dirty="0"/>
          </a:p>
        </p:txBody>
      </p:sp>
      <p:sp>
        <p:nvSpPr>
          <p:cNvPr id="5" name="TextBox 4">
            <a:extLst>
              <a:ext uri="{FF2B5EF4-FFF2-40B4-BE49-F238E27FC236}">
                <a16:creationId xmlns:a16="http://schemas.microsoft.com/office/drawing/2014/main" id="{854D9642-8018-924B-949D-F05591141915}"/>
              </a:ext>
            </a:extLst>
          </p:cNvPr>
          <p:cNvSpPr txBox="1"/>
          <p:nvPr/>
        </p:nvSpPr>
        <p:spPr>
          <a:xfrm>
            <a:off x="442913" y="6339840"/>
            <a:ext cx="4937760" cy="246221"/>
          </a:xfrm>
          <a:prstGeom prst="rect">
            <a:avLst/>
          </a:prstGeom>
          <a:noFill/>
        </p:spPr>
        <p:txBody>
          <a:bodyPr wrap="square" rtlCol="0">
            <a:spAutoFit/>
          </a:bodyPr>
          <a:lstStyle/>
          <a:p>
            <a:r>
              <a:rPr lang="en-GB" sz="1000" dirty="0">
                <a:hlinkClick r:id="rId2"/>
              </a:rPr>
              <a:t>https://pubmed.ncbi.nlm.nih.gov/31477764/</a:t>
            </a:r>
            <a:endParaRPr lang="en-GB" sz="1000" dirty="0"/>
          </a:p>
        </p:txBody>
      </p:sp>
    </p:spTree>
    <p:extLst>
      <p:ext uri="{BB962C8B-B14F-4D97-AF65-F5344CB8AC3E}">
        <p14:creationId xmlns:p14="http://schemas.microsoft.com/office/powerpoint/2010/main" val="401230944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platzhalter 3">
            <a:extLst>
              <a:ext uri="{FF2B5EF4-FFF2-40B4-BE49-F238E27FC236}">
                <a16:creationId xmlns:a16="http://schemas.microsoft.com/office/drawing/2014/main" id="{BD102B95-CCD9-48DC-BFEC-5EC705374F69}"/>
              </a:ext>
            </a:extLst>
          </p:cNvPr>
          <p:cNvSpPr>
            <a:spLocks noGrp="1"/>
          </p:cNvSpPr>
          <p:nvPr>
            <p:ph type="body" sz="quarter" idx="12"/>
          </p:nvPr>
        </p:nvSpPr>
        <p:spPr/>
        <p:txBody>
          <a:bodyPr/>
          <a:lstStyle/>
          <a:p>
            <a:r>
              <a:rPr lang="en-GB" sz="3000" dirty="0"/>
              <a:t>much of the modelled benefit of testing arises from retesting previously-diagnosed individuals who have either never linked to HIV care or dropped out of care. Although such retesting of previously-diagnosed individuals is often considered a ‘waste’ of scare testing resources, it may be important in facilitating linkage to care and (re)initiation of ART.”</a:t>
            </a:r>
          </a:p>
        </p:txBody>
      </p:sp>
      <p:sp>
        <p:nvSpPr>
          <p:cNvPr id="5" name="TextBox 4">
            <a:extLst>
              <a:ext uri="{FF2B5EF4-FFF2-40B4-BE49-F238E27FC236}">
                <a16:creationId xmlns:a16="http://schemas.microsoft.com/office/drawing/2014/main" id="{854D9642-8018-924B-949D-F05591141915}"/>
              </a:ext>
            </a:extLst>
          </p:cNvPr>
          <p:cNvSpPr txBox="1"/>
          <p:nvPr/>
        </p:nvSpPr>
        <p:spPr>
          <a:xfrm>
            <a:off x="442913" y="6339840"/>
            <a:ext cx="4937760" cy="246221"/>
          </a:xfrm>
          <a:prstGeom prst="rect">
            <a:avLst/>
          </a:prstGeom>
          <a:noFill/>
        </p:spPr>
        <p:txBody>
          <a:bodyPr wrap="square" rtlCol="0">
            <a:spAutoFit/>
          </a:bodyPr>
          <a:lstStyle/>
          <a:p>
            <a:r>
              <a:rPr lang="en-GB" sz="1000" dirty="0">
                <a:hlinkClick r:id="rId2"/>
              </a:rPr>
              <a:t>https://pubmed.ncbi.nlm.nih.gov/31477764/</a:t>
            </a:r>
            <a:endParaRPr lang="en-GB" sz="1000" dirty="0"/>
          </a:p>
        </p:txBody>
      </p:sp>
    </p:spTree>
    <p:extLst>
      <p:ext uri="{BB962C8B-B14F-4D97-AF65-F5344CB8AC3E}">
        <p14:creationId xmlns:p14="http://schemas.microsoft.com/office/powerpoint/2010/main" val="251433286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platzhalter 3">
            <a:extLst>
              <a:ext uri="{FF2B5EF4-FFF2-40B4-BE49-F238E27FC236}">
                <a16:creationId xmlns:a16="http://schemas.microsoft.com/office/drawing/2014/main" id="{BD102B95-CCD9-48DC-BFEC-5EC705374F69}"/>
              </a:ext>
            </a:extLst>
          </p:cNvPr>
          <p:cNvSpPr>
            <a:spLocks noGrp="1"/>
          </p:cNvSpPr>
          <p:nvPr>
            <p:ph type="body" sz="quarter" idx="12"/>
          </p:nvPr>
        </p:nvSpPr>
        <p:spPr/>
        <p:txBody>
          <a:bodyPr/>
          <a:lstStyle/>
          <a:p>
            <a:pPr lvl="0"/>
            <a:r>
              <a:rPr lang="en-GB" sz="3000" dirty="0"/>
              <a:t>Our sensitivity analyses suggest that the cost per life year saved reduces significantly as the relative rate of testing in previously-diagnosed untreated individuals increases, and thus it is important to consider repeat diagnoses as well as new diagnoses.</a:t>
            </a:r>
          </a:p>
        </p:txBody>
      </p:sp>
      <p:sp>
        <p:nvSpPr>
          <p:cNvPr id="5" name="TextBox 4">
            <a:extLst>
              <a:ext uri="{FF2B5EF4-FFF2-40B4-BE49-F238E27FC236}">
                <a16:creationId xmlns:a16="http://schemas.microsoft.com/office/drawing/2014/main" id="{854D9642-8018-924B-949D-F05591141915}"/>
              </a:ext>
            </a:extLst>
          </p:cNvPr>
          <p:cNvSpPr txBox="1"/>
          <p:nvPr/>
        </p:nvSpPr>
        <p:spPr>
          <a:xfrm>
            <a:off x="442913" y="6339840"/>
            <a:ext cx="4937760" cy="246221"/>
          </a:xfrm>
          <a:prstGeom prst="rect">
            <a:avLst/>
          </a:prstGeom>
          <a:noFill/>
        </p:spPr>
        <p:txBody>
          <a:bodyPr wrap="square" rtlCol="0">
            <a:spAutoFit/>
          </a:bodyPr>
          <a:lstStyle/>
          <a:p>
            <a:r>
              <a:rPr lang="en-GB" sz="1000" dirty="0">
                <a:hlinkClick r:id="rId2"/>
              </a:rPr>
              <a:t>https://pubmed.ncbi.nlm.nih.gov/31477764/</a:t>
            </a:r>
            <a:endParaRPr lang="en-GB" sz="1000" dirty="0"/>
          </a:p>
        </p:txBody>
      </p:sp>
    </p:spTree>
    <p:extLst>
      <p:ext uri="{BB962C8B-B14F-4D97-AF65-F5344CB8AC3E}">
        <p14:creationId xmlns:p14="http://schemas.microsoft.com/office/powerpoint/2010/main" val="231447775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46EB762-B210-4CC4-9F39-572EC03B556D}"/>
              </a:ext>
            </a:extLst>
          </p:cNvPr>
          <p:cNvSpPr>
            <a:spLocks noGrp="1"/>
          </p:cNvSpPr>
          <p:nvPr>
            <p:ph type="title"/>
          </p:nvPr>
        </p:nvSpPr>
        <p:spPr/>
        <p:txBody>
          <a:bodyPr/>
          <a:lstStyle/>
          <a:p>
            <a:r>
              <a:rPr lang="en-GB" dirty="0"/>
              <a:t>3. </a:t>
            </a:r>
            <a:r>
              <a:rPr lang="en-GB" dirty="0" err="1"/>
              <a:t>Giguère</a:t>
            </a:r>
            <a:r>
              <a:rPr lang="en-GB" dirty="0"/>
              <a:t> et al, 2021 </a:t>
            </a:r>
          </a:p>
        </p:txBody>
      </p:sp>
      <p:sp>
        <p:nvSpPr>
          <p:cNvPr id="3" name="Inhaltsplatzhalter 2">
            <a:extLst>
              <a:ext uri="{FF2B5EF4-FFF2-40B4-BE49-F238E27FC236}">
                <a16:creationId xmlns:a16="http://schemas.microsoft.com/office/drawing/2014/main" id="{04DD0E3C-3675-44C6-AE22-972FDE27B6FE}"/>
              </a:ext>
            </a:extLst>
          </p:cNvPr>
          <p:cNvSpPr>
            <a:spLocks noGrp="1"/>
          </p:cNvSpPr>
          <p:nvPr>
            <p:ph idx="1"/>
          </p:nvPr>
        </p:nvSpPr>
        <p:spPr/>
        <p:txBody>
          <a:bodyPr/>
          <a:lstStyle/>
          <a:p>
            <a:pPr lvl="0"/>
            <a:r>
              <a:rPr lang="en-GB" dirty="0"/>
              <a:t>Modelled first 90 data for 40 countries in sub-Saharan Africa between 2000-2019 (and projected 2020)</a:t>
            </a:r>
          </a:p>
          <a:p>
            <a:pPr lvl="0"/>
            <a:r>
              <a:rPr lang="en-GB" dirty="0"/>
              <a:t>Across sub-Saharan Africa, increase in knowledge of status from 5.7% (2000) to 84% (2020)</a:t>
            </a:r>
          </a:p>
          <a:p>
            <a:pPr lvl="1"/>
            <a:r>
              <a:rPr lang="en-GB" dirty="0"/>
              <a:t>Lower among men than women, younger (15-24 years of age) compared to older, </a:t>
            </a:r>
            <a:r>
              <a:rPr lang="en-GB" b="1" dirty="0"/>
              <a:t>largest gap in terms of absolute numbers was among men aged 35-49 years</a:t>
            </a:r>
            <a:endParaRPr lang="en-GB" dirty="0"/>
          </a:p>
          <a:p>
            <a:pPr lvl="0"/>
            <a:endParaRPr lang="en-GB" sz="3200" dirty="0"/>
          </a:p>
        </p:txBody>
      </p:sp>
      <p:sp>
        <p:nvSpPr>
          <p:cNvPr id="7" name="Bildplatzhalter 6">
            <a:extLst>
              <a:ext uri="{FF2B5EF4-FFF2-40B4-BE49-F238E27FC236}">
                <a16:creationId xmlns:a16="http://schemas.microsoft.com/office/drawing/2014/main" id="{4BAD8F13-B027-4BA8-A57B-CCC5C9759C27}"/>
              </a:ext>
            </a:extLst>
          </p:cNvPr>
          <p:cNvSpPr>
            <a:spLocks noGrp="1"/>
          </p:cNvSpPr>
          <p:nvPr>
            <p:ph type="pic" sz="quarter" idx="12"/>
          </p:nvPr>
        </p:nvSpPr>
        <p:spPr/>
        <p:txBody>
          <a:bodyPr/>
          <a:lstStyle/>
          <a:p>
            <a:endParaRPr lang="en-GB" dirty="0"/>
          </a:p>
        </p:txBody>
      </p:sp>
      <p:sp>
        <p:nvSpPr>
          <p:cNvPr id="8" name="TextBox 7">
            <a:extLst>
              <a:ext uri="{FF2B5EF4-FFF2-40B4-BE49-F238E27FC236}">
                <a16:creationId xmlns:a16="http://schemas.microsoft.com/office/drawing/2014/main" id="{18494DE0-03C5-A143-A7AA-B18188B6A97B}"/>
              </a:ext>
            </a:extLst>
          </p:cNvPr>
          <p:cNvSpPr txBox="1"/>
          <p:nvPr/>
        </p:nvSpPr>
        <p:spPr>
          <a:xfrm>
            <a:off x="442913" y="6339840"/>
            <a:ext cx="4937760" cy="369332"/>
          </a:xfrm>
          <a:prstGeom prst="rect">
            <a:avLst/>
          </a:prstGeom>
          <a:noFill/>
        </p:spPr>
        <p:txBody>
          <a:bodyPr wrap="square" rtlCol="0">
            <a:spAutoFit/>
          </a:bodyPr>
          <a:lstStyle/>
          <a:p>
            <a:r>
              <a:rPr lang="en-GB" dirty="0">
                <a:hlinkClick r:id="rId2"/>
              </a:rPr>
              <a:t>https://pubmed.ncbi.nlm.nih.gov/33667411/</a:t>
            </a:r>
            <a:endParaRPr lang="en-GB" dirty="0"/>
          </a:p>
        </p:txBody>
      </p:sp>
      <p:pic>
        <p:nvPicPr>
          <p:cNvPr id="4" name="Picture 3">
            <a:extLst>
              <a:ext uri="{FF2B5EF4-FFF2-40B4-BE49-F238E27FC236}">
                <a16:creationId xmlns:a16="http://schemas.microsoft.com/office/drawing/2014/main" id="{CC095464-C7F6-8A40-963E-8207170FF6D0}"/>
              </a:ext>
            </a:extLst>
          </p:cNvPr>
          <p:cNvPicPr>
            <a:picLocks noChangeAspect="1"/>
          </p:cNvPicPr>
          <p:nvPr/>
        </p:nvPicPr>
        <p:blipFill>
          <a:blip r:embed="rId3"/>
          <a:stretch>
            <a:fillRect/>
          </a:stretch>
        </p:blipFill>
        <p:spPr>
          <a:xfrm>
            <a:off x="6996112" y="-1"/>
            <a:ext cx="5195887" cy="7018527"/>
          </a:xfrm>
          <a:prstGeom prst="rect">
            <a:avLst/>
          </a:prstGeom>
        </p:spPr>
      </p:pic>
      <p:sp>
        <p:nvSpPr>
          <p:cNvPr id="5" name="TextBox 4">
            <a:extLst>
              <a:ext uri="{FF2B5EF4-FFF2-40B4-BE49-F238E27FC236}">
                <a16:creationId xmlns:a16="http://schemas.microsoft.com/office/drawing/2014/main" id="{9F17FF71-8607-6F4E-A4F7-2F55F687982A}"/>
              </a:ext>
            </a:extLst>
          </p:cNvPr>
          <p:cNvSpPr txBox="1"/>
          <p:nvPr/>
        </p:nvSpPr>
        <p:spPr>
          <a:xfrm rot="20243192">
            <a:off x="6355080" y="4238328"/>
            <a:ext cx="4846319" cy="923330"/>
          </a:xfrm>
          <a:prstGeom prst="rect">
            <a:avLst/>
          </a:prstGeom>
          <a:solidFill>
            <a:schemeClr val="accent1"/>
          </a:solidFill>
        </p:spPr>
        <p:txBody>
          <a:bodyPr wrap="square" rtlCol="0">
            <a:spAutoFit/>
          </a:bodyPr>
          <a:lstStyle/>
          <a:p>
            <a:r>
              <a:rPr lang="en-GB" dirty="0">
                <a:solidFill>
                  <a:schemeClr val="bg1"/>
                </a:solidFill>
              </a:rPr>
              <a:t>SIDEBAR:</a:t>
            </a:r>
            <a:br>
              <a:rPr lang="en-GB" dirty="0">
                <a:solidFill>
                  <a:schemeClr val="bg1"/>
                </a:solidFill>
              </a:rPr>
            </a:br>
            <a:r>
              <a:rPr lang="en-GB" i="1" dirty="0" err="1">
                <a:solidFill>
                  <a:schemeClr val="bg1"/>
                </a:solidFill>
              </a:rPr>
              <a:t>MenStar</a:t>
            </a:r>
            <a:r>
              <a:rPr lang="en-GB" i="1" dirty="0">
                <a:solidFill>
                  <a:schemeClr val="bg1"/>
                </a:solidFill>
              </a:rPr>
              <a:t> focus is on men “</a:t>
            </a:r>
            <a:r>
              <a:rPr lang="en-GB" i="1" u="sng" dirty="0">
                <a:solidFill>
                  <a:schemeClr val="bg1"/>
                </a:solidFill>
                <a:hlinkClick r:id="rId4">
                  <a:extLst>
                    <a:ext uri="{A12FA001-AC4F-418D-AE19-62706E023703}">
                      <ahyp:hlinkClr xmlns:ahyp="http://schemas.microsoft.com/office/drawing/2018/hyperlinkcolor" val="tx"/>
                    </a:ext>
                  </a:extLst>
                </a:hlinkClick>
              </a:rPr>
              <a:t>especially those aged between 24-35</a:t>
            </a:r>
            <a:r>
              <a:rPr lang="en-GB" i="1" dirty="0">
                <a:solidFill>
                  <a:schemeClr val="bg1"/>
                </a:solidFill>
              </a:rPr>
              <a:t>”</a:t>
            </a:r>
            <a:endParaRPr lang="en-GB" dirty="0">
              <a:solidFill>
                <a:schemeClr val="bg1"/>
              </a:solidFill>
            </a:endParaRPr>
          </a:p>
        </p:txBody>
      </p:sp>
    </p:spTree>
    <p:extLst>
      <p:ext uri="{BB962C8B-B14F-4D97-AF65-F5344CB8AC3E}">
        <p14:creationId xmlns:p14="http://schemas.microsoft.com/office/powerpoint/2010/main" val="32209275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A6472349-6F39-3841-B641-F2AD66543062}"/>
              </a:ext>
            </a:extLst>
          </p:cNvPr>
          <p:cNvSpPr>
            <a:spLocks noGrp="1"/>
          </p:cNvSpPr>
          <p:nvPr>
            <p:ph type="title"/>
          </p:nvPr>
        </p:nvSpPr>
        <p:spPr/>
        <p:txBody>
          <a:bodyPr/>
          <a:lstStyle/>
          <a:p>
            <a:r>
              <a:rPr lang="en-GB" dirty="0"/>
              <a:t>Projected disparities</a:t>
            </a:r>
          </a:p>
        </p:txBody>
      </p:sp>
      <p:sp>
        <p:nvSpPr>
          <p:cNvPr id="8" name="Content Placeholder 7">
            <a:extLst>
              <a:ext uri="{FF2B5EF4-FFF2-40B4-BE49-F238E27FC236}">
                <a16:creationId xmlns:a16="http://schemas.microsoft.com/office/drawing/2014/main" id="{D0FDAD8D-2EE9-F044-8276-94E3B2627B44}"/>
              </a:ext>
            </a:extLst>
          </p:cNvPr>
          <p:cNvSpPr>
            <a:spLocks noGrp="1"/>
          </p:cNvSpPr>
          <p:nvPr>
            <p:ph idx="1"/>
          </p:nvPr>
        </p:nvSpPr>
        <p:spPr/>
        <p:txBody>
          <a:bodyPr/>
          <a:lstStyle/>
          <a:p>
            <a:endParaRPr lang="en-GB" dirty="0"/>
          </a:p>
        </p:txBody>
      </p:sp>
      <p:pic>
        <p:nvPicPr>
          <p:cNvPr id="9" name="Picture 8">
            <a:extLst>
              <a:ext uri="{FF2B5EF4-FFF2-40B4-BE49-F238E27FC236}">
                <a16:creationId xmlns:a16="http://schemas.microsoft.com/office/drawing/2014/main" id="{8AFE4630-C70A-F44D-83CB-C9EB85AA7270}"/>
              </a:ext>
            </a:extLst>
          </p:cNvPr>
          <p:cNvPicPr/>
          <p:nvPr/>
        </p:nvPicPr>
        <p:blipFill>
          <a:blip r:embed="rId2"/>
          <a:stretch>
            <a:fillRect/>
          </a:stretch>
        </p:blipFill>
        <p:spPr>
          <a:xfrm>
            <a:off x="365125" y="2722584"/>
            <a:ext cx="6270625" cy="3291840"/>
          </a:xfrm>
          <a:prstGeom prst="rect">
            <a:avLst/>
          </a:prstGeom>
        </p:spPr>
      </p:pic>
      <p:sp>
        <p:nvSpPr>
          <p:cNvPr id="10" name="TextBox 9">
            <a:extLst>
              <a:ext uri="{FF2B5EF4-FFF2-40B4-BE49-F238E27FC236}">
                <a16:creationId xmlns:a16="http://schemas.microsoft.com/office/drawing/2014/main" id="{557C114A-5162-FE4A-A58D-4750A6481A81}"/>
              </a:ext>
            </a:extLst>
          </p:cNvPr>
          <p:cNvSpPr txBox="1"/>
          <p:nvPr/>
        </p:nvSpPr>
        <p:spPr>
          <a:xfrm>
            <a:off x="7437120" y="948690"/>
            <a:ext cx="3840480" cy="5909310"/>
          </a:xfrm>
          <a:prstGeom prst="rect">
            <a:avLst/>
          </a:prstGeom>
          <a:noFill/>
        </p:spPr>
        <p:txBody>
          <a:bodyPr wrap="square" rtlCol="0">
            <a:spAutoFit/>
          </a:bodyPr>
          <a:lstStyle/>
          <a:p>
            <a:pPr marL="285750" indent="-285750">
              <a:buFont typeface="Arial" panose="020B0604020202020204" pitchFamily="34" charset="0"/>
              <a:buChar char="•"/>
            </a:pPr>
            <a:r>
              <a:rPr lang="en-GB" dirty="0"/>
              <a:t>While knowledge of status increased dramatically in all four sub-Saharan African regions, knowledge of status was consistently lower in western and central Africa than in eastern and southern Africa </a:t>
            </a:r>
          </a:p>
          <a:p>
            <a:endParaRPr lang="en-GB" dirty="0"/>
          </a:p>
          <a:p>
            <a:pPr marL="285750" indent="-285750">
              <a:buFont typeface="Arial" panose="020B0604020202020204" pitchFamily="34" charset="0"/>
              <a:buChar char="•"/>
            </a:pPr>
            <a:r>
              <a:rPr lang="en-GB" dirty="0"/>
              <a:t>Across sub-Saharan Africa in 2020, men had lower knowledge of status (77%) than women (87%), and 15-24 year olds were least likely to know their status (65%).</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Only six countries projected to achieve 90% target in men by 2020, and none among 15-24 year olds.</a:t>
            </a:r>
          </a:p>
          <a:p>
            <a:pPr marL="285750" indent="-285750">
              <a:buFont typeface="Arial" panose="020B0604020202020204" pitchFamily="34" charset="0"/>
              <a:buChar char="•"/>
            </a:pPr>
            <a:endParaRPr lang="en-GB" dirty="0"/>
          </a:p>
        </p:txBody>
      </p:sp>
      <p:sp>
        <p:nvSpPr>
          <p:cNvPr id="11" name="Rectangle 10">
            <a:extLst>
              <a:ext uri="{FF2B5EF4-FFF2-40B4-BE49-F238E27FC236}">
                <a16:creationId xmlns:a16="http://schemas.microsoft.com/office/drawing/2014/main" id="{D4F36C82-E0B6-D14C-B6E4-6562FBA12EA5}"/>
              </a:ext>
            </a:extLst>
          </p:cNvPr>
          <p:cNvSpPr/>
          <p:nvPr/>
        </p:nvSpPr>
        <p:spPr>
          <a:xfrm>
            <a:off x="365125" y="6368534"/>
            <a:ext cx="2768707" cy="246221"/>
          </a:xfrm>
          <a:prstGeom prst="rect">
            <a:avLst/>
          </a:prstGeom>
        </p:spPr>
        <p:txBody>
          <a:bodyPr wrap="none">
            <a:spAutoFit/>
          </a:bodyPr>
          <a:lstStyle/>
          <a:p>
            <a:r>
              <a:rPr lang="en-GB" sz="1000" dirty="0">
                <a:hlinkClick r:id="rId3"/>
              </a:rPr>
              <a:t>https://pubmed.ncbi.nlm.nih.gov/33667411/</a:t>
            </a:r>
            <a:endParaRPr lang="en-GB" sz="1000" dirty="0"/>
          </a:p>
        </p:txBody>
      </p:sp>
    </p:spTree>
    <p:extLst>
      <p:ext uri="{BB962C8B-B14F-4D97-AF65-F5344CB8AC3E}">
        <p14:creationId xmlns:p14="http://schemas.microsoft.com/office/powerpoint/2010/main" val="48694372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9295B639-899D-CC48-94CE-CDE44B04899A}"/>
              </a:ext>
            </a:extLst>
          </p:cNvPr>
          <p:cNvSpPr>
            <a:spLocks noGrp="1"/>
          </p:cNvSpPr>
          <p:nvPr>
            <p:ph type="body" sz="quarter" idx="12"/>
          </p:nvPr>
        </p:nvSpPr>
        <p:spPr>
          <a:xfrm>
            <a:off x="5410200" y="1346515"/>
            <a:ext cx="6446837" cy="4711385"/>
          </a:xfrm>
        </p:spPr>
        <p:txBody>
          <a:bodyPr/>
          <a:lstStyle/>
          <a:p>
            <a:r>
              <a:rPr lang="en-GB" dirty="0"/>
              <a:t>The largest group of undiagnosed people living with HIV in sub-Saharan Africa were men aged 35–49 years, with 701 000 left undiagnosed</a:t>
            </a:r>
          </a:p>
          <a:p>
            <a:endParaRPr lang="en-GB" b="1" dirty="0"/>
          </a:p>
        </p:txBody>
      </p:sp>
      <p:pic>
        <p:nvPicPr>
          <p:cNvPr id="7" name="Picture 6">
            <a:extLst>
              <a:ext uri="{FF2B5EF4-FFF2-40B4-BE49-F238E27FC236}">
                <a16:creationId xmlns:a16="http://schemas.microsoft.com/office/drawing/2014/main" id="{81A72046-10BA-7140-B448-F89F27BFD02F}"/>
              </a:ext>
            </a:extLst>
          </p:cNvPr>
          <p:cNvPicPr/>
          <p:nvPr/>
        </p:nvPicPr>
        <p:blipFill>
          <a:blip r:embed="rId2">
            <a:extLst>
              <a:ext uri="{28A0092B-C50C-407E-A947-70E740481C1C}">
                <a14:useLocalDpi xmlns:a14="http://schemas.microsoft.com/office/drawing/2010/main" val="0"/>
              </a:ext>
            </a:extLst>
          </a:blip>
          <a:stretch>
            <a:fillRect/>
          </a:stretch>
        </p:blipFill>
        <p:spPr>
          <a:xfrm>
            <a:off x="395922" y="1270314"/>
            <a:ext cx="4800917" cy="4459925"/>
          </a:xfrm>
          <a:prstGeom prst="rect">
            <a:avLst/>
          </a:prstGeom>
        </p:spPr>
      </p:pic>
      <p:sp>
        <p:nvSpPr>
          <p:cNvPr id="8" name="Rectangle 7">
            <a:extLst>
              <a:ext uri="{FF2B5EF4-FFF2-40B4-BE49-F238E27FC236}">
                <a16:creationId xmlns:a16="http://schemas.microsoft.com/office/drawing/2014/main" id="{01018C88-3CDC-164A-AEC3-6E4F0DE2D55E}"/>
              </a:ext>
            </a:extLst>
          </p:cNvPr>
          <p:cNvSpPr/>
          <p:nvPr/>
        </p:nvSpPr>
        <p:spPr>
          <a:xfrm>
            <a:off x="395922" y="6307574"/>
            <a:ext cx="2768707" cy="246221"/>
          </a:xfrm>
          <a:prstGeom prst="rect">
            <a:avLst/>
          </a:prstGeom>
        </p:spPr>
        <p:txBody>
          <a:bodyPr wrap="none">
            <a:spAutoFit/>
          </a:bodyPr>
          <a:lstStyle/>
          <a:p>
            <a:r>
              <a:rPr lang="en-GB" sz="1000" dirty="0">
                <a:hlinkClick r:id="rId3"/>
              </a:rPr>
              <a:t>https://pubmed.ncbi.nlm.nih.gov/33667411/</a:t>
            </a:r>
            <a:endParaRPr lang="en-GB" sz="1000" dirty="0"/>
          </a:p>
        </p:txBody>
      </p:sp>
    </p:spTree>
    <p:extLst>
      <p:ext uri="{BB962C8B-B14F-4D97-AF65-F5344CB8AC3E}">
        <p14:creationId xmlns:p14="http://schemas.microsoft.com/office/powerpoint/2010/main" val="153153477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ular Callout 3">
            <a:extLst>
              <a:ext uri="{FF2B5EF4-FFF2-40B4-BE49-F238E27FC236}">
                <a16:creationId xmlns:a16="http://schemas.microsoft.com/office/drawing/2014/main" id="{D78D7DD4-68D5-3946-96FC-BEAEBA091152}"/>
              </a:ext>
            </a:extLst>
          </p:cNvPr>
          <p:cNvSpPr/>
          <p:nvPr/>
        </p:nvSpPr>
        <p:spPr>
          <a:xfrm>
            <a:off x="320040" y="1386840"/>
            <a:ext cx="5775960" cy="3063240"/>
          </a:xfrm>
          <a:prstGeom prst="wedgeRectCallou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400" b="1" dirty="0"/>
              <a:t>Project 58% of people living with HIV undergoing HIV testing in 2020 will have been previously diagnosed. </a:t>
            </a:r>
            <a:r>
              <a:rPr lang="en-GB" sz="2400" dirty="0"/>
              <a:t>Further research is needed to assess the potential benefits of retesting for re-engaging people living with HIV in care.</a:t>
            </a:r>
          </a:p>
        </p:txBody>
      </p:sp>
      <p:sp>
        <p:nvSpPr>
          <p:cNvPr id="5" name="Rectangular Callout 4">
            <a:extLst>
              <a:ext uri="{FF2B5EF4-FFF2-40B4-BE49-F238E27FC236}">
                <a16:creationId xmlns:a16="http://schemas.microsoft.com/office/drawing/2014/main" id="{4E12ED34-A9FF-A74E-81FC-5AC99A5871B1}"/>
              </a:ext>
            </a:extLst>
          </p:cNvPr>
          <p:cNvSpPr/>
          <p:nvPr/>
        </p:nvSpPr>
        <p:spPr>
          <a:xfrm>
            <a:off x="6248400" y="2918460"/>
            <a:ext cx="5775960" cy="3063240"/>
          </a:xfrm>
          <a:prstGeom prst="wedgeRectCallout">
            <a:avLst>
              <a:gd name="adj1" fmla="val -20833"/>
              <a:gd name="adj2" fmla="val -67848"/>
            </a:avLst>
          </a:prstGeom>
          <a:ln/>
        </p:spPr>
        <p:style>
          <a:lnRef idx="2">
            <a:schemeClr val="accent1"/>
          </a:lnRef>
          <a:fillRef idx="1">
            <a:schemeClr val="lt1"/>
          </a:fillRef>
          <a:effectRef idx="0">
            <a:schemeClr val="accent1"/>
          </a:effectRef>
          <a:fontRef idx="minor">
            <a:schemeClr val="dk1"/>
          </a:fontRef>
        </p:style>
        <p:txBody>
          <a:bodyPr rtlCol="0" anchor="ctr"/>
          <a:lstStyle/>
          <a:p>
            <a:pPr algn="ctr"/>
            <a:r>
              <a:rPr lang="en-GB" sz="2400" dirty="0">
                <a:solidFill>
                  <a:schemeClr val="accent1"/>
                </a:solidFill>
              </a:rPr>
              <a:t>In conclusion - reaching the first 95 will require a better understanding of retesting patterns and a focus on addressing disparities among older men and young people in knowledge of status </a:t>
            </a:r>
          </a:p>
        </p:txBody>
      </p:sp>
      <p:sp>
        <p:nvSpPr>
          <p:cNvPr id="6" name="Rectangle 5">
            <a:extLst>
              <a:ext uri="{FF2B5EF4-FFF2-40B4-BE49-F238E27FC236}">
                <a16:creationId xmlns:a16="http://schemas.microsoft.com/office/drawing/2014/main" id="{44F93702-3A8C-E14D-AD3C-A9CB493DF81D}"/>
              </a:ext>
            </a:extLst>
          </p:cNvPr>
          <p:cNvSpPr/>
          <p:nvPr/>
        </p:nvSpPr>
        <p:spPr>
          <a:xfrm>
            <a:off x="395922" y="6307574"/>
            <a:ext cx="2768707" cy="246221"/>
          </a:xfrm>
          <a:prstGeom prst="rect">
            <a:avLst/>
          </a:prstGeom>
        </p:spPr>
        <p:txBody>
          <a:bodyPr wrap="none">
            <a:spAutoFit/>
          </a:bodyPr>
          <a:lstStyle/>
          <a:p>
            <a:r>
              <a:rPr lang="en-GB" sz="1000" dirty="0">
                <a:hlinkClick r:id="rId2"/>
              </a:rPr>
              <a:t>https://pubmed.ncbi.nlm.nih.gov/33667411/</a:t>
            </a:r>
            <a:endParaRPr lang="en-GB" sz="1000" dirty="0"/>
          </a:p>
        </p:txBody>
      </p:sp>
    </p:spTree>
    <p:extLst>
      <p:ext uri="{BB962C8B-B14F-4D97-AF65-F5344CB8AC3E}">
        <p14:creationId xmlns:p14="http://schemas.microsoft.com/office/powerpoint/2010/main" val="339561648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A5F3B58-7A35-F947-A3D4-CE8740FDD719}"/>
              </a:ext>
            </a:extLst>
          </p:cNvPr>
          <p:cNvSpPr>
            <a:spLocks noGrp="1"/>
          </p:cNvSpPr>
          <p:nvPr>
            <p:ph type="title"/>
          </p:nvPr>
        </p:nvSpPr>
        <p:spPr/>
        <p:txBody>
          <a:bodyPr/>
          <a:lstStyle/>
          <a:p>
            <a:r>
              <a:rPr lang="en-GB" dirty="0"/>
              <a:t>4. HTS_POS targets, Malawi</a:t>
            </a:r>
          </a:p>
        </p:txBody>
      </p:sp>
      <p:graphicFrame>
        <p:nvGraphicFramePr>
          <p:cNvPr id="5" name="Content Placeholder 3">
            <a:extLst>
              <a:ext uri="{FF2B5EF4-FFF2-40B4-BE49-F238E27FC236}">
                <a16:creationId xmlns:a16="http://schemas.microsoft.com/office/drawing/2014/main" id="{8C5F32B3-45D1-6E4A-9C6C-E81237C6839A}"/>
              </a:ext>
            </a:extLst>
          </p:cNvPr>
          <p:cNvGraphicFramePr>
            <a:graphicFrameLocks/>
          </p:cNvGraphicFramePr>
          <p:nvPr>
            <p:extLst>
              <p:ext uri="{D42A27DB-BD31-4B8C-83A1-F6EECF244321}">
                <p14:modId xmlns:p14="http://schemas.microsoft.com/office/powerpoint/2010/main" val="3275940032"/>
              </p:ext>
            </p:extLst>
          </p:nvPr>
        </p:nvGraphicFramePr>
        <p:xfrm>
          <a:off x="3413760" y="2812340"/>
          <a:ext cx="8229600" cy="4045660"/>
        </p:xfrm>
        <a:graphic>
          <a:graphicData uri="http://schemas.openxmlformats.org/drawingml/2006/chart">
            <c:chart xmlns:c="http://schemas.openxmlformats.org/drawingml/2006/chart" xmlns:r="http://schemas.openxmlformats.org/officeDocument/2006/relationships" r:id="rId2"/>
          </a:graphicData>
        </a:graphic>
      </p:graphicFrame>
      <p:sp>
        <p:nvSpPr>
          <p:cNvPr id="6" name="TextBox 5">
            <a:extLst>
              <a:ext uri="{FF2B5EF4-FFF2-40B4-BE49-F238E27FC236}">
                <a16:creationId xmlns:a16="http://schemas.microsoft.com/office/drawing/2014/main" id="{369052D9-5F21-294F-BA65-33E347503D93}"/>
              </a:ext>
            </a:extLst>
          </p:cNvPr>
          <p:cNvSpPr txBox="1"/>
          <p:nvPr/>
        </p:nvSpPr>
        <p:spPr>
          <a:xfrm>
            <a:off x="5269720" y="2292292"/>
            <a:ext cx="5657360" cy="369332"/>
          </a:xfrm>
          <a:prstGeom prst="rect">
            <a:avLst/>
          </a:prstGeom>
          <a:solidFill>
            <a:schemeClr val="bg1"/>
          </a:solidFill>
          <a:ln>
            <a:solidFill>
              <a:schemeClr val="accent1"/>
            </a:solidFill>
          </a:ln>
        </p:spPr>
        <p:txBody>
          <a:bodyPr wrap="square" rtlCol="0">
            <a:spAutoFit/>
          </a:bodyPr>
          <a:lstStyle/>
          <a:p>
            <a:pPr algn="ctr"/>
            <a:r>
              <a:rPr lang="en-GB" dirty="0">
                <a:solidFill>
                  <a:schemeClr val="accent1"/>
                </a:solidFill>
                <a:latin typeface="Verdana" panose="020B0604030504040204" pitchFamily="34" charset="0"/>
                <a:ea typeface="Verdana" panose="020B0604030504040204" pitchFamily="34" charset="0"/>
                <a:cs typeface="Verdana" panose="020B0604030504040204" pitchFamily="34" charset="0"/>
              </a:rPr>
              <a:t>Striking difference between men and women</a:t>
            </a:r>
          </a:p>
        </p:txBody>
      </p:sp>
    </p:spTree>
    <p:extLst>
      <p:ext uri="{BB962C8B-B14F-4D97-AF65-F5344CB8AC3E}">
        <p14:creationId xmlns:p14="http://schemas.microsoft.com/office/powerpoint/2010/main" val="13522721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A5F3B58-7A35-F947-A3D4-CE8740FDD719}"/>
              </a:ext>
            </a:extLst>
          </p:cNvPr>
          <p:cNvSpPr>
            <a:spLocks noGrp="1"/>
          </p:cNvSpPr>
          <p:nvPr>
            <p:ph type="title"/>
          </p:nvPr>
        </p:nvSpPr>
        <p:spPr>
          <a:xfrm>
            <a:off x="442913" y="1401624"/>
            <a:ext cx="3991927" cy="1260000"/>
          </a:xfrm>
        </p:spPr>
        <p:txBody>
          <a:bodyPr/>
          <a:lstStyle/>
          <a:p>
            <a:r>
              <a:rPr lang="en-GB" sz="3600" dirty="0"/>
              <a:t>High yield among men 35-49 years across all Partners in Hope districts</a:t>
            </a:r>
          </a:p>
        </p:txBody>
      </p:sp>
      <p:graphicFrame>
        <p:nvGraphicFramePr>
          <p:cNvPr id="7" name="Content Placeholder 3">
            <a:extLst>
              <a:ext uri="{FF2B5EF4-FFF2-40B4-BE49-F238E27FC236}">
                <a16:creationId xmlns:a16="http://schemas.microsoft.com/office/drawing/2014/main" id="{A884A33D-859A-E74C-936B-55AD02FCCE24}"/>
              </a:ext>
            </a:extLst>
          </p:cNvPr>
          <p:cNvGraphicFramePr>
            <a:graphicFrameLocks/>
          </p:cNvGraphicFramePr>
          <p:nvPr>
            <p:extLst>
              <p:ext uri="{D42A27DB-BD31-4B8C-83A1-F6EECF244321}">
                <p14:modId xmlns:p14="http://schemas.microsoft.com/office/powerpoint/2010/main" val="1284669162"/>
              </p:ext>
            </p:extLst>
          </p:nvPr>
        </p:nvGraphicFramePr>
        <p:xfrm>
          <a:off x="3962400" y="1401624"/>
          <a:ext cx="7786687" cy="5029656"/>
        </p:xfrm>
        <a:graphic>
          <a:graphicData uri="http://schemas.openxmlformats.org/drawingml/2006/chart">
            <c:chart xmlns:c="http://schemas.openxmlformats.org/drawingml/2006/chart" xmlns:r="http://schemas.openxmlformats.org/officeDocument/2006/relationships" r:id="rId2"/>
          </a:graphicData>
        </a:graphic>
      </p:graphicFrame>
      <p:sp>
        <p:nvSpPr>
          <p:cNvPr id="8" name="TextBox 7">
            <a:extLst>
              <a:ext uri="{FF2B5EF4-FFF2-40B4-BE49-F238E27FC236}">
                <a16:creationId xmlns:a16="http://schemas.microsoft.com/office/drawing/2014/main" id="{1338853F-29A6-1240-83A6-33056D162D86}"/>
              </a:ext>
            </a:extLst>
          </p:cNvPr>
          <p:cNvSpPr txBox="1"/>
          <p:nvPr/>
        </p:nvSpPr>
        <p:spPr>
          <a:xfrm>
            <a:off x="7386484" y="385961"/>
            <a:ext cx="3672408" cy="1015663"/>
          </a:xfrm>
          <a:prstGeom prst="rect">
            <a:avLst/>
          </a:prstGeom>
          <a:solidFill>
            <a:schemeClr val="bg1"/>
          </a:solidFill>
          <a:ln>
            <a:solidFill>
              <a:srgbClr val="818386"/>
            </a:solidFill>
          </a:ln>
        </p:spPr>
        <p:txBody>
          <a:bodyPr wrap="square" rtlCol="0">
            <a:spAutoFit/>
          </a:bodyPr>
          <a:lstStyle/>
          <a:p>
            <a:pPr marL="171450" indent="-171450">
              <a:buFont typeface="Arial" panose="020B0604020202020204" pitchFamily="34" charset="0"/>
              <a:buChar char="•"/>
            </a:pPr>
            <a:r>
              <a:rPr lang="en-GB" sz="1200" dirty="0">
                <a:latin typeface="Verdana" panose="020B0604030504040204" pitchFamily="34" charset="0"/>
                <a:ea typeface="Verdana" panose="020B0604030504040204" pitchFamily="34" charset="0"/>
                <a:cs typeface="Verdana" panose="020B0604030504040204" pitchFamily="34" charset="0"/>
              </a:rPr>
              <a:t>Volume of men reached is the main challenge to target achievement in most age groups, not low yield</a:t>
            </a:r>
          </a:p>
          <a:p>
            <a:pPr marL="171450" indent="-171450">
              <a:buFont typeface="Arial" panose="020B0604020202020204" pitchFamily="34" charset="0"/>
              <a:buChar char="•"/>
            </a:pPr>
            <a:r>
              <a:rPr lang="en-GB" sz="1200" dirty="0">
                <a:latin typeface="Verdana" panose="020B0604030504040204" pitchFamily="34" charset="0"/>
                <a:ea typeface="Verdana" panose="020B0604030504040204" pitchFamily="34" charset="0"/>
                <a:cs typeface="Verdana" panose="020B0604030504040204" pitchFamily="34" charset="0"/>
              </a:rPr>
              <a:t>However, highest targets are among men 25-34 where the yield is lower</a:t>
            </a:r>
          </a:p>
        </p:txBody>
      </p:sp>
    </p:spTree>
    <p:extLst>
      <p:ext uri="{BB962C8B-B14F-4D97-AF65-F5344CB8AC3E}">
        <p14:creationId xmlns:p14="http://schemas.microsoft.com/office/powerpoint/2010/main" val="39934779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772EA1-B13B-0B4D-9883-B09B7F1AF30E}"/>
              </a:ext>
            </a:extLst>
          </p:cNvPr>
          <p:cNvSpPr>
            <a:spLocks noGrp="1"/>
          </p:cNvSpPr>
          <p:nvPr>
            <p:ph type="title"/>
          </p:nvPr>
        </p:nvSpPr>
        <p:spPr/>
        <p:txBody>
          <a:bodyPr/>
          <a:lstStyle/>
          <a:p>
            <a:r>
              <a:rPr lang="en-GB" dirty="0"/>
              <a:t>5. Reflection from Karen Jennings</a:t>
            </a:r>
          </a:p>
        </p:txBody>
      </p:sp>
      <p:sp>
        <p:nvSpPr>
          <p:cNvPr id="3" name="Content Placeholder 2">
            <a:extLst>
              <a:ext uri="{FF2B5EF4-FFF2-40B4-BE49-F238E27FC236}">
                <a16:creationId xmlns:a16="http://schemas.microsoft.com/office/drawing/2014/main" id="{7DD8EBBF-EFA4-8F42-A1CC-D3163CD85C5F}"/>
              </a:ext>
            </a:extLst>
          </p:cNvPr>
          <p:cNvSpPr>
            <a:spLocks noGrp="1"/>
          </p:cNvSpPr>
          <p:nvPr>
            <p:ph idx="1"/>
          </p:nvPr>
        </p:nvSpPr>
        <p:spPr/>
        <p:txBody>
          <a:bodyPr/>
          <a:lstStyle/>
          <a:p>
            <a:endParaRPr lang="en-GB" dirty="0"/>
          </a:p>
        </p:txBody>
      </p:sp>
      <p:sp>
        <p:nvSpPr>
          <p:cNvPr id="4" name="Date Placeholder 3">
            <a:extLst>
              <a:ext uri="{FF2B5EF4-FFF2-40B4-BE49-F238E27FC236}">
                <a16:creationId xmlns:a16="http://schemas.microsoft.com/office/drawing/2014/main" id="{7E30E6B7-DA5F-3241-83AF-D7D6DFD64EB9}"/>
              </a:ext>
            </a:extLst>
          </p:cNvPr>
          <p:cNvSpPr>
            <a:spLocks noGrp="1"/>
          </p:cNvSpPr>
          <p:nvPr>
            <p:ph type="dt" sz="half" idx="10"/>
          </p:nvPr>
        </p:nvSpPr>
        <p:spPr/>
        <p:txBody>
          <a:bodyPr/>
          <a:lstStyle/>
          <a:p>
            <a:r>
              <a:rPr lang="en-GB" dirty="0"/>
              <a:t>Name of the Speaker</a:t>
            </a:r>
          </a:p>
        </p:txBody>
      </p:sp>
      <p:sp>
        <p:nvSpPr>
          <p:cNvPr id="5" name="Footer Placeholder 4">
            <a:extLst>
              <a:ext uri="{FF2B5EF4-FFF2-40B4-BE49-F238E27FC236}">
                <a16:creationId xmlns:a16="http://schemas.microsoft.com/office/drawing/2014/main" id="{F799292E-CE1E-CB4F-9C26-385707A210B6}"/>
              </a:ext>
            </a:extLst>
          </p:cNvPr>
          <p:cNvSpPr>
            <a:spLocks noGrp="1"/>
          </p:cNvSpPr>
          <p:nvPr>
            <p:ph type="ftr" sz="quarter" idx="11"/>
          </p:nvPr>
        </p:nvSpPr>
        <p:spPr/>
        <p:txBody>
          <a:bodyPr/>
          <a:lstStyle/>
          <a:p>
            <a:r>
              <a:rPr lang="en-GB" dirty="0"/>
              <a:t>Topic Lore Ipsum</a:t>
            </a:r>
          </a:p>
        </p:txBody>
      </p:sp>
    </p:spTree>
    <p:extLst>
      <p:ext uri="{BB962C8B-B14F-4D97-AF65-F5344CB8AC3E}">
        <p14:creationId xmlns:p14="http://schemas.microsoft.com/office/powerpoint/2010/main" val="1190152761"/>
      </p:ext>
    </p:extLst>
  </p:cSld>
  <p:clrMapOvr>
    <a:masterClrMapping/>
  </p:clrMapOvr>
</p:sld>
</file>

<file path=ppt/theme/theme1.xml><?xml version="1.0" encoding="utf-8"?>
<a:theme xmlns:a="http://schemas.openxmlformats.org/drawingml/2006/main" name="International AIDS Society">
  <a:themeElements>
    <a:clrScheme name="Benutzerdefiniert 114">
      <a:dk1>
        <a:sysClr val="windowText" lastClr="000000"/>
      </a:dk1>
      <a:lt1>
        <a:sysClr val="window" lastClr="FFFFFF"/>
      </a:lt1>
      <a:dk2>
        <a:srgbClr val="7F7F7F"/>
      </a:dk2>
      <a:lt2>
        <a:srgbClr val="D8D8D8"/>
      </a:lt2>
      <a:accent1>
        <a:srgbClr val="E0001B"/>
      </a:accent1>
      <a:accent2>
        <a:srgbClr val="C8F04B"/>
      </a:accent2>
      <a:accent3>
        <a:srgbClr val="472482"/>
      </a:accent3>
      <a:accent4>
        <a:srgbClr val="8CCDCD"/>
      </a:accent4>
      <a:accent5>
        <a:srgbClr val="B4BEA5"/>
      </a:accent5>
      <a:accent6>
        <a:srgbClr val="7F7F7F"/>
      </a:accent6>
      <a:hlink>
        <a:srgbClr val="000000"/>
      </a:hlink>
      <a:folHlink>
        <a:srgbClr val="000000"/>
      </a:folHlink>
    </a:clrScheme>
    <a:fontScheme name="Benutzerdefiniert 237">
      <a:majorFont>
        <a:latin typeface="IAS Ribbon Sans Bold"/>
        <a:ea typeface=""/>
        <a:cs typeface=""/>
      </a:majorFont>
      <a:minorFont>
        <a:latin typeface="IAS Ribbon Sans Ligh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Präsentation1" id="{0BEA0C59-6BE6-574B-8DF0-843D19A6691B}" vid="{DFA08CD2-990E-E443-A274-9D06C7DA0EA4}"/>
    </a:ext>
  </a:extLst>
</a:theme>
</file>

<file path=ppt/theme/theme2.xml><?xml version="1.0" encoding="utf-8"?>
<a:theme xmlns:a="http://schemas.openxmlformats.org/drawingml/2006/main" name="Office">
  <a:themeElements>
    <a:clrScheme name="Benutzerdefiniert 114">
      <a:dk1>
        <a:sysClr val="windowText" lastClr="000000"/>
      </a:dk1>
      <a:lt1>
        <a:sysClr val="window" lastClr="FFFFFF"/>
      </a:lt1>
      <a:dk2>
        <a:srgbClr val="7F7F7F"/>
      </a:dk2>
      <a:lt2>
        <a:srgbClr val="D8D8D8"/>
      </a:lt2>
      <a:accent1>
        <a:srgbClr val="E0001B"/>
      </a:accent1>
      <a:accent2>
        <a:srgbClr val="C8F04B"/>
      </a:accent2>
      <a:accent3>
        <a:srgbClr val="472482"/>
      </a:accent3>
      <a:accent4>
        <a:srgbClr val="8CCDCD"/>
      </a:accent4>
      <a:accent5>
        <a:srgbClr val="B4BEA5"/>
      </a:accent5>
      <a:accent6>
        <a:srgbClr val="7F7F7F"/>
      </a:accent6>
      <a:hlink>
        <a:srgbClr val="000000"/>
      </a:hlink>
      <a:folHlink>
        <a:srgbClr val="000000"/>
      </a:folHlink>
    </a:clrScheme>
    <a:fontScheme name="Benutzerdefiniert 183">
      <a:majorFont>
        <a:latin typeface="Ping LCG Medium"/>
        <a:ea typeface=""/>
        <a:cs typeface=""/>
      </a:majorFont>
      <a:minorFont>
        <a:latin typeface="Ping LCG Ligh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a:themeElements>
    <a:clrScheme name="Benutzerdefiniert 114">
      <a:dk1>
        <a:sysClr val="windowText" lastClr="000000"/>
      </a:dk1>
      <a:lt1>
        <a:sysClr val="window" lastClr="FFFFFF"/>
      </a:lt1>
      <a:dk2>
        <a:srgbClr val="7F7F7F"/>
      </a:dk2>
      <a:lt2>
        <a:srgbClr val="D8D8D8"/>
      </a:lt2>
      <a:accent1>
        <a:srgbClr val="E0001B"/>
      </a:accent1>
      <a:accent2>
        <a:srgbClr val="C8F04B"/>
      </a:accent2>
      <a:accent3>
        <a:srgbClr val="472482"/>
      </a:accent3>
      <a:accent4>
        <a:srgbClr val="8CCDCD"/>
      </a:accent4>
      <a:accent5>
        <a:srgbClr val="B4BEA5"/>
      </a:accent5>
      <a:accent6>
        <a:srgbClr val="7F7F7F"/>
      </a:accent6>
      <a:hlink>
        <a:srgbClr val="000000"/>
      </a:hlink>
      <a:folHlink>
        <a:srgbClr val="000000"/>
      </a:folHlink>
    </a:clrScheme>
    <a:fontScheme name="Benutzerdefiniert 183">
      <a:majorFont>
        <a:latin typeface="Ping LCG Medium"/>
        <a:ea typeface=""/>
        <a:cs typeface=""/>
      </a:majorFont>
      <a:minorFont>
        <a:latin typeface="Ping LCG Ligh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2.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TaxCatchAll xmlns="73ce610f-b889-47d4-8ab5-c38f623799c9" xsi:nil="true"/>
    <lcf76f155ced4ddcb4097134ff3c332f xmlns="e236f8d0-c4c0-4f47-ae05-f87aea30adc7">
      <Terms xmlns="http://schemas.microsoft.com/office/infopath/2007/PartnerControls"/>
    </lcf76f155ced4ddcb4097134ff3c332f>
    <SharedWithUsers xmlns="73ce610f-b889-47d4-8ab5-c38f623799c9">
      <UserInfo>
        <DisplayName/>
        <AccountId xsi:nil="true"/>
        <AccountType/>
      </UserInfo>
    </SharedWithUsers>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814EDCEEC58F924B8688429696C030D2" ma:contentTypeVersion="18" ma:contentTypeDescription="Create a new document." ma:contentTypeScope="" ma:versionID="c313b5a2d9d0a5fb5c195b7077a8f658">
  <xsd:schema xmlns:xsd="http://www.w3.org/2001/XMLSchema" xmlns:xs="http://www.w3.org/2001/XMLSchema" xmlns:p="http://schemas.microsoft.com/office/2006/metadata/properties" xmlns:ns2="e236f8d0-c4c0-4f47-ae05-f87aea30adc7" xmlns:ns3="73ce610f-b889-47d4-8ab5-c38f623799c9" targetNamespace="http://schemas.microsoft.com/office/2006/metadata/properties" ma:root="true" ma:fieldsID="1798fda60419dc9fe449ed5f00b07b3d" ns2:_="" ns3:_="">
    <xsd:import namespace="e236f8d0-c4c0-4f47-ae05-f87aea30adc7"/>
    <xsd:import namespace="73ce610f-b889-47d4-8ab5-c38f623799c9"/>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AutoKeyPoints" minOccurs="0"/>
                <xsd:element ref="ns2:MediaServiceKeyPoints" minOccurs="0"/>
                <xsd:element ref="ns2:MediaServiceDateTaken" minOccurs="0"/>
                <xsd:element ref="ns2:MediaServiceGenerationTime" minOccurs="0"/>
                <xsd:element ref="ns2:MediaServiceEventHashCode" minOccurs="0"/>
                <xsd:element ref="ns2:MediaServiceOCR" minOccurs="0"/>
                <xsd:element ref="ns3:SharedWithUsers" minOccurs="0"/>
                <xsd:element ref="ns3:SharedWithDetails" minOccurs="0"/>
                <xsd:element ref="ns2:lcf76f155ced4ddcb4097134ff3c332f" minOccurs="0"/>
                <xsd:element ref="ns3:TaxCatchAll" minOccurs="0"/>
                <xsd:element ref="ns2:MediaServiceObjectDetectorVersions" minOccurs="0"/>
                <xsd:element ref="ns2:MediaServiceSearchProperties" minOccurs="0"/>
                <xsd:element ref="ns2:MediaLengthInSeconds"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236f8d0-c4c0-4f47-ae05-f87aea30adc7"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AutoKeyPoints" ma:index="11" nillable="true" ma:displayName="MediaServiceAutoKeyPoints" ma:hidden="true" ma:internalName="MediaServiceAutoKeyPoints" ma:readOnly="true">
      <xsd:simpleType>
        <xsd:restriction base="dms:Note"/>
      </xsd:simpleType>
    </xsd:element>
    <xsd:element name="MediaServiceKeyPoints" ma:index="12" nillable="true" ma:displayName="KeyPoints" ma:internalName="MediaServiceKeyPoints" ma:readOnly="true">
      <xsd:simpleType>
        <xsd:restriction base="dms:Note">
          <xsd:maxLength value="255"/>
        </xsd:restriction>
      </xsd:simpleType>
    </xsd:element>
    <xsd:element name="MediaServiceDateTaken" ma:index="13" nillable="true" ma:displayName="MediaServiceDateTaken" ma:hidden="true" ma:internalName="MediaServiceDateTaken" ma:readOnly="true">
      <xsd:simpleType>
        <xsd:restriction base="dms:Text"/>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lcf76f155ced4ddcb4097134ff3c332f" ma:index="20" nillable="true" ma:taxonomy="true" ma:internalName="lcf76f155ced4ddcb4097134ff3c332f" ma:taxonomyFieldName="MediaServiceImageTags" ma:displayName="Image Tags" ma:readOnly="false" ma:fieldId="{5cf76f15-5ced-4ddc-b409-7134ff3c332f}" ma:taxonomyMulti="true" ma:sspId="d8752f36-f899-4024-97aa-312620fde4bc"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2" nillable="true" ma:displayName="MediaServiceObjectDetectorVersions" ma:hidden="true" ma:indexed="true" ma:internalName="MediaServiceObjectDetectorVersions" ma:readOnly="true">
      <xsd:simpleType>
        <xsd:restriction base="dms:Text"/>
      </xsd:simpleType>
    </xsd:element>
    <xsd:element name="MediaServiceSearchProperties" ma:index="23" nillable="true" ma:displayName="MediaServiceSearchProperties" ma:hidden="true" ma:internalName="MediaServiceSearchProperties" ma:readOnly="true">
      <xsd:simpleType>
        <xsd:restriction base="dms:Note"/>
      </xsd:simpleType>
    </xsd:element>
    <xsd:element name="MediaLengthInSeconds" ma:index="24" nillable="true" ma:displayName="MediaLengthInSeconds" ma:hidden="true" ma:internalName="MediaLengthInSeconds" ma:readOnly="true">
      <xsd:simpleType>
        <xsd:restriction base="dms:Unknown"/>
      </xsd:simpleType>
    </xsd:element>
    <xsd:element name="MediaServiceLocation" ma:index="25" nillable="true" ma:displayName="Loca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3ce610f-b889-47d4-8ab5-c38f623799c9" elementFormDefault="qualified">
    <xsd:import namespace="http://schemas.microsoft.com/office/2006/documentManagement/types"/>
    <xsd:import namespace="http://schemas.microsoft.com/office/infopath/2007/PartnerControls"/>
    <xsd:element name="SharedWithUsers" ma:index="17"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Shared With Details" ma:internalName="SharedWithDetails" ma:readOnly="true">
      <xsd:simpleType>
        <xsd:restriction base="dms:Note">
          <xsd:maxLength value="255"/>
        </xsd:restriction>
      </xsd:simpleType>
    </xsd:element>
    <xsd:element name="TaxCatchAll" ma:index="21" nillable="true" ma:displayName="Taxonomy Catch All Column" ma:hidden="true" ma:list="{cc0bfebf-baa6-4c8c-8536-352a9d7474a2}" ma:internalName="TaxCatchAll" ma:showField="CatchAllData" ma:web="73ce610f-b889-47d4-8ab5-c38f623799c9">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2A06F776-15E1-4608-A05B-E8CEEC2417C7}">
  <ds:schemaRefs>
    <ds:schemaRef ds:uri="http://purl.org/dc/dcmitype/"/>
    <ds:schemaRef ds:uri="http://schemas.openxmlformats.org/package/2006/metadata/core-properties"/>
    <ds:schemaRef ds:uri="http://purl.org/dc/elements/1.1/"/>
    <ds:schemaRef ds:uri="http://schemas.microsoft.com/office/2006/documentManagement/types"/>
    <ds:schemaRef ds:uri="http://purl.org/dc/terms/"/>
    <ds:schemaRef ds:uri="d9430eef-9f8d-443d-897b-9afda802e8b4"/>
    <ds:schemaRef ds:uri="http://schemas.microsoft.com/office/2006/metadata/properties"/>
    <ds:schemaRef ds:uri="http://www.w3.org/XML/1998/namespace"/>
    <ds:schemaRef ds:uri="http://schemas.microsoft.com/office/infopath/2007/PartnerControls"/>
    <ds:schemaRef ds:uri="250929fa-9806-4449-af20-7947085fa170"/>
    <ds:schemaRef ds:uri="73ce610f-b889-47d4-8ab5-c38f623799c9"/>
    <ds:schemaRef ds:uri="e236f8d0-c4c0-4f47-ae05-f87aea30adc7"/>
  </ds:schemaRefs>
</ds:datastoreItem>
</file>

<file path=customXml/itemProps2.xml><?xml version="1.0" encoding="utf-8"?>
<ds:datastoreItem xmlns:ds="http://schemas.openxmlformats.org/officeDocument/2006/customXml" ds:itemID="{3B18B9A9-589C-4AB1-A77F-C0696A20FDEA}">
  <ds:schemaRefs>
    <ds:schemaRef ds:uri="http://schemas.microsoft.com/sharepoint/v3/contenttype/forms"/>
  </ds:schemaRefs>
</ds:datastoreItem>
</file>

<file path=customXml/itemProps3.xml><?xml version="1.0" encoding="utf-8"?>
<ds:datastoreItem xmlns:ds="http://schemas.openxmlformats.org/officeDocument/2006/customXml" ds:itemID="{03C84C5C-3675-41D8-B929-41E44EDB4389}">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236f8d0-c4c0-4f47-ae05-f87aea30adc7"/>
    <ds:schemaRef ds:uri="73ce610f-b889-47d4-8ab5-c38f623799c9"/>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International AIDS Society</Template>
  <TotalTime>58</TotalTime>
  <Words>1266</Words>
  <Application>Microsoft Macintosh PowerPoint</Application>
  <PresentationFormat>Widescreen</PresentationFormat>
  <Paragraphs>101</Paragraphs>
  <Slides>20</Slides>
  <Notes>1</Notes>
  <HiddenSlides>2</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20</vt:i4>
      </vt:variant>
    </vt:vector>
  </HeadingPairs>
  <TitlesOfParts>
    <vt:vector size="25" baseType="lpstr">
      <vt:lpstr>Arial</vt:lpstr>
      <vt:lpstr>Ping LCG Light</vt:lpstr>
      <vt:lpstr>Verdana</vt:lpstr>
      <vt:lpstr>Wingdings</vt:lpstr>
      <vt:lpstr>International AIDS Society</vt:lpstr>
      <vt:lpstr>HIV Prioritization tool Version 1 </vt:lpstr>
      <vt:lpstr>Objective</vt:lpstr>
      <vt:lpstr>Approach</vt:lpstr>
      <vt:lpstr>What‘s Included: Prevention</vt:lpstr>
      <vt:lpstr>What‘s Included: Testing</vt:lpstr>
      <vt:lpstr>What‘s Included: Treatment</vt:lpstr>
      <vt:lpstr>1. Jeff Eaton</vt:lpstr>
      <vt:lpstr>2. Leigh Johnson et al, 2019</vt:lpstr>
      <vt:lpstr>PowerPoint Presentation</vt:lpstr>
      <vt:lpstr>PowerPoint Presentation</vt:lpstr>
      <vt:lpstr>PowerPoint Presentation</vt:lpstr>
      <vt:lpstr>PowerPoint Presentation</vt:lpstr>
      <vt:lpstr>PowerPoint Presentation</vt:lpstr>
      <vt:lpstr>3. Giguère et al, 2021 </vt:lpstr>
      <vt:lpstr>Projected disparities</vt:lpstr>
      <vt:lpstr>PowerPoint Presentation</vt:lpstr>
      <vt:lpstr>PowerPoint Presentation</vt:lpstr>
      <vt:lpstr>4. HTS_POS targets, Malawi</vt:lpstr>
      <vt:lpstr>High yield among men 35-49 years across all Partners in Hope districts</vt:lpstr>
      <vt:lpstr>5. Reflection from Karen Jennings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This is a short headline Lorem ipsum  sit dolor</dc:title>
  <dc:creator>Anna Grimsrud</dc:creator>
  <cp:lastModifiedBy>Alex de Nooy</cp:lastModifiedBy>
  <cp:revision>4</cp:revision>
  <dcterms:created xsi:type="dcterms:W3CDTF">2021-04-08T11:26:53Z</dcterms:created>
  <dcterms:modified xsi:type="dcterms:W3CDTF">2026-02-03T08:31:54Z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0x010100814EDCEEC58F924B8688429696C030D2</vt:lpwstr>
  </property>
  <property fmtid="{D5CDD505-2E9C-101B-9397-08002B2CF9AE}" pid="3" name="xd_ProgID">
    <vt:lpwstr/>
  </property>
  <property fmtid="{D5CDD505-2E9C-101B-9397-08002B2CF9AE}" pid="4" name="MediaServiceImageTags">
    <vt:lpwstr/>
  </property>
  <property fmtid="{D5CDD505-2E9C-101B-9397-08002B2CF9AE}" pid="5" name="_SourceUrl">
    <vt:lpwstr/>
  </property>
  <property fmtid="{D5CDD505-2E9C-101B-9397-08002B2CF9AE}" pid="6" name="_SharedFileIndex">
    <vt:lpwstr/>
  </property>
  <property fmtid="{D5CDD505-2E9C-101B-9397-08002B2CF9AE}" pid="7" name="ComplianceAssetId">
    <vt:lpwstr/>
  </property>
  <property fmtid="{D5CDD505-2E9C-101B-9397-08002B2CF9AE}" pid="8" name="TemplateUrl">
    <vt:lpwstr/>
  </property>
  <property fmtid="{D5CDD505-2E9C-101B-9397-08002B2CF9AE}" pid="9" name="_ExtendedDescription">
    <vt:lpwstr/>
  </property>
  <property fmtid="{D5CDD505-2E9C-101B-9397-08002B2CF9AE}" pid="10" name="TriggerFlowInfo">
    <vt:lpwstr/>
  </property>
  <property fmtid="{D5CDD505-2E9C-101B-9397-08002B2CF9AE}" pid="11" name="xd_Signature">
    <vt:bool>false</vt:bool>
  </property>
</Properties>
</file>