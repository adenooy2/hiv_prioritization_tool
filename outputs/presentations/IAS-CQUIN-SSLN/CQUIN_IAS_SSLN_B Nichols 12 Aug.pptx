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04" r:id="rId4"/>
  </p:sldMasterIdLst>
  <p:notesMasterIdLst>
    <p:notesMasterId r:id="rId25"/>
  </p:notesMasterIdLst>
  <p:handoutMasterIdLst>
    <p:handoutMasterId r:id="rId26"/>
  </p:handoutMasterIdLst>
  <p:sldIdLst>
    <p:sldId id="256" r:id="rId5"/>
    <p:sldId id="263" r:id="rId6"/>
    <p:sldId id="264" r:id="rId7"/>
    <p:sldId id="265" r:id="rId8"/>
    <p:sldId id="266" r:id="rId9"/>
    <p:sldId id="267" r:id="rId10"/>
    <p:sldId id="268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62" r:id="rId24"/>
  </p:sldIdLst>
  <p:sldSz cx="12192000" cy="6858000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CF5B74D-C6AA-7813-1038-42A34373460A}" name="Preko, Peter O." initials="PPO" userId="S::pp2332@cumc.columbia.edu::09b434a3-0724-4a4a-a3db-c6e79374c44c" providerId="AD"/>
  <p188:author id="{DA60A059-2766-1759-4616-E1A4FFEEFBBE}" name="Dr M'BEA Jean-Jacques (ICAP)" initials="I" userId="Dr M'BEA Jean-Jacques (ICAP)" providerId="None"/>
  <p188:author id="{99D67C86-1AC0-5FC9-18F5-7D832F90D689}" name="Reidy, William" initials="RW" userId="S::wr2205@cumc.columbia.edu::5d2980a7-2b1c-4421-a380-76eac4cb68a2" providerId="AD"/>
  <p188:author id="{B32E8789-10A4-684C-B33A-B97E63F02EE6}" name="Preko, Peter O." initials="PPO" userId="Preko, Peter O." providerId="None"/>
  <p188:author id="{A831D7A1-5A01-49E3-9784-3957FEE80FBB}" name="Miriam Rabkin" initials="MR" userId="S::mr84@icapatcolumbia.onmicrosoft.com::0b2a40ec-35c6-4271-8153-e1180cf9ffa9" providerId="AD"/>
  <p188:author id="{4B71A7D0-3BB1-92C3-6752-E2F284681FE8}" name="Msukwa, Martin" initials="MM" userId="S::mkm2209@cumc.columbia.edu::3ce16427-2644-475c-b20b-7ae77633333b" providerId="AD"/>
  <p188:author id="{E0B616E2-4D48-E507-D5DA-6765847CE058}" name="Rabkin, Miriam" initials="RM" userId="S::mr84@cumc.columbia.edu::d1905312-b639-4098-81f6-74c337c4b0e3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Monica Negrete" initials="MN [2]" lastIdx="1" clrIdx="6">
    <p:extLst>
      <p:ext uri="{19B8F6BF-5375-455C-9EA6-DF929625EA0E}">
        <p15:presenceInfo xmlns:p15="http://schemas.microsoft.com/office/powerpoint/2012/main" userId="Monica Negrete" providerId="None"/>
      </p:ext>
    </p:extLst>
  </p:cmAuthor>
  <p:cmAuthor id="1" name="Mirriah" initials="M" lastIdx="15" clrIdx="0">
    <p:extLst>
      <p:ext uri="{19B8F6BF-5375-455C-9EA6-DF929625EA0E}">
        <p15:presenceInfo xmlns:p15="http://schemas.microsoft.com/office/powerpoint/2012/main" userId="Mirriah" providerId="None"/>
      </p:ext>
    </p:extLst>
  </p:cmAuthor>
  <p:cmAuthor id="8" name="Vitale, Mirriah A." initials="VMA" lastIdx="28" clrIdx="7">
    <p:extLst>
      <p:ext uri="{19B8F6BF-5375-455C-9EA6-DF929625EA0E}">
        <p15:presenceInfo xmlns:p15="http://schemas.microsoft.com/office/powerpoint/2012/main" userId="S::mv2540@cumc.columbia.edu::ac73314b-03ab-4c50-8db0-5df536fd8cc3" providerId="AD"/>
      </p:ext>
    </p:extLst>
  </p:cmAuthor>
  <p:cmAuthor id="2" name="Thais Ferreira" initials="TF" lastIdx="2" clrIdx="1">
    <p:extLst>
      <p:ext uri="{19B8F6BF-5375-455C-9EA6-DF929625EA0E}">
        <p15:presenceInfo xmlns:p15="http://schemas.microsoft.com/office/powerpoint/2012/main" userId="S::tcf2114@ICAPatColumbia.onmicrosoft.com::00ab9d32-d5e7-49ba-86f6-b7f0631c45b9" providerId="AD"/>
      </p:ext>
    </p:extLst>
  </p:cmAuthor>
  <p:cmAuthor id="9" name="Hamilton Mutemba" initials="HM" lastIdx="10" clrIdx="8">
    <p:extLst>
      <p:ext uri="{19B8F6BF-5375-455C-9EA6-DF929625EA0E}">
        <p15:presenceInfo xmlns:p15="http://schemas.microsoft.com/office/powerpoint/2012/main" userId="S::hm2827@icapatcolumbia.onmicrosoft.com::30ce4146-d861-4577-8316-b7969df0eb33" providerId="AD"/>
      </p:ext>
    </p:extLst>
  </p:cmAuthor>
  <p:cmAuthor id="3" name="Eduarda Pimentel de Gusmao" initials="EPdG" lastIdx="47" clrIdx="2">
    <p:extLst>
      <p:ext uri="{19B8F6BF-5375-455C-9EA6-DF929625EA0E}">
        <p15:presenceInfo xmlns:p15="http://schemas.microsoft.com/office/powerpoint/2012/main" userId="S::ep2538@ICAPatColumbia.onmicrosoft.com::75d5ad34-5e00-45c2-8e22-b1b33aa13fd8" providerId="AD"/>
      </p:ext>
    </p:extLst>
  </p:cmAuthor>
  <p:cmAuthor id="10" name="Buene, Manuel" initials="BM" lastIdx="7" clrIdx="9">
    <p:extLst>
      <p:ext uri="{19B8F6BF-5375-455C-9EA6-DF929625EA0E}">
        <p15:presenceInfo xmlns:p15="http://schemas.microsoft.com/office/powerpoint/2012/main" userId="Buene, Manuel" providerId="None"/>
      </p:ext>
    </p:extLst>
  </p:cmAuthor>
  <p:cmAuthor id="4" name="Pimentel De Gusmao, Eduarda" initials="PDGE [2]" lastIdx="89" clrIdx="3">
    <p:extLst>
      <p:ext uri="{19B8F6BF-5375-455C-9EA6-DF929625EA0E}">
        <p15:presenceInfo xmlns:p15="http://schemas.microsoft.com/office/powerpoint/2012/main" userId="Pimentel De Gusmao, Eduarda" providerId="None"/>
      </p:ext>
    </p:extLst>
  </p:cmAuthor>
  <p:cmAuthor id="5" name="Monica Negrete" initials="MN" lastIdx="33" clrIdx="4">
    <p:extLst>
      <p:ext uri="{19B8F6BF-5375-455C-9EA6-DF929625EA0E}">
        <p15:presenceInfo xmlns:p15="http://schemas.microsoft.com/office/powerpoint/2012/main" userId="9f4759fc7266b2e1" providerId="Windows Live"/>
      </p:ext>
    </p:extLst>
  </p:cmAuthor>
  <p:cmAuthor id="6" name="Langa, Bina" initials="LB" lastIdx="1" clrIdx="5">
    <p:extLst>
      <p:ext uri="{19B8F6BF-5375-455C-9EA6-DF929625EA0E}">
        <p15:presenceInfo xmlns:p15="http://schemas.microsoft.com/office/powerpoint/2012/main" userId="S::brl2136@cumc.columbia.edu::8e87eb9a-447e-4d76-b31d-8f90e74bde6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8D00"/>
    <a:srgbClr val="022169"/>
    <a:srgbClr val="7B8CAA"/>
    <a:srgbClr val="898989"/>
    <a:srgbClr val="7BBCAA"/>
    <a:srgbClr val="737D84"/>
    <a:srgbClr val="FFFFFF"/>
    <a:srgbClr val="00B5DE"/>
    <a:srgbClr val="000000"/>
    <a:srgbClr val="8A78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58"/>
  </p:normalViewPr>
  <p:slideViewPr>
    <p:cSldViewPr snapToGrid="0">
      <p:cViewPr varScale="1">
        <p:scale>
          <a:sx n="93" d="100"/>
          <a:sy n="93" d="100"/>
        </p:scale>
        <p:origin x="208" y="68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4608" y="1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0D1D1B35-6FA9-8845-A3E6-B5BF73ACF6AB}" type="datetimeFigureOut">
              <a:rPr lang="en-US" smtClean="0"/>
              <a:t>8/12/26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EBF7E15F-D269-1649-8FFC-FE911534F8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0667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A9DEDDDD-250C-482E-9DE6-C403974E4336}" type="datetimeFigureOut">
              <a:rPr lang="en-US" smtClean="0"/>
              <a:t>8/12/26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B78A90D8-2647-4560-8208-F58DCE3DB5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230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8A90D8-2647-4560-8208-F58DCE3DB52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6946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8A90D8-2647-4560-8208-F58DCE3DB52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427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8A90D8-2647-4560-8208-F58DCE3DB52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3045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g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C7081AA5-7072-CAD6-E7D6-68369E16A009}"/>
              </a:ext>
            </a:extLst>
          </p:cNvPr>
          <p:cNvSpPr/>
          <p:nvPr userDrawn="1"/>
        </p:nvSpPr>
        <p:spPr>
          <a:xfrm>
            <a:off x="0" y="5836625"/>
            <a:ext cx="12192000" cy="1036842"/>
          </a:xfrm>
          <a:prstGeom prst="rect">
            <a:avLst/>
          </a:prstGeom>
          <a:gradFill flip="none" rotWithShape="1">
            <a:gsLst>
              <a:gs pos="0">
                <a:srgbClr val="022169">
                  <a:shade val="30000"/>
                  <a:satMod val="115000"/>
                </a:srgbClr>
              </a:gs>
              <a:gs pos="54000">
                <a:srgbClr val="022169">
                  <a:shade val="67500"/>
                  <a:satMod val="115000"/>
                </a:srgbClr>
              </a:gs>
              <a:gs pos="85000">
                <a:schemeClr val="tx2"/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894A7E-AA0D-BDAB-E949-D6E608D1C044}"/>
              </a:ext>
            </a:extLst>
          </p:cNvPr>
          <p:cNvSpPr txBox="1"/>
          <p:nvPr userDrawn="1"/>
        </p:nvSpPr>
        <p:spPr>
          <a:xfrm>
            <a:off x="10149319" y="1423480"/>
            <a:ext cx="1834134" cy="2837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950">
                <a:solidFill>
                  <a:schemeClr val="bg1"/>
                </a:solidFill>
                <a:latin typeface="Century Gothic" panose="020B0502020202020204" pitchFamily="34" charset="0"/>
              </a:rPr>
              <a:t>cquin.icap.columbia.edu</a:t>
            </a:r>
          </a:p>
        </p:txBody>
      </p:sp>
      <p:pic>
        <p:nvPicPr>
          <p:cNvPr id="7" name="Picture 6" descr="A group of flags in a row&#10;&#10;Description automatically generated">
            <a:extLst>
              <a:ext uri="{FF2B5EF4-FFF2-40B4-BE49-F238E27FC236}">
                <a16:creationId xmlns:a16="http://schemas.microsoft.com/office/drawing/2014/main" id="{142E1DDD-1193-5B3C-38DE-84EBF72EBB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84888"/>
          <a:stretch/>
        </p:blipFill>
        <p:spPr>
          <a:xfrm>
            <a:off x="25522" y="5894248"/>
            <a:ext cx="12197656" cy="1036842"/>
          </a:xfrm>
          <a:prstGeom prst="rect">
            <a:avLst/>
          </a:prstGeom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8A1564E6-4A42-A1A2-FC04-7853181BD2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46054" y="3809087"/>
            <a:ext cx="6387638" cy="962190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D192D40-4BB2-68E5-E60F-ABC4F4AB59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46054" y="1915746"/>
            <a:ext cx="6387639" cy="1827156"/>
          </a:xfrm>
        </p:spPr>
        <p:txBody>
          <a:bodyPr anchor="ctr">
            <a:noAutofit/>
          </a:bodyPr>
          <a:lstStyle>
            <a:lvl1pPr algn="l">
              <a:defRPr sz="5400" b="1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EDIT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4760A2C-E0A2-DFDA-3618-C86C7F54409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18223" b="29048"/>
          <a:stretch>
            <a:fillRect/>
          </a:stretch>
        </p:blipFill>
        <p:spPr>
          <a:xfrm>
            <a:off x="9103540" y="328405"/>
            <a:ext cx="2999448" cy="82283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F32F0CB-1918-D9A6-2F7A-6D3981FF080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651637" y="145657"/>
            <a:ext cx="2105213" cy="123034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76E9AD3-58FF-D9C0-D385-20197483F78C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11061" t="19826" r="12983" b="21652"/>
          <a:stretch>
            <a:fillRect/>
          </a:stretch>
        </p:blipFill>
        <p:spPr>
          <a:xfrm>
            <a:off x="6781126" y="422422"/>
            <a:ext cx="2184850" cy="64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8851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24" userDrawn="1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 w/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8EC02EE-9661-4A18-8A8F-B0942498E6ED}"/>
              </a:ext>
            </a:extLst>
          </p:cNvPr>
          <p:cNvSpPr/>
          <p:nvPr/>
        </p:nvSpPr>
        <p:spPr>
          <a:xfrm>
            <a:off x="0" y="1"/>
            <a:ext cx="12192000" cy="6857999"/>
          </a:xfrm>
          <a:prstGeom prst="rect">
            <a:avLst/>
          </a:prstGeom>
          <a:gradFill flip="none" rotWithShape="1">
            <a:gsLst>
              <a:gs pos="0">
                <a:srgbClr val="022169">
                  <a:shade val="30000"/>
                  <a:satMod val="115000"/>
                </a:srgbClr>
              </a:gs>
              <a:gs pos="46000">
                <a:srgbClr val="022169">
                  <a:shade val="67500"/>
                  <a:satMod val="115000"/>
                </a:srgbClr>
              </a:gs>
              <a:gs pos="84000">
                <a:schemeClr val="tx2"/>
              </a:gs>
            </a:gsLst>
            <a:lin ang="78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880606FA-C36B-44EE-91CC-23E328C62D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8857" y="3681248"/>
            <a:ext cx="6387638" cy="962190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bg1">
                    <a:lumMod val="95000"/>
                  </a:schemeClr>
                </a:solidFill>
                <a:latin typeface="+mn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EB746CDD-D828-4CA9-922F-39CA5C1B8D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8858" y="1838673"/>
            <a:ext cx="6387639" cy="1827156"/>
          </a:xfrm>
        </p:spPr>
        <p:txBody>
          <a:bodyPr anchor="ctr">
            <a:noAutofit/>
          </a:bodyPr>
          <a:lstStyle>
            <a:lvl1pPr algn="l">
              <a:defRPr sz="5400" b="1">
                <a:solidFill>
                  <a:srgbClr val="FFFFFF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5496835-195E-E9F4-3CBE-7C62F6DAC96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95953" y="0"/>
            <a:ext cx="4696047" cy="6858000"/>
          </a:xfrm>
          <a:solidFill>
            <a:schemeClr val="bg1"/>
          </a:solidFill>
        </p:spPr>
        <p:txBody>
          <a:bodyPr anchor="ctr"/>
          <a:lstStyle>
            <a:lvl1pPr algn="ctr">
              <a:defRPr spc="3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78E33B-5176-ACDC-B646-DDED4A645D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8223" b="29048"/>
          <a:stretch>
            <a:fillRect/>
          </a:stretch>
        </p:blipFill>
        <p:spPr>
          <a:xfrm>
            <a:off x="10251710" y="6171207"/>
            <a:ext cx="1677854" cy="4602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36CAB1-CB93-7C39-6525-25EEBDEB3CA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96359" y="6076611"/>
            <a:ext cx="1177629" cy="6882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703AA27-BD0A-BD20-D03A-395AB87DE28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11061" t="19826" r="12983" b="21652"/>
          <a:stretch>
            <a:fillRect/>
          </a:stretch>
        </p:blipFill>
        <p:spPr>
          <a:xfrm>
            <a:off x="9053181" y="6229948"/>
            <a:ext cx="1222178" cy="362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484019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4128" userDrawn="1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839DF82-A038-4DAB-A858-F7EBC5209F7E}"/>
              </a:ext>
            </a:extLst>
          </p:cNvPr>
          <p:cNvSpPr/>
          <p:nvPr/>
        </p:nvSpPr>
        <p:spPr>
          <a:xfrm>
            <a:off x="0" y="-4003"/>
            <a:ext cx="12192000" cy="5700795"/>
          </a:xfrm>
          <a:prstGeom prst="rect">
            <a:avLst/>
          </a:prstGeom>
          <a:gradFill flip="none" rotWithShape="1">
            <a:gsLst>
              <a:gs pos="0">
                <a:srgbClr val="022169">
                  <a:shade val="30000"/>
                  <a:satMod val="115000"/>
                </a:srgbClr>
              </a:gs>
              <a:gs pos="54000">
                <a:srgbClr val="022169">
                  <a:shade val="67500"/>
                  <a:satMod val="115000"/>
                </a:srgbClr>
              </a:gs>
              <a:gs pos="85000">
                <a:schemeClr val="tx2"/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2444262" y="3896069"/>
            <a:ext cx="7321061" cy="900863"/>
          </a:xfrm>
        </p:spPr>
        <p:txBody>
          <a:bodyPr anchor="t">
            <a:normAutofit/>
          </a:bodyPr>
          <a:lstStyle>
            <a:lvl1pPr algn="ctr">
              <a:defRPr sz="4000" b="1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7CDB90-7F95-46D7-9750-A473B620A46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918475" y="1074861"/>
            <a:ext cx="2355050" cy="2354138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pc="3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3EAF69-E6BF-7572-B13E-E45A899B8A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8223" b="29048"/>
          <a:stretch>
            <a:fillRect/>
          </a:stretch>
        </p:blipFill>
        <p:spPr>
          <a:xfrm>
            <a:off x="9861568" y="5879540"/>
            <a:ext cx="2225653" cy="6105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F9B92DE-258E-6C75-9B8C-33F4526163F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613643" y="5783505"/>
            <a:ext cx="1562112" cy="91294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9085D5C-6031-E1E3-1274-F32E87BF93D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11061" t="19826" r="12983" b="21652"/>
          <a:stretch>
            <a:fillRect/>
          </a:stretch>
        </p:blipFill>
        <p:spPr>
          <a:xfrm>
            <a:off x="8211874" y="5973557"/>
            <a:ext cx="1621204" cy="480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10297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Photo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5E28A67-3D2A-47FE-8FEE-BEDC483737C0}"/>
              </a:ext>
            </a:extLst>
          </p:cNvPr>
          <p:cNvSpPr/>
          <p:nvPr/>
        </p:nvSpPr>
        <p:spPr>
          <a:xfrm rot="10800000">
            <a:off x="6896100" y="0"/>
            <a:ext cx="5295900" cy="6858000"/>
          </a:xfrm>
          <a:prstGeom prst="rect">
            <a:avLst/>
          </a:prstGeom>
          <a:gradFill flip="none" rotWithShape="1">
            <a:gsLst>
              <a:gs pos="0">
                <a:srgbClr val="022169">
                  <a:shade val="30000"/>
                  <a:satMod val="115000"/>
                </a:srgbClr>
              </a:gs>
              <a:gs pos="50000">
                <a:srgbClr val="022169">
                  <a:shade val="67500"/>
                  <a:satMod val="115000"/>
                </a:srgbClr>
              </a:gs>
              <a:gs pos="100000">
                <a:schemeClr val="tx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"/>
          </p:nvPr>
        </p:nvSpPr>
        <p:spPr>
          <a:xfrm>
            <a:off x="2" y="0"/>
            <a:ext cx="6896098" cy="68580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 spc="300">
                <a:solidFill>
                  <a:schemeClr val="bg2">
                    <a:lumMod val="9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7381496" y="508000"/>
            <a:ext cx="4366006" cy="850899"/>
          </a:xfrm>
        </p:spPr>
        <p:txBody>
          <a:bodyPr anchor="t">
            <a:noAutofit/>
          </a:bodyPr>
          <a:lstStyle>
            <a:lvl1pPr algn="l">
              <a:defRPr sz="2800" b="1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FC8C91-517A-E263-7CC8-86DAE9667C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381495" y="1600200"/>
            <a:ext cx="4366006" cy="44831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b="1">
                <a:solidFill>
                  <a:schemeClr val="bg1"/>
                </a:solidFill>
              </a:defRPr>
            </a:lvl1pPr>
            <a:lvl2pPr marL="742950" indent="-2857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b="1">
                <a:solidFill>
                  <a:schemeClr val="bg1"/>
                </a:solidFill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CCCEF4-45A0-6D4C-F98A-FB9C5F59B8F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8223" b="29048"/>
          <a:stretch>
            <a:fillRect/>
          </a:stretch>
        </p:blipFill>
        <p:spPr>
          <a:xfrm>
            <a:off x="2455662" y="6201292"/>
            <a:ext cx="1677854" cy="4602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A62485-103A-B181-E88F-8F179D38307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0311" y="6106696"/>
            <a:ext cx="1177629" cy="6882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761D614-8A7C-F47D-1330-6E638594C49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11061" t="19826" r="12983" b="21652"/>
          <a:stretch>
            <a:fillRect/>
          </a:stretch>
        </p:blipFill>
        <p:spPr>
          <a:xfrm>
            <a:off x="1257133" y="6260033"/>
            <a:ext cx="1222178" cy="362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176194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ontent +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861666C-989C-531F-168B-432D99E96F9A}"/>
              </a:ext>
            </a:extLst>
          </p:cNvPr>
          <p:cNvSpPr/>
          <p:nvPr/>
        </p:nvSpPr>
        <p:spPr>
          <a:xfrm rot="10800000">
            <a:off x="6896100" y="0"/>
            <a:ext cx="5295900" cy="6858000"/>
          </a:xfrm>
          <a:prstGeom prst="rect">
            <a:avLst/>
          </a:prstGeom>
          <a:gradFill flip="none" rotWithShape="1">
            <a:gsLst>
              <a:gs pos="0">
                <a:srgbClr val="022169">
                  <a:shade val="30000"/>
                  <a:satMod val="115000"/>
                </a:srgbClr>
              </a:gs>
              <a:gs pos="50000">
                <a:srgbClr val="022169">
                  <a:shade val="67500"/>
                  <a:satMod val="115000"/>
                </a:srgbClr>
              </a:gs>
              <a:gs pos="100000">
                <a:schemeClr val="tx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19999" y="517382"/>
            <a:ext cx="3959605" cy="4551088"/>
          </a:xfrm>
        </p:spPr>
        <p:txBody>
          <a:bodyPr/>
          <a:lstStyle>
            <a:lvl1pPr marL="0" indent="0" algn="ctr">
              <a:buNone/>
              <a:defRPr sz="1800" b="1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“Click to edit Master text”</a:t>
            </a:r>
          </a:p>
          <a:p>
            <a:pPr lvl="0"/>
            <a:endParaRPr lang="en-US"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12396" y="520700"/>
            <a:ext cx="6140742" cy="838199"/>
          </a:xfrm>
        </p:spPr>
        <p:txBody>
          <a:bodyPr anchor="t">
            <a:normAutofit/>
          </a:bodyPr>
          <a:lstStyle>
            <a:lvl1pPr algn="l">
              <a:defRPr sz="2800" b="1">
                <a:solidFill>
                  <a:srgbClr val="022169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B81281-E39B-231E-47D2-649DE2D9209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2775" y="1511300"/>
            <a:ext cx="6140450" cy="473868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742950" indent="-2857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 marL="1200150" indent="-2857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 marL="1657350" indent="-2857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 marL="2114550" indent="-2857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BD4C52-58D8-54CE-7547-A3E8F515E5D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8223" b="29048"/>
          <a:stretch>
            <a:fillRect/>
          </a:stretch>
        </p:blipFill>
        <p:spPr>
          <a:xfrm>
            <a:off x="2455662" y="6201292"/>
            <a:ext cx="1677854" cy="46028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714F713-0C3A-C54C-8E64-AA09AA1D3E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0311" y="6106696"/>
            <a:ext cx="1177629" cy="68824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417DD41-87A3-F340-FADD-8123ECA3611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11061" t="19826" r="12983" b="21652"/>
          <a:stretch>
            <a:fillRect/>
          </a:stretch>
        </p:blipFill>
        <p:spPr>
          <a:xfrm>
            <a:off x="1257133" y="6260033"/>
            <a:ext cx="1222178" cy="362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61952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ontent +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861666C-989C-531F-168B-432D99E96F9A}"/>
              </a:ext>
            </a:extLst>
          </p:cNvPr>
          <p:cNvSpPr/>
          <p:nvPr/>
        </p:nvSpPr>
        <p:spPr>
          <a:xfrm rot="10800000">
            <a:off x="-347" y="0"/>
            <a:ext cx="5295900" cy="6858000"/>
          </a:xfrm>
          <a:prstGeom prst="rect">
            <a:avLst/>
          </a:prstGeom>
          <a:gradFill flip="none" rotWithShape="1">
            <a:gsLst>
              <a:gs pos="0">
                <a:srgbClr val="022169">
                  <a:shade val="30000"/>
                  <a:satMod val="115000"/>
                </a:srgbClr>
              </a:gs>
              <a:gs pos="50000">
                <a:srgbClr val="022169">
                  <a:shade val="67500"/>
                  <a:satMod val="115000"/>
                </a:srgbClr>
              </a:gs>
              <a:gs pos="100000">
                <a:schemeClr val="tx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12320" y="517380"/>
            <a:ext cx="3959605" cy="4551088"/>
          </a:xfrm>
        </p:spPr>
        <p:txBody>
          <a:bodyPr/>
          <a:lstStyle>
            <a:lvl1pPr marL="0" indent="0" algn="ctr">
              <a:buNone/>
              <a:defRPr sz="1800" b="1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“Click to edit Master text”</a:t>
            </a:r>
          </a:p>
          <a:p>
            <a:pPr lvl="0"/>
            <a:endParaRPr lang="en-US" dirty="0"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5701216" y="520700"/>
            <a:ext cx="6140742" cy="838199"/>
          </a:xfrm>
        </p:spPr>
        <p:txBody>
          <a:bodyPr anchor="t">
            <a:normAutofit/>
          </a:bodyPr>
          <a:lstStyle>
            <a:lvl1pPr algn="l">
              <a:defRPr sz="2800" b="1">
                <a:solidFill>
                  <a:srgbClr val="022169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B81281-E39B-231E-47D2-649DE2D9209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01595" y="1511300"/>
            <a:ext cx="6140450" cy="473868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742950" indent="-2857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 marL="1200150" indent="-2857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 marL="1657350" indent="-2857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 marL="2114550" indent="-2857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D4C755-F3DF-F661-7EDD-F3B0543E25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8223" b="29048"/>
          <a:stretch>
            <a:fillRect/>
          </a:stretch>
        </p:blipFill>
        <p:spPr>
          <a:xfrm>
            <a:off x="10251710" y="6171207"/>
            <a:ext cx="1677854" cy="46028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1B6DC81-0334-DE0B-F578-58C8C24877A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96359" y="6076611"/>
            <a:ext cx="1177629" cy="68824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F681036-2D76-4698-978A-BF20C747B93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11061" t="19826" r="12983" b="21652"/>
          <a:stretch>
            <a:fillRect/>
          </a:stretch>
        </p:blipFill>
        <p:spPr>
          <a:xfrm>
            <a:off x="9053181" y="6229948"/>
            <a:ext cx="1222178" cy="362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603217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312" userDrawn="1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6F7FE98-6B0C-4514-B978-11C7B1F2E18D}"/>
              </a:ext>
            </a:extLst>
          </p:cNvPr>
          <p:cNvSpPr/>
          <p:nvPr/>
        </p:nvSpPr>
        <p:spPr>
          <a:xfrm>
            <a:off x="0" y="0"/>
            <a:ext cx="1535185" cy="6858000"/>
          </a:xfrm>
          <a:prstGeom prst="rect">
            <a:avLst/>
          </a:prstGeom>
          <a:gradFill flip="none" rotWithShape="1">
            <a:gsLst>
              <a:gs pos="0">
                <a:srgbClr val="022169">
                  <a:shade val="30000"/>
                  <a:satMod val="115000"/>
                </a:srgbClr>
              </a:gs>
              <a:gs pos="38000">
                <a:srgbClr val="022169">
                  <a:shade val="67500"/>
                  <a:satMod val="115000"/>
                </a:srgbClr>
              </a:gs>
              <a:gs pos="100000">
                <a:schemeClr val="tx2"/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1964317" y="520700"/>
            <a:ext cx="9144456" cy="838199"/>
          </a:xfrm>
        </p:spPr>
        <p:txBody>
          <a:bodyPr anchor="t">
            <a:normAutofit/>
          </a:bodyPr>
          <a:lstStyle>
            <a:lvl1pPr algn="l">
              <a:defRPr sz="2800" b="1">
                <a:solidFill>
                  <a:srgbClr val="022169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7491C50-1E72-808D-96D0-D53D36DB48E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964318" y="1511300"/>
            <a:ext cx="9145008" cy="47386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97B79B-1CD9-7614-6D80-A6F373CC07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8223" b="29048"/>
          <a:stretch>
            <a:fillRect/>
          </a:stretch>
        </p:blipFill>
        <p:spPr>
          <a:xfrm>
            <a:off x="10251710" y="6171207"/>
            <a:ext cx="1677854" cy="46028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4FCA507-EF7E-3C35-2F9B-63A09A302A8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96359" y="6076611"/>
            <a:ext cx="1177629" cy="68824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9705169-6B4E-1F5B-8B9A-AB2D1637211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11061" t="19826" r="12983" b="21652"/>
          <a:stretch>
            <a:fillRect/>
          </a:stretch>
        </p:blipFill>
        <p:spPr>
          <a:xfrm>
            <a:off x="9053181" y="6229948"/>
            <a:ext cx="1222178" cy="362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89624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176D47F-A017-297B-620F-5A2D353BD14E}"/>
              </a:ext>
            </a:extLst>
          </p:cNvPr>
          <p:cNvSpPr/>
          <p:nvPr/>
        </p:nvSpPr>
        <p:spPr>
          <a:xfrm>
            <a:off x="0" y="0"/>
            <a:ext cx="12192000" cy="1358899"/>
          </a:xfrm>
          <a:prstGeom prst="rect">
            <a:avLst/>
          </a:prstGeom>
          <a:gradFill flip="none" rotWithShape="1">
            <a:gsLst>
              <a:gs pos="0">
                <a:srgbClr val="022169">
                  <a:shade val="30000"/>
                  <a:satMod val="115000"/>
                </a:srgbClr>
              </a:gs>
              <a:gs pos="38000">
                <a:srgbClr val="022169">
                  <a:shade val="67500"/>
                  <a:satMod val="115000"/>
                </a:srgbClr>
              </a:gs>
              <a:gs pos="100000">
                <a:schemeClr val="tx2"/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1512345" y="284163"/>
            <a:ext cx="9144456" cy="838199"/>
          </a:xfrm>
        </p:spPr>
        <p:txBody>
          <a:bodyPr anchor="t">
            <a:normAutofit/>
          </a:bodyPr>
          <a:lstStyle>
            <a:lvl1pPr algn="l"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7491C50-1E72-808D-96D0-D53D36DB48E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512346" y="1645353"/>
            <a:ext cx="4479012" cy="47386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BCA9E357-0231-8ABC-6BB5-EC6336BF7E9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177789" y="1645353"/>
            <a:ext cx="4479012" cy="47386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C7F301-700C-BC96-F8B6-36719A714FB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8223" b="29048"/>
          <a:stretch>
            <a:fillRect/>
          </a:stretch>
        </p:blipFill>
        <p:spPr>
          <a:xfrm>
            <a:off x="10251710" y="6171207"/>
            <a:ext cx="1677854" cy="46028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288AF53-77EE-6D8F-A732-10C9FD4FDF3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96359" y="6076611"/>
            <a:ext cx="1177629" cy="68824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2FC5BDC-D09D-6EB1-D28A-3CF684FE6CB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11061" t="19826" r="12983" b="21652"/>
          <a:stretch>
            <a:fillRect/>
          </a:stretch>
        </p:blipFill>
        <p:spPr>
          <a:xfrm>
            <a:off x="9053181" y="6229948"/>
            <a:ext cx="1222178" cy="362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18039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B602BE2B-D6FC-BD84-6EF1-7064346973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0155" y="6244840"/>
            <a:ext cx="832363" cy="477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927737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Blank w/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B602BE2B-D6FC-BD84-6EF1-7064346973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0155" y="6244840"/>
            <a:ext cx="832363" cy="4774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A721871-2667-A0A8-C694-F90A577B4ED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18223" b="29048"/>
          <a:stretch>
            <a:fillRect/>
          </a:stretch>
        </p:blipFill>
        <p:spPr>
          <a:xfrm>
            <a:off x="10251710" y="6171207"/>
            <a:ext cx="1677854" cy="46028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F14441E-BE06-C875-1B13-B4FEC9F4766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896359" y="6076611"/>
            <a:ext cx="1177629" cy="6882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250FCF5-9F70-786D-9E81-210BF066AEA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11061" t="19826" r="12983" b="21652"/>
          <a:stretch>
            <a:fillRect/>
          </a:stretch>
        </p:blipFill>
        <p:spPr>
          <a:xfrm>
            <a:off x="9053181" y="6229948"/>
            <a:ext cx="1222178" cy="362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939132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4894A7E-AA0D-BDAB-E949-D6E608D1C044}"/>
              </a:ext>
            </a:extLst>
          </p:cNvPr>
          <p:cNvSpPr txBox="1"/>
          <p:nvPr userDrawn="1"/>
        </p:nvSpPr>
        <p:spPr>
          <a:xfrm>
            <a:off x="10149319" y="1423480"/>
            <a:ext cx="2912249" cy="2837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950">
                <a:solidFill>
                  <a:schemeClr val="bg1"/>
                </a:solidFill>
                <a:latin typeface="Century Gothic" panose="020B0502020202020204" pitchFamily="34" charset="0"/>
              </a:rPr>
              <a:t>cquin.icap.columbia.edu</a:t>
            </a:r>
          </a:p>
        </p:txBody>
      </p:sp>
      <p:pic>
        <p:nvPicPr>
          <p:cNvPr id="7" name="Picture 6" descr="A group of flags in a row&#10;&#10;Description automatically generated">
            <a:extLst>
              <a:ext uri="{FF2B5EF4-FFF2-40B4-BE49-F238E27FC236}">
                <a16:creationId xmlns:a16="http://schemas.microsoft.com/office/drawing/2014/main" id="{142E1DDD-1193-5B3C-38DE-84EBF72EBB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84888"/>
          <a:stretch/>
        </p:blipFill>
        <p:spPr>
          <a:xfrm>
            <a:off x="25522" y="5799652"/>
            <a:ext cx="12197656" cy="1036842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5D192D40-4BB2-68E5-E60F-ABC4F4AB59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11646" y="2244283"/>
            <a:ext cx="6387639" cy="1827156"/>
          </a:xfrm>
        </p:spPr>
        <p:txBody>
          <a:bodyPr anchor="ctr">
            <a:noAutofit/>
          </a:bodyPr>
          <a:lstStyle>
            <a:lvl1pPr algn="ctr">
              <a:defRPr sz="5400" b="1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Thank You!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F839BB-6E99-9761-B687-A64023FCB5F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18223" b="29048"/>
          <a:stretch>
            <a:fillRect/>
          </a:stretch>
        </p:blipFill>
        <p:spPr>
          <a:xfrm>
            <a:off x="9103540" y="328405"/>
            <a:ext cx="2999448" cy="82283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FCCF934-B8AE-CAE7-AE05-C9D8538A3E7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651637" y="145657"/>
            <a:ext cx="2105213" cy="123034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7E34701-C8F6-1001-108F-181DC47D09FE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11061" t="19826" r="12983" b="21652"/>
          <a:stretch>
            <a:fillRect/>
          </a:stretch>
        </p:blipFill>
        <p:spPr>
          <a:xfrm>
            <a:off x="6781126" y="422422"/>
            <a:ext cx="2184850" cy="647363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E242B573-7640-1BB6-60AB-29DED3AD8EE8}"/>
              </a:ext>
            </a:extLst>
          </p:cNvPr>
          <p:cNvSpPr/>
          <p:nvPr userDrawn="1"/>
        </p:nvSpPr>
        <p:spPr>
          <a:xfrm>
            <a:off x="0" y="5836625"/>
            <a:ext cx="12192000" cy="1036842"/>
          </a:xfrm>
          <a:prstGeom prst="rect">
            <a:avLst/>
          </a:prstGeom>
          <a:gradFill flip="none" rotWithShape="1">
            <a:gsLst>
              <a:gs pos="0">
                <a:srgbClr val="022169">
                  <a:shade val="30000"/>
                  <a:satMod val="115000"/>
                </a:srgbClr>
              </a:gs>
              <a:gs pos="54000">
                <a:srgbClr val="022169">
                  <a:shade val="67500"/>
                  <a:satMod val="115000"/>
                </a:srgbClr>
              </a:gs>
              <a:gs pos="85000">
                <a:schemeClr val="tx2"/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A group of flags in a row&#10;&#10;Description automatically generated">
            <a:extLst>
              <a:ext uri="{FF2B5EF4-FFF2-40B4-BE49-F238E27FC236}">
                <a16:creationId xmlns:a16="http://schemas.microsoft.com/office/drawing/2014/main" id="{9B569CF3-7D9E-20B5-7AEA-D33CF64EDD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84888"/>
          <a:stretch/>
        </p:blipFill>
        <p:spPr>
          <a:xfrm>
            <a:off x="25522" y="5894248"/>
            <a:ext cx="12197656" cy="1036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0250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F9895-04E4-4B19-9528-EB94FD62B6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D397A7-2E28-4084-BE9B-1C9B443DD3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2A9769-C9C1-47A9-9BB1-13BFF34B2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91F24-88CB-427F-8F02-242CC05C2FE8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77B23-7E63-43AB-B01B-9E3B3C393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85BDB5-21D7-4FEC-BDCA-6E1DF7425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E132C-11CC-456A-872A-3A8C271CC9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343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B18AF1-BBDD-5C45-BD8A-357304E54C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812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06" r:id="rId2"/>
    <p:sldLayoutId id="2147483707" r:id="rId3"/>
    <p:sldLayoutId id="2147483708" r:id="rId4"/>
    <p:sldLayoutId id="2147483709" r:id="rId5"/>
    <p:sldLayoutId id="2147483724" r:id="rId6"/>
    <p:sldLayoutId id="2147483710" r:id="rId7"/>
    <p:sldLayoutId id="2147483711" r:id="rId8"/>
    <p:sldLayoutId id="2147483712" r:id="rId9"/>
    <p:sldLayoutId id="2147483718" r:id="rId10"/>
    <p:sldLayoutId id="2147483719" r:id="rId11"/>
    <p:sldLayoutId id="2147483723" r:id="rId12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chemeClr val="tx1"/>
          </a:solidFill>
          <a:latin typeface="Century Gothic" panose="020B0502020202020204" pitchFamily="34" charset="0"/>
          <a:ea typeface="+mj-ea"/>
          <a:cs typeface="Arial"/>
        </a:defRPr>
      </a:lvl1pPr>
    </p:titleStyle>
    <p:bodyStyle>
      <a:lvl1pPr marL="0" indent="0" algn="l" defTabSz="4572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/>
        <a:buNone/>
        <a:defRPr sz="1800" b="1" kern="1200">
          <a:solidFill>
            <a:schemeClr val="tx1"/>
          </a:solidFill>
          <a:latin typeface="+mn-lt"/>
          <a:ea typeface="+mn-ea"/>
          <a:cs typeface="Arial"/>
        </a:defRPr>
      </a:lvl1pPr>
      <a:lvl2pPr marL="742950" indent="-285750" algn="l" defTabSz="4572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57350" indent="-285750" algn="l" defTabSz="4572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114550" indent="-285750" algn="l" defTabSz="4572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0F2AD85-B64B-606C-EE04-6A7E3EC90F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02181" y="4286165"/>
            <a:ext cx="6387638" cy="962190"/>
          </a:xfrm>
        </p:spPr>
        <p:txBody>
          <a:bodyPr>
            <a:normAutofit fontScale="92500" lnSpcReduction="20000"/>
          </a:bodyPr>
          <a:lstStyle/>
          <a:p>
            <a:pPr algn="ctr"/>
            <a:r>
              <a:rPr lang="en-US" i="1" dirty="0"/>
              <a:t>HIV service delivery prioritization in resource-constrained settings</a:t>
            </a:r>
          </a:p>
          <a:p>
            <a:pPr algn="ctr"/>
            <a:r>
              <a:rPr lang="en-US" dirty="0"/>
              <a:t>Brooke Nichols, Boston University</a:t>
            </a:r>
          </a:p>
          <a:p>
            <a:pPr algn="ctr"/>
            <a:r>
              <a:rPr lang="en-US" dirty="0"/>
              <a:t>18 August 2026</a:t>
            </a:r>
          </a:p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B847150-B87B-2DDA-F439-4817C0FB3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379" y="2174162"/>
            <a:ext cx="10247242" cy="1827156"/>
          </a:xfrm>
        </p:spPr>
        <p:txBody>
          <a:bodyPr/>
          <a:lstStyle/>
          <a:p>
            <a:pPr algn="ctr"/>
            <a:r>
              <a:rPr lang="en-US" sz="3600" dirty="0"/>
              <a:t>TIER-Plus: </a:t>
            </a:r>
            <a:br>
              <a:rPr lang="en-US" sz="3600" dirty="0"/>
            </a:br>
            <a:r>
              <a:rPr lang="en-US" sz="3600" dirty="0"/>
              <a:t>Supporting evidence-informed prioritization and trade-off analysis in HIV service planning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F6366E-AAE1-25A9-DAA6-437B0C29EA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663" y="0"/>
            <a:ext cx="1393825" cy="1393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182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6F4FD-6A62-DA0D-5493-6F1C383D7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5469" y="1648628"/>
            <a:ext cx="7321061" cy="900863"/>
          </a:xfrm>
        </p:spPr>
        <p:txBody>
          <a:bodyPr>
            <a:noAutofit/>
          </a:bodyPr>
          <a:lstStyle/>
          <a:p>
            <a:r>
              <a:rPr lang="en-US" sz="7200" dirty="0"/>
              <a:t>Who is TIER-Plus for?</a:t>
            </a:r>
          </a:p>
        </p:txBody>
      </p:sp>
    </p:spTree>
    <p:extLst>
      <p:ext uri="{BB962C8B-B14F-4D97-AF65-F5344CB8AC3E}">
        <p14:creationId xmlns:p14="http://schemas.microsoft.com/office/powerpoint/2010/main" val="78896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159FA-E4CE-E7EB-AAAD-7A17768D2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take a look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2E77F2EA-4DDD-82A8-C0F4-215D3B017CCF}"/>
              </a:ext>
            </a:extLst>
          </p:cNvPr>
          <p:cNvSpPr txBox="1">
            <a:spLocks/>
          </p:cNvSpPr>
          <p:nvPr/>
        </p:nvSpPr>
        <p:spPr>
          <a:xfrm>
            <a:off x="762396" y="1645399"/>
            <a:ext cx="11306175" cy="4079872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ctr">
              <a:buFont typeface="Arial"/>
              <a:buAutoNum type="arabicPeriod"/>
            </a:pPr>
            <a:r>
              <a:rPr lang="en-US" sz="2400" dirty="0">
                <a:solidFill>
                  <a:schemeClr val="tx2"/>
                </a:solidFill>
              </a:rPr>
              <a:t>ORIENTATION</a:t>
            </a:r>
          </a:p>
          <a:p>
            <a:pPr marL="342900" indent="-342900" algn="ctr">
              <a:buFont typeface="Arial"/>
              <a:buAutoNum type="arabicPeriod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 algn="ctr">
              <a:buFont typeface="Arial"/>
              <a:buAutoNum type="arabicPeriod"/>
            </a:pPr>
            <a:r>
              <a:rPr lang="en-US" sz="2400" dirty="0">
                <a:solidFill>
                  <a:schemeClr val="tx2"/>
                </a:solidFill>
              </a:rPr>
              <a:t>INPUTS </a:t>
            </a:r>
            <a:br>
              <a:rPr lang="en-US" sz="2400" dirty="0">
                <a:solidFill>
                  <a:schemeClr val="tx2"/>
                </a:solidFill>
              </a:rPr>
            </a:br>
            <a:r>
              <a:rPr lang="en-US" sz="2400" dirty="0">
                <a:solidFill>
                  <a:schemeClr val="tx2"/>
                </a:solidFill>
              </a:rPr>
              <a:t>(country &amp; coverage)</a:t>
            </a:r>
            <a:br>
              <a:rPr lang="en-US" sz="2400" dirty="0">
                <a:solidFill>
                  <a:schemeClr val="tx2"/>
                </a:solidFill>
              </a:rPr>
            </a:br>
            <a:br>
              <a:rPr lang="en-US" sz="2400" dirty="0">
                <a:solidFill>
                  <a:schemeClr val="tx2"/>
                </a:solidFill>
              </a:rPr>
            </a:br>
            <a:endParaRPr lang="en-US" sz="2400" dirty="0">
              <a:solidFill>
                <a:schemeClr val="tx2"/>
              </a:solidFill>
            </a:endParaRPr>
          </a:p>
          <a:p>
            <a:pPr marL="342900" indent="-342900" algn="ctr">
              <a:buFont typeface="Arial"/>
              <a:buAutoNum type="arabicPeriod"/>
            </a:pPr>
            <a:r>
              <a:rPr lang="en-US" sz="2400" dirty="0">
                <a:solidFill>
                  <a:schemeClr val="tx2"/>
                </a:solidFill>
              </a:rPr>
              <a:t>SCENARIOS </a:t>
            </a:r>
            <a:br>
              <a:rPr lang="en-US" sz="2400" dirty="0">
                <a:solidFill>
                  <a:schemeClr val="tx2"/>
                </a:solidFill>
              </a:rPr>
            </a:br>
            <a:r>
              <a:rPr lang="en-US" sz="2400" dirty="0">
                <a:solidFill>
                  <a:schemeClr val="tx2"/>
                </a:solidFill>
              </a:rPr>
              <a:t>(adjust interventions)</a:t>
            </a:r>
          </a:p>
          <a:p>
            <a:pPr algn="ctr"/>
            <a:endParaRPr lang="en-US" sz="2400" dirty="0">
              <a:solidFill>
                <a:schemeClr val="tx2"/>
              </a:solidFill>
            </a:endParaRPr>
          </a:p>
          <a:p>
            <a:pPr algn="ctr"/>
            <a:r>
              <a:rPr lang="en-US" sz="2400" dirty="0">
                <a:solidFill>
                  <a:schemeClr val="tx2"/>
                </a:solidFill>
              </a:rPr>
              <a:t>4. OUTPUTS </a:t>
            </a:r>
            <a:br>
              <a:rPr lang="en-US" sz="2400" dirty="0">
                <a:solidFill>
                  <a:schemeClr val="tx2"/>
                </a:solidFill>
              </a:rPr>
            </a:br>
            <a:r>
              <a:rPr lang="en-US" sz="2400" dirty="0">
                <a:solidFill>
                  <a:schemeClr val="tx2"/>
                </a:solidFill>
              </a:rPr>
              <a:t>(costs + outcomes + cascades)</a:t>
            </a:r>
          </a:p>
        </p:txBody>
      </p:sp>
      <p:pic>
        <p:nvPicPr>
          <p:cNvPr id="5" name="Picture 2" descr="Route icon vektor | Premium Vector">
            <a:extLst>
              <a:ext uri="{FF2B5EF4-FFF2-40B4-BE49-F238E27FC236}">
                <a16:creationId xmlns:a16="http://schemas.microsoft.com/office/drawing/2014/main" id="{0E4EA714-198D-023F-CEF6-24C4B57492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394533" y="2645000"/>
            <a:ext cx="2438240" cy="2438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0B09790-AA59-1BDD-37B8-C58B7876A70A}"/>
              </a:ext>
            </a:extLst>
          </p:cNvPr>
          <p:cNvCxnSpPr/>
          <p:nvPr/>
        </p:nvCxnSpPr>
        <p:spPr>
          <a:xfrm>
            <a:off x="6502568" y="1987569"/>
            <a:ext cx="0" cy="41148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656E002-4DCF-2AAC-EBE9-0C0A8B1C958E}"/>
              </a:ext>
            </a:extLst>
          </p:cNvPr>
          <p:cNvCxnSpPr/>
          <p:nvPr/>
        </p:nvCxnSpPr>
        <p:spPr>
          <a:xfrm>
            <a:off x="6504384" y="4348520"/>
            <a:ext cx="0" cy="41148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CE0D49D-76B6-04C0-E7A7-9A5BA10C2061}"/>
              </a:ext>
            </a:extLst>
          </p:cNvPr>
          <p:cNvCxnSpPr>
            <a:cxnSpLocks/>
          </p:cNvCxnSpPr>
          <p:nvPr/>
        </p:nvCxnSpPr>
        <p:spPr>
          <a:xfrm>
            <a:off x="6504784" y="3017520"/>
            <a:ext cx="0" cy="66211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6774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B3FC15F-0F8E-5D7C-C7E9-238779F484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142" y="687854"/>
            <a:ext cx="9542256" cy="545577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CE651B9-3C16-7FE8-150B-44302740C509}"/>
              </a:ext>
            </a:extLst>
          </p:cNvPr>
          <p:cNvSpPr txBox="1"/>
          <p:nvPr/>
        </p:nvSpPr>
        <p:spPr>
          <a:xfrm>
            <a:off x="9752397" y="3665836"/>
            <a:ext cx="21499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2400" b="1" dirty="0">
                <a:solidFill>
                  <a:schemeClr val="accent1"/>
                </a:solidFill>
              </a:rPr>
              <a:t>Orientation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978363-42B2-DE8F-7646-F0003762FC59}"/>
              </a:ext>
            </a:extLst>
          </p:cNvPr>
          <p:cNvSpPr/>
          <p:nvPr/>
        </p:nvSpPr>
        <p:spPr>
          <a:xfrm flipV="1">
            <a:off x="2369859" y="2028825"/>
            <a:ext cx="5071535" cy="3251199"/>
          </a:xfrm>
          <a:prstGeom prst="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88000" tIns="288000" rIns="288000" bIns="288000" rtlCol="0" anchor="t"/>
          <a:lstStyle/>
          <a:p>
            <a:pPr algn="l"/>
            <a:endParaRPr lang="en-NL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BD77B6-E91F-42CA-9546-87A43E4363D5}"/>
              </a:ext>
            </a:extLst>
          </p:cNvPr>
          <p:cNvSpPr/>
          <p:nvPr/>
        </p:nvSpPr>
        <p:spPr>
          <a:xfrm flipV="1">
            <a:off x="2272239" y="5280024"/>
            <a:ext cx="7480158" cy="563563"/>
          </a:xfrm>
          <a:prstGeom prst="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88000" tIns="288000" rIns="288000" bIns="288000" rtlCol="0" anchor="t"/>
          <a:lstStyle/>
          <a:p>
            <a:pPr algn="l"/>
            <a:endParaRPr lang="en-N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A2BD87-2DED-0C62-4F6E-FC8100D4E9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8520" y="196961"/>
            <a:ext cx="1393825" cy="139382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30E08CC-8448-153F-6FBC-FB31CCE9BA0D}"/>
              </a:ext>
            </a:extLst>
          </p:cNvPr>
          <p:cNvSpPr/>
          <p:nvPr/>
        </p:nvSpPr>
        <p:spPr>
          <a:xfrm flipV="1">
            <a:off x="7571769" y="1377987"/>
            <a:ext cx="962759" cy="215601"/>
          </a:xfrm>
          <a:prstGeom prst="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88000" tIns="288000" rIns="288000" bIns="288000" rtlCol="0" anchor="t"/>
          <a:lstStyle/>
          <a:p>
            <a:pPr algn="l"/>
            <a:endParaRPr lang="en-NL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8E6C4E8-4024-C60D-9845-B1BD6153BE29}"/>
              </a:ext>
            </a:extLst>
          </p:cNvPr>
          <p:cNvSpPr/>
          <p:nvPr/>
        </p:nvSpPr>
        <p:spPr>
          <a:xfrm flipV="1">
            <a:off x="8632571" y="1375186"/>
            <a:ext cx="1122932" cy="215600"/>
          </a:xfrm>
          <a:prstGeom prst="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88000" tIns="288000" rIns="288000" bIns="288000" rtlCol="0" anchor="t"/>
          <a:lstStyle/>
          <a:p>
            <a:pPr algn="l"/>
            <a:endParaRPr lang="en-NL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F64573-0AAD-D5CF-FD5C-86A74EE75148}"/>
              </a:ext>
            </a:extLst>
          </p:cNvPr>
          <p:cNvSpPr/>
          <p:nvPr/>
        </p:nvSpPr>
        <p:spPr>
          <a:xfrm flipV="1">
            <a:off x="210140" y="1398494"/>
            <a:ext cx="2041503" cy="4745130"/>
          </a:xfrm>
          <a:prstGeom prst="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88000" tIns="288000" rIns="288000" bIns="288000" rtlCol="0" anchor="t"/>
          <a:lstStyle/>
          <a:p>
            <a:pPr algn="l"/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765254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851BD-C6AF-942C-3E47-C1CFDC071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goes in (inputs 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A2ABCB-1ACA-FFB0-A91B-503684FEBB5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964317" y="2119312"/>
            <a:ext cx="4800039" cy="4738688"/>
          </a:xfrm>
        </p:spPr>
        <p:txBody>
          <a:bodyPr/>
          <a:lstStyle/>
          <a:p>
            <a:pPr marL="742950" indent="-742950">
              <a:buAutoNum type="alphaLcPeriod"/>
            </a:pPr>
            <a:r>
              <a:rPr lang="en-US" sz="2400" dirty="0"/>
              <a:t>Select the country</a:t>
            </a:r>
            <a:br>
              <a:rPr lang="en-US" sz="2400" dirty="0"/>
            </a:br>
            <a:endParaRPr lang="en-US" sz="2400" dirty="0"/>
          </a:p>
          <a:p>
            <a:pPr marL="742950" indent="-742950">
              <a:buAutoNum type="alphaLcPeriod"/>
            </a:pPr>
            <a:r>
              <a:rPr lang="en-US" sz="2400" dirty="0"/>
              <a:t>Confirm (or edit) epidemic parameters (greyed out cannot be modified)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3E1BBA-BC9E-987F-EB4A-BD2353FB0A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74921" t="1593" r="74921" b="-1593"/>
          <a:stretch>
            <a:fillRect/>
          </a:stretch>
        </p:blipFill>
        <p:spPr>
          <a:xfrm>
            <a:off x="2168409" y="335015"/>
            <a:ext cx="8736272" cy="5529943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41B30C7-1421-42B7-0742-01E2173F17FE}"/>
              </a:ext>
            </a:extLst>
          </p:cNvPr>
          <p:cNvCxnSpPr>
            <a:cxnSpLocks/>
          </p:cNvCxnSpPr>
          <p:nvPr/>
        </p:nvCxnSpPr>
        <p:spPr>
          <a:xfrm flipV="1">
            <a:off x="5365214" y="1129006"/>
            <a:ext cx="3294044" cy="122860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4C9E06A-85F6-9666-5CA7-35C05F73919E}"/>
              </a:ext>
            </a:extLst>
          </p:cNvPr>
          <p:cNvCxnSpPr>
            <a:cxnSpLocks/>
          </p:cNvCxnSpPr>
          <p:nvPr/>
        </p:nvCxnSpPr>
        <p:spPr>
          <a:xfrm flipV="1">
            <a:off x="6096000" y="2544896"/>
            <a:ext cx="2483742" cy="100253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7983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1EDD52C-80FD-C585-38F0-9C5E8AC9EC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142" y="687854"/>
            <a:ext cx="9561388" cy="545577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E026C79-727B-D2DC-B050-0C6D644640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3341" y="0"/>
            <a:ext cx="1393825" cy="139382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B5A6E2E-5178-D507-488F-A504A4CD266A}"/>
              </a:ext>
            </a:extLst>
          </p:cNvPr>
          <p:cNvSpPr/>
          <p:nvPr/>
        </p:nvSpPr>
        <p:spPr>
          <a:xfrm flipV="1">
            <a:off x="3232851" y="1826222"/>
            <a:ext cx="1159856" cy="199802"/>
          </a:xfrm>
          <a:prstGeom prst="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88000" tIns="288000" rIns="288000" bIns="288000" rtlCol="0" anchor="t"/>
          <a:lstStyle/>
          <a:p>
            <a:pPr algn="l"/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843698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3FE0F-AA05-1ACC-A729-BCCBACB05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DEC28-22D0-810A-40E2-DD6253BA4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goes in (inputs 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492463-4B76-675E-D7DC-4182CFAC8AD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964318" y="2119312"/>
            <a:ext cx="4306550" cy="4738688"/>
          </a:xfrm>
        </p:spPr>
        <p:txBody>
          <a:bodyPr>
            <a:normAutofit/>
          </a:bodyPr>
          <a:lstStyle/>
          <a:p>
            <a:r>
              <a:rPr lang="en-US" sz="2400" dirty="0"/>
              <a:t>c. 	Baseline interventions (coverage)</a:t>
            </a:r>
          </a:p>
          <a:p>
            <a:pPr marL="1028700" lvl="1"/>
            <a:r>
              <a:rPr lang="en-US" sz="1600" b="0" dirty="0"/>
              <a:t>For prevention</a:t>
            </a:r>
          </a:p>
          <a:p>
            <a:pPr marL="1028700" lvl="1"/>
            <a:r>
              <a:rPr lang="en-US" sz="1600" b="0" dirty="0"/>
              <a:t>For testing and diagnosis </a:t>
            </a:r>
          </a:p>
          <a:p>
            <a:pPr marL="1028700" lvl="1"/>
            <a:r>
              <a:rPr lang="en-US" sz="1600" b="0" dirty="0"/>
              <a:t>For treatment monitoring and quality</a:t>
            </a:r>
          </a:p>
          <a:p>
            <a:pPr marL="1028700" lvl="1"/>
            <a:r>
              <a:rPr lang="en-US" sz="1600" b="0" dirty="0"/>
              <a:t>For retention and adherence support</a:t>
            </a:r>
          </a:p>
          <a:p>
            <a:pPr marL="1028700" lvl="1"/>
            <a:r>
              <a:rPr lang="en-US" sz="1600" b="0" dirty="0"/>
              <a:t>For advanced HIV disease </a:t>
            </a:r>
          </a:p>
          <a:p>
            <a:endParaRPr lang="en-US" sz="2400" dirty="0"/>
          </a:p>
          <a:p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F774476-FCC2-5461-0CFF-380670B5C002}"/>
              </a:ext>
            </a:extLst>
          </p:cNvPr>
          <p:cNvSpPr txBox="1">
            <a:spLocks/>
          </p:cNvSpPr>
          <p:nvPr/>
        </p:nvSpPr>
        <p:spPr>
          <a:xfrm>
            <a:off x="1588899" y="5277786"/>
            <a:ext cx="4681967" cy="1059514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0" i="1" dirty="0">
                <a:solidFill>
                  <a:schemeClr val="tx2"/>
                </a:solidFill>
                <a:latin typeface="+mj-lt"/>
              </a:rPr>
              <a:t>Important note!</a:t>
            </a:r>
          </a:p>
          <a:p>
            <a:r>
              <a:rPr lang="en-US" sz="2800" b="0" dirty="0">
                <a:solidFill>
                  <a:schemeClr val="tx2"/>
                </a:solidFill>
              </a:rPr>
              <a:t>Default data is provided </a:t>
            </a:r>
            <a:r>
              <a:rPr lang="en-US" sz="2800" b="0" dirty="0">
                <a:solidFill>
                  <a:schemeClr val="tx2"/>
                </a:solidFill>
                <a:sym typeface="Wingdings" pitchFamily="2" charset="2"/>
              </a:rPr>
              <a:t> </a:t>
            </a:r>
            <a:r>
              <a:rPr lang="en-US" sz="2800" b="0" dirty="0">
                <a:solidFill>
                  <a:schemeClr val="tx2"/>
                </a:solidFill>
              </a:rPr>
              <a:t>Users can customize if better national data are available.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AF6D8EF-5952-0975-324D-915233FCD1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3685" y="1065065"/>
            <a:ext cx="2903429" cy="36478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48C2AE5-F5FD-DE68-F168-175D169B18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1294" y="1358960"/>
            <a:ext cx="3047524" cy="357963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1B1E186-A0EE-BBD4-7D44-89B2F8FB01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0867" y="2761487"/>
            <a:ext cx="2903429" cy="345433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AE4728C-B469-5591-5885-C9F1E1E284C9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66756" y="2478297"/>
            <a:ext cx="2474880" cy="2140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326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D7B8136-7401-02EB-9CBE-C8B9B67B5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Countries represented in TIER-Plus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9E0907-0517-6F23-B540-ED98F71EDB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029"/>
          <a:stretch>
            <a:fillRect/>
          </a:stretch>
        </p:blipFill>
        <p:spPr>
          <a:xfrm>
            <a:off x="596828" y="35805"/>
            <a:ext cx="5971947" cy="685800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5ADF653-8CE6-23C6-1296-D64639AA33CD}"/>
              </a:ext>
            </a:extLst>
          </p:cNvPr>
          <p:cNvCxnSpPr>
            <a:cxnSpLocks/>
          </p:cNvCxnSpPr>
          <p:nvPr/>
        </p:nvCxnSpPr>
        <p:spPr>
          <a:xfrm flipH="1">
            <a:off x="1106376" y="2906596"/>
            <a:ext cx="645151" cy="184262"/>
          </a:xfrm>
          <a:prstGeom prst="line">
            <a:avLst/>
          </a:prstGeom>
          <a:ln>
            <a:solidFill>
              <a:srgbClr val="FF8D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08DE512-F5CE-B977-0CEC-3894C861A68F}"/>
              </a:ext>
            </a:extLst>
          </p:cNvPr>
          <p:cNvSpPr txBox="1"/>
          <p:nvPr/>
        </p:nvSpPr>
        <p:spPr>
          <a:xfrm>
            <a:off x="325401" y="2817042"/>
            <a:ext cx="12688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8D00"/>
                </a:solidFill>
              </a:rPr>
              <a:t>Côte d’Ivoire</a:t>
            </a:r>
            <a:endParaRPr lang="en-CH" sz="1200" dirty="0">
              <a:solidFill>
                <a:srgbClr val="FF8D00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A7FA14F-7D4B-B85A-0DDE-16FD3CFADE62}"/>
              </a:ext>
            </a:extLst>
          </p:cNvPr>
          <p:cNvCxnSpPr>
            <a:cxnSpLocks/>
          </p:cNvCxnSpPr>
          <p:nvPr/>
        </p:nvCxnSpPr>
        <p:spPr>
          <a:xfrm flipH="1">
            <a:off x="1567228" y="2927006"/>
            <a:ext cx="516615" cy="364544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EBFB843-EBE2-FA48-32CF-400F308C3B8D}"/>
              </a:ext>
            </a:extLst>
          </p:cNvPr>
          <p:cNvSpPr txBox="1"/>
          <p:nvPr/>
        </p:nvSpPr>
        <p:spPr>
          <a:xfrm>
            <a:off x="953713" y="3239678"/>
            <a:ext cx="7412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6"/>
                </a:solidFill>
              </a:rPr>
              <a:t>Ghana</a:t>
            </a:r>
            <a:endParaRPr lang="en-CH" sz="1200" dirty="0">
              <a:solidFill>
                <a:schemeClr val="accent6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65EADBF-8786-061A-FB39-D17AE4CF5A6C}"/>
              </a:ext>
            </a:extLst>
          </p:cNvPr>
          <p:cNvCxnSpPr>
            <a:cxnSpLocks/>
          </p:cNvCxnSpPr>
          <p:nvPr/>
        </p:nvCxnSpPr>
        <p:spPr>
          <a:xfrm flipH="1">
            <a:off x="2160051" y="2832072"/>
            <a:ext cx="558027" cy="454138"/>
          </a:xfrm>
          <a:prstGeom prst="line">
            <a:avLst/>
          </a:prstGeom>
          <a:ln>
            <a:solidFill>
              <a:srgbClr val="FF8D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6F75EF3-8472-C6A0-038F-145CA1AE0D60}"/>
              </a:ext>
            </a:extLst>
          </p:cNvPr>
          <p:cNvSpPr txBox="1"/>
          <p:nvPr/>
        </p:nvSpPr>
        <p:spPr>
          <a:xfrm>
            <a:off x="1773400" y="3254754"/>
            <a:ext cx="7412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8D00"/>
                </a:solidFill>
              </a:rPr>
              <a:t>Nigeria</a:t>
            </a:r>
            <a:endParaRPr lang="en-CH" sz="1200" dirty="0">
              <a:solidFill>
                <a:srgbClr val="FF8D00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01F1F29-0F85-534F-5640-8BF63343E341}"/>
              </a:ext>
            </a:extLst>
          </p:cNvPr>
          <p:cNvCxnSpPr>
            <a:cxnSpLocks/>
          </p:cNvCxnSpPr>
          <p:nvPr/>
        </p:nvCxnSpPr>
        <p:spPr>
          <a:xfrm flipH="1">
            <a:off x="3033016" y="5292396"/>
            <a:ext cx="390847" cy="124085"/>
          </a:xfrm>
          <a:prstGeom prst="line">
            <a:avLst/>
          </a:prstGeom>
          <a:ln>
            <a:solidFill>
              <a:srgbClr val="FF8D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B5D4B2A-8480-6F58-E62C-BB64CD6E4A92}"/>
              </a:ext>
            </a:extLst>
          </p:cNvPr>
          <p:cNvSpPr txBox="1"/>
          <p:nvPr/>
        </p:nvSpPr>
        <p:spPr>
          <a:xfrm>
            <a:off x="2268112" y="5354438"/>
            <a:ext cx="8577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8D00"/>
                </a:solidFill>
              </a:rPr>
              <a:t>Namibia</a:t>
            </a:r>
            <a:endParaRPr lang="en-CH" sz="1200" dirty="0">
              <a:solidFill>
                <a:srgbClr val="FF8D00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4C8B7BB-3A74-9462-3841-1850C8072546}"/>
              </a:ext>
            </a:extLst>
          </p:cNvPr>
          <p:cNvCxnSpPr>
            <a:cxnSpLocks/>
          </p:cNvCxnSpPr>
          <p:nvPr/>
        </p:nvCxnSpPr>
        <p:spPr>
          <a:xfrm flipH="1">
            <a:off x="2971986" y="6100029"/>
            <a:ext cx="713217" cy="215632"/>
          </a:xfrm>
          <a:prstGeom prst="line">
            <a:avLst/>
          </a:prstGeom>
          <a:ln>
            <a:solidFill>
              <a:srgbClr val="FF8D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7C1DBCE-FA44-4AA9-D370-532E19E4892F}"/>
              </a:ext>
            </a:extLst>
          </p:cNvPr>
          <p:cNvSpPr txBox="1"/>
          <p:nvPr/>
        </p:nvSpPr>
        <p:spPr>
          <a:xfrm>
            <a:off x="1761531" y="6231070"/>
            <a:ext cx="11456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8D00"/>
                </a:solidFill>
              </a:rPr>
              <a:t>South Africa</a:t>
            </a:r>
            <a:endParaRPr lang="en-CH" sz="1200" dirty="0">
              <a:solidFill>
                <a:srgbClr val="FF8D00"/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935AC79-BD8D-1759-A068-A59A34347CD5}"/>
              </a:ext>
            </a:extLst>
          </p:cNvPr>
          <p:cNvCxnSpPr>
            <a:cxnSpLocks/>
          </p:cNvCxnSpPr>
          <p:nvPr/>
        </p:nvCxnSpPr>
        <p:spPr>
          <a:xfrm>
            <a:off x="4126526" y="5894935"/>
            <a:ext cx="345373" cy="689630"/>
          </a:xfrm>
          <a:prstGeom prst="line">
            <a:avLst/>
          </a:prstGeom>
          <a:ln>
            <a:solidFill>
              <a:srgbClr val="FF8D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D250D00-3130-5634-6743-0AA13D2EE778}"/>
              </a:ext>
            </a:extLst>
          </p:cNvPr>
          <p:cNvSpPr txBox="1"/>
          <p:nvPr/>
        </p:nvSpPr>
        <p:spPr>
          <a:xfrm>
            <a:off x="4437916" y="6465600"/>
            <a:ext cx="12688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8D00"/>
                </a:solidFill>
              </a:rPr>
              <a:t>Lesotho</a:t>
            </a:r>
            <a:endParaRPr lang="en-CH" sz="1200" dirty="0">
              <a:solidFill>
                <a:srgbClr val="FF8D00"/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061F74F-F374-9BAC-EBF6-4B3C25ECBD85}"/>
              </a:ext>
            </a:extLst>
          </p:cNvPr>
          <p:cNvCxnSpPr>
            <a:cxnSpLocks/>
          </p:cNvCxnSpPr>
          <p:nvPr/>
        </p:nvCxnSpPr>
        <p:spPr>
          <a:xfrm>
            <a:off x="4333364" y="5036974"/>
            <a:ext cx="708418" cy="1023769"/>
          </a:xfrm>
          <a:prstGeom prst="line">
            <a:avLst/>
          </a:prstGeom>
          <a:ln>
            <a:solidFill>
              <a:srgbClr val="FF8D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D298571-0F0A-2F93-5A61-A130D19D18C5}"/>
              </a:ext>
            </a:extLst>
          </p:cNvPr>
          <p:cNvSpPr txBox="1"/>
          <p:nvPr/>
        </p:nvSpPr>
        <p:spPr>
          <a:xfrm>
            <a:off x="4988565" y="5954071"/>
            <a:ext cx="12688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8D00"/>
                </a:solidFill>
              </a:rPr>
              <a:t>Zimbabwe</a:t>
            </a:r>
            <a:endParaRPr lang="en-CH" sz="1200" dirty="0">
              <a:solidFill>
                <a:srgbClr val="FF8D00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34DE931-274A-6981-B230-6354792ED709}"/>
              </a:ext>
            </a:extLst>
          </p:cNvPr>
          <p:cNvCxnSpPr>
            <a:cxnSpLocks/>
          </p:cNvCxnSpPr>
          <p:nvPr/>
        </p:nvCxnSpPr>
        <p:spPr>
          <a:xfrm>
            <a:off x="4889129" y="4007487"/>
            <a:ext cx="459651" cy="0"/>
          </a:xfrm>
          <a:prstGeom prst="line">
            <a:avLst/>
          </a:prstGeom>
          <a:ln>
            <a:solidFill>
              <a:srgbClr val="FF8D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41FDC93-1CD1-D4A6-3226-0DC99B79A90C}"/>
              </a:ext>
            </a:extLst>
          </p:cNvPr>
          <p:cNvCxnSpPr>
            <a:cxnSpLocks/>
          </p:cNvCxnSpPr>
          <p:nvPr/>
        </p:nvCxnSpPr>
        <p:spPr>
          <a:xfrm flipV="1">
            <a:off x="4552728" y="1753998"/>
            <a:ext cx="584953" cy="1523179"/>
          </a:xfrm>
          <a:prstGeom prst="line">
            <a:avLst/>
          </a:prstGeom>
          <a:ln>
            <a:solidFill>
              <a:srgbClr val="FF8D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54041A5-5061-1183-5B79-E3313B6D153A}"/>
              </a:ext>
            </a:extLst>
          </p:cNvPr>
          <p:cNvSpPr txBox="1"/>
          <p:nvPr/>
        </p:nvSpPr>
        <p:spPr>
          <a:xfrm>
            <a:off x="4897536" y="1414442"/>
            <a:ext cx="12688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8D00"/>
                </a:solidFill>
              </a:rPr>
              <a:t>Uganda</a:t>
            </a:r>
            <a:endParaRPr lang="en-CH" sz="1200" dirty="0">
              <a:solidFill>
                <a:srgbClr val="FF8D00"/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00721A0-A75A-D170-2FE3-E7EEA7721DDB}"/>
              </a:ext>
            </a:extLst>
          </p:cNvPr>
          <p:cNvCxnSpPr>
            <a:cxnSpLocks/>
          </p:cNvCxnSpPr>
          <p:nvPr/>
        </p:nvCxnSpPr>
        <p:spPr>
          <a:xfrm>
            <a:off x="5025366" y="3365130"/>
            <a:ext cx="385495" cy="26190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189D1BCA-6F6D-F39E-319D-AE597431D41B}"/>
              </a:ext>
            </a:extLst>
          </p:cNvPr>
          <p:cNvSpPr txBox="1"/>
          <p:nvPr/>
        </p:nvSpPr>
        <p:spPr>
          <a:xfrm>
            <a:off x="5387587" y="3549735"/>
            <a:ext cx="7267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6"/>
                </a:solidFill>
              </a:rPr>
              <a:t>Kenya</a:t>
            </a:r>
            <a:endParaRPr lang="en-CH" sz="1200" dirty="0">
              <a:solidFill>
                <a:schemeClr val="accent6"/>
              </a:solidFill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677A27C-163B-BA80-A257-0FF061B6D032}"/>
              </a:ext>
            </a:extLst>
          </p:cNvPr>
          <p:cNvCxnSpPr>
            <a:cxnSpLocks/>
          </p:cNvCxnSpPr>
          <p:nvPr/>
        </p:nvCxnSpPr>
        <p:spPr>
          <a:xfrm>
            <a:off x="4402631" y="5600112"/>
            <a:ext cx="465618" cy="630958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BF30B7FD-B0AB-E966-2E39-A65A603C80F1}"/>
              </a:ext>
            </a:extLst>
          </p:cNvPr>
          <p:cNvSpPr txBox="1"/>
          <p:nvPr/>
        </p:nvSpPr>
        <p:spPr>
          <a:xfrm>
            <a:off x="4795244" y="6190531"/>
            <a:ext cx="9114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6"/>
                </a:solidFill>
              </a:rPr>
              <a:t>Eswatini</a:t>
            </a:r>
            <a:endParaRPr lang="en-CH" sz="1200" dirty="0">
              <a:solidFill>
                <a:schemeClr val="accent6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5A8B3FE-C6B2-A7D2-6E3C-28B8366E8D1A}"/>
              </a:ext>
            </a:extLst>
          </p:cNvPr>
          <p:cNvCxnSpPr>
            <a:cxnSpLocks/>
          </p:cNvCxnSpPr>
          <p:nvPr/>
        </p:nvCxnSpPr>
        <p:spPr>
          <a:xfrm>
            <a:off x="2514603" y="4488741"/>
            <a:ext cx="1493508" cy="124139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17A00AB9-92EF-48F9-D567-01C16397A845}"/>
              </a:ext>
            </a:extLst>
          </p:cNvPr>
          <p:cNvSpPr txBox="1"/>
          <p:nvPr/>
        </p:nvSpPr>
        <p:spPr>
          <a:xfrm>
            <a:off x="1825535" y="4319221"/>
            <a:ext cx="7971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6"/>
                </a:solidFill>
              </a:rPr>
              <a:t>Zambia</a:t>
            </a:r>
            <a:endParaRPr lang="en-CH" sz="1200" dirty="0">
              <a:solidFill>
                <a:schemeClr val="accent6"/>
              </a:solidFill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B1FA190-318E-E812-D619-E64CB17C76C2}"/>
              </a:ext>
            </a:extLst>
          </p:cNvPr>
          <p:cNvCxnSpPr>
            <a:cxnSpLocks/>
          </p:cNvCxnSpPr>
          <p:nvPr/>
        </p:nvCxnSpPr>
        <p:spPr>
          <a:xfrm flipV="1">
            <a:off x="4671737" y="4306663"/>
            <a:ext cx="733536" cy="352894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3A8997E5-50CC-186B-D18E-AA6F29F5053E}"/>
              </a:ext>
            </a:extLst>
          </p:cNvPr>
          <p:cNvSpPr txBox="1"/>
          <p:nvPr/>
        </p:nvSpPr>
        <p:spPr>
          <a:xfrm>
            <a:off x="5387588" y="4071544"/>
            <a:ext cx="7267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6"/>
                </a:solidFill>
              </a:rPr>
              <a:t>Malawi</a:t>
            </a:r>
            <a:endParaRPr lang="en-CH" sz="1200" dirty="0">
              <a:solidFill>
                <a:schemeClr val="accent6"/>
              </a:solidFill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B5DEF8C-8038-029A-63E8-F66F9296B139}"/>
              </a:ext>
            </a:extLst>
          </p:cNvPr>
          <p:cNvCxnSpPr>
            <a:cxnSpLocks/>
          </p:cNvCxnSpPr>
          <p:nvPr/>
        </p:nvCxnSpPr>
        <p:spPr>
          <a:xfrm>
            <a:off x="4561780" y="5158091"/>
            <a:ext cx="557174" cy="625653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4B847C6F-158D-712B-A489-EAB069014DDC}"/>
              </a:ext>
            </a:extLst>
          </p:cNvPr>
          <p:cNvSpPr txBox="1"/>
          <p:nvPr/>
        </p:nvSpPr>
        <p:spPr>
          <a:xfrm>
            <a:off x="5055155" y="5707801"/>
            <a:ext cx="11848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6"/>
                </a:solidFill>
              </a:rPr>
              <a:t>Mozambique</a:t>
            </a:r>
            <a:endParaRPr lang="en-CH" sz="1200" dirty="0">
              <a:solidFill>
                <a:schemeClr val="accent6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B766200-FA41-D08D-236A-4ACC0348F323}"/>
              </a:ext>
            </a:extLst>
          </p:cNvPr>
          <p:cNvSpPr/>
          <p:nvPr/>
        </p:nvSpPr>
        <p:spPr>
          <a:xfrm>
            <a:off x="7527073" y="1823694"/>
            <a:ext cx="174172" cy="217715"/>
          </a:xfrm>
          <a:prstGeom prst="rect">
            <a:avLst/>
          </a:prstGeom>
          <a:solidFill>
            <a:srgbClr val="4DAF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88000" tIns="288000" rIns="288000" bIns="288000" rtlCol="0" anchor="t"/>
          <a:lstStyle/>
          <a:p>
            <a:pPr algn="l"/>
            <a:endParaRPr lang="en-NL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B72A274-7753-BDC3-A8FB-A6036D7DE7C1}"/>
              </a:ext>
            </a:extLst>
          </p:cNvPr>
          <p:cNvSpPr/>
          <p:nvPr/>
        </p:nvSpPr>
        <p:spPr>
          <a:xfrm>
            <a:off x="7498503" y="2735713"/>
            <a:ext cx="174172" cy="217715"/>
          </a:xfrm>
          <a:prstGeom prst="rect">
            <a:avLst/>
          </a:prstGeom>
          <a:solidFill>
            <a:srgbClr val="FD8D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88000" tIns="288000" rIns="288000" bIns="288000" rtlCol="0" anchor="t"/>
          <a:lstStyle/>
          <a:p>
            <a:pPr algn="l"/>
            <a:endParaRPr lang="en-NL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4E7BAE2-1892-EC1D-40F3-6F65765A4186}"/>
              </a:ext>
            </a:extLst>
          </p:cNvPr>
          <p:cNvSpPr txBox="1"/>
          <p:nvPr/>
        </p:nvSpPr>
        <p:spPr>
          <a:xfrm>
            <a:off x="7794627" y="1691441"/>
            <a:ext cx="35300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dirty="0">
                <a:solidFill>
                  <a:schemeClr val="bg1"/>
                </a:solidFill>
              </a:rPr>
              <a:t>Baseline data values reviewed and updated by in-country teams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FEFD778-0CA0-5538-0DEF-0F45BF941ED4}"/>
              </a:ext>
            </a:extLst>
          </p:cNvPr>
          <p:cNvSpPr txBox="1"/>
          <p:nvPr/>
        </p:nvSpPr>
        <p:spPr>
          <a:xfrm>
            <a:off x="7751769" y="2624359"/>
            <a:ext cx="35300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Baseline data values from publicly available resources and literature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6EF3AD2F-4704-B698-5AB9-756F3271F92E}"/>
              </a:ext>
            </a:extLst>
          </p:cNvPr>
          <p:cNvSpPr/>
          <p:nvPr/>
        </p:nvSpPr>
        <p:spPr>
          <a:xfrm>
            <a:off x="77118" y="6100029"/>
            <a:ext cx="760164" cy="64257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1AA11C8-E0D7-7F10-E120-C2EFCB03CA93}"/>
              </a:ext>
            </a:extLst>
          </p:cNvPr>
          <p:cNvSpPr txBox="1"/>
          <p:nvPr/>
        </p:nvSpPr>
        <p:spPr>
          <a:xfrm>
            <a:off x="5405273" y="3857149"/>
            <a:ext cx="12688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8D00"/>
                </a:solidFill>
              </a:rPr>
              <a:t>Tanzania</a:t>
            </a:r>
            <a:endParaRPr lang="en-CH" sz="1200" dirty="0">
              <a:solidFill>
                <a:srgbClr val="FF8D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13230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A6965-AB9E-3E21-028B-6421236DF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D8FA5AE-BF34-111F-5BD8-F7F1060DDE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142" y="687854"/>
            <a:ext cx="9561388" cy="54557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7AB8D78-2B2B-0C2E-C788-5E6FF97E64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8033" y="145184"/>
            <a:ext cx="1393825" cy="139382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00AC779-1104-288E-6261-48F3A4B552D4}"/>
              </a:ext>
            </a:extLst>
          </p:cNvPr>
          <p:cNvSpPr/>
          <p:nvPr/>
        </p:nvSpPr>
        <p:spPr>
          <a:xfrm flipV="1">
            <a:off x="4308614" y="1826221"/>
            <a:ext cx="855055" cy="217731"/>
          </a:xfrm>
          <a:prstGeom prst="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88000" tIns="288000" rIns="288000" bIns="288000" rtlCol="0" anchor="t"/>
          <a:lstStyle/>
          <a:p>
            <a:pPr algn="l"/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645260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EF651-5B94-7EF5-1A42-8B1299A37CC5}"/>
              </a:ext>
            </a:extLst>
          </p:cNvPr>
          <p:cNvSpPr txBox="1">
            <a:spLocks/>
          </p:cNvSpPr>
          <p:nvPr/>
        </p:nvSpPr>
        <p:spPr>
          <a:xfrm>
            <a:off x="350982" y="507850"/>
            <a:ext cx="6509032" cy="1260000"/>
          </a:xfrm>
          <a:prstGeom prst="rect">
            <a:avLst/>
          </a:prstGeom>
        </p:spPr>
        <p:txBody>
          <a:bodyPr>
            <a:normAutofit fontScale="97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Century Gothic" panose="020B0502020202020204" pitchFamily="34" charset="0"/>
                <a:ea typeface="+mj-ea"/>
                <a:cs typeface="Arial"/>
              </a:defRPr>
            </a:lvl1pPr>
          </a:lstStyle>
          <a:p>
            <a:r>
              <a:rPr lang="en-US" dirty="0">
                <a:solidFill>
                  <a:schemeClr val="tx2"/>
                </a:solidFill>
              </a:rPr>
              <a:t>Then it’s time to play – </a:t>
            </a:r>
          </a:p>
          <a:p>
            <a:r>
              <a:rPr lang="en-US" dirty="0">
                <a:solidFill>
                  <a:schemeClr val="tx2"/>
                </a:solidFill>
              </a:rPr>
              <a:t>or build scenarios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C4510B-92B4-D47D-D8C1-86E23E697245}"/>
              </a:ext>
            </a:extLst>
          </p:cNvPr>
          <p:cNvSpPr txBox="1">
            <a:spLocks/>
          </p:cNvSpPr>
          <p:nvPr/>
        </p:nvSpPr>
        <p:spPr>
          <a:xfrm>
            <a:off x="350982" y="1932854"/>
            <a:ext cx="5843588" cy="4079872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Adapt the coverage of different interventions (populate different scenarios for comparison)</a:t>
            </a:r>
          </a:p>
          <a:p>
            <a:r>
              <a:rPr lang="en-US" dirty="0"/>
              <a:t>Add more interventions, and/or take some away</a:t>
            </a:r>
          </a:p>
          <a:p>
            <a:endParaRPr lang="en-US" dirty="0"/>
          </a:p>
          <a:p>
            <a:endParaRPr lang="en-CH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3941643-D1C4-C471-ED3A-488F58225C73}"/>
              </a:ext>
            </a:extLst>
          </p:cNvPr>
          <p:cNvSpPr txBox="1">
            <a:spLocks/>
          </p:cNvSpPr>
          <p:nvPr/>
        </p:nvSpPr>
        <p:spPr>
          <a:xfrm>
            <a:off x="350982" y="4856930"/>
            <a:ext cx="6097131" cy="132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0" dirty="0">
                <a:solidFill>
                  <a:schemeClr val="tx2"/>
                </a:solidFill>
                <a:latin typeface="+mj-lt"/>
              </a:rPr>
              <a:t>With this information</a:t>
            </a:r>
            <a:r>
              <a:rPr lang="en-US" sz="2400" b="0" dirty="0">
                <a:solidFill>
                  <a:schemeClr val="tx2"/>
                </a:solidFill>
              </a:rPr>
              <a:t>, more and less of different interventions, </a:t>
            </a:r>
            <a:r>
              <a:rPr lang="en-US" sz="2400" b="0" dirty="0">
                <a:solidFill>
                  <a:schemeClr val="tx2"/>
                </a:solidFill>
                <a:latin typeface="+mj-lt"/>
              </a:rPr>
              <a:t>TIER-Plus can then compare the impact</a:t>
            </a:r>
            <a:r>
              <a:rPr lang="en-US" sz="2400" b="0" dirty="0">
                <a:solidFill>
                  <a:schemeClr val="tx2"/>
                </a:solidFill>
              </a:rPr>
              <a:t> on costs and outcomes</a:t>
            </a:r>
          </a:p>
        </p:txBody>
      </p:sp>
      <p:pic>
        <p:nvPicPr>
          <p:cNvPr id="5" name="Picture 2" descr="177+ Thousand Circle Dial Royalty-Free Images, Stock Photos &amp; Pictures |  Shutterstock">
            <a:extLst>
              <a:ext uri="{FF2B5EF4-FFF2-40B4-BE49-F238E27FC236}">
                <a16:creationId xmlns:a16="http://schemas.microsoft.com/office/drawing/2014/main" id="{6DA56F3F-D964-E50A-B8C6-920E2F7D92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554938" y="3182239"/>
            <a:ext cx="3689217" cy="1229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5D310FB-DCE8-935D-AEAC-C1E443E36F22}"/>
              </a:ext>
            </a:extLst>
          </p:cNvPr>
          <p:cNvSpPr txBox="1">
            <a:spLocks/>
          </p:cNvSpPr>
          <p:nvPr/>
        </p:nvSpPr>
        <p:spPr bwMode="gray">
          <a:xfrm>
            <a:off x="7627965" y="507850"/>
            <a:ext cx="2254599" cy="1098609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marL="220663" indent="-220663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9263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○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5638" indent="-212725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○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98525" indent="-23495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○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27125" indent="-23495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○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457200">
              <a:spcAft>
                <a:spcPts val="600"/>
              </a:spcAft>
            </a:pPr>
            <a:r>
              <a:rPr lang="en-US" sz="1800" dirty="0">
                <a:latin typeface="+mj-lt"/>
                <a:cs typeface="Arial"/>
              </a:rPr>
              <a:t>For example:</a:t>
            </a:r>
          </a:p>
          <a:p>
            <a:pPr marL="285750" indent="-285750" algn="l" defTabSz="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cs typeface="Arial"/>
              </a:rPr>
              <a:t>Scenario 1: No self-testing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70E69592-3382-F5C9-C3D9-2A0852EBEEF4}"/>
              </a:ext>
            </a:extLst>
          </p:cNvPr>
          <p:cNvSpPr txBox="1">
            <a:spLocks/>
          </p:cNvSpPr>
          <p:nvPr/>
        </p:nvSpPr>
        <p:spPr>
          <a:xfrm>
            <a:off x="9882564" y="507850"/>
            <a:ext cx="1958454" cy="14652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Scenario 2: more 6MMD</a:t>
            </a:r>
          </a:p>
          <a:p>
            <a:endParaRPr lang="en-CH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08B620E-70D6-6EF0-71A6-636BBB2C07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2069" y="3555759"/>
            <a:ext cx="3912817" cy="26582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2D71131-EDFF-1DA1-D86D-56BE80EF1E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3055" y="2242993"/>
            <a:ext cx="3912817" cy="115687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210EC67-B6B4-00FF-E79F-310421EBDC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8894" y="1817230"/>
            <a:ext cx="1860550" cy="53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684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5D33299-F8C7-7383-939C-DA04D6E9FA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142" y="687854"/>
            <a:ext cx="9561388" cy="545577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9F47EA4-23CC-0903-3DEF-B439635710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8033" y="159039"/>
            <a:ext cx="1393825" cy="139382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B9E90AE-C72D-BFB4-49C8-E090F4CCBDDD}"/>
              </a:ext>
            </a:extLst>
          </p:cNvPr>
          <p:cNvSpPr/>
          <p:nvPr/>
        </p:nvSpPr>
        <p:spPr>
          <a:xfrm flipV="1">
            <a:off x="5079577" y="1826220"/>
            <a:ext cx="1159859" cy="253591"/>
          </a:xfrm>
          <a:prstGeom prst="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88000" tIns="288000" rIns="288000" bIns="288000" rtlCol="0" anchor="t"/>
          <a:lstStyle/>
          <a:p>
            <a:pPr algn="l"/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878242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8F76847-ED85-43C7-2355-2E1E713ECDE9}"/>
              </a:ext>
            </a:extLst>
          </p:cNvPr>
          <p:cNvSpPr txBox="1">
            <a:spLocks/>
          </p:cNvSpPr>
          <p:nvPr/>
        </p:nvSpPr>
        <p:spPr>
          <a:xfrm>
            <a:off x="371154" y="485305"/>
            <a:ext cx="10115506" cy="1260000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Century Gothic" panose="020B0502020202020204" pitchFamily="34" charset="0"/>
                <a:ea typeface="+mj-ea"/>
                <a:cs typeface="Arial"/>
              </a:defRPr>
            </a:lvl1pPr>
          </a:lstStyle>
          <a:p>
            <a:r>
              <a:rPr lang="en-US" dirty="0">
                <a:solidFill>
                  <a:schemeClr val="tx2"/>
                </a:solidFill>
              </a:rPr>
              <a:t>What TIER-Plus produces (outputs) 1/3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AE01B67-487C-62E9-4E6D-F08FD90DAFDB}"/>
              </a:ext>
            </a:extLst>
          </p:cNvPr>
          <p:cNvSpPr txBox="1">
            <a:spLocks/>
          </p:cNvSpPr>
          <p:nvPr/>
        </p:nvSpPr>
        <p:spPr>
          <a:xfrm>
            <a:off x="442913" y="3054389"/>
            <a:ext cx="6192837" cy="512850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/>
              <a:t>a. Progress towards 95-95-95s</a:t>
            </a:r>
          </a:p>
          <a:p>
            <a:endParaRPr lang="en-CH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F669E71-965B-4879-A7F2-5AB686A0E9C5}"/>
              </a:ext>
            </a:extLst>
          </p:cNvPr>
          <p:cNvSpPr txBox="1">
            <a:spLocks/>
          </p:cNvSpPr>
          <p:nvPr/>
        </p:nvSpPr>
        <p:spPr bwMode="gray">
          <a:xfrm>
            <a:off x="6662146" y="2988027"/>
            <a:ext cx="5086941" cy="51285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220663" indent="-220663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○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9263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○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5638" indent="-212725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○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98525" indent="-23495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○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27125" indent="-23495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○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b. Key epidemiological outcomes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5341C8-6F5F-275B-C212-FCDB8F9A6C7C}"/>
              </a:ext>
            </a:extLst>
          </p:cNvPr>
          <p:cNvSpPr txBox="1"/>
          <p:nvPr/>
        </p:nvSpPr>
        <p:spPr>
          <a:xfrm>
            <a:off x="442913" y="2031579"/>
            <a:ext cx="4368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tx2"/>
                </a:solidFill>
                <a:latin typeface="+mj-lt"/>
                <a:sym typeface="Wingdings" panose="05000000000000000000" pitchFamily="2" charset="2"/>
              </a:rPr>
              <a:t> </a:t>
            </a:r>
            <a:r>
              <a:rPr lang="en-US" sz="2400" dirty="0">
                <a:solidFill>
                  <a:schemeClr val="tx2"/>
                </a:solidFill>
                <a:latin typeface="+mj-lt"/>
              </a:rPr>
              <a:t>Two scenarios compared to the baseline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79ADC7-44B0-BC96-5EA7-FEF1DA792B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154" y="3463063"/>
            <a:ext cx="5509408" cy="29096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8721A70-8448-EE31-CD3C-41D4AB04DE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697585"/>
            <a:ext cx="5983806" cy="23574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C4E3CF4-9BEB-DC36-8EB4-2BE44F4A4CCF}"/>
              </a:ext>
            </a:extLst>
          </p:cNvPr>
          <p:cNvSpPr txBox="1"/>
          <p:nvPr/>
        </p:nvSpPr>
        <p:spPr>
          <a:xfrm>
            <a:off x="9431723" y="2030515"/>
            <a:ext cx="2109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b="1" i="1" dirty="0"/>
              <a:t>1-year outputs</a:t>
            </a:r>
          </a:p>
        </p:txBody>
      </p:sp>
    </p:spTree>
    <p:extLst>
      <p:ext uri="{BB962C8B-B14F-4D97-AF65-F5344CB8AC3E}">
        <p14:creationId xmlns:p14="http://schemas.microsoft.com/office/powerpoint/2010/main" val="567015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/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C4D45-7028-2958-DD00-B6A5B6AD3BC3}"/>
              </a:ext>
            </a:extLst>
          </p:cNvPr>
          <p:cNvSpPr txBox="1">
            <a:spLocks/>
          </p:cNvSpPr>
          <p:nvPr/>
        </p:nvSpPr>
        <p:spPr>
          <a:xfrm>
            <a:off x="463189" y="744630"/>
            <a:ext cx="9750177" cy="126000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Century Gothic" panose="020B0502020202020204" pitchFamily="34" charset="0"/>
                <a:ea typeface="+mj-ea"/>
                <a:cs typeface="Arial"/>
              </a:defRPr>
            </a:lvl1pPr>
          </a:lstStyle>
          <a:p>
            <a:r>
              <a:rPr lang="en-US" dirty="0">
                <a:solidFill>
                  <a:schemeClr val="tx2"/>
                </a:solidFill>
              </a:rPr>
              <a:t>What TIER-Plus produces (outputs) 2/3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252CD5-23EA-47A8-42E4-B880D6912394}"/>
              </a:ext>
            </a:extLst>
          </p:cNvPr>
          <p:cNvSpPr txBox="1">
            <a:spLocks/>
          </p:cNvSpPr>
          <p:nvPr/>
        </p:nvSpPr>
        <p:spPr>
          <a:xfrm>
            <a:off x="442913" y="2447078"/>
            <a:ext cx="6192837" cy="5128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/>
              <a:t>c. Health outcomes</a:t>
            </a:r>
            <a:endParaRPr lang="en-CH" sz="20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F18AE44-502F-4AC5-EFFF-A8C727EB2207}"/>
              </a:ext>
            </a:extLst>
          </p:cNvPr>
          <p:cNvSpPr txBox="1">
            <a:spLocks/>
          </p:cNvSpPr>
          <p:nvPr/>
        </p:nvSpPr>
        <p:spPr bwMode="gray">
          <a:xfrm>
            <a:off x="6662146" y="2447078"/>
            <a:ext cx="5086941" cy="51285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220663" indent="-220663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○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9263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○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5638" indent="-212725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○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98525" indent="-23495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○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27125" indent="-23495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○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d. Cost analysis</a:t>
            </a:r>
            <a:endParaRPr lang="en-CH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91F0DF-E949-7599-FA03-A75D0BE0C5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878" y="2822181"/>
            <a:ext cx="5887122" cy="27032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BCF2A51-95D5-29E4-C209-5E7D4FA65D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5849" y="2959928"/>
            <a:ext cx="5577273" cy="2703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418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FDBE2-68FA-815F-6921-E2ABB1B34221}"/>
              </a:ext>
            </a:extLst>
          </p:cNvPr>
          <p:cNvSpPr txBox="1">
            <a:spLocks/>
          </p:cNvSpPr>
          <p:nvPr/>
        </p:nvSpPr>
        <p:spPr>
          <a:xfrm>
            <a:off x="442913" y="511180"/>
            <a:ext cx="9857414" cy="126000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Century Gothic" panose="020B0502020202020204" pitchFamily="34" charset="0"/>
                <a:ea typeface="+mj-ea"/>
                <a:cs typeface="Arial"/>
              </a:defRPr>
            </a:lvl1pPr>
          </a:lstStyle>
          <a:p>
            <a:r>
              <a:rPr lang="en-US" dirty="0">
                <a:solidFill>
                  <a:schemeClr val="tx2"/>
                </a:solidFill>
              </a:rPr>
              <a:t>What TIER-Plus produces (outputs) 3/3</a:t>
            </a:r>
            <a:endParaRPr lang="en-CH" dirty="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B14DD-B37D-2046-5738-FF104AC221D4}"/>
              </a:ext>
            </a:extLst>
          </p:cNvPr>
          <p:cNvSpPr txBox="1">
            <a:spLocks/>
          </p:cNvSpPr>
          <p:nvPr/>
        </p:nvSpPr>
        <p:spPr>
          <a:xfrm>
            <a:off x="647701" y="1771180"/>
            <a:ext cx="6192837" cy="5128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/>
              <a:t>e. Impact on HIV care cascade</a:t>
            </a:r>
            <a:endParaRPr lang="en-CH" sz="20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37010C8-2B06-3D31-5CFE-9FEB39F1CF62}"/>
              </a:ext>
            </a:extLst>
          </p:cNvPr>
          <p:cNvSpPr txBox="1">
            <a:spLocks/>
          </p:cNvSpPr>
          <p:nvPr/>
        </p:nvSpPr>
        <p:spPr bwMode="gray">
          <a:xfrm>
            <a:off x="5884378" y="1771180"/>
            <a:ext cx="5086941" cy="51285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220663" indent="-220663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○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9263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○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5638" indent="-212725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○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98525" indent="-23495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○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27125" indent="-23495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○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f. Cost breakdown</a:t>
            </a:r>
            <a:endParaRPr lang="en-CH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6E0C8A-3928-44D8-6E99-D55B60B441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13" y="2284030"/>
            <a:ext cx="5440431" cy="34371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F560F67-3109-D1F9-D046-1D39F90AAF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3345" y="2192234"/>
            <a:ext cx="5440432" cy="3569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984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2881C2D-8717-268B-76E9-3DD5D97C66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142" y="687854"/>
            <a:ext cx="9561388" cy="545577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990D206-926C-DA24-2BE7-8BD26E88CC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4189" y="5146675"/>
            <a:ext cx="1393825" cy="139382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1FA4D1D-304E-7563-610A-772D0FA7910D}"/>
              </a:ext>
            </a:extLst>
          </p:cNvPr>
          <p:cNvSpPr/>
          <p:nvPr/>
        </p:nvSpPr>
        <p:spPr>
          <a:xfrm flipV="1">
            <a:off x="6227060" y="1790360"/>
            <a:ext cx="872988" cy="271521"/>
          </a:xfrm>
          <a:prstGeom prst="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88000" tIns="288000" rIns="288000" bIns="288000" rtlCol="0" anchor="t"/>
          <a:lstStyle/>
          <a:p>
            <a:pPr algn="l"/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701663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4A1A3-22F7-B281-3563-91E4C2B56C5F}"/>
              </a:ext>
            </a:extLst>
          </p:cNvPr>
          <p:cNvSpPr txBox="1">
            <a:spLocks/>
          </p:cNvSpPr>
          <p:nvPr/>
        </p:nvSpPr>
        <p:spPr>
          <a:xfrm>
            <a:off x="1080654" y="539419"/>
            <a:ext cx="10709563" cy="1260000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Century Gothic" panose="020B0502020202020204" pitchFamily="34" charset="0"/>
                <a:ea typeface="+mj-ea"/>
                <a:cs typeface="Arial"/>
              </a:defRPr>
            </a:lvl1pPr>
          </a:lstStyle>
          <a:p>
            <a:r>
              <a:rPr lang="en-US" dirty="0">
                <a:solidFill>
                  <a:schemeClr val="tx2"/>
                </a:solidFill>
              </a:rPr>
              <a:t>What if you want to adjust the assumptions?</a:t>
            </a:r>
            <a:endParaRPr lang="en-CH" dirty="0">
              <a:solidFill>
                <a:schemeClr val="tx2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E44B044-2B72-F519-62D0-67117DB279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2194" y="1799419"/>
            <a:ext cx="6858000" cy="4572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C0ACAE2-A4FF-0B97-7548-EDD996AE9F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3902" y="1247363"/>
            <a:ext cx="8674583" cy="5124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516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26B8D-B9CA-A351-8468-6B4D1A2F7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TIER-Plus </a:t>
            </a:r>
            <a:r>
              <a:rPr lang="en-US" dirty="0">
                <a:solidFill>
                  <a:schemeClr val="accent6"/>
                </a:solidFill>
              </a:rPr>
              <a:t>can</a:t>
            </a:r>
            <a:r>
              <a:rPr lang="en-US" dirty="0"/>
              <a:t> and </a:t>
            </a:r>
            <a:r>
              <a:rPr lang="en-US" dirty="0">
                <a:solidFill>
                  <a:schemeClr val="accent4"/>
                </a:solidFill>
              </a:rPr>
              <a:t>cannot</a:t>
            </a:r>
            <a:r>
              <a:rPr lang="en-US" dirty="0"/>
              <a:t> 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5870D-2F32-847D-60EC-A1DEE7F8193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99020" y="2694962"/>
            <a:ext cx="5028943" cy="4738688"/>
          </a:xfrm>
        </p:spPr>
        <p:txBody>
          <a:bodyPr/>
          <a:lstStyle/>
          <a:p>
            <a:r>
              <a:rPr lang="en-ZA" dirty="0"/>
              <a:t>✅ </a:t>
            </a:r>
            <a:r>
              <a:rPr lang="en-NL"/>
              <a:t>Support decision making conversations</a:t>
            </a:r>
            <a:r>
              <a:rPr lang="en-US" dirty="0"/>
              <a:t> at a national level</a:t>
            </a:r>
          </a:p>
          <a:p>
            <a:endParaRPr lang="en-US" dirty="0"/>
          </a:p>
          <a:p>
            <a:r>
              <a:rPr lang="en-ZA" dirty="0"/>
              <a:t>✅ </a:t>
            </a:r>
            <a:r>
              <a:rPr lang="en-US" dirty="0"/>
              <a:t>Look at the impact across the cascade of multiple interventions</a:t>
            </a:r>
            <a:endParaRPr lang="en-NL"/>
          </a:p>
          <a:p>
            <a:endParaRPr lang="en-NL"/>
          </a:p>
          <a:p>
            <a:r>
              <a:rPr lang="en-ZA" dirty="0"/>
              <a:t>✅ </a:t>
            </a:r>
            <a:r>
              <a:rPr lang="en-NL"/>
              <a:t>Give an understanding of relative impact of different interventions</a:t>
            </a:r>
            <a:r>
              <a:rPr lang="en-US" dirty="0"/>
              <a:t> on both outcomes and cost</a:t>
            </a:r>
            <a:endParaRPr lang="en-NL"/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CEB6E8-D362-A6A9-25EE-AF6106233BF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177789" y="2698299"/>
            <a:ext cx="4479012" cy="4738688"/>
          </a:xfrm>
        </p:spPr>
        <p:txBody>
          <a:bodyPr/>
          <a:lstStyle/>
          <a:p>
            <a:r>
              <a:rPr lang="en-ZA" dirty="0"/>
              <a:t>❌ </a:t>
            </a:r>
            <a:r>
              <a:rPr lang="en-NL"/>
              <a:t>Provide exact cost estimates for budgeting</a:t>
            </a:r>
          </a:p>
          <a:p>
            <a:endParaRPr lang="en-NL"/>
          </a:p>
          <a:p>
            <a:r>
              <a:rPr lang="en-ZA" dirty="0"/>
              <a:t>❌ </a:t>
            </a:r>
            <a:r>
              <a:rPr lang="en-NL"/>
              <a:t>Give long</a:t>
            </a:r>
            <a:r>
              <a:rPr lang="en-US" dirty="0"/>
              <a:t>-</a:t>
            </a:r>
            <a:r>
              <a:rPr lang="en-NL"/>
              <a:t>term estimates on epidemic impact</a:t>
            </a:r>
            <a:br>
              <a:rPr lang="en-US" dirty="0"/>
            </a:br>
            <a:endParaRPr lang="en-US" dirty="0"/>
          </a:p>
          <a:p>
            <a:r>
              <a:rPr lang="en-ZA" dirty="0"/>
              <a:t>❌ </a:t>
            </a:r>
            <a:r>
              <a:rPr lang="en-US" dirty="0"/>
              <a:t>Replace intervention-specific planning (use DMPPT, PrEP-it, etc.)</a:t>
            </a:r>
          </a:p>
          <a:p>
            <a:endParaRPr lang="en-US" sz="2400" dirty="0"/>
          </a:p>
          <a:p>
            <a:r>
              <a:rPr lang="en-ZA" sz="2400" dirty="0"/>
              <a:t>❌ </a:t>
            </a:r>
            <a:r>
              <a:rPr lang="en-US" sz="2400" dirty="0"/>
              <a:t>INTEGRATION</a:t>
            </a:r>
            <a:endParaRPr lang="en-NL" sz="2400"/>
          </a:p>
          <a:p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6EE3A1-DECC-0E23-B3AF-C5C1F8AB49C9}"/>
              </a:ext>
            </a:extLst>
          </p:cNvPr>
          <p:cNvSpPr txBox="1">
            <a:spLocks/>
          </p:cNvSpPr>
          <p:nvPr/>
        </p:nvSpPr>
        <p:spPr>
          <a:xfrm>
            <a:off x="442913" y="1652224"/>
            <a:ext cx="5358797" cy="1260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Century Gothic" panose="020B0502020202020204" pitchFamily="34" charset="0"/>
                <a:ea typeface="+mj-ea"/>
                <a:cs typeface="Arial"/>
              </a:defRPr>
            </a:lvl1pPr>
          </a:lstStyle>
          <a:p>
            <a:r>
              <a:rPr lang="en-ZA" sz="3000" dirty="0">
                <a:latin typeface="Calibri" panose="020F0502020204030204" pitchFamily="34" charset="0"/>
                <a:cs typeface="Calibri" panose="020F0502020204030204" pitchFamily="34" charset="0"/>
              </a:rPr>
              <a:t>✅ </a:t>
            </a:r>
            <a:r>
              <a:rPr lang="en-NL" sz="30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What TIER-</a:t>
            </a:r>
            <a:r>
              <a:rPr lang="en-US" sz="3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NL" sz="30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lus </a:t>
            </a:r>
            <a:r>
              <a:rPr lang="en-NL" sz="30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can</a:t>
            </a:r>
            <a:r>
              <a:rPr lang="en-NL" sz="30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NL" sz="30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</a:t>
            </a:r>
            <a:endParaRPr lang="en-NL" sz="3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D055996-0A27-5C53-99E0-506CBBD41F99}"/>
              </a:ext>
            </a:extLst>
          </p:cNvPr>
          <p:cNvSpPr txBox="1">
            <a:spLocks/>
          </p:cNvSpPr>
          <p:nvPr/>
        </p:nvSpPr>
        <p:spPr bwMode="gray">
          <a:xfrm>
            <a:off x="6177789" y="1776915"/>
            <a:ext cx="5655913" cy="126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200" b="1" i="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r>
              <a:rPr lang="en-ZA" sz="3000" dirty="0">
                <a:latin typeface="+mj-lt"/>
              </a:rPr>
              <a:t>❌ </a:t>
            </a:r>
            <a:r>
              <a:rPr lang="en-NL" sz="3000" dirty="0">
                <a:latin typeface="+mj-lt"/>
              </a:rPr>
              <a:t>What TIER-</a:t>
            </a:r>
            <a:r>
              <a:rPr lang="en-US" sz="3000" dirty="0">
                <a:latin typeface="+mj-lt"/>
              </a:rPr>
              <a:t>P</a:t>
            </a:r>
            <a:r>
              <a:rPr lang="en-NL" sz="3000" dirty="0">
                <a:latin typeface="+mj-lt"/>
              </a:rPr>
              <a:t>lus </a:t>
            </a:r>
            <a:r>
              <a:rPr lang="en-NL" sz="3000" dirty="0">
                <a:solidFill>
                  <a:schemeClr val="accent4"/>
                </a:solidFill>
                <a:latin typeface="+mj-lt"/>
              </a:rPr>
              <a:t>cannot</a:t>
            </a:r>
            <a:r>
              <a:rPr lang="en-NL" sz="3000" dirty="0">
                <a:latin typeface="+mj-lt"/>
              </a:rPr>
              <a:t> do</a:t>
            </a:r>
          </a:p>
        </p:txBody>
      </p:sp>
    </p:spTree>
    <p:extLst>
      <p:ext uri="{BB962C8B-B14F-4D97-AF65-F5344CB8AC3E}">
        <p14:creationId xmlns:p14="http://schemas.microsoft.com/office/powerpoint/2010/main" val="3450148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6" grpId="0"/>
      <p:bldP spid="6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D73DE-FD0E-8A44-0B00-9343BC628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piloting phase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C94A5-A6BA-D6E7-736F-A3A0BA16293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964317" y="1220355"/>
            <a:ext cx="9145008" cy="4738688"/>
          </a:xfrm>
        </p:spPr>
        <p:txBody>
          <a:bodyPr/>
          <a:lstStyle/>
          <a:p>
            <a:r>
              <a:rPr lang="en-US" dirty="0"/>
              <a:t>The piloting phase has resulted in several meaningful changes:</a:t>
            </a:r>
          </a:p>
          <a:p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3E61230-7B92-D29D-93F6-B05E36F256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1661767"/>
              </p:ext>
            </p:extLst>
          </p:nvPr>
        </p:nvGraphicFramePr>
        <p:xfrm>
          <a:off x="2074977" y="1661364"/>
          <a:ext cx="9834943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96393">
                  <a:extLst>
                    <a:ext uri="{9D8B030D-6E8A-4147-A177-3AD203B41FA5}">
                      <a16:colId xmlns:a16="http://schemas.microsoft.com/office/drawing/2014/main" val="2631047863"/>
                    </a:ext>
                  </a:extLst>
                </a:gridCol>
                <a:gridCol w="2038550">
                  <a:extLst>
                    <a:ext uri="{9D8B030D-6E8A-4147-A177-3AD203B41FA5}">
                      <a16:colId xmlns:a16="http://schemas.microsoft.com/office/drawing/2014/main" val="27497313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NL" dirty="0"/>
                        <a:t>Feedback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L" dirty="0"/>
                        <a:t>Completed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4561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NL" dirty="0"/>
                        <a:t>PrEP targeting by sub-population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dirty="0">
                          <a:effectLst/>
                        </a:rPr>
                        <a:t>✔️</a:t>
                      </a:r>
                      <a:endParaRPr lang="en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3610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NL" dirty="0"/>
                        <a:t>Updated costs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dirty="0">
                          <a:effectLst/>
                        </a:rPr>
                        <a:t>✔️</a:t>
                      </a:r>
                      <a:endParaRPr lang="en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40518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NL" dirty="0"/>
                        <a:t>Output including cost breakdown by category of costs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dirty="0">
                          <a:effectLst/>
                        </a:rPr>
                        <a:t>✔️</a:t>
                      </a:r>
                      <a:endParaRPr lang="en-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0349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NL" dirty="0"/>
                        <a:t>Inclusion of 6-monthly clinical visits vs 12- monthly clinical visits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dirty="0">
                          <a:effectLst/>
                        </a:rPr>
                        <a:t>✔️</a:t>
                      </a:r>
                      <a:endParaRPr lang="en-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9274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L" dirty="0"/>
                        <a:t>Model display improvements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dirty="0">
                          <a:effectLst/>
                        </a:rPr>
                        <a:t>✔️</a:t>
                      </a:r>
                      <a:endParaRPr lang="en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13944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NL" dirty="0"/>
                        <a:t>Updated costs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dirty="0">
                          <a:effectLst/>
                        </a:rPr>
                        <a:t>✔️</a:t>
                      </a:r>
                      <a:endParaRPr lang="en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9233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NL" dirty="0"/>
                        <a:t>Users able to update parameters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dirty="0">
                          <a:effectLst/>
                        </a:rPr>
                        <a:t>✔️</a:t>
                      </a:r>
                      <a:endParaRPr lang="en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4563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NL" dirty="0"/>
                        <a:t>Adding additional countries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22186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NL" dirty="0"/>
                        <a:t>PrEP targeting to pregnant and breastfeeding women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50006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NL" dirty="0"/>
                        <a:t>Further results functionality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9177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NL" dirty="0"/>
                        <a:t>Changes to VL 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101294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BD223DB-A657-78D9-B30E-9531636CCE1D}"/>
              </a:ext>
            </a:extLst>
          </p:cNvPr>
          <p:cNvSpPr txBox="1"/>
          <p:nvPr/>
        </p:nvSpPr>
        <p:spPr>
          <a:xfrm>
            <a:off x="10643581" y="4598006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L" sz="3200" b="1" dirty="0">
                <a:solidFill>
                  <a:schemeClr val="accent3"/>
                </a:solidFill>
              </a:rPr>
              <a:t>~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FAFD31-952B-9005-D80C-77F921419604}"/>
              </a:ext>
            </a:extLst>
          </p:cNvPr>
          <p:cNvSpPr txBox="1"/>
          <p:nvPr/>
        </p:nvSpPr>
        <p:spPr>
          <a:xfrm>
            <a:off x="10643029" y="4986136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L" sz="3200" b="1" dirty="0">
                <a:solidFill>
                  <a:schemeClr val="accent3"/>
                </a:solidFill>
              </a:rPr>
              <a:t>~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9B7522-9061-AEB1-7844-93C7F1DB5150}"/>
              </a:ext>
            </a:extLst>
          </p:cNvPr>
          <p:cNvSpPr txBox="1"/>
          <p:nvPr/>
        </p:nvSpPr>
        <p:spPr>
          <a:xfrm>
            <a:off x="10641925" y="5374266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L" sz="3200" b="1" dirty="0">
                <a:solidFill>
                  <a:schemeClr val="accent3"/>
                </a:solidFill>
              </a:rPr>
              <a:t>~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6110F6-63E9-8151-A8B6-6E91E4C3E419}"/>
              </a:ext>
            </a:extLst>
          </p:cNvPr>
          <p:cNvSpPr txBox="1"/>
          <p:nvPr/>
        </p:nvSpPr>
        <p:spPr>
          <a:xfrm>
            <a:off x="10641925" y="572073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L" sz="3200" b="1" dirty="0">
                <a:solidFill>
                  <a:schemeClr val="accent3"/>
                </a:solidFill>
              </a:rPr>
              <a:t>~</a:t>
            </a:r>
          </a:p>
        </p:txBody>
      </p:sp>
    </p:spTree>
    <p:extLst>
      <p:ext uri="{BB962C8B-B14F-4D97-AF65-F5344CB8AC3E}">
        <p14:creationId xmlns:p14="http://schemas.microsoft.com/office/powerpoint/2010/main" val="10263193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08F552F-E5A2-B29D-ACC5-EDED40F3F0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8857" y="3681248"/>
            <a:ext cx="6387638" cy="2165370"/>
          </a:xfrm>
        </p:spPr>
        <p:txBody>
          <a:bodyPr>
            <a:normAutofit/>
          </a:bodyPr>
          <a:lstStyle/>
          <a:p>
            <a:r>
              <a:rPr lang="en-US" dirty="0"/>
              <a:t>We need and want your feedback to make TIER-plus as useful as possible! </a:t>
            </a:r>
          </a:p>
          <a:p>
            <a:r>
              <a:rPr lang="en-US" dirty="0"/>
              <a:t>What else would you like to see?</a:t>
            </a:r>
          </a:p>
          <a:p>
            <a:endParaRPr lang="en-US" dirty="0"/>
          </a:p>
          <a:p>
            <a:r>
              <a:rPr lang="en-US" dirty="0"/>
              <a:t>Please explore and provide feedback!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52B536B-5521-C932-4B71-14DD12E0B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TIER-Plus is a living tool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DBBAB7C-1C55-7F20-F388-32FD0D68085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494A8B-018E-AB85-162B-5F1EDBF6C8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8375" y="1838673"/>
            <a:ext cx="3191201" cy="3191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5516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52D7A-DA7B-E99F-F651-2D8DC21BA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63956639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Custom 1">
      <a:dk1>
        <a:srgbClr val="000000"/>
      </a:dk1>
      <a:lt1>
        <a:srgbClr val="FFFFFF"/>
      </a:lt1>
      <a:dk2>
        <a:srgbClr val="022069"/>
      </a:dk2>
      <a:lt2>
        <a:srgbClr val="DBDCDC"/>
      </a:lt2>
      <a:accent1>
        <a:srgbClr val="00B5DE"/>
      </a:accent1>
      <a:accent2>
        <a:srgbClr val="FDB913"/>
      </a:accent2>
      <a:accent3>
        <a:srgbClr val="00B8A5"/>
      </a:accent3>
      <a:accent4>
        <a:srgbClr val="F04E58"/>
      </a:accent4>
      <a:accent5>
        <a:srgbClr val="975CA5"/>
      </a:accent5>
      <a:accent6>
        <a:srgbClr val="70AD47"/>
      </a:accent6>
      <a:hlink>
        <a:srgbClr val="0071CE"/>
      </a:hlink>
      <a:folHlink>
        <a:srgbClr val="6CACE3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B5DE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heme1" id="{0F1C20AD-2B43-49A8-A44D-73243EC4F3F0}" vid="{6ABE10FF-601A-43BC-92B5-D5492DD3341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NGOOnlineDocument" ma:contentTypeID="0x010100E87BF1D48505D84EB0D589F252D1AFB200D627E0FEC4140D4E8DE54C47B7C8B9C8" ma:contentTypeVersion="21" ma:contentTypeDescription="NGO Document content type" ma:contentTypeScope="" ma:versionID="1ab19dc3161c538b87f41ea8ec53190f">
  <xsd:schema xmlns:xsd="http://www.w3.org/2001/XMLSchema" xmlns:xs="http://www.w3.org/2001/XMLSchema" xmlns:p="http://schemas.microsoft.com/office/2006/metadata/properties" xmlns:ns2="264440c9-7b8c-4af8-95ca-ba2abb485d1a" xmlns:ns3="440186f3-efbf-47f8-9b2f-099ee5b0127d" targetNamespace="http://schemas.microsoft.com/office/2006/metadata/properties" ma:root="true" ma:fieldsID="20343cb52cb52c569727c496b821ddb4" ns2:_="" ns3:_="">
    <xsd:import namespace="264440c9-7b8c-4af8-95ca-ba2abb485d1a"/>
    <xsd:import namespace="440186f3-efbf-47f8-9b2f-099ee5b0127d"/>
    <xsd:element name="properties">
      <xsd:complexType>
        <xsd:sequence>
          <xsd:element name="documentManagement">
            <xsd:complexType>
              <xsd:all>
                <xsd:element ref="ns2:FavoriteUsers" minOccurs="0"/>
                <xsd:element ref="ns2:KeyEntities" minOccurs="0"/>
                <xsd:element ref="ns2:TaxCatchAll" minOccurs="0"/>
                <xsd:element ref="ns2:i9f2da93fcc74e869d070fd34a0597c4" minOccurs="0"/>
                <xsd:element ref="ns2:TaxCatchAllLabel" minOccurs="0"/>
                <xsd:element ref="ns2:cc92bdb0fa944447acf309642a11bf0d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lcf76f155ced4ddcb4097134ff3c332f" minOccurs="0"/>
                <xsd:element ref="ns3:MediaServiceOCR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4440c9-7b8c-4af8-95ca-ba2abb485d1a" elementFormDefault="qualified">
    <xsd:import namespace="http://schemas.microsoft.com/office/2006/documentManagement/types"/>
    <xsd:import namespace="http://schemas.microsoft.com/office/infopath/2007/PartnerControls"/>
    <xsd:element name="FavoriteUsers" ma:index="8" nillable="true" ma:displayName="F" ma:description="Store all users who mark this document as favorite" ma:internalName="FavoriteUsers" ma:readOnly="false">
      <xsd:simpleType>
        <xsd:restriction base="dms:Text"/>
      </xsd:simpleType>
    </xsd:element>
    <xsd:element name="KeyEntities" ma:index="9" nillable="true" ma:displayName="K" ma:description="Store all entities which this document as a key" ma:internalName="KeyEntities" ma:readOnly="false">
      <xsd:simpleType>
        <xsd:restriction base="dms:Text"/>
      </xsd:simpleType>
    </xsd:element>
    <xsd:element name="TaxCatchAll" ma:index="10" nillable="true" ma:displayName="Taxonomy Catch All Column" ma:hidden="true" ma:list="{6a85807d-4faa-4bb6-a909-4fc62e55d43f}" ma:internalName="TaxCatchAll" ma:readOnly="false" ma:showField="CatchAllData" ma:web="264440c9-7b8c-4af8-95ca-ba2abb485d1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i9f2da93fcc74e869d070fd34a0597c4" ma:index="13" nillable="true" ma:taxonomy="true" ma:internalName="i9f2da93fcc74e869d070fd34a0597c4" ma:taxonomyFieldName="NGOOnlineDocumentType" ma:displayName="Document types" ma:readOnly="false" ma:fieldId="{29f2da93-fcc7-4e86-9d07-0fd34a0597c4}" ma:taxonomyMulti="true" ma:sspId="e492bf4d-7d24-4a02-9dd7-4d67ddc3dcfb" ma:termSetId="ab881ecd-e3fb-4592-9594-ea70170c21a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Label" ma:index="14" nillable="true" ma:displayName="Taxonomy Catch All Column1" ma:hidden="true" ma:list="{6a85807d-4faa-4bb6-a909-4fc62e55d43f}" ma:internalName="TaxCatchAllLabel" ma:readOnly="true" ma:showField="CatchAllDataLabel" ma:web="264440c9-7b8c-4af8-95ca-ba2abb485d1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cc92bdb0fa944447acf309642a11bf0d" ma:index="15" nillable="true" ma:taxonomy="true" ma:internalName="cc92bdb0fa944447acf309642a11bf0d" ma:taxonomyFieldName="NGOOnlineKeywords" ma:displayName="Keywords" ma:readOnly="false" ma:fieldId="{cc92bdb0-fa94-4447-acf3-09642a11bf0d}" ma:taxonomyMulti="true" ma:sspId="e492bf4d-7d24-4a02-9dd7-4d67ddc3dcfb" ma:termSetId="7c9b2214-6d63-47c8-ad9c-de84cf58bf6c" ma:anchorId="00000000-0000-0000-0000-000000000000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0186f3-efbf-47f8-9b2f-099ee5b0127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6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7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5" nillable="true" ma:taxonomy="true" ma:internalName="lcf76f155ced4ddcb4097134ff3c332f" ma:taxonomyFieldName="MediaServiceImageTags" ma:displayName="Image Tags" ma:readOnly="false" ma:fieldId="{5cf76f15-5ced-4ddc-b409-7134ff3c332f}" ma:taxonomyMulti="true" ma:sspId="e492bf4d-7d24-4a02-9dd7-4d67ddc3dcf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9f2da93fcc74e869d070fd34a0597c4 xmlns="264440c9-7b8c-4af8-95ca-ba2abb485d1a">
      <Terms xmlns="http://schemas.microsoft.com/office/infopath/2007/PartnerControls"/>
    </i9f2da93fcc74e869d070fd34a0597c4>
    <FavoriteUsers xmlns="264440c9-7b8c-4af8-95ca-ba2abb485d1a" xsi:nil="true"/>
    <cc92bdb0fa944447acf309642a11bf0d xmlns="264440c9-7b8c-4af8-95ca-ba2abb485d1a">
      <Terms xmlns="http://schemas.microsoft.com/office/infopath/2007/PartnerControls"/>
    </cc92bdb0fa944447acf309642a11bf0d>
    <KeyEntities xmlns="264440c9-7b8c-4af8-95ca-ba2abb485d1a" xsi:nil="true"/>
    <TaxCatchAll xmlns="264440c9-7b8c-4af8-95ca-ba2abb485d1a" xsi:nil="true"/>
    <lcf76f155ced4ddcb4097134ff3c332f xmlns="440186f3-efbf-47f8-9b2f-099ee5b0127d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1404C719-C8BD-4BD3-B99B-ACAE57CC694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427E4FF-522E-4681-A9D8-551552FD8F9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64440c9-7b8c-4af8-95ca-ba2abb485d1a"/>
    <ds:schemaRef ds:uri="440186f3-efbf-47f8-9b2f-099ee5b0127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40978B8-74BD-4ABE-8747-4338AF74F122}">
  <ds:schemaRefs>
    <ds:schemaRef ds:uri="http://purl.org/dc/terms/"/>
    <ds:schemaRef ds:uri="http://purl.org/dc/dcmitype/"/>
    <ds:schemaRef ds:uri="264440c9-7b8c-4af8-95ca-ba2abb485d1a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440186f3-efbf-47f8-9b2f-099ee5b0127d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505</TotalTime>
  <Words>516</Words>
  <Application>Microsoft Macintosh PowerPoint</Application>
  <PresentationFormat>Widescreen</PresentationFormat>
  <Paragraphs>112</Paragraphs>
  <Slides>20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Century Gothic</vt:lpstr>
      <vt:lpstr>Wingdings</vt:lpstr>
      <vt:lpstr>Theme1</vt:lpstr>
      <vt:lpstr>TIER-Plus:  Supporting evidence-informed prioritization and trade-off analysis in HIV service planning</vt:lpstr>
      <vt:lpstr>Who is TIER-Plus for?</vt:lpstr>
      <vt:lpstr>Let’s take a look</vt:lpstr>
      <vt:lpstr>PowerPoint Presentation</vt:lpstr>
      <vt:lpstr>What goes in (inputs 1)</vt:lpstr>
      <vt:lpstr>PowerPoint Presentation</vt:lpstr>
      <vt:lpstr>What goes in (inputs 2)</vt:lpstr>
      <vt:lpstr>Countries represented in TIER-Plus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TIER-Plus can and cannot do</vt:lpstr>
      <vt:lpstr>The piloting phase</vt:lpstr>
      <vt:lpstr>TIER-Plus is a living tool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Microsoft Office User</cp:lastModifiedBy>
  <cp:revision>6</cp:revision>
  <cp:lastPrinted>2021-07-21T14:19:26Z</cp:lastPrinted>
  <dcterms:created xsi:type="dcterms:W3CDTF">2022-06-22T19:43:12Z</dcterms:created>
  <dcterms:modified xsi:type="dcterms:W3CDTF">2026-08-12T12:24:27Z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0x010100E87BF1D48505D84EB0D589F252D1AFB200D627E0FEC4140D4E8DE54C47B7C8B9C8</vt:lpwstr>
  </property>
  <property fmtid="{D5CDD505-2E9C-101B-9397-08002B2CF9AE}" pid="3" name="NGOOnlineKeywords">
    <vt:lpwstr/>
  </property>
  <property fmtid="{D5CDD505-2E9C-101B-9397-08002B2CF9AE}" pid="4" name="NGOOnlineDocumentType">
    <vt:lpwstr/>
  </property>
  <property fmtid="{D5CDD505-2E9C-101B-9397-08002B2CF9AE}" pid="5" name="MediaServiceImageTags">
    <vt:lpwstr/>
  </property>
  <property fmtid="{D5CDD505-2E9C-101B-9397-08002B2CF9AE}" pid="6" name="_ExtendedDescription">
    <vt:lpwstr/>
  </property>
</Properties>
</file>