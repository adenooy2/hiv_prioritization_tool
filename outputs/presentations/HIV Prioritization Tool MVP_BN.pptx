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87" r:id="rId5"/>
    <p:sldId id="285" r:id="rId6"/>
    <p:sldId id="300" r:id="rId7"/>
    <p:sldId id="321" r:id="rId8"/>
    <p:sldId id="301" r:id="rId9"/>
    <p:sldId id="304" r:id="rId10"/>
    <p:sldId id="305" r:id="rId11"/>
    <p:sldId id="306" r:id="rId12"/>
    <p:sldId id="303" r:id="rId13"/>
    <p:sldId id="310" r:id="rId14"/>
    <p:sldId id="307" r:id="rId15"/>
    <p:sldId id="309" r:id="rId16"/>
    <p:sldId id="311" r:id="rId17"/>
    <p:sldId id="312" r:id="rId18"/>
    <p:sldId id="313" r:id="rId19"/>
    <p:sldId id="315" r:id="rId20"/>
    <p:sldId id="316" r:id="rId21"/>
    <p:sldId id="317" r:id="rId22"/>
    <p:sldId id="318" r:id="rId23"/>
    <p:sldId id="319" r:id="rId24"/>
    <p:sldId id="320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FD3FEF4-AEAF-917A-C660-C5359E089327}" name="Alex de Nooy" initials="Ad" userId="2ae90f5cbd0fd17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B0F1"/>
    <a:srgbClr val="F88D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014B3E-5796-2D47-8EDF-95DBB63C553D}" v="34" dt="2026-02-06T14:32:42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35" autoAdjust="0"/>
    <p:restoredTop sz="82857"/>
  </p:normalViewPr>
  <p:slideViewPr>
    <p:cSldViewPr snapToGrid="0" showGuides="1">
      <p:cViewPr varScale="1">
        <p:scale>
          <a:sx n="90" d="100"/>
          <a:sy n="90" d="100"/>
        </p:scale>
        <p:origin x="22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15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6AAA520-F2F5-4EDD-89FF-112F506DBD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Verdana" panose="020B060403050404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6D02F3C-8EFD-4B07-80ED-B2429D54C3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2BD4C-6D77-4375-88B2-8F24E3740D1D}" type="datetimeFigureOut">
              <a:rPr lang="de-DE" smtClean="0">
                <a:latin typeface="Verdana" panose="020B0604030504040204" pitchFamily="34" charset="0"/>
              </a:rPr>
              <a:t>09.02.26</a:t>
            </a:fld>
            <a:endParaRPr lang="de-DE" dirty="0">
              <a:latin typeface="Verdana" panose="020B060403050404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1B987F-84C1-40E0-A9D7-A8F4901E46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Verdana" panose="020B060403050404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5432F72-438D-4B28-B0F3-2E4B8F6078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C5FE3-128E-4546-A5A8-7038C4C3160C}" type="slidenum">
              <a:rPr lang="de-DE" smtClean="0">
                <a:latin typeface="Verdana" panose="020B0604030504040204" pitchFamily="34" charset="0"/>
              </a:rPr>
              <a:t>‹#›</a:t>
            </a:fld>
            <a:endParaRPr lang="de-DE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65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59AF585C-AB1D-41F5-8A22-EE236ED1EB54}" type="datetimeFigureOut">
              <a:rPr lang="de-DE" smtClean="0"/>
              <a:pPr/>
              <a:t>09.02.26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F6DADB82-A706-4784-AE8E-3965AD040C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53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ADB82-A706-4784-AE8E-3965AD040C7C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1132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ADB82-A706-4784-AE8E-3965AD040C7C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4608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2AFC8-67E5-4BC8-26B0-D83CEB7E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B26B7-EBF7-FD1A-6B38-B43D678AA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91AFB-211F-CC39-346A-8FEB0376A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3764A-44E2-1A06-A279-A6AF1085F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ADB82-A706-4784-AE8E-3965AD040C7C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7813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ADB82-A706-4784-AE8E-3965AD040C7C}" type="slidenum">
              <a:rPr lang="de-DE" smtClean="0"/>
              <a:pPr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1282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9140E9AE-AB8C-45D2-8169-8A8F93E9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512" y="1294944"/>
            <a:ext cx="8137526" cy="4762956"/>
          </a:xfrm>
        </p:spPr>
        <p:txBody>
          <a:bodyPr/>
          <a:lstStyle>
            <a:lvl1pPr>
              <a:lnSpc>
                <a:spcPct val="85000"/>
              </a:lnSpc>
              <a:defRPr sz="75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0583FDD7-9A57-49D6-92B5-D5F33EBBFF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3" y="454977"/>
            <a:ext cx="1233487" cy="450502"/>
          </a:xfrm>
          <a:prstGeom prst="rect">
            <a:avLst/>
          </a:prstGeom>
        </p:spPr>
      </p:pic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03A5B761-8BC0-42AF-81B9-7B9A73AAED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9512" y="6248400"/>
            <a:ext cx="8137526" cy="3962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8BC6A7D-A966-48AF-8316-B852FFDEEF66}"/>
              </a:ext>
            </a:extLst>
          </p:cNvPr>
          <p:cNvSpPr txBox="1"/>
          <p:nvPr userDrawn="1"/>
        </p:nvSpPr>
        <p:spPr>
          <a:xfrm>
            <a:off x="3733801" y="444583"/>
            <a:ext cx="1471612" cy="1840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de-DE" sz="750" b="0" i="0" dirty="0">
                <a:latin typeface="Verdana" panose="020B0604030504040204" pitchFamily="34" charset="0"/>
              </a:rPr>
              <a:t>International AIDS Society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855D9016-FECC-4E5D-ADF2-7843F8F8B2A1}"/>
              </a:ext>
            </a:extLst>
          </p:cNvPr>
          <p:cNvSpPr txBox="1"/>
          <p:nvPr userDrawn="1"/>
        </p:nvSpPr>
        <p:spPr>
          <a:xfrm>
            <a:off x="5360194" y="444583"/>
            <a:ext cx="1275556" cy="1840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de-DE" sz="750" b="0" i="0" dirty="0">
                <a:latin typeface="Verdana" panose="020B0604030504040204" pitchFamily="34" charset="0"/>
              </a:rPr>
              <a:t>iasociety.org</a:t>
            </a:r>
          </a:p>
        </p:txBody>
      </p:sp>
    </p:spTree>
    <p:extLst>
      <p:ext uri="{BB962C8B-B14F-4D97-AF65-F5344CB8AC3E}">
        <p14:creationId xmlns:p14="http://schemas.microsoft.com/office/powerpoint/2010/main" val="156709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33">
            <a:extLst>
              <a:ext uri="{FF2B5EF4-FFF2-40B4-BE49-F238E27FC236}">
                <a16:creationId xmlns:a16="http://schemas.microsoft.com/office/drawing/2014/main" id="{0583FDD7-9A57-49D6-92B5-D5F33EBBFF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3" y="454977"/>
            <a:ext cx="1233487" cy="450502"/>
          </a:xfrm>
          <a:prstGeom prst="rect">
            <a:avLst/>
          </a:prstGeom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98BC6A7D-A966-48AF-8316-B852FFDEEF66}"/>
              </a:ext>
            </a:extLst>
          </p:cNvPr>
          <p:cNvSpPr txBox="1"/>
          <p:nvPr userDrawn="1"/>
        </p:nvSpPr>
        <p:spPr>
          <a:xfrm>
            <a:off x="3733801" y="444583"/>
            <a:ext cx="1471612" cy="1840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de-DE" sz="750" b="0" i="0" dirty="0">
                <a:latin typeface="Verdana" panose="020B0604030504040204" pitchFamily="34" charset="0"/>
              </a:rPr>
              <a:t>International AIDS Society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855D9016-FECC-4E5D-ADF2-7843F8F8B2A1}"/>
              </a:ext>
            </a:extLst>
          </p:cNvPr>
          <p:cNvSpPr txBox="1"/>
          <p:nvPr userDrawn="1"/>
        </p:nvSpPr>
        <p:spPr>
          <a:xfrm>
            <a:off x="5360194" y="444583"/>
            <a:ext cx="1275556" cy="1840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de-DE" sz="750" b="0" i="0" dirty="0">
                <a:latin typeface="Verdana" panose="020B0604030504040204" pitchFamily="34" charset="0"/>
              </a:rPr>
              <a:t>iasociety.org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3EC23C-51C9-47E8-9EC0-51E75A990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401624"/>
            <a:ext cx="6192838" cy="115107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9E4F12-16AF-4CA2-9394-804A194915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2912" y="2552700"/>
            <a:ext cx="6192837" cy="3505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4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0222BDBD-0C76-472C-A496-F0F76AC3E6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996113" y="0"/>
            <a:ext cx="5195887" cy="685800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430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F3A56-2912-4F6C-B763-FA01B5A3DBD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78F880-622A-4AD4-AD12-DB8ACC4A855D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2E4203-C6EB-4A6B-B123-7F7ECE10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b="0" i="0"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Speaker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ACFDB4-E040-4C21-85D2-79A74809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Topic Lore Ipsum</a:t>
            </a:r>
          </a:p>
        </p:txBody>
      </p:sp>
    </p:spTree>
    <p:extLst>
      <p:ext uri="{BB962C8B-B14F-4D97-AF65-F5344CB8AC3E}">
        <p14:creationId xmlns:p14="http://schemas.microsoft.com/office/powerpoint/2010/main" val="335850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F3A56-2912-4F6C-B763-FA01B5A3DBD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78F880-622A-4AD4-AD12-DB8ACC4A855D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2E4203-C6EB-4A6B-B123-7F7ECE10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b="0" i="0"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Speaker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ACFDB4-E040-4C21-85D2-79A74809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Topic Lore Ipsum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5E3B62B-CF09-471B-9761-31105E803B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996113" y="0"/>
            <a:ext cx="5195887" cy="685800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96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67EA35-F68A-454D-A1CC-5E137F915BE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C0582F-CD7C-43A1-A31F-61C84AF5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b="0" i="0"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Speaker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5BDC8B-AC16-40EC-9659-81A213A0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Topic Lore Ipsum</a:t>
            </a:r>
          </a:p>
        </p:txBody>
      </p:sp>
    </p:spTree>
    <p:extLst>
      <p:ext uri="{BB962C8B-B14F-4D97-AF65-F5344CB8AC3E}">
        <p14:creationId xmlns:p14="http://schemas.microsoft.com/office/powerpoint/2010/main" val="194863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C0582F-CD7C-43A1-A31F-61C84AF5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b="0" i="0"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Speaker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5BDC8B-AC16-40EC-9659-81A213A0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Topic Lore Ipsum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A3000E4-2BD5-435D-AE69-C20EC0E3F2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3725862" y="1346515"/>
            <a:ext cx="8131175" cy="4711385"/>
          </a:xfrm>
        </p:spPr>
        <p:txBody>
          <a:bodyPr/>
          <a:lstStyle>
            <a:lvl1pPr marL="266700" indent="-266700">
              <a:lnSpc>
                <a:spcPct val="90000"/>
              </a:lnSpc>
              <a:buFont typeface="Ping LCG Light" pitchFamily="50" charset="0"/>
              <a:buChar char="»"/>
              <a:defRPr sz="4200">
                <a:solidFill>
                  <a:schemeClr val="accent1"/>
                </a:solidFill>
              </a:defRPr>
            </a:lvl1pPr>
            <a:lvl2pPr marL="182563" indent="0" algn="r">
              <a:lnSpc>
                <a:spcPct val="90000"/>
              </a:lnSpc>
              <a:buNone/>
              <a:defRPr sz="2000">
                <a:solidFill>
                  <a:schemeClr val="accent1"/>
                </a:solidFill>
              </a:defRPr>
            </a:lvl2pPr>
            <a:lvl3pPr>
              <a:lnSpc>
                <a:spcPct val="90000"/>
              </a:lnSpc>
              <a:defRPr sz="4200"/>
            </a:lvl3pPr>
            <a:lvl4pPr>
              <a:lnSpc>
                <a:spcPct val="90000"/>
              </a:lnSpc>
              <a:defRPr sz="4200"/>
            </a:lvl4pPr>
            <a:lvl5pPr>
              <a:lnSpc>
                <a:spcPct val="90000"/>
              </a:lnSpc>
              <a:defRPr sz="4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8819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2CC7437-6059-43F9-AED7-852A0521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b="0" i="0"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Speaker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DC35EB0-B8D6-413D-890C-D0905B12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Topic Lore Ipsum</a:t>
            </a:r>
          </a:p>
        </p:txBody>
      </p:sp>
    </p:spTree>
    <p:extLst>
      <p:ext uri="{BB962C8B-B14F-4D97-AF65-F5344CB8AC3E}">
        <p14:creationId xmlns:p14="http://schemas.microsoft.com/office/powerpoint/2010/main" val="231144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097AD9D-CB55-4687-8CA2-BD97C7BC954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42913" y="1401624"/>
            <a:ext cx="6192838" cy="12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34E4A2-260E-40E9-AC47-DF4CBDE6A31B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42913" y="2766059"/>
            <a:ext cx="6192837" cy="32918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4889AC-79BD-4225-8067-CB3E052B3BBB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442913" y="6276101"/>
            <a:ext cx="3130867" cy="2443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 dirty="0">
                <a:latin typeface="Verdana" panose="020B0604030504040204" pitchFamily="34" charset="0"/>
              </a:rPr>
              <a:t>Name </a:t>
            </a:r>
            <a:r>
              <a:rPr lang="de-DE" dirty="0" err="1">
                <a:latin typeface="Verdana" panose="020B0604030504040204" pitchFamily="34" charset="0"/>
              </a:rPr>
              <a:t>of</a:t>
            </a:r>
            <a:r>
              <a:rPr lang="de-DE" dirty="0">
                <a:latin typeface="Verdana" panose="020B0604030504040204" pitchFamily="34" charset="0"/>
              </a:rPr>
              <a:t> </a:t>
            </a:r>
            <a:r>
              <a:rPr lang="de-DE" dirty="0" err="1">
                <a:latin typeface="Verdana" panose="020B0604030504040204" pitchFamily="34" charset="0"/>
              </a:rPr>
              <a:t>the</a:t>
            </a:r>
            <a:r>
              <a:rPr lang="de-DE" dirty="0">
                <a:latin typeface="Verdana" panose="020B0604030504040204" pitchFamily="34" charset="0"/>
              </a:rPr>
              <a:t> Speaker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A541A-BF46-4134-A473-7ECADFE55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25863" y="6276101"/>
            <a:ext cx="2909887" cy="24431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>
              <a:defRPr sz="1000" b="0" i="0">
                <a:solidFill>
                  <a:schemeClr val="tx1"/>
                </a:solidFill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Topic Lore </a:t>
            </a:r>
            <a:r>
              <a:rPr lang="de-DE" dirty="0" err="1"/>
              <a:t>Ipsum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833CDCE-25B5-4F69-9C0F-55D421676E2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3" y="459740"/>
            <a:ext cx="728662" cy="26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77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4" r:id="rId3"/>
    <p:sldLayoutId id="2147483650" r:id="rId4"/>
    <p:sldLayoutId id="2147483654" r:id="rId5"/>
    <p:sldLayoutId id="2147483662" r:id="rId6"/>
    <p:sldLayoutId id="2147483655" r:id="rId7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220663" indent="-2206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○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1pPr>
      <a:lvl2pPr marL="449263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○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655638" indent="-21272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○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898525" indent="-2349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○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1127125" indent="-2349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○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07" userDrawn="1">
          <p15:clr>
            <a:srgbClr val="F26B43"/>
          </p15:clr>
        </p15:guide>
        <p15:guide id="2" pos="279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pos="4180" userDrawn="1">
          <p15:clr>
            <a:srgbClr val="F26B43"/>
          </p15:clr>
        </p15:guide>
        <p15:guide id="5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9F560-D0D1-4B76-8B86-EA3E033B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413" y="1294944"/>
            <a:ext cx="9699625" cy="4762956"/>
          </a:xfrm>
        </p:spPr>
        <p:txBody>
          <a:bodyPr/>
          <a:lstStyle/>
          <a:p>
            <a:r>
              <a:rPr lang="en-GB" dirty="0"/>
              <a:t>HIV Prioritization tool</a:t>
            </a:r>
            <a:br>
              <a:rPr lang="en-GB" dirty="0"/>
            </a:br>
            <a:r>
              <a:rPr lang="en-GB" sz="4800" b="0" dirty="0">
                <a:solidFill>
                  <a:schemeClr val="tx1"/>
                </a:solidFill>
              </a:rPr>
              <a:t>Version 1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D70F63-F5E4-490E-9A28-8139D161CA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Anna Grimsrud</a:t>
            </a:r>
            <a:br>
              <a:rPr lang="en-GB" dirty="0"/>
            </a:br>
            <a:r>
              <a:rPr lang="en-GB" dirty="0"/>
              <a:t>8 April 2021</a:t>
            </a:r>
          </a:p>
        </p:txBody>
      </p:sp>
    </p:spTree>
    <p:extLst>
      <p:ext uri="{BB962C8B-B14F-4D97-AF65-F5344CB8AC3E}">
        <p14:creationId xmlns:p14="http://schemas.microsoft.com/office/powerpoint/2010/main" val="101902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6EB762-B210-4CC4-9F39-572EC03B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Objective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DD0E3C-3675-44C6-AE22-972FDE27B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7309" y="2480309"/>
            <a:ext cx="8981123" cy="2567941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To provide an </a:t>
            </a:r>
            <a:r>
              <a:rPr lang="en-GB" sz="2400" b="1" dirty="0"/>
              <a:t>interactive decision-support tool</a:t>
            </a:r>
            <a:r>
              <a:rPr lang="en-GB" sz="2400" dirty="0"/>
              <a:t> that helps stakeholders compare impact and budget trade-offs when prioritizing HIV services across the care cascade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9077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BD669-9601-35DC-9CCC-0A36DD9B0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57EA78-41F6-5DDE-D298-77472770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Approach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6B0ECF-EB27-F0EA-A3A1-F19F1C60C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2320289"/>
            <a:ext cx="11414125" cy="410337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Start with a ”version 1”:</a:t>
            </a:r>
          </a:p>
          <a:p>
            <a:pPr lvl="1"/>
            <a:r>
              <a:rPr lang="en-GB" dirty="0"/>
              <a:t>Define core interventions across prevention, testing, and treatment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Estimate costs and impact on six key outcomes for each intervention: adult infections, infant infections, and the three 95s (diagnosis, treatment, viral suppression)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Build an interactive platform enabling users to adjust coverage levels and visualize resulting effects on outcomes and costs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Iterate based on user feedback, with potential expansion of intervention options in later versions</a:t>
            </a:r>
          </a:p>
        </p:txBody>
      </p:sp>
    </p:spTree>
    <p:extLst>
      <p:ext uri="{BB962C8B-B14F-4D97-AF65-F5344CB8AC3E}">
        <p14:creationId xmlns:p14="http://schemas.microsoft.com/office/powerpoint/2010/main" val="2652198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78B526-1100-2B72-C28A-2E98B04E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>
                <a:solidFill>
                  <a:schemeClr val="accent1"/>
                </a:solidFill>
              </a:rPr>
              <a:t>Backend</a:t>
            </a:r>
            <a:r>
              <a:rPr lang="en-NL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D24A0-A821-1EAD-84A9-13AF4113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Name of the Speaker</a:t>
            </a:r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DAA11-1317-1F86-926C-1988743F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Topic Lore Ipsum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EAF7D-15B0-2419-E5CE-1B92360010E1}"/>
              </a:ext>
            </a:extLst>
          </p:cNvPr>
          <p:cNvSpPr txBox="1"/>
          <p:nvPr/>
        </p:nvSpPr>
        <p:spPr>
          <a:xfrm>
            <a:off x="585788" y="2031624"/>
            <a:ext cx="10301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i="1" dirty="0"/>
              <a:t>Each intervention in each of the prevention, testing, and treatment buckets affects how many people will land in a respective health state within a given year. The total number of people that end up in each health state directly impacts each of the outcomes assessed.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4C41A-3854-1C67-3733-340B2B114ADC}"/>
              </a:ext>
            </a:extLst>
          </p:cNvPr>
          <p:cNvSpPr txBox="1"/>
          <p:nvPr/>
        </p:nvSpPr>
        <p:spPr>
          <a:xfrm>
            <a:off x="5849937" y="3286125"/>
            <a:ext cx="458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accent1"/>
                </a:solidFill>
              </a:rPr>
              <a:t>Some visual depiction here of the health states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2F9E6-253A-346A-467F-5D697F62AE5E}"/>
              </a:ext>
            </a:extLst>
          </p:cNvPr>
          <p:cNvSpPr txBox="1"/>
          <p:nvPr/>
        </p:nvSpPr>
        <p:spPr>
          <a:xfrm>
            <a:off x="516884" y="3286125"/>
            <a:ext cx="38601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Key health outcome metrics measured: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Adult infections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Infant infections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Mortality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95 95 95 indicators</a:t>
            </a:r>
          </a:p>
        </p:txBody>
      </p:sp>
    </p:spTree>
    <p:extLst>
      <p:ext uri="{BB962C8B-B14F-4D97-AF65-F5344CB8AC3E}">
        <p14:creationId xmlns:p14="http://schemas.microsoft.com/office/powerpoint/2010/main" val="895371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4820-99F7-DE07-42A6-F601E560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466AF4-2784-0696-F964-8D235C66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818814"/>
            <a:ext cx="11372850" cy="1260000"/>
          </a:xfrm>
        </p:spPr>
        <p:txBody>
          <a:bodyPr/>
          <a:lstStyle/>
          <a:p>
            <a:r>
              <a:rPr lang="en-GB" noProof="0" dirty="0"/>
              <a:t>What‘s Included: </a:t>
            </a:r>
            <a:r>
              <a:rPr lang="en-GB" noProof="0" dirty="0">
                <a:solidFill>
                  <a:srgbClr val="F88D9A"/>
                </a:solidFill>
              </a:rPr>
              <a:t>Prevention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0109A-133C-CBC5-35D3-2E42F8B90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406856"/>
              </p:ext>
            </p:extLst>
          </p:nvPr>
        </p:nvGraphicFramePr>
        <p:xfrm>
          <a:off x="982634" y="1931971"/>
          <a:ext cx="10226732" cy="265877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37212">
                  <a:extLst>
                    <a:ext uri="{9D8B030D-6E8A-4147-A177-3AD203B41FA5}">
                      <a16:colId xmlns:a16="http://schemas.microsoft.com/office/drawing/2014/main" val="4120267808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1209723872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743590385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4208286694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3849485650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65177762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3550359160"/>
                    </a:ext>
                  </a:extLst>
                </a:gridCol>
              </a:tblGrid>
              <a:tr h="3263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Outcome affected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59884"/>
                  </a:ext>
                </a:extLst>
              </a:tr>
              <a:tr h="647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intervention</a:t>
                      </a: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adult infections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infant infections 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first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second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third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mortality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431970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PEP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74901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Condom availability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179810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PrEP</a:t>
                      </a: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(oral)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52433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PrEP</a:t>
                      </a: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(</a:t>
                      </a:r>
                      <a:r>
                        <a:rPr lang="en-ZA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Lenacapavir</a:t>
                      </a: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328327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VMMC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87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774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C42B9-0B7A-A5F1-5522-5B447F388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56E3F-A3A5-7BF8-230F-1440108E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08" y="820224"/>
            <a:ext cx="11372850" cy="1260000"/>
          </a:xfrm>
        </p:spPr>
        <p:txBody>
          <a:bodyPr/>
          <a:lstStyle/>
          <a:p>
            <a:r>
              <a:rPr lang="en-GB" noProof="0" dirty="0"/>
              <a:t>What‘s Included: </a:t>
            </a:r>
            <a:r>
              <a:rPr lang="en-GB" noProof="0" dirty="0">
                <a:solidFill>
                  <a:srgbClr val="00B0F0"/>
                </a:solidFill>
              </a:rPr>
              <a:t>Testing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611F5E-C8B2-5AA9-4D42-04C42B600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081787"/>
              </p:ext>
            </p:extLst>
          </p:nvPr>
        </p:nvGraphicFramePr>
        <p:xfrm>
          <a:off x="492441" y="1771614"/>
          <a:ext cx="11289984" cy="379906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31870">
                  <a:extLst>
                    <a:ext uri="{9D8B030D-6E8A-4147-A177-3AD203B41FA5}">
                      <a16:colId xmlns:a16="http://schemas.microsoft.com/office/drawing/2014/main" val="4120267808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120972387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2743590385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4208286694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3849485650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6517776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3550359160"/>
                    </a:ext>
                  </a:extLst>
                </a:gridCol>
              </a:tblGrid>
              <a:tr h="2652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Outcome affected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59884"/>
                  </a:ext>
                </a:extLst>
              </a:tr>
              <a:tr h="45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intervention</a:t>
                      </a: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adult infections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infant infections 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first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second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third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mortality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431970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Testing: facility-based (general)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716733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Testing: facility-based (targeted)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74901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Testing: Network/Index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179810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Testing: community-based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52433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Testing: for key populations &amp; STI services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328327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HIVST (Facility-based)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87910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HIVST (community-based)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424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255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E6FF-B434-58BC-5B1B-7575986E2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5D44D5-FB10-979E-0352-C495A93D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08" y="795834"/>
            <a:ext cx="11372850" cy="1260000"/>
          </a:xfrm>
        </p:spPr>
        <p:txBody>
          <a:bodyPr/>
          <a:lstStyle/>
          <a:p>
            <a:r>
              <a:rPr lang="en-GB" noProof="0" dirty="0"/>
              <a:t>What‘s Included: </a:t>
            </a:r>
            <a:r>
              <a:rPr lang="en-GB" noProof="0" dirty="0">
                <a:solidFill>
                  <a:schemeClr val="accent2"/>
                </a:solidFill>
              </a:rPr>
              <a:t>Treatment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56A088-B7AE-C8B2-53C4-F24DD45C6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394297"/>
              </p:ext>
            </p:extLst>
          </p:nvPr>
        </p:nvGraphicFramePr>
        <p:xfrm>
          <a:off x="492441" y="1528704"/>
          <a:ext cx="11289984" cy="50952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31870">
                  <a:extLst>
                    <a:ext uri="{9D8B030D-6E8A-4147-A177-3AD203B41FA5}">
                      <a16:colId xmlns:a16="http://schemas.microsoft.com/office/drawing/2014/main" val="4120267808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120972387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2743590385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4208286694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3849485650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6517776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3550359160"/>
                    </a:ext>
                  </a:extLst>
                </a:gridCol>
              </a:tblGrid>
              <a:tr h="1957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Outcome affected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59884"/>
                  </a:ext>
                </a:extLst>
              </a:tr>
              <a:tr h="3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intervention</a:t>
                      </a: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adult infections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infant infections 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first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second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third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mortality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431970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ART provision for all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716733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Differentiated service delivery (MMD, Community-pickup, fast-track)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74901"/>
                  </a:ext>
                </a:extLst>
              </a:tr>
              <a:tr h="2510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Cotrimoxazole prophylaxis (according to guidelines)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179810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ART initiation (and re-initiation)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52433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VL monitoring: suspected failure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328327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Routine VL monitoring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87910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TB Screening and Treatment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424381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TPT provision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40882"/>
                  </a:ext>
                </a:extLst>
              </a:tr>
              <a:tr h="2510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AHD testing and prophylaxis package (LAM, </a:t>
                      </a:r>
                      <a:r>
                        <a:rPr lang="en-ZA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CrAG</a:t>
                      </a: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CD4, fluconazole)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869150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Tracking &amp; tracing (total)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490381"/>
                  </a:ext>
                </a:extLst>
              </a:tr>
              <a:tr h="2510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Adherence Counselling/ psychosocial support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84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47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E7841-754A-A0DF-5B09-56C58E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3785F-D1A9-6FF9-C293-F8F05497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818814"/>
            <a:ext cx="11372850" cy="1260000"/>
          </a:xfrm>
        </p:spPr>
        <p:txBody>
          <a:bodyPr/>
          <a:lstStyle/>
          <a:p>
            <a:r>
              <a:rPr lang="en-GB" noProof="0" dirty="0"/>
              <a:t>What‘s Included: </a:t>
            </a:r>
            <a:r>
              <a:rPr lang="en-GB" noProof="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ANC &amp; PNC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9FADC0-C16C-61D7-7ECB-573053531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288230"/>
              </p:ext>
            </p:extLst>
          </p:nvPr>
        </p:nvGraphicFramePr>
        <p:xfrm>
          <a:off x="982634" y="1931971"/>
          <a:ext cx="10226732" cy="344049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37212">
                  <a:extLst>
                    <a:ext uri="{9D8B030D-6E8A-4147-A177-3AD203B41FA5}">
                      <a16:colId xmlns:a16="http://schemas.microsoft.com/office/drawing/2014/main" val="4120267808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1209723872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743590385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4208286694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3849485650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65177762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3550359160"/>
                    </a:ext>
                  </a:extLst>
                </a:gridCol>
              </a:tblGrid>
              <a:tr h="3263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Outcome affected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59884"/>
                  </a:ext>
                </a:extLst>
              </a:tr>
              <a:tr h="647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intervention</a:t>
                      </a: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adult infections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infant infections 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first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second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third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mortality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431970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Infant prophylaxis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084781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ANC: HIV testing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716733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EID (early infant diagnosis)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74901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ANC: Viral Load Testing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179810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PNC: HIV testing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52433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PNC: Viral Load Testing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328327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PNC: ART continuation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87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39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A6C89-5FF0-42C3-C8A5-7FD0E294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5D16C2-689B-A2CB-2017-20F0570B2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401624"/>
            <a:ext cx="11372850" cy="1260000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Requirements from users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AB7417-9F22-BD96-D82C-1F124CA59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2298701"/>
            <a:ext cx="11533187" cy="4102100"/>
          </a:xfrm>
        </p:spPr>
        <p:txBody>
          <a:bodyPr/>
          <a:lstStyle/>
          <a:p>
            <a:r>
              <a:rPr lang="en-GB" dirty="0"/>
              <a:t>For best results, it will be important to understand: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Epidemic context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Interventions in use in-country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Baseline coverage (or absolute number)of interventions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Interventions likely to alter in the future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Goal of HIV service re-prioritization (</a:t>
            </a:r>
            <a:r>
              <a:rPr lang="en-GB" dirty="0" err="1"/>
              <a:t>e.g</a:t>
            </a:r>
            <a:r>
              <a:rPr lang="en-GB" dirty="0"/>
              <a:t> maintain outcomes and budget, reduce budget with lowest impact on outcomes, improve outcomes within a certain budget change)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Feedback on components missing from the tool</a:t>
            </a:r>
          </a:p>
        </p:txBody>
      </p:sp>
    </p:spTree>
    <p:extLst>
      <p:ext uri="{BB962C8B-B14F-4D97-AF65-F5344CB8AC3E}">
        <p14:creationId xmlns:p14="http://schemas.microsoft.com/office/powerpoint/2010/main" val="1429465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6865D-5835-395B-81BB-F00FFA152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6B5B56-6BC3-FF64-857B-A249F6AA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2799000"/>
            <a:ext cx="11372850" cy="1260000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Prototype HIV prioritization tool</a:t>
            </a:r>
          </a:p>
        </p:txBody>
      </p:sp>
    </p:spTree>
    <p:extLst>
      <p:ext uri="{BB962C8B-B14F-4D97-AF65-F5344CB8AC3E}">
        <p14:creationId xmlns:p14="http://schemas.microsoft.com/office/powerpoint/2010/main" val="365497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E76C9-99ED-0D07-A182-4276FFC7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FA0BAB2-5C66-2D53-58A1-C3968FD649FB}"/>
              </a:ext>
            </a:extLst>
          </p:cNvPr>
          <p:cNvGrpSpPr/>
          <p:nvPr/>
        </p:nvGrpSpPr>
        <p:grpSpPr>
          <a:xfrm>
            <a:off x="5566835" y="800100"/>
            <a:ext cx="6375400" cy="5867400"/>
            <a:chOff x="5566835" y="495300"/>
            <a:chExt cx="6375400" cy="58674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38D612D-2BFD-36AE-DFC0-01992ECE4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6835" y="495300"/>
              <a:ext cx="6375400" cy="586740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3D55B55-6486-8E7C-2DEB-25C1A0D108F7}"/>
                </a:ext>
              </a:extLst>
            </p:cNvPr>
            <p:cNvSpPr/>
            <p:nvPr/>
          </p:nvSpPr>
          <p:spPr>
            <a:xfrm>
              <a:off x="7653867" y="1422400"/>
              <a:ext cx="4148666" cy="4809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F5F066A-E22C-3AE0-A3BA-BB808E42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842824"/>
            <a:ext cx="29945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Choose context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E794D-D95D-1FBA-0FCE-CE974E1E26AC}"/>
              </a:ext>
            </a:extLst>
          </p:cNvPr>
          <p:cNvSpPr txBox="1"/>
          <p:nvPr/>
        </p:nvSpPr>
        <p:spPr>
          <a:xfrm>
            <a:off x="1049867" y="2675467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Select country or choose a custom country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998A83-D73A-14C0-3554-504F97C10FAB}"/>
              </a:ext>
            </a:extLst>
          </p:cNvPr>
          <p:cNvSpPr/>
          <p:nvPr/>
        </p:nvSpPr>
        <p:spPr>
          <a:xfrm>
            <a:off x="5590119" y="1181100"/>
            <a:ext cx="1900765" cy="553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F02E18-BB21-2EAD-3F94-EB6CD69F14D3}"/>
              </a:ext>
            </a:extLst>
          </p:cNvPr>
          <p:cNvCxnSpPr>
            <a:cxnSpLocks/>
          </p:cNvCxnSpPr>
          <p:nvPr/>
        </p:nvCxnSpPr>
        <p:spPr>
          <a:xfrm flipV="1">
            <a:off x="3268133" y="1638300"/>
            <a:ext cx="2438400" cy="1037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8BBA583-CD0E-8D16-E233-996520CB307A}"/>
              </a:ext>
            </a:extLst>
          </p:cNvPr>
          <p:cNvSpPr txBox="1"/>
          <p:nvPr/>
        </p:nvSpPr>
        <p:spPr>
          <a:xfrm>
            <a:off x="1049867" y="48965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2. Confirm or edit epidemic parameters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6BE1064-2128-7AB0-A5DE-3A6D3C63D067}"/>
              </a:ext>
            </a:extLst>
          </p:cNvPr>
          <p:cNvCxnSpPr>
            <a:cxnSpLocks/>
          </p:cNvCxnSpPr>
          <p:nvPr/>
        </p:nvCxnSpPr>
        <p:spPr>
          <a:xfrm flipV="1">
            <a:off x="2455333" y="4000500"/>
            <a:ext cx="3111502" cy="877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570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335B7-38AF-0D07-1651-F513977F2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AF1432-D4EA-23BD-DE99-4741CDAFB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21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Populate baseline interventions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784894-851E-0420-6F7B-C2C6D53A4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683" y="603250"/>
            <a:ext cx="6337300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50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5AD8A-6405-7DCC-1356-0939B55AB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00C115-87D8-F53B-7EA3-50115797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21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Populate baseline interventions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6FD05-1227-A1A3-325B-B99948833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0" y="603250"/>
            <a:ext cx="6337300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59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CF0B-C542-F561-340C-F9909DFD6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5BC8D-4598-190D-865A-74B4A7D50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21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Populate baseline interventions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D7507B-9929-8B69-6FF0-802B478EA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542" y="603250"/>
            <a:ext cx="6337300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D295B-2CB4-F725-B965-7DBFC5EC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6CFC4D-6428-0AE8-629C-0A6AF0174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Populate baseline interventions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343869-476F-610C-52E5-0649EAFCE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0500" y="603250"/>
            <a:ext cx="6225383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47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D4EAC-D2EA-2A32-9E55-5D33D733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F1CD1-D135-D88F-C378-8F8E18BC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Populate scenarios for comparison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CC3AB-BBC2-7699-759C-D72ED2CBD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53515" y="191887"/>
            <a:ext cx="6413500" cy="5816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CA03F9-2C17-E6BF-0860-4C098233C701}"/>
              </a:ext>
            </a:extLst>
          </p:cNvPr>
          <p:cNvSpPr/>
          <p:nvPr/>
        </p:nvSpPr>
        <p:spPr>
          <a:xfrm>
            <a:off x="6899582" y="1446340"/>
            <a:ext cx="4199467" cy="21992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75060D-6417-5A98-AFFB-62BD47D8EB13}"/>
              </a:ext>
            </a:extLst>
          </p:cNvPr>
          <p:cNvCxnSpPr>
            <a:cxnSpLocks/>
          </p:cNvCxnSpPr>
          <p:nvPr/>
        </p:nvCxnSpPr>
        <p:spPr>
          <a:xfrm flipV="1">
            <a:off x="3096107" y="2339575"/>
            <a:ext cx="5567238" cy="1521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93BC8DB-887C-8254-AFF6-E8C3B3DD1856}"/>
              </a:ext>
            </a:extLst>
          </p:cNvPr>
          <p:cNvSpPr txBox="1"/>
          <p:nvPr/>
        </p:nvSpPr>
        <p:spPr>
          <a:xfrm>
            <a:off x="778934" y="3645572"/>
            <a:ext cx="29125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Adapt coverage of interventions across all categories of interest</a:t>
            </a:r>
          </a:p>
          <a:p>
            <a:endParaRPr lang="en-GB" dirty="0"/>
          </a:p>
          <a:p>
            <a:r>
              <a:rPr lang="en-GB" dirty="0"/>
              <a:t>Testing example pictured</a:t>
            </a:r>
          </a:p>
        </p:txBody>
      </p:sp>
    </p:spTree>
    <p:extLst>
      <p:ext uri="{BB962C8B-B14F-4D97-AF65-F5344CB8AC3E}">
        <p14:creationId xmlns:p14="http://schemas.microsoft.com/office/powerpoint/2010/main" val="862143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4CC96-557E-D568-65BF-9BD3A100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6C70E-2FDA-40D1-53FE-52D5E107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Compare costs and outcomes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5073F-8EEC-6823-AE86-C927A315B5AA}"/>
              </a:ext>
            </a:extLst>
          </p:cNvPr>
          <p:cNvSpPr txBox="1"/>
          <p:nvPr/>
        </p:nvSpPr>
        <p:spPr>
          <a:xfrm>
            <a:off x="427962" y="3212428"/>
            <a:ext cx="2912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all intervention changes - prevention, testing and treatment- consider impact on outcomes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B62D1-028E-EE7B-61E7-BECBDBB0F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784" y="304128"/>
            <a:ext cx="6413500" cy="58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85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8C30-9D32-0B5B-C61D-1EEFAEF0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AE237-7B09-3D48-30D0-4A6AD965B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Compare costs and outcomes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9460D-9605-FBD6-3E0A-5C80C8055709}"/>
              </a:ext>
            </a:extLst>
          </p:cNvPr>
          <p:cNvSpPr txBox="1"/>
          <p:nvPr/>
        </p:nvSpPr>
        <p:spPr>
          <a:xfrm>
            <a:off x="427962" y="3212428"/>
            <a:ext cx="2912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all intervention changes - prevention, testing and treatment- consider impact on outcomes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E41E0-BECA-5C84-A429-552B40B8F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783" y="520700"/>
            <a:ext cx="6413500" cy="58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34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3C10-6FB3-EFC5-3BFB-3F0A7466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4B9EF-20D5-8580-CE95-22B10BBD8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Compare costs and outcomes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471DE-A519-0339-B018-9B0B45D954E1}"/>
              </a:ext>
            </a:extLst>
          </p:cNvPr>
          <p:cNvSpPr txBox="1"/>
          <p:nvPr/>
        </p:nvSpPr>
        <p:spPr>
          <a:xfrm>
            <a:off x="427962" y="3212428"/>
            <a:ext cx="2912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all intervention changes - prevention, testing and treatment- consider impact on outcomes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231E0D-77AA-45C7-4204-85AC1C86F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742" y="674370"/>
            <a:ext cx="7631808" cy="55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55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A4840-67A2-8DC6-7770-C5FB5C15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2D2915-B221-6232-AC86-F925C81B5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Compare costs and outcomes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E4AD9-1763-E961-3146-50B69BAACBB5}"/>
              </a:ext>
            </a:extLst>
          </p:cNvPr>
          <p:cNvSpPr txBox="1"/>
          <p:nvPr/>
        </p:nvSpPr>
        <p:spPr>
          <a:xfrm>
            <a:off x="427962" y="3212428"/>
            <a:ext cx="2912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all intervention changes - prevention, testing and treatment- consider impact on outcomes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3F99D0-18F0-303C-77DB-4622780BA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667" y="685128"/>
            <a:ext cx="63500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14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D3EDB-8E19-2E0A-8FF7-AB77A6D9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0FF6E-C5CE-3A43-38A9-4F934379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Compare costs and outcomes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44784-57AF-DA0D-8976-8C957C9C4A36}"/>
              </a:ext>
            </a:extLst>
          </p:cNvPr>
          <p:cNvSpPr txBox="1"/>
          <p:nvPr/>
        </p:nvSpPr>
        <p:spPr>
          <a:xfrm>
            <a:off x="427962" y="3212428"/>
            <a:ext cx="2912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all intervention changes - prevention, testing and treatment- consider impact on outcomes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179742-B18D-CF04-DA1F-1CB960A9B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021" y="1092623"/>
            <a:ext cx="7744724" cy="50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16826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ational AIDS Society">
  <a:themeElements>
    <a:clrScheme name="Benutzerdefiniert 114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E0001B"/>
      </a:accent1>
      <a:accent2>
        <a:srgbClr val="C8F04B"/>
      </a:accent2>
      <a:accent3>
        <a:srgbClr val="472482"/>
      </a:accent3>
      <a:accent4>
        <a:srgbClr val="8CCDCD"/>
      </a:accent4>
      <a:accent5>
        <a:srgbClr val="B4BEA5"/>
      </a:accent5>
      <a:accent6>
        <a:srgbClr val="7F7F7F"/>
      </a:accent6>
      <a:hlink>
        <a:srgbClr val="000000"/>
      </a:hlink>
      <a:folHlink>
        <a:srgbClr val="000000"/>
      </a:folHlink>
    </a:clrScheme>
    <a:fontScheme name="Benutzerdefiniert 237">
      <a:majorFont>
        <a:latin typeface="IAS Ribbon Sans Bold"/>
        <a:ea typeface=""/>
        <a:cs typeface=""/>
      </a:majorFont>
      <a:minorFont>
        <a:latin typeface="IAS Ribbo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äsentation1" id="{0BEA0C59-6BE6-574B-8DF0-843D19A6691B}" vid="{DFA08CD2-990E-E443-A274-9D06C7DA0EA4}"/>
    </a:ext>
  </a:extLst>
</a:theme>
</file>

<file path=ppt/theme/theme2.xml><?xml version="1.0" encoding="utf-8"?>
<a:theme xmlns:a="http://schemas.openxmlformats.org/drawingml/2006/main" name="Office">
  <a:themeElements>
    <a:clrScheme name="Benutzerdefiniert 114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E0001B"/>
      </a:accent1>
      <a:accent2>
        <a:srgbClr val="C8F04B"/>
      </a:accent2>
      <a:accent3>
        <a:srgbClr val="472482"/>
      </a:accent3>
      <a:accent4>
        <a:srgbClr val="8CCDCD"/>
      </a:accent4>
      <a:accent5>
        <a:srgbClr val="B4BEA5"/>
      </a:accent5>
      <a:accent6>
        <a:srgbClr val="7F7F7F"/>
      </a:accent6>
      <a:hlink>
        <a:srgbClr val="000000"/>
      </a:hlink>
      <a:folHlink>
        <a:srgbClr val="000000"/>
      </a:folHlink>
    </a:clrScheme>
    <a:fontScheme name="Benutzerdefiniert 183">
      <a:majorFont>
        <a:latin typeface="Ping LCG Medium"/>
        <a:ea typeface=""/>
        <a:cs typeface=""/>
      </a:majorFont>
      <a:minorFont>
        <a:latin typeface="Ping LCG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114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E0001B"/>
      </a:accent1>
      <a:accent2>
        <a:srgbClr val="C8F04B"/>
      </a:accent2>
      <a:accent3>
        <a:srgbClr val="472482"/>
      </a:accent3>
      <a:accent4>
        <a:srgbClr val="8CCDCD"/>
      </a:accent4>
      <a:accent5>
        <a:srgbClr val="B4BEA5"/>
      </a:accent5>
      <a:accent6>
        <a:srgbClr val="7F7F7F"/>
      </a:accent6>
      <a:hlink>
        <a:srgbClr val="000000"/>
      </a:hlink>
      <a:folHlink>
        <a:srgbClr val="000000"/>
      </a:folHlink>
    </a:clrScheme>
    <a:fontScheme name="Benutzerdefiniert 183">
      <a:majorFont>
        <a:latin typeface="Ping LCG Medium"/>
        <a:ea typeface=""/>
        <a:cs typeface=""/>
      </a:majorFont>
      <a:minorFont>
        <a:latin typeface="Ping LCG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3ce610f-b889-47d4-8ab5-c38f623799c9" xsi:nil="true"/>
    <lcf76f155ced4ddcb4097134ff3c332f xmlns="e236f8d0-c4c0-4f47-ae05-f87aea30adc7">
      <Terms xmlns="http://schemas.microsoft.com/office/infopath/2007/PartnerControls"/>
    </lcf76f155ced4ddcb4097134ff3c332f>
    <SharedWithUsers xmlns="73ce610f-b889-47d4-8ab5-c38f623799c9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4EDCEEC58F924B8688429696C030D2" ma:contentTypeVersion="18" ma:contentTypeDescription="Create a new document." ma:contentTypeScope="" ma:versionID="c313b5a2d9d0a5fb5c195b7077a8f658">
  <xsd:schema xmlns:xsd="http://www.w3.org/2001/XMLSchema" xmlns:xs="http://www.w3.org/2001/XMLSchema" xmlns:p="http://schemas.microsoft.com/office/2006/metadata/properties" xmlns:ns2="e236f8d0-c4c0-4f47-ae05-f87aea30adc7" xmlns:ns3="73ce610f-b889-47d4-8ab5-c38f623799c9" targetNamespace="http://schemas.microsoft.com/office/2006/metadata/properties" ma:root="true" ma:fieldsID="1798fda60419dc9fe449ed5f00b07b3d" ns2:_="" ns3:_="">
    <xsd:import namespace="e236f8d0-c4c0-4f47-ae05-f87aea30adc7"/>
    <xsd:import namespace="73ce610f-b889-47d4-8ab5-c38f623799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36f8d0-c4c0-4f47-ae05-f87aea30ad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d8752f36-f899-4024-97aa-312620fde4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ce610f-b889-47d4-8ab5-c38f623799c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c0bfebf-baa6-4c8c-8536-352a9d7474a2}" ma:internalName="TaxCatchAll" ma:showField="CatchAllData" ma:web="73ce610f-b889-47d4-8ab5-c38f623799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06F776-15E1-4608-A05B-E8CEEC2417C7}">
  <ds:schemaRefs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terms/"/>
    <ds:schemaRef ds:uri="d9430eef-9f8d-443d-897b-9afda802e8b4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250929fa-9806-4449-af20-7947085fa170"/>
    <ds:schemaRef ds:uri="73ce610f-b889-47d4-8ab5-c38f623799c9"/>
    <ds:schemaRef ds:uri="e236f8d0-c4c0-4f47-ae05-f87aea30adc7"/>
  </ds:schemaRefs>
</ds:datastoreItem>
</file>

<file path=customXml/itemProps2.xml><?xml version="1.0" encoding="utf-8"?>
<ds:datastoreItem xmlns:ds="http://schemas.openxmlformats.org/officeDocument/2006/customXml" ds:itemID="{3B18B9A9-589C-4AB1-A77F-C0696A20FD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C84C5C-3675-41D8-B929-41E44EDB43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36f8d0-c4c0-4f47-ae05-f87aea30adc7"/>
    <ds:schemaRef ds:uri="73ce610f-b889-47d4-8ab5-c38f623799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International AIDS Society</Template>
  <TotalTime>228</TotalTime>
  <Words>723</Words>
  <Application>Microsoft Macintosh PowerPoint</Application>
  <PresentationFormat>Widescreen</PresentationFormat>
  <Paragraphs>195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Ping LCG Light</vt:lpstr>
      <vt:lpstr>Verdana</vt:lpstr>
      <vt:lpstr>International AIDS Society</vt:lpstr>
      <vt:lpstr>HIV Prioritization tool Version 1 </vt:lpstr>
      <vt:lpstr>Objective</vt:lpstr>
      <vt:lpstr>Approach</vt:lpstr>
      <vt:lpstr>Backend </vt:lpstr>
      <vt:lpstr>What‘s Included: Prevention</vt:lpstr>
      <vt:lpstr>What‘s Included: Testing</vt:lpstr>
      <vt:lpstr>What‘s Included: Treatment</vt:lpstr>
      <vt:lpstr>What‘s Included: ANC &amp; PNC</vt:lpstr>
      <vt:lpstr>Requirements from users</vt:lpstr>
      <vt:lpstr>Prototype HIV prioritization tool</vt:lpstr>
      <vt:lpstr>Choose context</vt:lpstr>
      <vt:lpstr>Populate baseline interventions</vt:lpstr>
      <vt:lpstr>Populate baseline interventions</vt:lpstr>
      <vt:lpstr>Populate baseline interventions</vt:lpstr>
      <vt:lpstr>Populate baseline interventions</vt:lpstr>
      <vt:lpstr>Populate scenarios for comparison </vt:lpstr>
      <vt:lpstr>Compare costs and outcomes </vt:lpstr>
      <vt:lpstr>Compare costs and outcomes </vt:lpstr>
      <vt:lpstr>Compare costs and outcomes </vt:lpstr>
      <vt:lpstr>Compare costs and outcomes </vt:lpstr>
      <vt:lpstr>Compare costs and outcomes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short headline Lorem ipsum  sit dolor</dc:title>
  <dc:creator>Anna Grimsrud</dc:creator>
  <cp:lastModifiedBy>Brooke Nichols</cp:lastModifiedBy>
  <cp:revision>5</cp:revision>
  <dcterms:created xsi:type="dcterms:W3CDTF">2021-04-08T11:26:53Z</dcterms:created>
  <dcterms:modified xsi:type="dcterms:W3CDTF">2026-02-09T10:33:55Z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0x010100814EDCEEC58F924B8688429696C030D2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