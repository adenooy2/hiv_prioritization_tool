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C0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6"/>
    <p:restoredTop sz="94741"/>
  </p:normalViewPr>
  <p:slideViewPr>
    <p:cSldViewPr snapToGrid="0">
      <p:cViewPr varScale="1">
        <p:scale>
          <a:sx n="104" d="100"/>
          <a:sy n="104" d="100"/>
        </p:scale>
        <p:origin x="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de Nooy" userId="2ae90f5cbd0fd171" providerId="LiveId" clId="{68FAF11D-BE20-5239-B1D5-2BBFAE7D07C1}"/>
    <pc:docChg chg="modSld">
      <pc:chgData name="Alex de Nooy" userId="2ae90f5cbd0fd171" providerId="LiveId" clId="{68FAF11D-BE20-5239-B1D5-2BBFAE7D07C1}" dt="2026-02-09T12:55:30.602" v="0" actId="1076"/>
      <pc:docMkLst>
        <pc:docMk/>
      </pc:docMkLst>
      <pc:sldChg chg="modSp mod">
        <pc:chgData name="Alex de Nooy" userId="2ae90f5cbd0fd171" providerId="LiveId" clId="{68FAF11D-BE20-5239-B1D5-2BBFAE7D07C1}" dt="2026-02-09T12:55:30.602" v="0" actId="1076"/>
        <pc:sldMkLst>
          <pc:docMk/>
          <pc:sldMk cId="3638396434" sldId="256"/>
        </pc:sldMkLst>
        <pc:spChg chg="mod">
          <ac:chgData name="Alex de Nooy" userId="2ae90f5cbd0fd171" providerId="LiveId" clId="{68FAF11D-BE20-5239-B1D5-2BBFAE7D07C1}" dt="2026-02-09T12:55:30.602" v="0" actId="1076"/>
          <ac:spMkLst>
            <pc:docMk/>
            <pc:sldMk cId="3638396434" sldId="256"/>
            <ac:spMk id="52" creationId="{8B54F6CF-BF17-DEDA-7A81-7F718B7127E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15E2-BA76-7B7B-AE08-7DA0EF093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1AB60-C797-D4CC-FD0F-CA90F17C5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AC392-685B-B538-CA6B-ABD272F37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9EA1-277E-5E45-876A-00D38BB59303}" type="datetimeFigureOut">
              <a:rPr lang="en-NL" smtClean="0"/>
              <a:t>2/9/26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8D113-2C74-BDFB-247E-345FD862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6FF57-B2D9-1D32-9E83-EA33AE53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47CF-A9C1-8543-B25A-4614D6B2F7C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8462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10FF6-FFC7-C107-F635-25AB2E32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3BA7-5799-2990-9144-357E9D9A2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252A5-6462-A6B0-CC3A-7686E261B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9EA1-277E-5E45-876A-00D38BB59303}" type="datetimeFigureOut">
              <a:rPr lang="en-NL" smtClean="0"/>
              <a:t>2/9/26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F1375-37AE-8ED2-F958-67B0D2D69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98673-FDF2-E1CC-59F3-3EA5B51D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47CF-A9C1-8543-B25A-4614D6B2F7C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232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9E3E-44AC-4FE2-2768-DFC5BEC3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7CB3A-BEAC-5FA8-A2CE-A63186049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1328D-4A29-4491-545D-FE59D0FD6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9EA1-277E-5E45-876A-00D38BB59303}" type="datetimeFigureOut">
              <a:rPr lang="en-NL" smtClean="0"/>
              <a:t>2/9/26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63B09-EBD4-AD80-B237-D463C698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AC986-F76C-E7D5-A044-608CE624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47CF-A9C1-8543-B25A-4614D6B2F7C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779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9FF03-158E-5722-DF8E-7CD46792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3B01F-8FEC-05DD-F17E-9E3C59905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65C44-0B89-6CAF-EDB9-6626A7CA0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8C9DE-D8A0-3A19-11B0-2816468A6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9EA1-277E-5E45-876A-00D38BB59303}" type="datetimeFigureOut">
              <a:rPr lang="en-NL" smtClean="0"/>
              <a:t>2/9/26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57D61-F259-DA02-03B5-B09EFEF4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AC923-11BD-B3CA-DDA2-FF5B77E0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47CF-A9C1-8543-B25A-4614D6B2F7C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6786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4D73-AD0B-880E-26E9-2899FDF1A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F9782-7582-72F7-7E6D-12B2AAEC1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B351F-8DF6-973E-BAC5-5B4B5B575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E75B8-892D-B597-9988-F78143F24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9F27E-49A7-1F96-4E88-202402072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29D7D-7422-17D1-86EA-7C8E747F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9EA1-277E-5E45-876A-00D38BB59303}" type="datetimeFigureOut">
              <a:rPr lang="en-NL" smtClean="0"/>
              <a:t>2/9/26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A3BDA-111E-CC75-F4C6-4C6386EA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402D4-FC79-EA36-8302-2F08A39A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47CF-A9C1-8543-B25A-4614D6B2F7C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8774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15D70-9FD6-9B7A-8E7E-640B57315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1A2D9-04B8-E2AC-08CB-402DDBB1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9EA1-277E-5E45-876A-00D38BB59303}" type="datetimeFigureOut">
              <a:rPr lang="en-NL" smtClean="0"/>
              <a:t>2/9/26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A9FAC-7FED-BBD7-3BE5-4D39A08C6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F9CEE-0DD5-6E50-D2AA-904E093B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47CF-A9C1-8543-B25A-4614D6B2F7C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2538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497A5B-5D74-D349-E2ED-4F116114D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9EA1-277E-5E45-876A-00D38BB59303}" type="datetimeFigureOut">
              <a:rPr lang="en-NL" smtClean="0"/>
              <a:t>2/9/26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D5A30D-1853-022E-4AA0-4363A67F8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F755B-A39A-F6FB-8542-C78DAD1DC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47CF-A9C1-8543-B25A-4614D6B2F7C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5135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D2F7-5A5B-64C4-D522-D5D81846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6040C-E4D8-A624-76FA-6B6D12099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83597-FED9-5DAF-7AC7-BC187F301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69BBD-76F0-5DF3-3364-1CA18C4FB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9EA1-277E-5E45-876A-00D38BB59303}" type="datetimeFigureOut">
              <a:rPr lang="en-NL" smtClean="0"/>
              <a:t>2/9/26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3B339-6DD7-A19B-98D6-7A71F2CB8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1CD01-3464-C8F7-3860-511D93151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47CF-A9C1-8543-B25A-4614D6B2F7C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2774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F4CED-3951-F064-CD0F-E8A07AC72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AA7E0-1BE8-6ADD-6BD8-E577FD2C5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44221-40A1-4C2D-AE18-AF8095FEA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D7EFB-6DC4-C48F-5622-B96CCF07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9EA1-277E-5E45-876A-00D38BB59303}" type="datetimeFigureOut">
              <a:rPr lang="en-NL" smtClean="0"/>
              <a:t>2/9/26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4F976-5E48-CCA8-348F-595333CC3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18C2E-B976-BA9B-F005-AB25A648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47CF-A9C1-8543-B25A-4614D6B2F7C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87128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BAC0-EEF5-7357-0BA8-CB6CA9F27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C39CD-917C-D8F5-BF41-CC801FB01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48657-FC4B-7B74-0895-98C9BB29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9EA1-277E-5E45-876A-00D38BB59303}" type="datetimeFigureOut">
              <a:rPr lang="en-NL" smtClean="0"/>
              <a:t>2/9/26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D05EA-70DD-2972-AEAF-47D472F3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0C42E-C205-465E-DF2C-2CEE713C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47CF-A9C1-8543-B25A-4614D6B2F7C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57864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F551BF-97D4-1323-FC46-A366F4D69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60174-3AE6-386C-6C0D-B6B20392C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01CA3-EE91-DF0F-4F0B-83CCD7CCB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E9EA1-277E-5E45-876A-00D38BB59303}" type="datetimeFigureOut">
              <a:rPr lang="en-NL" smtClean="0"/>
              <a:t>2/9/26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F97C0-ED45-8CD2-EB97-4E3C2CB51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B4B20-F25E-2FEC-BF2E-C158F8773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47CF-A9C1-8543-B25A-4614D6B2F7C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6605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3D7C48-5022-38F8-8C1F-4C05AB7B9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FDA85-462D-00ED-7234-786A965C1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CB458-300C-D49F-E297-78B3F933C5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1E9EA1-277E-5E45-876A-00D38BB59303}" type="datetimeFigureOut">
              <a:rPr lang="en-NL" smtClean="0"/>
              <a:t>2/9/26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54663-7A6C-C8AA-4D8C-84BB491F8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26197-F88D-D9FF-1D8B-522947CC2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247CF-A9C1-8543-B25A-4614D6B2F7C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4581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2D8047-7653-ADD8-E0AB-9BE8C6190225}"/>
              </a:ext>
            </a:extLst>
          </p:cNvPr>
          <p:cNvSpPr/>
          <p:nvPr/>
        </p:nvSpPr>
        <p:spPr>
          <a:xfrm>
            <a:off x="839449" y="1199213"/>
            <a:ext cx="1050381" cy="7644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000" dirty="0">
                <a:solidFill>
                  <a:schemeClr val="tx1"/>
                </a:solidFill>
              </a:rPr>
              <a:t>Susceptible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66020E-6CF4-C3BE-B8BD-4F1D07EE5446}"/>
              </a:ext>
            </a:extLst>
          </p:cNvPr>
          <p:cNvSpPr/>
          <p:nvPr/>
        </p:nvSpPr>
        <p:spPr>
          <a:xfrm>
            <a:off x="839449" y="2863751"/>
            <a:ext cx="1050381" cy="12174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000" dirty="0">
                <a:solidFill>
                  <a:schemeClr val="tx1"/>
                </a:solidFill>
              </a:rPr>
              <a:t>Susceptible (accessing prevention </a:t>
            </a:r>
            <a:r>
              <a:rPr lang="en-NL" sz="1000" i="1" dirty="0">
                <a:solidFill>
                  <a:schemeClr val="tx1"/>
                </a:solidFill>
              </a:rPr>
              <a:t>1..n</a:t>
            </a:r>
            <a:r>
              <a:rPr lang="en-NL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4DA2A-8FF6-9CA7-004B-6370C958D404}"/>
              </a:ext>
            </a:extLst>
          </p:cNvPr>
          <p:cNvSpPr txBox="1"/>
          <p:nvPr/>
        </p:nvSpPr>
        <p:spPr>
          <a:xfrm>
            <a:off x="1073402" y="1989294"/>
            <a:ext cx="1632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000" i="1" dirty="0"/>
              <a:t>LA-PrEP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000" i="1" dirty="0"/>
              <a:t>Oral PrEP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000" i="1" dirty="0"/>
              <a:t>Condoms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000" i="1" dirty="0"/>
              <a:t>VMMC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ADFD1B-07A4-6BB0-308D-192FF6160217}"/>
              </a:ext>
            </a:extLst>
          </p:cNvPr>
          <p:cNvSpPr/>
          <p:nvPr/>
        </p:nvSpPr>
        <p:spPr>
          <a:xfrm>
            <a:off x="2790401" y="1199213"/>
            <a:ext cx="1050381" cy="7644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000" dirty="0"/>
              <a:t>Living with HIV, undiagnosed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968123-D2FE-6438-282F-6034C39E585D}"/>
              </a:ext>
            </a:extLst>
          </p:cNvPr>
          <p:cNvSpPr/>
          <p:nvPr/>
        </p:nvSpPr>
        <p:spPr>
          <a:xfrm>
            <a:off x="4542467" y="1199213"/>
            <a:ext cx="1050381" cy="7644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000" dirty="0"/>
              <a:t>Living with HIV, diagnosed, not on treatment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82FBD0-B010-F6FE-687D-A113F41DEB27}"/>
              </a:ext>
            </a:extLst>
          </p:cNvPr>
          <p:cNvSpPr/>
          <p:nvPr/>
        </p:nvSpPr>
        <p:spPr>
          <a:xfrm>
            <a:off x="6493419" y="1199213"/>
            <a:ext cx="1050381" cy="764498"/>
          </a:xfrm>
          <a:prstGeom prst="rect">
            <a:avLst/>
          </a:prstGeom>
          <a:solidFill>
            <a:srgbClr val="E971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000" dirty="0"/>
              <a:t>Living with HIV, on treatment, not suppressed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ED4CD6-E13E-A701-9656-52C7F9BE9BE1}"/>
              </a:ext>
            </a:extLst>
          </p:cNvPr>
          <p:cNvSpPr/>
          <p:nvPr/>
        </p:nvSpPr>
        <p:spPr>
          <a:xfrm>
            <a:off x="8405113" y="1205280"/>
            <a:ext cx="1050381" cy="76449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000" dirty="0"/>
              <a:t>Living with HIV, on treatment, suppressed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60679-3C91-611A-FEF8-0F1F45AE03E9}"/>
              </a:ext>
            </a:extLst>
          </p:cNvPr>
          <p:cNvSpPr/>
          <p:nvPr/>
        </p:nvSpPr>
        <p:spPr>
          <a:xfrm>
            <a:off x="7300682" y="3273212"/>
            <a:ext cx="1050381" cy="7644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000" dirty="0"/>
              <a:t>Living with HIV, out of care, not suppressed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F715DF-9A11-DC82-105D-C120B285F96A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1889830" y="1581462"/>
            <a:ext cx="900571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16AEC01-A976-B998-BDDE-A69170220266}"/>
              </a:ext>
            </a:extLst>
          </p:cNvPr>
          <p:cNvSpPr txBox="1"/>
          <p:nvPr/>
        </p:nvSpPr>
        <p:spPr>
          <a:xfrm rot="19283942">
            <a:off x="1976818" y="931388"/>
            <a:ext cx="941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000" dirty="0"/>
              <a:t>Force of infection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4EF5B5-A47F-6B39-CFEC-F0D2ED26D80F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364640" y="1963711"/>
            <a:ext cx="0" cy="9000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30FAB1-A191-BEDE-3D3C-6AD047B51DE0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840782" y="1581462"/>
            <a:ext cx="7016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02244C0-D8C6-4F94-1AB3-27F8332EB5E0}"/>
              </a:ext>
            </a:extLst>
          </p:cNvPr>
          <p:cNvSpPr txBox="1"/>
          <p:nvPr/>
        </p:nvSpPr>
        <p:spPr>
          <a:xfrm>
            <a:off x="3370055" y="1963711"/>
            <a:ext cx="15392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Facility-based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Facility-based HIVST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Community HIVST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Index testing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397D095-20EA-4DE9-7987-0C0B84DDBB40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592848" y="1573610"/>
            <a:ext cx="900571" cy="78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D913DE7-6472-C1D7-6222-4E922CFEC226}"/>
              </a:ext>
            </a:extLst>
          </p:cNvPr>
          <p:cNvSpPr txBox="1"/>
          <p:nvPr/>
        </p:nvSpPr>
        <p:spPr>
          <a:xfrm rot="19501060">
            <a:off x="5720252" y="947681"/>
            <a:ext cx="1029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1" dirty="0"/>
              <a:t>R</a:t>
            </a:r>
            <a:r>
              <a:rPr lang="en-NL" sz="1000" i="1" dirty="0"/>
              <a:t>ate of ART initiation (</a:t>
            </a:r>
            <a:r>
              <a:rPr lang="en-NL" sz="1000" i="1" dirty="0">
                <a:solidFill>
                  <a:srgbClr val="C00000"/>
                </a:solidFill>
              </a:rPr>
              <a:t>1..x</a:t>
            </a:r>
            <a:r>
              <a:rPr lang="en-NL" sz="1000" i="1" dirty="0"/>
              <a:t>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637399D-E5A7-F58C-5316-E7DEF12F0337}"/>
              </a:ext>
            </a:extLst>
          </p:cNvPr>
          <p:cNvCxnSpPr>
            <a:cxnSpLocks/>
          </p:cNvCxnSpPr>
          <p:nvPr/>
        </p:nvCxnSpPr>
        <p:spPr>
          <a:xfrm>
            <a:off x="7543800" y="1439948"/>
            <a:ext cx="88094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D7429F0-A097-F94A-0816-097C7EFFD15D}"/>
              </a:ext>
            </a:extLst>
          </p:cNvPr>
          <p:cNvCxnSpPr>
            <a:cxnSpLocks/>
          </p:cNvCxnSpPr>
          <p:nvPr/>
        </p:nvCxnSpPr>
        <p:spPr>
          <a:xfrm flipH="1">
            <a:off x="7543800" y="1696387"/>
            <a:ext cx="8613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CD35F7-7203-125C-55B4-A18703968542}"/>
              </a:ext>
            </a:extLst>
          </p:cNvPr>
          <p:cNvCxnSpPr>
            <a:cxnSpLocks/>
          </p:cNvCxnSpPr>
          <p:nvPr/>
        </p:nvCxnSpPr>
        <p:spPr>
          <a:xfrm flipH="1" flipV="1">
            <a:off x="6858164" y="1972172"/>
            <a:ext cx="632776" cy="1309501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8C4BB7B-7179-FC66-DCA7-D7F8965B35FF}"/>
              </a:ext>
            </a:extLst>
          </p:cNvPr>
          <p:cNvCxnSpPr>
            <a:cxnSpLocks/>
          </p:cNvCxnSpPr>
          <p:nvPr/>
        </p:nvCxnSpPr>
        <p:spPr>
          <a:xfrm flipV="1">
            <a:off x="8159840" y="1991688"/>
            <a:ext cx="871517" cy="1262008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0403800-340A-1B8E-3F3D-AFA4EB076D54}"/>
              </a:ext>
            </a:extLst>
          </p:cNvPr>
          <p:cNvCxnSpPr>
            <a:cxnSpLocks/>
          </p:cNvCxnSpPr>
          <p:nvPr/>
        </p:nvCxnSpPr>
        <p:spPr>
          <a:xfrm>
            <a:off x="6711796" y="1991688"/>
            <a:ext cx="613626" cy="12899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2886273-0C7F-EE51-D31C-F3F8822ADC52}"/>
              </a:ext>
            </a:extLst>
          </p:cNvPr>
          <p:cNvCxnSpPr>
            <a:cxnSpLocks/>
          </p:cNvCxnSpPr>
          <p:nvPr/>
        </p:nvCxnSpPr>
        <p:spPr>
          <a:xfrm flipH="1">
            <a:off x="8289235" y="1989294"/>
            <a:ext cx="898308" cy="12839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D016A35-D197-338F-86D5-2EBF3B5E651B}"/>
              </a:ext>
            </a:extLst>
          </p:cNvPr>
          <p:cNvSpPr txBox="1"/>
          <p:nvPr/>
        </p:nvSpPr>
        <p:spPr>
          <a:xfrm>
            <a:off x="7236985" y="2009343"/>
            <a:ext cx="14567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000" i="1" dirty="0"/>
              <a:t>DSD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000" i="1" dirty="0"/>
              <a:t>VL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i="1" dirty="0"/>
              <a:t>T</a:t>
            </a:r>
            <a:r>
              <a:rPr lang="en-NL" sz="1000" i="1" dirty="0"/>
              <a:t>argeted VL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000" i="1" dirty="0"/>
              <a:t>Tracking&amp;Tracing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000" i="1" dirty="0"/>
              <a:t>Adherence counselling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54F6CF-BF17-DEDA-7A81-7F718B7127E8}"/>
              </a:ext>
            </a:extLst>
          </p:cNvPr>
          <p:cNvSpPr txBox="1"/>
          <p:nvPr/>
        </p:nvSpPr>
        <p:spPr>
          <a:xfrm>
            <a:off x="657173" y="4648069"/>
            <a:ext cx="1949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000" dirty="0"/>
              <a:t>(</a:t>
            </a:r>
            <a:r>
              <a:rPr lang="en-NL" sz="1000" i="1" dirty="0">
                <a:solidFill>
                  <a:srgbClr val="C00000"/>
                </a:solidFill>
              </a:rPr>
              <a:t>1..X </a:t>
            </a:r>
            <a:r>
              <a:rPr lang="en-NL" sz="1000" dirty="0"/>
              <a:t>Based on testing modality)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65BF61-35D3-4B0E-06AB-00D41DFEE928}"/>
              </a:ext>
            </a:extLst>
          </p:cNvPr>
          <p:cNvSpPr txBox="1"/>
          <p:nvPr/>
        </p:nvSpPr>
        <p:spPr>
          <a:xfrm>
            <a:off x="5630230" y="2690195"/>
            <a:ext cx="1539204" cy="1061829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Facility-based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Facility-based HIVST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Community HIVST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Index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AHD screening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OI prophylaxis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OI tx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FC0B4A-0EB4-912F-4A50-1AC60EF5EB1E}"/>
              </a:ext>
            </a:extLst>
          </p:cNvPr>
          <p:cNvSpPr txBox="1"/>
          <p:nvPr/>
        </p:nvSpPr>
        <p:spPr>
          <a:xfrm>
            <a:off x="8823135" y="2283399"/>
            <a:ext cx="1536918" cy="1061829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Facility-based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Facility-based HIVST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Community HIVST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Index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AHD screening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OI prophylaxis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OI tx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0315E5-A598-9DAE-DB48-0C27BD7FBD0D}"/>
              </a:ext>
            </a:extLst>
          </p:cNvPr>
          <p:cNvSpPr txBox="1"/>
          <p:nvPr/>
        </p:nvSpPr>
        <p:spPr>
          <a:xfrm>
            <a:off x="5389954" y="1923735"/>
            <a:ext cx="121379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AHD screening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OI prophylaxis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900" i="1" dirty="0"/>
              <a:t>OI tx</a:t>
            </a:r>
          </a:p>
        </p:txBody>
      </p:sp>
    </p:spTree>
    <p:extLst>
      <p:ext uri="{BB962C8B-B14F-4D97-AF65-F5344CB8AC3E}">
        <p14:creationId xmlns:p14="http://schemas.microsoft.com/office/powerpoint/2010/main" val="3638396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131</Words>
  <Application>Microsoft Macintosh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Brooke Nichols</dc:creator>
  <cp:lastModifiedBy>Alex de Nooy</cp:lastModifiedBy>
  <cp:revision>1</cp:revision>
  <dcterms:created xsi:type="dcterms:W3CDTF">2026-02-09T12:34:37Z</dcterms:created>
  <dcterms:modified xsi:type="dcterms:W3CDTF">2026-02-09T12:55:31Z</dcterms:modified>
</cp:coreProperties>
</file>